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77" r:id="rId2"/>
    <p:sldId id="279" r:id="rId3"/>
    <p:sldId id="280" r:id="rId4"/>
    <p:sldId id="362" r:id="rId5"/>
    <p:sldId id="346" r:id="rId6"/>
    <p:sldId id="342" r:id="rId7"/>
    <p:sldId id="334" r:id="rId8"/>
    <p:sldId id="395" r:id="rId9"/>
    <p:sldId id="332" r:id="rId10"/>
    <p:sldId id="366" r:id="rId11"/>
    <p:sldId id="447" r:id="rId12"/>
    <p:sldId id="448" r:id="rId13"/>
    <p:sldId id="329" r:id="rId14"/>
    <p:sldId id="365" r:id="rId15"/>
    <p:sldId id="372" r:id="rId16"/>
    <p:sldId id="376" r:id="rId17"/>
    <p:sldId id="374" r:id="rId18"/>
    <p:sldId id="449" r:id="rId19"/>
    <p:sldId id="377" r:id="rId20"/>
    <p:sldId id="383" r:id="rId21"/>
    <p:sldId id="341" r:id="rId22"/>
    <p:sldId id="385" r:id="rId23"/>
    <p:sldId id="386" r:id="rId24"/>
    <p:sldId id="450" r:id="rId25"/>
    <p:sldId id="400" r:id="rId26"/>
    <p:sldId id="405" r:id="rId27"/>
    <p:sldId id="406" r:id="rId28"/>
    <p:sldId id="409" r:id="rId29"/>
    <p:sldId id="408" r:id="rId30"/>
    <p:sldId id="442" r:id="rId31"/>
    <p:sldId id="444" r:id="rId32"/>
    <p:sldId id="457" r:id="rId33"/>
    <p:sldId id="459" r:id="rId34"/>
    <p:sldId id="451" r:id="rId35"/>
    <p:sldId id="410" r:id="rId36"/>
    <p:sldId id="424" r:id="rId37"/>
    <p:sldId id="423" r:id="rId38"/>
    <p:sldId id="452" r:id="rId39"/>
    <p:sldId id="461" r:id="rId40"/>
    <p:sldId id="462" r:id="rId41"/>
    <p:sldId id="440" r:id="rId42"/>
    <p:sldId id="441" r:id="rId43"/>
    <p:sldId id="411" r:id="rId44"/>
    <p:sldId id="413" r:id="rId45"/>
    <p:sldId id="463" r:id="rId46"/>
    <p:sldId id="437" r:id="rId47"/>
    <p:sldId id="360" r:id="rId48"/>
    <p:sldId id="273" r:id="rId4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754" userDrawn="1">
          <p15:clr>
            <a:srgbClr val="A4A3A4"/>
          </p15:clr>
        </p15:guide>
        <p15:guide id="4" pos="7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28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182" y="41"/>
      </p:cViewPr>
      <p:guideLst>
        <p:guide orient="horz" pos="2160"/>
        <p:guide pos="3840"/>
        <p:guide orient="horz" pos="754"/>
        <p:guide pos="740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468"/>
    </p:cViewPr>
  </p:sorterViewPr>
  <p:notesViewPr>
    <p:cSldViewPr snapToGrid="0">
      <p:cViewPr varScale="1">
        <p:scale>
          <a:sx n="79" d="100"/>
          <a:sy n="79" d="100"/>
        </p:scale>
        <p:origin x="3189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0" i="0" u="none" strike="noStrike" kern="1200" spc="0" baseline="0">
                <a:solidFill>
                  <a:schemeClr val="tx1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+mn-cs"/>
              </a:defRPr>
            </a:pPr>
            <a:r>
              <a:rPr lang="ko-KR" altLang="en-US" sz="1800" b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국내 </a:t>
            </a:r>
            <a:r>
              <a:rPr lang="en-US" altLang="ko-KR" sz="1800" b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CLOUD </a:t>
            </a:r>
            <a:r>
              <a:rPr lang="ko-KR" altLang="en-US" sz="1800" b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</a:t>
            </a:r>
            <a:r>
              <a:rPr lang="en-US" altLang="ko-KR" sz="1800" b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800" b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현황</a:t>
            </a:r>
          </a:p>
        </c:rich>
      </c:tx>
      <c:layout>
        <c:manualLayout>
          <c:xMode val="edge"/>
          <c:yMode val="edge"/>
          <c:x val="0.25329989789494295"/>
          <c:y val="6.17292523052994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spc="0" baseline="0">
              <a:solidFill>
                <a:schemeClr val="tx1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+mn-cs"/>
            </a:defRPr>
          </a:pPr>
          <a:endParaRPr lang="ko-K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CSP 현황</c:v>
                </c:pt>
              </c:strCache>
            </c:strRef>
          </c:tx>
          <c:dPt>
            <c:idx val="0"/>
            <c:bubble3D val="0"/>
            <c:spPr>
              <a:solidFill>
                <a:srgbClr val="00B0F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06A-4C81-B16F-2D9A1DCEEDF6}"/>
              </c:ext>
            </c:extLst>
          </c:dPt>
          <c:dPt>
            <c:idx val="1"/>
            <c:bubble3D val="0"/>
            <c:spPr>
              <a:solidFill>
                <a:srgbClr val="07C6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D06A-4C81-B16F-2D9A1DCEEDF6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06A-4C81-B16F-2D9A1DCEEDF6}"/>
              </c:ext>
            </c:extLst>
          </c:dPt>
          <c:dLbls>
            <c:dLbl>
              <c:idx val="0"/>
              <c:layout>
                <c:manualLayout>
                  <c:x val="-0.21059823543339729"/>
                  <c:y val="-9.0292006665754931E-2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60~70%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06A-4C81-B16F-2D9A1DCEEDF6}"/>
                </c:ext>
              </c:extLst>
            </c:dLbl>
            <c:dLbl>
              <c:idx val="1"/>
              <c:layout>
                <c:manualLayout>
                  <c:x val="0.23224774571739401"/>
                  <c:y val="4.1604238528671358E-2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25~30%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06A-4C81-B16F-2D9A1DCEEDF6}"/>
                </c:ext>
              </c:extLst>
            </c:dLbl>
            <c:dLbl>
              <c:idx val="2"/>
              <c:layout>
                <c:manualLayout>
                  <c:x val="8.1811205847486662E-2"/>
                  <c:y val="0.13398451073054851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5~10%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D06A-4C81-B16F-2D9A1DCEEDF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Global CSP</c:v>
                </c:pt>
                <c:pt idx="1">
                  <c:v>국내 CSP</c:v>
                </c:pt>
                <c:pt idx="2">
                  <c:v>기타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0.65</c:v>
                </c:pt>
                <c:pt idx="1">
                  <c:v>0.27</c:v>
                </c:pt>
                <c:pt idx="2">
                  <c:v>0.08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6A-4C81-B16F-2D9A1DCEED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66983474499306"/>
          <c:y val="0.86157139947413264"/>
          <c:w val="0.5545984308621793"/>
          <c:h val="5.61229307854682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53C2E-CFE2-4BCA-98B0-B886932D50BD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EE6EE-101E-4FBA-8853-EE1232FB30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341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482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985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0308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6495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0808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ko-KR" b="1" i="0" dirty="0">
                <a:solidFill>
                  <a:srgbClr val="172B4D"/>
                </a:solidFill>
                <a:effectLst/>
                <a:latin typeface="-apple-system"/>
              </a:rPr>
              <a:t>1) </a:t>
            </a:r>
            <a:r>
              <a:rPr lang="ko-KR" altLang="en-US" b="1" i="0" dirty="0" err="1">
                <a:solidFill>
                  <a:srgbClr val="172B4D"/>
                </a:solidFill>
                <a:effectLst/>
                <a:latin typeface="-apple-system"/>
              </a:rPr>
              <a:t>온프레미스</a:t>
            </a:r>
            <a:endParaRPr lang="ko-KR" altLang="en-US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기업이나 조직이 하드웨어</a:t>
            </a: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, 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소프트웨어 등 모든 </a:t>
            </a: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IT 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자원을 자체적으로 보유하여 서버를 구축하는 방식으로</a:t>
            </a: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, 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하드웨어와 소프트웨어를 각각 구입하고 특정 공간에 직접 인프라를 구성하여 운영 </a:t>
            </a: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/ 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유지 </a:t>
            </a: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/ 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관리하는 것</a:t>
            </a:r>
          </a:p>
          <a:p>
            <a:pPr algn="l"/>
            <a:r>
              <a:rPr lang="en-US" altLang="ko-KR" b="1" i="0" dirty="0">
                <a:solidFill>
                  <a:srgbClr val="172B4D"/>
                </a:solidFill>
                <a:effectLst/>
                <a:latin typeface="-apple-system"/>
              </a:rPr>
              <a:t>2) </a:t>
            </a:r>
            <a:r>
              <a:rPr lang="ko-KR" altLang="en-US" b="1" i="0" dirty="0">
                <a:solidFill>
                  <a:srgbClr val="172B4D"/>
                </a:solidFill>
                <a:effectLst/>
                <a:latin typeface="-apple-system"/>
              </a:rPr>
              <a:t>클라우드</a:t>
            </a:r>
            <a:endParaRPr lang="ko-KR" altLang="en-US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None/>
            </a:pP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IT 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자원을 직접 구축 </a:t>
            </a: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/ 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운영하지 않고 클라우드 제공자로부터 </a:t>
            </a: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IT 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자원을 제공받아 이용하는 방식으로</a:t>
            </a: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, 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인프라 서비스</a:t>
            </a: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(IaaS), 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플랫폼 서비스</a:t>
            </a: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(PaaS), 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소프트웨어 서비스</a:t>
            </a:r>
            <a:r>
              <a:rPr lang="en-US" altLang="ko-KR" sz="1000" b="0" i="0" dirty="0">
                <a:solidFill>
                  <a:srgbClr val="172B4D"/>
                </a:solidFill>
                <a:effectLst/>
                <a:latin typeface="-apple-system"/>
              </a:rPr>
              <a:t>(SaaS)</a:t>
            </a:r>
            <a:r>
              <a:rPr lang="ko-KR" altLang="en-US" sz="1000" b="0" i="0" dirty="0">
                <a:solidFill>
                  <a:srgbClr val="172B4D"/>
                </a:solidFill>
                <a:effectLst/>
                <a:latin typeface="-apple-system"/>
              </a:rPr>
              <a:t>로 구분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379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25710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0" i="0" dirty="0">
                <a:solidFill>
                  <a:srgbClr val="172B4D"/>
                </a:solidFill>
                <a:effectLst/>
                <a:latin typeface="-apple-system"/>
              </a:rPr>
              <a:t>클라우드 환경은 자원을 직접 소유하지 않고 공유된 인프라를 임대하여 사용하는 구조이기 때문에</a:t>
            </a:r>
            <a:r>
              <a:rPr lang="en-US" altLang="ko-KR" b="0" i="0" dirty="0">
                <a:solidFill>
                  <a:srgbClr val="172B4D"/>
                </a:solidFill>
                <a:effectLst/>
                <a:latin typeface="-apple-system"/>
              </a:rPr>
              <a:t>, </a:t>
            </a:r>
            <a:r>
              <a:rPr lang="ko-KR" altLang="en-US" b="0" i="0" dirty="0">
                <a:solidFill>
                  <a:srgbClr val="172B4D"/>
                </a:solidFill>
                <a:effectLst/>
                <a:latin typeface="-apple-system"/>
              </a:rPr>
              <a:t>기존 보안 </a:t>
            </a:r>
            <a:r>
              <a:rPr lang="en-US" altLang="ko-KR" b="0" i="0" dirty="0">
                <a:solidFill>
                  <a:srgbClr val="172B4D"/>
                </a:solidFill>
                <a:effectLst/>
                <a:latin typeface="-apple-system"/>
              </a:rPr>
              <a:t>3</a:t>
            </a:r>
            <a:r>
              <a:rPr lang="ko-KR" altLang="en-US" b="0" i="0" dirty="0">
                <a:solidFill>
                  <a:srgbClr val="172B4D"/>
                </a:solidFill>
                <a:effectLst/>
                <a:latin typeface="-apple-system"/>
              </a:rPr>
              <a:t>요소만으로는 보안수준을 충족할 수 없음</a:t>
            </a:r>
            <a:r>
              <a:rPr lang="en-US" altLang="ko-KR" b="0" i="0" dirty="0">
                <a:solidFill>
                  <a:srgbClr val="172B4D"/>
                </a:solidFill>
                <a:effectLst/>
                <a:latin typeface="-apple-system"/>
              </a:rPr>
              <a:t>.</a:t>
            </a:r>
            <a:br>
              <a:rPr lang="ko-KR" altLang="en-US" dirty="0"/>
            </a:br>
            <a:r>
              <a:rPr lang="ko-KR" altLang="en-US" b="0" i="0" dirty="0">
                <a:solidFill>
                  <a:srgbClr val="172B4D"/>
                </a:solidFill>
                <a:effectLst/>
                <a:latin typeface="-apple-system"/>
              </a:rPr>
              <a:t>사용자가 접근할 수 없는 클라우드의 블랙박스 영역에서 동작하는 시스템이 어떤 물리적인 하드웨어 특성을 가졌는지</a:t>
            </a:r>
            <a:r>
              <a:rPr lang="en-US" altLang="ko-KR" b="0" i="0" dirty="0">
                <a:solidFill>
                  <a:srgbClr val="172B4D"/>
                </a:solidFill>
                <a:effectLst/>
                <a:latin typeface="-apple-system"/>
              </a:rPr>
              <a:t>, </a:t>
            </a:r>
            <a:r>
              <a:rPr lang="ko-KR" altLang="en-US" b="0" i="0" dirty="0">
                <a:solidFill>
                  <a:srgbClr val="172B4D"/>
                </a:solidFill>
                <a:effectLst/>
                <a:latin typeface="-apple-system"/>
              </a:rPr>
              <a:t>물리적으로 어디에 위치하는지 등을 알기 어려움</a:t>
            </a:r>
            <a:r>
              <a:rPr lang="en-US" altLang="ko-KR" b="0" i="0" dirty="0">
                <a:solidFill>
                  <a:srgbClr val="172B4D"/>
                </a:solidFill>
                <a:effectLst/>
                <a:latin typeface="-apple-system"/>
              </a:rPr>
              <a:t>.</a:t>
            </a:r>
            <a:br>
              <a:rPr lang="ko-KR" altLang="en-US" dirty="0"/>
            </a:br>
            <a:r>
              <a:rPr lang="ko-KR" altLang="en-US" b="0" i="0" dirty="0">
                <a:solidFill>
                  <a:srgbClr val="172B4D"/>
                </a:solidFill>
                <a:effectLst/>
                <a:latin typeface="-apple-system"/>
              </a:rPr>
              <a:t>이를 보완하기 위해 클라우드 보안에서는 책임 추적성</a:t>
            </a:r>
            <a:r>
              <a:rPr lang="en-US" altLang="ko-KR" b="0" i="0" dirty="0">
                <a:solidFill>
                  <a:srgbClr val="172B4D"/>
                </a:solidFill>
                <a:effectLst/>
                <a:latin typeface="-apple-system"/>
              </a:rPr>
              <a:t>(Accountability)</a:t>
            </a:r>
            <a:r>
              <a:rPr lang="ko-KR" altLang="en-US" b="0" i="0" dirty="0">
                <a:solidFill>
                  <a:srgbClr val="172B4D"/>
                </a:solidFill>
                <a:effectLst/>
                <a:latin typeface="-apple-system"/>
              </a:rPr>
              <a:t>이 추가적인 핵심 요소로 요구됨</a:t>
            </a:r>
            <a:r>
              <a:rPr lang="en-US" altLang="ko-KR" b="0" i="0" dirty="0">
                <a:solidFill>
                  <a:srgbClr val="172B4D"/>
                </a:solidFill>
                <a:effectLst/>
                <a:latin typeface="-apple-system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515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182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358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021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95859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500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0930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237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0449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1" dirty="0"/>
              <a:t>- </a:t>
            </a:r>
            <a:r>
              <a:rPr lang="ko-KR" altLang="en-US" sz="1200" b="1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일반 클라우드 가상환경 트래픽 흐름</a:t>
            </a:r>
            <a:endParaRPr lang="en-US" altLang="ko-KR" sz="1200" b="1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dirty="0"/>
              <a:t> + NCP </a:t>
            </a:r>
            <a:r>
              <a:rPr lang="ko-KR" altLang="en-US" b="0" dirty="0"/>
              <a:t>구성도 내 정확한 통신 흐름을 식별 할 수 없어 일반적인 클라우드 네트워크 트래픽 통신 기입</a:t>
            </a:r>
            <a:endParaRPr lang="en-US" altLang="ko-KR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  <a:p>
            <a:endParaRPr lang="ko-KR" altLang="en-US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666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5273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61231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9152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8498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2572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4468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91644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9552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537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52477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49206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86077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6568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79832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FBCD24-FD72-452C-8969-09628A5F2BDD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91644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4298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30416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FBCD24-FD72-452C-8969-09628A5F2BDD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146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530E7C-F984-BB2D-1EFE-3AD25318B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874693-270A-895F-3876-3B3A049F21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E76A89-BA57-60CE-589A-848F77B6B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2C4199-3947-D9DB-B408-B9756713E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615D12-460D-6902-F169-0C9B719E9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625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82A3E9-54E5-0829-EBDF-2A7316D49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6F2B60-EA6F-76A3-6781-FD9CED98D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AC4745-DE65-3C3C-D221-C6413167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C5311D-A6B1-D08F-8EB6-CB097E27F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1E6A16-589E-621D-7A7F-CEC86627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16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30B603-24A4-AB44-36D9-C97E546E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4D20E7-D617-D1E1-FCB0-569ECF5C9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8BA59E-FB12-4B2B-5D02-5E8F362F5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FF1C89-0F97-3923-CF33-BD9ACEB73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45D778-9490-BA89-3B40-C0D5748BB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3646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325E7A-74CC-CB03-A7EE-9CD5C847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F2FE68-8C64-735F-351C-24F6BD8B82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BBEFE79-B3EF-0455-E57F-20EF1E3C4D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4EB23D-0028-1CD9-E538-B25C35667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D4D704-EAAF-247D-5373-FE54B1EB2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035B71-FC93-6A65-CD1D-CD4B5649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7838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3A523E-3A2F-84E4-13F2-FEB83B02C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B99A47E-FF62-F7FF-6046-CD58D8BC0E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AFC5C4-C255-5E8E-29F3-F9F96FE3F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1CC85C8-AC44-D346-233C-CAA6D18DD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EF88F47-9DC6-5894-A55D-D579B4A22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22FF0B-FDAF-6331-7336-F5552EB39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899481-2E49-2F59-E0E1-62C3610D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21510B-2397-265D-C132-01C08C181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489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FC849F-AAF4-1EF5-4E65-3608B56EC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64A47F-0395-903F-D909-C28A012C2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3E1AA80-0B34-FF60-8A77-F20293C72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C2F016B-9213-E6DC-F09B-436C23DC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99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CBAC022-356B-9C97-AC4F-3F9D2A152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D292F67-7E18-816B-9AE9-5198F83AE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4BCBC3-03B5-6BDE-D492-33109C308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737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E5327-DCD9-63B0-467C-BF1EC77EB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8EAF96-6356-E1BA-158F-1414CBF76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908470-87CC-04A4-AA24-1E095A1E48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25B976-9C8A-6FF1-5B39-BF184A21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E0C36F-A5AF-4286-0B17-DA8AA2345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08DD48-04F8-84B7-8CDF-EA178EBE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590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CEA56-1C90-A9ED-DDD5-C3ECA5F55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9A31E0-CE7C-4FD0-4BEA-499D884652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1278B9-632B-EE5D-9D7B-0B49804E0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05CFE31B-F9E4-8056-33B3-11A79724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F9513936-C626-E961-1631-CF2256E8A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6C995A6-416C-CF6E-9A63-3E4249F2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592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6BF61-3B74-94FE-A202-B2F4F8A26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C4ECA1-39BF-34C4-6EB1-BB4AEF2242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7E9076-B809-BA2F-946C-6788F6DD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A1E664-93B1-5FF1-7ED5-9F8BBC953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635A2-B094-5EAE-8850-257F1525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121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1F8C7D-36DC-09C9-2247-2C2D11E157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4182966-890C-FA7D-4A80-183A89A8F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60E3F1-926E-5E39-BE92-A970A87FC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EF7A8B-AF37-C56F-1A9B-3E3221C96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3BF50A-C360-976A-0D88-4D4A7EB4F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29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714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00">
        <p:fade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대외비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336000" y="298748"/>
            <a:ext cx="11520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ko-KR" altLang="en-US" sz="1600" b="1" kern="1200" spc="-20" baseline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defRPr>
            </a:lvl1pPr>
          </a:lstStyle>
          <a:p>
            <a:pPr marL="0" marR="0" indent="0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altLang="ko-KR" sz="1600" b="1" kern="1200" spc="-20" baseline="0" dirty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1.1  </a:t>
            </a:r>
            <a:r>
              <a:rPr lang="ko-KR" altLang="ko-KR" sz="1600" b="1" kern="1200" spc="-20" baseline="0" dirty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페이지 제목</a:t>
            </a:r>
            <a:r>
              <a:rPr lang="en-US" altLang="ko-KR" sz="1600" b="1" kern="1200" spc="-20" baseline="0" dirty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: </a:t>
            </a:r>
            <a:r>
              <a:rPr lang="ko-KR" altLang="ko-KR" sz="1600" b="1" kern="1200" spc="-20" baseline="0" dirty="0" err="1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나눔고딕</a:t>
            </a:r>
            <a:r>
              <a:rPr lang="en-US" altLang="ko-KR" sz="1600" b="1" kern="1200" spc="-20" baseline="0" dirty="0">
                <a:solidFill>
                  <a:schemeClr val="tx1"/>
                </a:solidFill>
                <a:latin typeface="+mj-lt"/>
                <a:ea typeface="나눔고딕" panose="020D0604000000000000" pitchFamily="50" charset="-127"/>
                <a:cs typeface="+mj-cs"/>
              </a:rPr>
              <a:t> B, 16pt</a:t>
            </a:r>
            <a:endParaRPr lang="ko-KR" altLang="en-US" sz="1600" b="1" kern="1200" spc="-20" baseline="0" dirty="0">
              <a:solidFill>
                <a:schemeClr val="tx1"/>
              </a:solidFill>
              <a:latin typeface="+mj-lt"/>
              <a:ea typeface="나눔고딕" panose="020D0604000000000000" pitchFamily="50" charset="-127"/>
              <a:cs typeface="+mj-cs"/>
            </a:endParaRP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443180" y="223729"/>
            <a:ext cx="1128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 userDrawn="1"/>
        </p:nvCxnSpPr>
        <p:spPr>
          <a:xfrm>
            <a:off x="443180" y="979140"/>
            <a:ext cx="11280000" cy="1588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10620597" y="203673"/>
            <a:ext cx="1238258" cy="244813"/>
          </a:xfrm>
          <a:prstGeom prst="rect">
            <a:avLst/>
          </a:prstGeom>
          <a:noFill/>
        </p:spPr>
        <p:txBody>
          <a:bodyPr wrap="square" lIns="99569" tIns="49785" rIns="99569" bIns="49785" rtlCol="0">
            <a:spAutoFit/>
          </a:bodyPr>
          <a:lstStyle/>
          <a:p>
            <a:pPr algn="r">
              <a:lnSpc>
                <a:spcPct val="140000"/>
              </a:lnSpc>
            </a:pPr>
            <a:r>
              <a:rPr lang="ko-KR" altLang="en-US" sz="750" spc="-2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대외비</a:t>
            </a:r>
            <a:endParaRPr lang="en-US" altLang="ko-KR" sz="750" spc="-20" baseline="0" dirty="0">
              <a:solidFill>
                <a:schemeClr val="tx1">
                  <a:lumMod val="50000"/>
                  <a:lumOff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슬라이드 번호 개체 틀 5"/>
          <p:cNvSpPr txBox="1">
            <a:spLocks/>
          </p:cNvSpPr>
          <p:nvPr userDrawn="1"/>
        </p:nvSpPr>
        <p:spPr>
          <a:xfrm>
            <a:off x="321274" y="6428953"/>
            <a:ext cx="3708426" cy="2508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bg1"/>
                </a:solidFill>
                <a:latin typeface="PF Din Text Cond Pro Medium" pitchFamily="2" charset="0"/>
                <a:ea typeface="Rix고딕 M" pitchFamily="18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0BB0C5-6955-4F9B-BA60-58E2367A55EF}" type="slidenum">
              <a:rPr kumimoji="0" lang="ko-KR" altLang="en-US" sz="800" b="0" i="0" u="none" strike="noStrike" kern="1200" cap="none" spc="-2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ko-KR" altLang="en-US" sz="800" b="0" i="0" u="none" strike="noStrike" kern="1200" cap="none" spc="-2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 </a:t>
            </a:r>
            <a:r>
              <a:rPr kumimoji="0" lang="en-US" altLang="ko-KR" sz="800" b="0" i="0" u="none" strike="noStrike" kern="1200" cap="none" spc="-2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/ </a:t>
            </a:r>
            <a:r>
              <a:rPr kumimoji="0" lang="ko-KR" altLang="en-US" sz="800" b="0" i="0" u="none" strike="noStrike" kern="1200" cap="none" spc="-2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클라우드 보안 및 인프라 이해와 분석</a:t>
            </a:r>
          </a:p>
        </p:txBody>
      </p:sp>
      <p:sp>
        <p:nvSpPr>
          <p:cNvPr id="8" name="내용 개체 틀 2"/>
          <p:cNvSpPr>
            <a:spLocks noGrp="1"/>
          </p:cNvSpPr>
          <p:nvPr>
            <p:ph idx="1"/>
          </p:nvPr>
        </p:nvSpPr>
        <p:spPr>
          <a:xfrm>
            <a:off x="816000" y="1233854"/>
            <a:ext cx="10560000" cy="4525963"/>
          </a:xfrm>
          <a:prstGeom prst="rect">
            <a:avLst/>
          </a:prstGeom>
        </p:spPr>
        <p:txBody>
          <a:bodyPr/>
          <a:lstStyle>
            <a:lvl1pPr marL="0" indent="0" algn="l" defTabSz="180000" rtl="0" eaLnBrk="1" latinLnBrk="1" hangingPunct="1">
              <a:lnSpc>
                <a:spcPct val="150000"/>
              </a:lnSpc>
              <a:spcBef>
                <a:spcPts val="300"/>
              </a:spcBef>
              <a:buFontTx/>
              <a:buNone/>
              <a:tabLst>
                <a:tab pos="180000" algn="l"/>
              </a:tabLst>
              <a:defRPr lang="ko-KR" altLang="en-US" sz="1000" b="0" i="0" spc="0" baseline="0" smtClean="0">
                <a:solidFill>
                  <a:schemeClr val="tx1"/>
                </a:solidFill>
                <a:latin typeface="+mn-lt"/>
                <a:ea typeface="+mn-ea"/>
              </a:defRPr>
            </a:lvl1pPr>
            <a:lvl2pPr marL="180000" indent="-180000" algn="l" rtl="0" eaLnBrk="1" latinLnBrk="1" hangingPunct="1">
              <a:lnSpc>
                <a:spcPct val="150000"/>
              </a:lnSpc>
              <a:spcBef>
                <a:spcPts val="10"/>
              </a:spcBef>
              <a:buFont typeface="+mj-lt"/>
              <a:buAutoNum type="arabicPeriod"/>
              <a:defRPr sz="1000" b="0" i="0" spc="0">
                <a:solidFill>
                  <a:schemeClr val="tx1"/>
                </a:solidFill>
                <a:latin typeface="+mn-lt"/>
                <a:ea typeface="+mn-ea"/>
              </a:defRPr>
            </a:lvl2pPr>
            <a:lvl3pPr marL="360000" indent="-180000" algn="l">
              <a:lnSpc>
                <a:spcPct val="150000"/>
              </a:lnSpc>
              <a:spcBef>
                <a:spcPts val="10"/>
              </a:spcBef>
              <a:buFont typeface="+mj-lt"/>
              <a:buAutoNum type="arabicParenR"/>
              <a:defRPr sz="1000">
                <a:solidFill>
                  <a:schemeClr val="tx1"/>
                </a:solidFill>
              </a:defRPr>
            </a:lvl3pPr>
            <a:lvl4pPr marL="648000" indent="-180000" algn="l">
              <a:lnSpc>
                <a:spcPct val="150000"/>
              </a:lnSpc>
              <a:spcBef>
                <a:spcPts val="10"/>
              </a:spcBef>
              <a:buFont typeface="+mj-ea"/>
              <a:buAutoNum type="circleNumDbPlain"/>
              <a:defRPr sz="1000" b="0" i="0" spc="0">
                <a:solidFill>
                  <a:schemeClr val="tx1"/>
                </a:solidFill>
                <a:latin typeface="+mn-lt"/>
                <a:ea typeface="+mn-ea"/>
              </a:defRPr>
            </a:lvl4pPr>
            <a:lvl5pPr marL="648000" indent="108000" algn="l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</a:defRPr>
            </a:lvl5pPr>
            <a:lvl6pPr marL="900000" indent="0" algn="l">
              <a:lnSpc>
                <a:spcPct val="150000"/>
              </a:lnSpc>
              <a:spcBef>
                <a:spcPts val="10"/>
              </a:spcBef>
              <a:buFontTx/>
              <a:buNone/>
              <a:defRPr sz="1000">
                <a:solidFill>
                  <a:schemeClr val="tx1"/>
                </a:solidFill>
              </a:defRPr>
            </a:lvl6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  <a:p>
            <a:pPr lvl="5"/>
            <a:r>
              <a:rPr lang="ko-KR" altLang="en-US" dirty="0"/>
              <a:t>여섯째 수준</a:t>
            </a:r>
            <a:endParaRPr lang="en-US" altLang="ko-KR" dirty="0"/>
          </a:p>
          <a:p>
            <a:pPr lvl="4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72243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C0239A-E7DD-0646-38D6-A16008A78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C3ABCE-5B26-68BB-2417-F38EB3AC7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446F1E-EF47-7A33-A16E-D3CBED0ADA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641346-7EF4-4C17-A48A-9F08784FA9FB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710A52-D8AB-ABCB-1391-2215D0B73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0B38BE-BD3C-9F9F-1A5E-24FA20224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33C7A9-B1EC-4FAD-923E-5CD1595CE75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073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13" Type="http://schemas.openxmlformats.org/officeDocument/2006/relationships/image" Target="../media/image36.png"/><Relationship Id="rId3" Type="http://schemas.openxmlformats.org/officeDocument/2006/relationships/image" Target="../media/image29.png"/><Relationship Id="rId7" Type="http://schemas.microsoft.com/office/2007/relationships/hdphoto" Target="../media/hdphoto2.wdp"/><Relationship Id="rId12" Type="http://schemas.microsoft.com/office/2007/relationships/hdphoto" Target="../media/hdphoto3.wdp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39.sv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11" Type="http://schemas.openxmlformats.org/officeDocument/2006/relationships/image" Target="../media/image35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4.jpeg"/><Relationship Id="rId4" Type="http://schemas.openxmlformats.org/officeDocument/2006/relationships/image" Target="../media/image30.png"/><Relationship Id="rId9" Type="http://schemas.openxmlformats.org/officeDocument/2006/relationships/image" Target="../media/image33.wmf"/><Relationship Id="rId1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3.wmf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png"/><Relationship Id="rId5" Type="http://schemas.microsoft.com/office/2007/relationships/hdphoto" Target="../media/hdphoto2.wdp"/><Relationship Id="rId4" Type="http://schemas.openxmlformats.org/officeDocument/2006/relationships/image" Target="../media/image31.png"/><Relationship Id="rId9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18" Type="http://schemas.openxmlformats.org/officeDocument/2006/relationships/image" Target="../media/image39.sv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19" Type="http://schemas.openxmlformats.org/officeDocument/2006/relationships/image" Target="../media/image30.png"/><Relationship Id="rId4" Type="http://schemas.openxmlformats.org/officeDocument/2006/relationships/image" Target="../media/image42.emf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29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39.svg"/><Relationship Id="rId10" Type="http://schemas.openxmlformats.org/officeDocument/2006/relationships/image" Target="../media/image58.png"/><Relationship Id="rId4" Type="http://schemas.openxmlformats.org/officeDocument/2006/relationships/image" Target="../media/image38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9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8.png"/><Relationship Id="rId11" Type="http://schemas.openxmlformats.org/officeDocument/2006/relationships/image" Target="../media/image67.png"/><Relationship Id="rId5" Type="http://schemas.openxmlformats.org/officeDocument/2006/relationships/image" Target="../media/image39.svg"/><Relationship Id="rId10" Type="http://schemas.openxmlformats.org/officeDocument/2006/relationships/image" Target="../media/image66.png"/><Relationship Id="rId4" Type="http://schemas.openxmlformats.org/officeDocument/2006/relationships/image" Target="../media/image38.png"/><Relationship Id="rId9" Type="http://schemas.openxmlformats.org/officeDocument/2006/relationships/image" Target="../media/image6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70.png"/><Relationship Id="rId3" Type="http://schemas.openxmlformats.org/officeDocument/2006/relationships/image" Target="../media/image29.png"/><Relationship Id="rId7" Type="http://schemas.openxmlformats.org/officeDocument/2006/relationships/image" Target="../media/image43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emf"/><Relationship Id="rId11" Type="http://schemas.openxmlformats.org/officeDocument/2006/relationships/image" Target="../media/image68.png"/><Relationship Id="rId5" Type="http://schemas.openxmlformats.org/officeDocument/2006/relationships/image" Target="../media/image39.svg"/><Relationship Id="rId10" Type="http://schemas.openxmlformats.org/officeDocument/2006/relationships/image" Target="../media/image46.png"/><Relationship Id="rId4" Type="http://schemas.openxmlformats.org/officeDocument/2006/relationships/image" Target="../media/image38.png"/><Relationship Id="rId9" Type="http://schemas.openxmlformats.org/officeDocument/2006/relationships/image" Target="../media/image45.png"/><Relationship Id="rId14" Type="http://schemas.openxmlformats.org/officeDocument/2006/relationships/image" Target="../media/image7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microsoft.com/office/2007/relationships/hdphoto" Target="../media/hdphoto1.wdp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3fend.mitre.org/" TargetMode="External"/><Relationship Id="rId5" Type="http://schemas.openxmlformats.org/officeDocument/2006/relationships/image" Target="../media/image21.png"/><Relationship Id="rId4" Type="http://schemas.openxmlformats.org/officeDocument/2006/relationships/image" Target="../media/image7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2"/>
          <p:cNvSpPr txBox="1">
            <a:spLocks/>
          </p:cNvSpPr>
          <p:nvPr/>
        </p:nvSpPr>
        <p:spPr>
          <a:xfrm>
            <a:off x="385200" y="3772423"/>
            <a:ext cx="4399200" cy="2779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000" b="0" i="0" kern="1200" spc="-20" baseline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400" b="1" spc="-50" dirty="0">
                <a:solidFill>
                  <a:srgbClr val="25282A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대외비</a:t>
            </a:r>
            <a:endParaRPr lang="en-US" altLang="ko-KR" sz="1400" b="1" spc="-50" dirty="0">
              <a:solidFill>
                <a:srgbClr val="25282A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  <p:cxnSp>
        <p:nvCxnSpPr>
          <p:cNvPr id="18" name="직선 연결선 5"/>
          <p:cNvCxnSpPr/>
          <p:nvPr/>
        </p:nvCxnSpPr>
        <p:spPr>
          <a:xfrm>
            <a:off x="385200" y="3016291"/>
            <a:ext cx="376091" cy="0"/>
          </a:xfrm>
          <a:prstGeom prst="line">
            <a:avLst/>
          </a:prstGeom>
          <a:ln w="25400">
            <a:solidFill>
              <a:srgbClr val="2528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부제목 2"/>
          <p:cNvSpPr txBox="1">
            <a:spLocks/>
          </p:cNvSpPr>
          <p:nvPr/>
        </p:nvSpPr>
        <p:spPr>
          <a:xfrm>
            <a:off x="385200" y="3242677"/>
            <a:ext cx="6400800" cy="46588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1200" b="0" i="0" kern="1200" spc="-20" baseline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NanumSquare" charset="-127"/>
                <a:ea typeface="NanumSquare" charset="-127"/>
                <a:cs typeface="NanumSquare" charset="-127"/>
              </a:defRPr>
            </a:lvl1pPr>
            <a:lvl2pPr marL="4572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400" b="1" dirty="0">
                <a:solidFill>
                  <a:srgbClr val="25282A"/>
                </a:solidFill>
              </a:rPr>
              <a:t>작성자 </a:t>
            </a:r>
            <a:r>
              <a:rPr lang="en-US" altLang="ko-KR" sz="1400" b="1" dirty="0">
                <a:solidFill>
                  <a:srgbClr val="25282A"/>
                </a:solidFill>
              </a:rPr>
              <a:t>: </a:t>
            </a:r>
            <a:r>
              <a:rPr lang="ko-KR" altLang="en-US" sz="1400" b="1" dirty="0">
                <a:solidFill>
                  <a:srgbClr val="25282A"/>
                </a:solidFill>
              </a:rPr>
              <a:t>강창욱</a:t>
            </a:r>
            <a:r>
              <a:rPr lang="en-US" altLang="ko-KR" sz="1400" b="1" dirty="0">
                <a:solidFill>
                  <a:srgbClr val="25282A"/>
                </a:solidFill>
              </a:rPr>
              <a:t>, </a:t>
            </a:r>
            <a:r>
              <a:rPr lang="ko-KR" altLang="en-US" sz="1400" b="1" dirty="0">
                <a:solidFill>
                  <a:srgbClr val="25282A"/>
                </a:solidFill>
              </a:rPr>
              <a:t>최혜진</a:t>
            </a:r>
            <a:r>
              <a:rPr lang="en-US" altLang="ko-KR" sz="1400" b="1" dirty="0">
                <a:solidFill>
                  <a:srgbClr val="25282A"/>
                </a:solidFill>
              </a:rPr>
              <a:t>, </a:t>
            </a:r>
            <a:r>
              <a:rPr lang="ko-KR" altLang="en-US" sz="1400" b="1" dirty="0" err="1">
                <a:solidFill>
                  <a:srgbClr val="25282A"/>
                </a:solidFill>
              </a:rPr>
              <a:t>송규준</a:t>
            </a:r>
            <a:endParaRPr lang="en-US" altLang="ko-KR" sz="1400" b="1" dirty="0">
              <a:solidFill>
                <a:srgbClr val="25282A"/>
              </a:solidFill>
            </a:endParaRPr>
          </a:p>
          <a:p>
            <a:r>
              <a:rPr lang="ko-KR" altLang="en-US" sz="1400" b="1" dirty="0">
                <a:solidFill>
                  <a:srgbClr val="25282A"/>
                </a:solidFill>
              </a:rPr>
              <a:t>소속팀 </a:t>
            </a:r>
            <a:r>
              <a:rPr lang="en-US" altLang="ko-KR" sz="1400" b="1" dirty="0">
                <a:solidFill>
                  <a:srgbClr val="25282A"/>
                </a:solidFill>
              </a:rPr>
              <a:t>/ </a:t>
            </a:r>
            <a:r>
              <a:rPr lang="ko-KR" altLang="en-US" sz="1400" b="1" dirty="0">
                <a:solidFill>
                  <a:srgbClr val="25282A"/>
                </a:solidFill>
              </a:rPr>
              <a:t>상위부서 </a:t>
            </a:r>
            <a:r>
              <a:rPr lang="en-US" altLang="ko-KR" sz="1400" b="1" dirty="0">
                <a:solidFill>
                  <a:srgbClr val="25282A"/>
                </a:solidFill>
              </a:rPr>
              <a:t>: CLOUD </a:t>
            </a:r>
            <a:r>
              <a:rPr lang="ko-KR" altLang="en-US" sz="1400" b="1" dirty="0">
                <a:solidFill>
                  <a:srgbClr val="25282A"/>
                </a:solidFill>
              </a:rPr>
              <a:t>보안관제</a:t>
            </a:r>
            <a:r>
              <a:rPr lang="en-US" altLang="ko-KR" sz="1400" b="1" dirty="0">
                <a:solidFill>
                  <a:srgbClr val="25282A"/>
                </a:solidFill>
              </a:rPr>
              <a:t>2 / </a:t>
            </a:r>
            <a:r>
              <a:rPr lang="ko-KR" altLang="en-US" sz="1400" b="1" dirty="0">
                <a:solidFill>
                  <a:srgbClr val="25282A"/>
                </a:solidFill>
              </a:rPr>
              <a:t>보안관제실</a:t>
            </a:r>
          </a:p>
        </p:txBody>
      </p:sp>
      <p:sp>
        <p:nvSpPr>
          <p:cNvPr id="20" name="제목 1"/>
          <p:cNvSpPr txBox="1">
            <a:spLocks/>
          </p:cNvSpPr>
          <p:nvPr/>
        </p:nvSpPr>
        <p:spPr>
          <a:xfrm>
            <a:off x="385199" y="302734"/>
            <a:ext cx="11181489" cy="213245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500" b="0" i="0" kern="1200" spc="-200" baseline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NanumSquare" charset="-127"/>
                <a:ea typeface="NanumSquare" charset="-127"/>
                <a:cs typeface="NanumSquare" charset="-127"/>
              </a:defRPr>
            </a:lvl1pPr>
          </a:lstStyle>
          <a:p>
            <a:r>
              <a:rPr lang="ko-KR" altLang="en-US" sz="46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클라우드 보안 및 인프라 이해와 분석</a:t>
            </a:r>
            <a:endParaRPr lang="en-US" altLang="ko-KR" sz="4600" b="1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915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385200" y="406800"/>
            <a:ext cx="11338713" cy="5233256"/>
            <a:chOff x="1948800" y="406800"/>
            <a:chExt cx="12865723" cy="5233256"/>
          </a:xfrm>
        </p:grpSpPr>
        <p:sp>
          <p:nvSpPr>
            <p:cNvPr id="3" name="내용 개체 틀 2"/>
            <p:cNvSpPr txBox="1">
              <a:spLocks/>
            </p:cNvSpPr>
            <p:nvPr/>
          </p:nvSpPr>
          <p:spPr>
            <a:xfrm>
              <a:off x="3216262" y="1112800"/>
              <a:ext cx="6339083" cy="4527256"/>
            </a:xfrm>
            <a:prstGeom prst="rect">
              <a:avLst/>
            </a:prstGeom>
          </p:spPr>
          <p:txBody>
            <a:bodyPr lIns="0" tIns="0" rIns="0" bIns="0"/>
            <a:lstStyle>
              <a:lvl1pPr marL="266700" indent="-266700" algn="l" defTabSz="914400" rtl="0" eaLnBrk="1" latinLnBrk="1" hangingPunct="1">
                <a:lnSpc>
                  <a:spcPct val="150000"/>
                </a:lnSpc>
                <a:spcBef>
                  <a:spcPts val="10"/>
                </a:spcBef>
                <a:buFont typeface="+mj-lt"/>
                <a:buAutoNum type="arabicPeriod"/>
                <a:defRPr lang="ko-KR" altLang="en-US" sz="1400" b="1" kern="1200" spc="-20" baseline="0" dirty="0" smtClean="0">
                  <a:ln>
                    <a:noFill/>
                  </a:ln>
                  <a:gradFill>
                    <a:gsLst>
                      <a:gs pos="0">
                        <a:srgbClr val="00C73C"/>
                      </a:gs>
                      <a:gs pos="100000">
                        <a:srgbClr val="00C73C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1pPr>
              <a:lvl2pPr marL="266700" indent="0" algn="l" defTabSz="914400" rtl="0" eaLnBrk="1" latinLnBrk="1" hangingPunct="1">
                <a:lnSpc>
                  <a:spcPct val="150000"/>
                </a:lnSpc>
                <a:spcBef>
                  <a:spcPts val="10"/>
                </a:spcBef>
                <a:buFont typeface="+mj-lt"/>
                <a:buNone/>
                <a:defRPr lang="ko-KR" altLang="en-US" sz="1100" kern="1200" spc="-20" baseline="0" smtClean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2pPr>
              <a:lvl3pPr marL="446087" indent="0" algn="l" defTabSz="914400" rtl="0" eaLnBrk="1" latinLnBrk="1" hangingPunct="1">
                <a:lnSpc>
                  <a:spcPct val="150000"/>
                </a:lnSpc>
                <a:spcBef>
                  <a:spcPts val="30"/>
                </a:spcBef>
                <a:buFontTx/>
                <a:buNone/>
                <a:defRPr lang="en-US" altLang="ko-KR" sz="1100" kern="1200" spc="-20" baseline="0" smtClean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3pPr>
              <a:lvl4pPr marL="625475" indent="0" algn="l" defTabSz="914400" rtl="0" eaLnBrk="1" latinLnBrk="1" hangingPunct="1">
                <a:lnSpc>
                  <a:spcPct val="150000"/>
                </a:lnSpc>
                <a:spcBef>
                  <a:spcPts val="10"/>
                </a:spcBef>
                <a:buFontTx/>
                <a:buNone/>
                <a:defRPr lang="ko-KR" altLang="en-US" sz="1100" kern="1200" spc="-20" baseline="0" smtClean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4pPr>
              <a:lvl5pPr marL="648000" indent="0" algn="l" defTabSz="914400" rtl="0" eaLnBrk="1" latinLnBrk="1" hangingPunct="1">
                <a:lnSpc>
                  <a:spcPct val="150000"/>
                </a:lnSpc>
                <a:spcBef>
                  <a:spcPts val="10"/>
                </a:spcBef>
                <a:buFontTx/>
                <a:buNone/>
                <a:defRPr lang="en-US" altLang="ko-KR" sz="1100" kern="1200" spc="-20" baseline="0" smtClean="0">
                  <a:ln>
                    <a:noFill/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5pPr>
              <a:lvl6pPr marL="828000" indent="0" algn="l" defTabSz="914400" rtl="0" eaLnBrk="1" latinLnBrk="1" hangingPunct="1">
                <a:lnSpc>
                  <a:spcPct val="150000"/>
                </a:lnSpc>
                <a:spcBef>
                  <a:spcPts val="10"/>
                </a:spcBef>
                <a:buFontTx/>
                <a:buNone/>
                <a:defRPr lang="en-US" altLang="ko-KR" sz="1100" kern="1200" spc="-20" baseline="0" smtClean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1600" dirty="0">
                  <a:solidFill>
                    <a:srgbClr val="07C63C"/>
                  </a:solidFill>
                  <a:latin typeface="NanumSquare ExtraBold" charset="-127"/>
                  <a:ea typeface="NanumSquare ExtraBold" charset="-127"/>
                  <a:cs typeface="NanumSquare ExtraBold" charset="-127"/>
                </a:rPr>
                <a:t>클라우드 이해</a:t>
              </a:r>
              <a:endParaRPr lang="en-US" altLang="ko-KR" sz="16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1.1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클라우드 개요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1.2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클라우드 특징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1.3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클라우드 유형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1.4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클라우드 장점과 한계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1.5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국내 클라우드 서비스 시장 현황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endParaRPr lang="en-US" altLang="ko-KR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marL="0" indent="0">
                <a:buNone/>
              </a:pPr>
              <a:r>
                <a:rPr lang="en-US" altLang="ko-KR" sz="1600" dirty="0">
                  <a:solidFill>
                    <a:srgbClr val="07C63C"/>
                  </a:solidFill>
                  <a:latin typeface="NanumSquare ExtraBold" charset="-127"/>
                  <a:ea typeface="NanumSquare ExtraBold" charset="-127"/>
                  <a:cs typeface="NanumSquare ExtraBold" charset="-127"/>
                </a:rPr>
                <a:t>3. </a:t>
              </a:r>
              <a:r>
                <a:rPr lang="ko-KR" altLang="en-US" sz="1600" dirty="0">
                  <a:solidFill>
                    <a:srgbClr val="07C63C"/>
                  </a:solidFill>
                  <a:latin typeface="NanumSquare ExtraBold" charset="-127"/>
                  <a:ea typeface="NanumSquare ExtraBold" charset="-127"/>
                  <a:cs typeface="NanumSquare ExtraBold" charset="-127"/>
                </a:rPr>
                <a:t>클라우드 보안 핵심</a:t>
              </a:r>
              <a:endParaRPr lang="en-US" altLang="ko-KR" sz="16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3.1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클라우드 보안의 중요성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3.2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클라우드 속성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3.3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클라우드 보안 모델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3.4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클라우드 보안 핵심 </a:t>
              </a:r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4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요소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endParaRPr lang="en-US" altLang="ko-KR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marL="0" indent="0">
                <a:buNone/>
              </a:pPr>
              <a:r>
                <a:rPr lang="en-US" altLang="ko-KR" sz="1600" dirty="0">
                  <a:solidFill>
                    <a:srgbClr val="07C63C"/>
                  </a:solidFill>
                  <a:latin typeface="NanumSquare ExtraBold" charset="-127"/>
                  <a:ea typeface="NanumSquare ExtraBold" charset="-127"/>
                  <a:cs typeface="NanumSquare ExtraBold" charset="-127"/>
                </a:rPr>
                <a:t>5. </a:t>
              </a:r>
              <a:r>
                <a:rPr lang="ko-KR" altLang="en-US" sz="1600" dirty="0">
                  <a:solidFill>
                    <a:srgbClr val="07C63C"/>
                  </a:solidFill>
                  <a:latin typeface="NanumSquare ExtraBold" charset="-127"/>
                  <a:ea typeface="NanumSquare ExtraBold" charset="-127"/>
                  <a:cs typeface="NanumSquare ExtraBold" charset="-127"/>
                </a:rPr>
                <a:t>클라우드 보안 위협</a:t>
              </a:r>
              <a:endParaRPr lang="en-US" altLang="ko-KR" sz="16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5.1 CLOUD MITRE ATT&amp;CK</a:t>
              </a: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5.2 CLOUD MITRE D3FEND</a:t>
              </a: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5.2 CLOUD-Native Top 10</a:t>
              </a:r>
              <a:endParaRPr lang="ko-KR" altLang="en-US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</p:txBody>
        </p:sp>
        <p:sp>
          <p:nvSpPr>
            <p:cNvPr id="4" name="제목 1"/>
            <p:cNvSpPr txBox="1">
              <a:spLocks/>
            </p:cNvSpPr>
            <p:nvPr/>
          </p:nvSpPr>
          <p:spPr>
            <a:xfrm>
              <a:off x="1948800" y="406800"/>
              <a:ext cx="8640000" cy="338400"/>
            </a:xfrm>
            <a:prstGeom prst="rect">
              <a:avLst/>
            </a:prstGeom>
          </p:spPr>
          <p:txBody>
            <a:bodyPr lIns="0" tIns="0" rIns="0" bIns="0"/>
            <a:lstStyle>
              <a:lvl1pPr algn="l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lang="ko-KR" altLang="en-US" sz="1600" b="1" kern="1200" spc="-20" baseline="0" dirty="0">
                  <a:gradFill>
                    <a:gsLst>
                      <a:gs pos="0">
                        <a:srgbClr val="00C73C"/>
                      </a:gs>
                      <a:gs pos="100000">
                        <a:srgbClr val="00C73C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j-cs"/>
                </a:defRPr>
              </a:lvl1pPr>
            </a:lstStyle>
            <a:p>
              <a:r>
                <a:rPr lang="ko-KR" altLang="en-US" sz="2000" dirty="0">
                  <a:solidFill>
                    <a:srgbClr val="07C63C"/>
                  </a:solidFill>
                  <a:latin typeface="NanumSquare ExtraBold" charset="-127"/>
                  <a:ea typeface="NanumSquare ExtraBold" charset="-127"/>
                  <a:cs typeface="NanumSquare ExtraBold" charset="-127"/>
                </a:rPr>
                <a:t>목차</a:t>
              </a:r>
            </a:p>
          </p:txBody>
        </p:sp>
        <p:sp>
          <p:nvSpPr>
            <p:cNvPr id="5" name="내용 개체 틀 2">
              <a:extLst>
                <a:ext uri="{FF2B5EF4-FFF2-40B4-BE49-F238E27FC236}">
                  <a16:creationId xmlns:a16="http://schemas.microsoft.com/office/drawing/2014/main" id="{ECAC1291-A24C-4082-BED7-F7EC29464AE1}"/>
                </a:ext>
              </a:extLst>
            </p:cNvPr>
            <p:cNvSpPr txBox="1">
              <a:spLocks/>
            </p:cNvSpPr>
            <p:nvPr/>
          </p:nvSpPr>
          <p:spPr>
            <a:xfrm>
              <a:off x="8867172" y="1112800"/>
              <a:ext cx="5947351" cy="4527256"/>
            </a:xfrm>
            <a:prstGeom prst="rect">
              <a:avLst/>
            </a:prstGeom>
          </p:spPr>
          <p:txBody>
            <a:bodyPr lIns="0" tIns="0" rIns="0" bIns="0"/>
            <a:lstStyle>
              <a:lvl1pPr marL="266700" indent="-266700" algn="l" defTabSz="914400" rtl="0" eaLnBrk="1" latinLnBrk="1" hangingPunct="1">
                <a:lnSpc>
                  <a:spcPct val="150000"/>
                </a:lnSpc>
                <a:spcBef>
                  <a:spcPts val="10"/>
                </a:spcBef>
                <a:buFont typeface="+mj-lt"/>
                <a:buAutoNum type="arabicPeriod"/>
                <a:defRPr lang="ko-KR" altLang="en-US" sz="1400" b="1" kern="1200" spc="-20" baseline="0" dirty="0" smtClean="0">
                  <a:ln>
                    <a:noFill/>
                  </a:ln>
                  <a:gradFill>
                    <a:gsLst>
                      <a:gs pos="0">
                        <a:srgbClr val="00C73C"/>
                      </a:gs>
                      <a:gs pos="100000">
                        <a:srgbClr val="00C73C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1pPr>
              <a:lvl2pPr marL="266700" indent="0" algn="l" defTabSz="914400" rtl="0" eaLnBrk="1" latinLnBrk="1" hangingPunct="1">
                <a:lnSpc>
                  <a:spcPct val="150000"/>
                </a:lnSpc>
                <a:spcBef>
                  <a:spcPts val="10"/>
                </a:spcBef>
                <a:buFont typeface="+mj-lt"/>
                <a:buNone/>
                <a:defRPr lang="ko-KR" altLang="en-US" sz="1100" kern="1200" spc="-20" baseline="0" smtClean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2pPr>
              <a:lvl3pPr marL="446087" indent="0" algn="l" defTabSz="914400" rtl="0" eaLnBrk="1" latinLnBrk="1" hangingPunct="1">
                <a:lnSpc>
                  <a:spcPct val="150000"/>
                </a:lnSpc>
                <a:spcBef>
                  <a:spcPts val="30"/>
                </a:spcBef>
                <a:buFontTx/>
                <a:buNone/>
                <a:defRPr lang="en-US" altLang="ko-KR" sz="1100" kern="1200" spc="-20" baseline="0" smtClean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3pPr>
              <a:lvl4pPr marL="625475" indent="0" algn="l" defTabSz="914400" rtl="0" eaLnBrk="1" latinLnBrk="1" hangingPunct="1">
                <a:lnSpc>
                  <a:spcPct val="150000"/>
                </a:lnSpc>
                <a:spcBef>
                  <a:spcPts val="10"/>
                </a:spcBef>
                <a:buFontTx/>
                <a:buNone/>
                <a:defRPr lang="ko-KR" altLang="en-US" sz="1100" kern="1200" spc="-20" baseline="0" smtClean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4pPr>
              <a:lvl5pPr marL="648000" indent="0" algn="l" defTabSz="914400" rtl="0" eaLnBrk="1" latinLnBrk="1" hangingPunct="1">
                <a:lnSpc>
                  <a:spcPct val="150000"/>
                </a:lnSpc>
                <a:spcBef>
                  <a:spcPts val="10"/>
                </a:spcBef>
                <a:buFontTx/>
                <a:buNone/>
                <a:defRPr lang="en-US" altLang="ko-KR" sz="1100" kern="1200" spc="-20" baseline="0" smtClean="0">
                  <a:ln>
                    <a:noFill/>
                  </a:ln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5pPr>
              <a:lvl6pPr marL="828000" indent="0" algn="l" defTabSz="914400" rtl="0" eaLnBrk="1" latinLnBrk="1" hangingPunct="1">
                <a:lnSpc>
                  <a:spcPct val="150000"/>
                </a:lnSpc>
                <a:spcBef>
                  <a:spcPts val="10"/>
                </a:spcBef>
                <a:buFontTx/>
                <a:buNone/>
                <a:defRPr lang="en-US" altLang="ko-KR" sz="1100" kern="1200" spc="-20" baseline="0" smtClean="0">
                  <a:ln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+mj-lt"/>
                <a:buAutoNum type="arabicPeriod" startAt="2"/>
              </a:pPr>
              <a:r>
                <a:rPr lang="ko-KR" altLang="en-US" sz="1600" dirty="0">
                  <a:solidFill>
                    <a:srgbClr val="07C63C"/>
                  </a:solidFill>
                  <a:latin typeface="NanumSquare ExtraBold" charset="-127"/>
                  <a:ea typeface="NanumSquare ExtraBold" charset="-127"/>
                  <a:cs typeface="NanumSquare ExtraBold" charset="-127"/>
                </a:rPr>
                <a:t>클라우드 보안 특성</a:t>
              </a:r>
              <a:endParaRPr lang="en-US" altLang="ko-KR" sz="16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2.1 </a:t>
              </a:r>
              <a:r>
                <a:rPr lang="ko-KR" altLang="en-US" sz="1200" b="1" dirty="0" err="1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온프레미스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 보안 </a:t>
              </a:r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vs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클라우드 보안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2.2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보안의 </a:t>
              </a:r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3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요소의 클라우드 확장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2.3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클라우드 보안 책임 공유 모델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endParaRPr lang="en-US" altLang="ko-KR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marL="0" indent="0">
                <a:buNone/>
              </a:pPr>
              <a:r>
                <a:rPr lang="en-US" altLang="ko-KR" sz="1600" dirty="0">
                  <a:solidFill>
                    <a:srgbClr val="07C63C"/>
                  </a:solidFill>
                  <a:latin typeface="NanumSquare ExtraBold" charset="-127"/>
                  <a:ea typeface="NanumSquare ExtraBold" charset="-127"/>
                  <a:cs typeface="NanumSquare ExtraBold" charset="-127"/>
                </a:rPr>
                <a:t>4. </a:t>
              </a:r>
              <a:r>
                <a:rPr lang="ko-KR" altLang="en-US" sz="1600" dirty="0">
                  <a:solidFill>
                    <a:srgbClr val="07C63C"/>
                  </a:solidFill>
                  <a:latin typeface="NanumSquare ExtraBold" charset="-127"/>
                  <a:ea typeface="NanumSquare ExtraBold" charset="-127"/>
                  <a:cs typeface="NanumSquare ExtraBold" charset="-127"/>
                </a:rPr>
                <a:t>클라우드 인프라 구조 분석</a:t>
              </a:r>
              <a:endParaRPr lang="en-US" altLang="ko-KR" sz="1600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4.1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클라우드 보안 </a:t>
              </a:r>
              <a:r>
                <a:rPr lang="ko-KR" altLang="en-US" sz="1200" b="1" dirty="0" err="1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아키텍쳐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 구성 영역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r>
                <a:rPr lang="en-US" altLang="ko-KR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4.2 NCP </a:t>
              </a:r>
              <a:r>
                <a:rPr lang="ko-KR" altLang="en-US" sz="1200" b="1" dirty="0">
                  <a:solidFill>
                    <a:srgbClr val="626366"/>
                  </a:solidFill>
                  <a:latin typeface="NanumSquare Bold" charset="-127"/>
                  <a:ea typeface="NanumSquare Bold" charset="-127"/>
                  <a:cs typeface="NanumSquare Bold" charset="-127"/>
                </a:rPr>
                <a:t>구성도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lvl="1"/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  <a:p>
              <a:pPr marL="0" indent="0">
                <a:buNone/>
              </a:pPr>
              <a:r>
                <a:rPr lang="en-US" altLang="ko-KR" sz="1600" dirty="0">
                  <a:solidFill>
                    <a:srgbClr val="07C63C"/>
                  </a:solidFill>
                  <a:latin typeface="NanumSquare ExtraBold" charset="-127"/>
                  <a:ea typeface="NanumSquare ExtraBold" charset="-127"/>
                  <a:cs typeface="NanumSquare ExtraBold" charset="-127"/>
                </a:rPr>
                <a:t>6. </a:t>
              </a:r>
              <a:r>
                <a:rPr lang="ko-KR" altLang="en-US" sz="1600" dirty="0">
                  <a:solidFill>
                    <a:srgbClr val="07C63C"/>
                  </a:solidFill>
                  <a:latin typeface="NanumSquare ExtraBold" charset="-127"/>
                  <a:ea typeface="NanumSquare ExtraBold" charset="-127"/>
                  <a:cs typeface="NanumSquare ExtraBold" charset="-127"/>
                </a:rPr>
                <a:t>결론</a:t>
              </a:r>
              <a:endParaRPr lang="en-US" altLang="ko-KR" sz="1200" b="1" dirty="0">
                <a:solidFill>
                  <a:srgbClr val="626366"/>
                </a:solidFill>
                <a:latin typeface="NanumSquare Bold" charset="-127"/>
                <a:ea typeface="NanumSquare Bold" charset="-127"/>
                <a:cs typeface="NanumSquare Bold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312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385200" y="288001"/>
            <a:ext cx="8280000" cy="19045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algn="l" defTabSz="914400" rtl="0" eaLnBrk="1" latinLnBrk="1" hangingPunct="1">
              <a:lnSpc>
                <a:spcPct val="110000"/>
              </a:lnSpc>
              <a:spcBef>
                <a:spcPct val="0"/>
              </a:spcBef>
              <a:buNone/>
              <a:defRPr lang="ko-KR" altLang="en-US" sz="3600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1. </a:t>
            </a:r>
            <a:r>
              <a:rPr lang="ko-KR" altLang="en-US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클라우드 이해</a:t>
            </a:r>
          </a:p>
        </p:txBody>
      </p:sp>
    </p:spTree>
    <p:extLst>
      <p:ext uri="{BB962C8B-B14F-4D97-AF65-F5344CB8AC3E}">
        <p14:creationId xmlns:p14="http://schemas.microsoft.com/office/powerpoint/2010/main" val="1316027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44935A1-3424-CB61-DA19-D822DCF6E8EB}"/>
              </a:ext>
            </a:extLst>
          </p:cNvPr>
          <p:cNvSpPr/>
          <p:nvPr/>
        </p:nvSpPr>
        <p:spPr>
          <a:xfrm>
            <a:off x="512510" y="1222261"/>
            <a:ext cx="11255628" cy="2014517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2E6B56-8DCE-E87F-F903-1A3445714AF3}"/>
              </a:ext>
            </a:extLst>
          </p:cNvPr>
          <p:cNvSpPr txBox="1"/>
          <p:nvPr/>
        </p:nvSpPr>
        <p:spPr>
          <a:xfrm>
            <a:off x="616427" y="1650513"/>
            <a:ext cx="471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pc="-6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클라우드 개요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5A6FB3-2D68-9275-7573-5BC00EE897C2}"/>
              </a:ext>
            </a:extLst>
          </p:cNvPr>
          <p:cNvSpPr txBox="1"/>
          <p:nvPr/>
        </p:nvSpPr>
        <p:spPr>
          <a:xfrm>
            <a:off x="3114603" y="1390833"/>
            <a:ext cx="8460970" cy="590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2000"/>
              </a:lnSpc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dirty="0"/>
              <a:t>기존 </a:t>
            </a:r>
            <a:r>
              <a:rPr lang="en-US" altLang="ko-KR" dirty="0"/>
              <a:t>IT </a:t>
            </a:r>
            <a:r>
              <a:rPr lang="ko-KR" altLang="en-US" dirty="0"/>
              <a:t>환경은 서버</a:t>
            </a:r>
            <a:r>
              <a:rPr lang="en-US" altLang="ko-KR" dirty="0"/>
              <a:t>, </a:t>
            </a:r>
            <a:r>
              <a:rPr lang="ko-KR" altLang="en-US" dirty="0"/>
              <a:t>네트워크</a:t>
            </a:r>
            <a:r>
              <a:rPr lang="en-US" altLang="ko-KR" dirty="0"/>
              <a:t>, </a:t>
            </a:r>
            <a:r>
              <a:rPr lang="ko-KR" altLang="en-US" dirty="0"/>
              <a:t>스토리지를 직접 구축하고 운영해야 하는 구조이며</a:t>
            </a:r>
            <a:r>
              <a:rPr lang="en-US" altLang="ko-KR" dirty="0"/>
              <a:t>, </a:t>
            </a:r>
            <a:r>
              <a:rPr lang="ko-KR" altLang="en-US" dirty="0"/>
              <a:t>서비스 확장 시 시간과 비용이 크게 증가하고</a:t>
            </a:r>
            <a:r>
              <a:rPr lang="en-US" altLang="ko-KR" dirty="0"/>
              <a:t>, </a:t>
            </a:r>
            <a:r>
              <a:rPr lang="ko-KR" altLang="en-US" dirty="0"/>
              <a:t>자원 활용 효율이 낮아 해결을 위해 클라우드의 등장</a:t>
            </a:r>
            <a:endParaRPr lang="en-US" altLang="ko-KR" dirty="0"/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4EA133DE-1B15-8E03-8A01-2B755CAD91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9" y="1342142"/>
            <a:ext cx="325260" cy="325260"/>
          </a:xfrm>
          <a:prstGeom prst="rect">
            <a:avLst/>
          </a:prstGeom>
        </p:spPr>
      </p:pic>
      <p:sp>
        <p:nvSpPr>
          <p:cNvPr id="22" name="사각형: 둥근 위쪽 모서리 21">
            <a:extLst>
              <a:ext uri="{FF2B5EF4-FFF2-40B4-BE49-F238E27FC236}">
                <a16:creationId xmlns:a16="http://schemas.microsoft.com/office/drawing/2014/main" id="{1AA5D0C3-DBE8-6109-AF68-5C206E97E74E}"/>
              </a:ext>
            </a:extLst>
          </p:cNvPr>
          <p:cNvSpPr/>
          <p:nvPr/>
        </p:nvSpPr>
        <p:spPr>
          <a:xfrm>
            <a:off x="458908" y="3444453"/>
            <a:ext cx="2209284" cy="415801"/>
          </a:xfrm>
          <a:prstGeom prst="round2SameRect">
            <a:avLst/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4EE4863-E6A8-4B5B-FA5D-5837E849C900}"/>
              </a:ext>
            </a:extLst>
          </p:cNvPr>
          <p:cNvSpPr txBox="1"/>
          <p:nvPr/>
        </p:nvSpPr>
        <p:spPr>
          <a:xfrm>
            <a:off x="552269" y="3479865"/>
            <a:ext cx="2022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pc="-60" dirty="0">
                <a:solidFill>
                  <a:schemeClr val="bg1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핵심 변화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F57CA-25B1-8974-03E3-40519EC51AC9}"/>
              </a:ext>
            </a:extLst>
          </p:cNvPr>
          <p:cNvSpPr txBox="1"/>
          <p:nvPr/>
        </p:nvSpPr>
        <p:spPr>
          <a:xfrm>
            <a:off x="3111880" y="2559075"/>
            <a:ext cx="8564888" cy="334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indent="-144000"/>
            <a:r>
              <a:rPr lang="ko-KR" altLang="en-US" dirty="0"/>
              <a:t>클라우드는 </a:t>
            </a:r>
            <a:r>
              <a:rPr lang="en-US" altLang="ko-KR" dirty="0"/>
              <a:t>IT </a:t>
            </a:r>
            <a:r>
              <a:rPr lang="ko-KR" altLang="en-US" dirty="0"/>
              <a:t>인프라를 직접 구축하는 방식에서</a:t>
            </a:r>
            <a:r>
              <a:rPr lang="en-US" altLang="ko-KR" dirty="0"/>
              <a:t>, </a:t>
            </a:r>
            <a:r>
              <a:rPr lang="ko-KR" altLang="en-US" dirty="0"/>
              <a:t>필요 시 빌려 쓰는 방식으로 변화시킨 패러다임</a:t>
            </a:r>
            <a:endParaRPr lang="en-US" altLang="ko-KR" dirty="0"/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13BBB8E6-1800-5CAB-6CE8-FFBB7812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517394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1.1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개요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EF15BF78-EEBE-B3F3-B29C-294D78C920A2}"/>
              </a:ext>
            </a:extLst>
          </p:cNvPr>
          <p:cNvGrpSpPr/>
          <p:nvPr/>
        </p:nvGrpSpPr>
        <p:grpSpPr>
          <a:xfrm>
            <a:off x="448273" y="3967869"/>
            <a:ext cx="2058289" cy="2250260"/>
            <a:chOff x="448273" y="3967869"/>
            <a:chExt cx="2058289" cy="2250260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D78367B6-2034-1530-F253-B76A18B34C63}"/>
                </a:ext>
              </a:extLst>
            </p:cNvPr>
            <p:cNvSpPr/>
            <p:nvPr/>
          </p:nvSpPr>
          <p:spPr>
            <a:xfrm>
              <a:off x="448273" y="3967869"/>
              <a:ext cx="1985577" cy="224971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pc="-5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2F1F2F2-0C8C-2849-452C-847EBBA6B16C}"/>
                </a:ext>
              </a:extLst>
            </p:cNvPr>
            <p:cNvSpPr txBox="1"/>
            <p:nvPr/>
          </p:nvSpPr>
          <p:spPr>
            <a:xfrm>
              <a:off x="512511" y="5525632"/>
              <a:ext cx="1921340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서버를 직접 구매하고 운영하는 것이 아니라 필요 시 자원을 사용하는 형태</a:t>
              </a:r>
              <a:endParaRPr lang="en-US" altLang="ko-KR" sz="13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34" charset="-127"/>
                <a:ea typeface="NanumSquare" panose="020B0600000101010101" pitchFamily="34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0A1E277-8AF2-BFED-F42F-BDD0F4F113FD}"/>
                </a:ext>
              </a:extLst>
            </p:cNvPr>
            <p:cNvSpPr txBox="1"/>
            <p:nvPr/>
          </p:nvSpPr>
          <p:spPr>
            <a:xfrm>
              <a:off x="520986" y="4121152"/>
              <a:ext cx="19855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소유 → 사용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DDF0A2-62D6-72B1-FC76-892CDE135BCE}"/>
                </a:ext>
              </a:extLst>
            </p:cNvPr>
            <p:cNvSpPr txBox="1"/>
            <p:nvPr/>
          </p:nvSpPr>
          <p:spPr>
            <a:xfrm>
              <a:off x="520986" y="5185686"/>
              <a:ext cx="1985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자원의 사용</a:t>
              </a: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05AB3FE4-836F-64A4-E000-D0CAD32D131B}"/>
                </a:ext>
              </a:extLst>
            </p:cNvPr>
            <p:cNvCxnSpPr>
              <a:cxnSpLocks/>
            </p:cNvCxnSpPr>
            <p:nvPr/>
          </p:nvCxnSpPr>
          <p:spPr>
            <a:xfrm>
              <a:off x="650774" y="4517309"/>
              <a:ext cx="234243" cy="0"/>
            </a:xfrm>
            <a:prstGeom prst="line">
              <a:avLst/>
            </a:prstGeom>
            <a:ln w="38100" cap="rnd">
              <a:solidFill>
                <a:srgbClr val="03A94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66" name="Picture 2">
              <a:extLst>
                <a:ext uri="{FF2B5EF4-FFF2-40B4-BE49-F238E27FC236}">
                  <a16:creationId xmlns:a16="http://schemas.microsoft.com/office/drawing/2014/main" id="{1C05B292-0755-882A-4499-4BEEA921D8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4098" y="4080876"/>
              <a:ext cx="419107" cy="4191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8F6163EC-7DEB-A66A-1D21-A468491C9CDE}"/>
              </a:ext>
            </a:extLst>
          </p:cNvPr>
          <p:cNvGrpSpPr/>
          <p:nvPr/>
        </p:nvGrpSpPr>
        <p:grpSpPr>
          <a:xfrm>
            <a:off x="2771326" y="3929933"/>
            <a:ext cx="2037679" cy="2250261"/>
            <a:chOff x="2771326" y="3929933"/>
            <a:chExt cx="2037679" cy="2250261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8EF9EBFB-65DE-A5DE-8F83-8E74EF839019}"/>
                </a:ext>
              </a:extLst>
            </p:cNvPr>
            <p:cNvSpPr/>
            <p:nvPr/>
          </p:nvSpPr>
          <p:spPr>
            <a:xfrm>
              <a:off x="2771326" y="3929933"/>
              <a:ext cx="1985577" cy="224971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pc="-5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F578FA8-119C-5697-FF3C-DB30F1056A0C}"/>
                </a:ext>
              </a:extLst>
            </p:cNvPr>
            <p:cNvSpPr txBox="1"/>
            <p:nvPr/>
          </p:nvSpPr>
          <p:spPr>
            <a:xfrm>
              <a:off x="2823429" y="5487697"/>
              <a:ext cx="1933474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시스템 구축에 수 주</a:t>
              </a:r>
              <a:r>
                <a:rPr lang="en-US" altLang="ko-KR" sz="13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, </a:t>
              </a:r>
              <a:r>
                <a:rPr lang="ko-KR" altLang="en-US" sz="13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수 개월이 들었다면 몇 분 내 </a:t>
              </a:r>
              <a:r>
                <a:rPr lang="en-US" altLang="ko-KR" sz="13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VM </a:t>
              </a:r>
              <a:r>
                <a:rPr lang="ko-KR" altLang="en-US" sz="13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생성으로 전환</a:t>
              </a:r>
              <a:endParaRPr lang="en-US" altLang="ko-KR" sz="13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34" charset="-127"/>
                <a:ea typeface="NanumSquare" panose="020B0600000101010101" pitchFamily="34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2061ED2-3B14-60A4-DEFE-96987238D728}"/>
                </a:ext>
              </a:extLst>
            </p:cNvPr>
            <p:cNvSpPr txBox="1"/>
            <p:nvPr/>
          </p:nvSpPr>
          <p:spPr>
            <a:xfrm>
              <a:off x="2823429" y="4121152"/>
              <a:ext cx="19855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구축 → 생성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6AFC607-D751-D85A-CD46-97BE6E8168AC}"/>
                </a:ext>
              </a:extLst>
            </p:cNvPr>
            <p:cNvSpPr txBox="1"/>
            <p:nvPr/>
          </p:nvSpPr>
          <p:spPr>
            <a:xfrm>
              <a:off x="2823429" y="5147750"/>
              <a:ext cx="1985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바로 생성</a:t>
              </a:r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CEDF0D8A-E8B4-748A-AEB1-3F612C6C347B}"/>
                </a:ext>
              </a:extLst>
            </p:cNvPr>
            <p:cNvCxnSpPr>
              <a:cxnSpLocks/>
            </p:cNvCxnSpPr>
            <p:nvPr/>
          </p:nvCxnSpPr>
          <p:spPr>
            <a:xfrm>
              <a:off x="2963837" y="4479373"/>
              <a:ext cx="234243" cy="0"/>
            </a:xfrm>
            <a:prstGeom prst="line">
              <a:avLst/>
            </a:prstGeom>
            <a:ln w="38100" cap="rnd">
              <a:solidFill>
                <a:srgbClr val="03A94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68" name="Picture 4">
              <a:extLst>
                <a:ext uri="{FF2B5EF4-FFF2-40B4-BE49-F238E27FC236}">
                  <a16:creationId xmlns:a16="http://schemas.microsoft.com/office/drawing/2014/main" id="{667E6220-3AE1-56F7-C7B3-6EF2101F2F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49789" y="4081629"/>
              <a:ext cx="417600" cy="41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5CE08D4F-CED5-A6AB-9759-A64C3A9A5F93}"/>
              </a:ext>
            </a:extLst>
          </p:cNvPr>
          <p:cNvGrpSpPr/>
          <p:nvPr/>
        </p:nvGrpSpPr>
        <p:grpSpPr>
          <a:xfrm>
            <a:off x="5073769" y="3967868"/>
            <a:ext cx="2115105" cy="2249713"/>
            <a:chOff x="5073769" y="3967868"/>
            <a:chExt cx="2115105" cy="2249713"/>
          </a:xfrm>
        </p:grpSpPr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AC7D11C2-37F3-500A-7B5E-23BAF8F03854}"/>
                </a:ext>
              </a:extLst>
            </p:cNvPr>
            <p:cNvSpPr/>
            <p:nvPr/>
          </p:nvSpPr>
          <p:spPr>
            <a:xfrm>
              <a:off x="5073769" y="3967868"/>
              <a:ext cx="1985577" cy="224971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u="sng" spc="-50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3236178-68B9-2176-D0A3-6D17E029689C}"/>
                </a:ext>
              </a:extLst>
            </p:cNvPr>
            <p:cNvSpPr txBox="1"/>
            <p:nvPr/>
          </p:nvSpPr>
          <p:spPr>
            <a:xfrm>
              <a:off x="5105262" y="5487150"/>
              <a:ext cx="1954084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정해진 서버 용량에서 수용에 따라 편히 확장하고 축소 가능</a:t>
              </a:r>
              <a:endParaRPr lang="en-US" altLang="ko-KR" sz="13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34" charset="-127"/>
                <a:ea typeface="NanumSquare" panose="020B0600000101010101" pitchFamily="34" charset="-127"/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559B924-D16B-51DD-E0A4-E17DE1C0DB72}"/>
                </a:ext>
              </a:extLst>
            </p:cNvPr>
            <p:cNvSpPr txBox="1"/>
            <p:nvPr/>
          </p:nvSpPr>
          <p:spPr>
            <a:xfrm>
              <a:off x="5105261" y="4121152"/>
              <a:ext cx="208361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고정 → 유동 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4F47F4C-7C7E-C575-85A4-28F8213F56C2}"/>
                </a:ext>
              </a:extLst>
            </p:cNvPr>
            <p:cNvSpPr txBox="1"/>
            <p:nvPr/>
          </p:nvSpPr>
          <p:spPr>
            <a:xfrm>
              <a:off x="5105262" y="5147203"/>
              <a:ext cx="1985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자유로운 확장</a:t>
              </a:r>
              <a:r>
                <a:rPr lang="en-US" altLang="ko-KR" sz="1400" b="1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/</a:t>
              </a:r>
              <a:r>
                <a:rPr lang="ko-KR" altLang="en-US" sz="1400" b="1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축소</a:t>
              </a:r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47B2BB52-8849-7EF0-499C-9AFDBA807108}"/>
                </a:ext>
              </a:extLst>
            </p:cNvPr>
            <p:cNvCxnSpPr>
              <a:cxnSpLocks/>
            </p:cNvCxnSpPr>
            <p:nvPr/>
          </p:nvCxnSpPr>
          <p:spPr>
            <a:xfrm>
              <a:off x="5236648" y="4517308"/>
              <a:ext cx="234243" cy="0"/>
            </a:xfrm>
            <a:prstGeom prst="line">
              <a:avLst/>
            </a:prstGeom>
            <a:ln w="38100" cap="rnd">
              <a:solidFill>
                <a:srgbClr val="03A94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70" name="Picture 6">
              <a:extLst>
                <a:ext uri="{FF2B5EF4-FFF2-40B4-BE49-F238E27FC236}">
                  <a16:creationId xmlns:a16="http://schemas.microsoft.com/office/drawing/2014/main" id="{B61194C6-FCB5-E9A2-EBD0-6799D64B73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7710" y="4081629"/>
              <a:ext cx="417600" cy="41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14B337D-C5A8-DA23-FE29-745B194107F4}"/>
              </a:ext>
            </a:extLst>
          </p:cNvPr>
          <p:cNvGrpSpPr/>
          <p:nvPr/>
        </p:nvGrpSpPr>
        <p:grpSpPr>
          <a:xfrm>
            <a:off x="7453638" y="3967868"/>
            <a:ext cx="1996459" cy="2249713"/>
            <a:chOff x="7453638" y="3967868"/>
            <a:chExt cx="1996459" cy="2249713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E95C4DC8-63E3-9BB4-D141-8FE233D1811E}"/>
                </a:ext>
              </a:extLst>
            </p:cNvPr>
            <p:cNvSpPr/>
            <p:nvPr/>
          </p:nvSpPr>
          <p:spPr>
            <a:xfrm>
              <a:off x="7453638" y="3967868"/>
              <a:ext cx="1985577" cy="224971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pc="-5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388369D-DE71-B2DD-C439-C42049463111}"/>
                </a:ext>
              </a:extLst>
            </p:cNvPr>
            <p:cNvSpPr txBox="1"/>
            <p:nvPr/>
          </p:nvSpPr>
          <p:spPr>
            <a:xfrm>
              <a:off x="7464521" y="5487149"/>
              <a:ext cx="1974694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초기 투자 비용에서 서버를 사용한 만큼 비용을 지불하는 형태</a:t>
              </a:r>
              <a:endParaRPr lang="en-US" altLang="ko-KR" sz="13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34" charset="-127"/>
                <a:ea typeface="NanumSquare" panose="020B0600000101010101" pitchFamily="34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89E4320-4B7A-FBB3-AD33-FC7A6CCEE901}"/>
                </a:ext>
              </a:extLst>
            </p:cNvPr>
            <p:cNvSpPr txBox="1"/>
            <p:nvPr/>
          </p:nvSpPr>
          <p:spPr>
            <a:xfrm>
              <a:off x="7464521" y="4121152"/>
              <a:ext cx="18623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선투자</a:t>
              </a:r>
              <a:r>
                <a:rPr lang="ko-KR" altLang="en-US" sz="1600" b="1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 → 과금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DF9AA80-3F82-86EE-4F93-243116A2CF7F}"/>
                </a:ext>
              </a:extLst>
            </p:cNvPr>
            <p:cNvSpPr txBox="1"/>
            <p:nvPr/>
          </p:nvSpPr>
          <p:spPr>
            <a:xfrm>
              <a:off x="7464521" y="5147203"/>
              <a:ext cx="1985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사용한 만큼 지불</a:t>
              </a:r>
            </a:p>
          </p:txBody>
        </p: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078A2F55-7DEB-C164-F9EC-E10CEF13FBF4}"/>
                </a:ext>
              </a:extLst>
            </p:cNvPr>
            <p:cNvCxnSpPr>
              <a:cxnSpLocks/>
            </p:cNvCxnSpPr>
            <p:nvPr/>
          </p:nvCxnSpPr>
          <p:spPr>
            <a:xfrm>
              <a:off x="7610112" y="4517308"/>
              <a:ext cx="234243" cy="0"/>
            </a:xfrm>
            <a:prstGeom prst="line">
              <a:avLst/>
            </a:prstGeom>
            <a:ln w="38100" cap="rnd">
              <a:solidFill>
                <a:srgbClr val="03A94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1272" name="Picture 8">
              <a:extLst>
                <a:ext uri="{FF2B5EF4-FFF2-40B4-BE49-F238E27FC236}">
                  <a16:creationId xmlns:a16="http://schemas.microsoft.com/office/drawing/2014/main" id="{76FBA942-FFBE-17BA-0A31-07AED9334A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20156" y="4081629"/>
              <a:ext cx="417600" cy="41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9D6BE65-7E90-B8DF-69A5-5BD7EACE79D1}"/>
              </a:ext>
            </a:extLst>
          </p:cNvPr>
          <p:cNvGrpSpPr/>
          <p:nvPr/>
        </p:nvGrpSpPr>
        <p:grpSpPr>
          <a:xfrm>
            <a:off x="9714861" y="3967868"/>
            <a:ext cx="1996459" cy="2249713"/>
            <a:chOff x="9714861" y="3967868"/>
            <a:chExt cx="1996459" cy="2249713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BB38A31-45A5-97FB-4BDB-3F8495105C4D}"/>
                </a:ext>
              </a:extLst>
            </p:cNvPr>
            <p:cNvSpPr/>
            <p:nvPr/>
          </p:nvSpPr>
          <p:spPr>
            <a:xfrm>
              <a:off x="9714861" y="3967868"/>
              <a:ext cx="1985577" cy="224971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pc="-50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45C3B80-3B63-3A68-8DE0-BD057CD72AB7}"/>
                </a:ext>
              </a:extLst>
            </p:cNvPr>
            <p:cNvSpPr txBox="1"/>
            <p:nvPr/>
          </p:nvSpPr>
          <p:spPr>
            <a:xfrm>
              <a:off x="9725744" y="5487149"/>
              <a:ext cx="1974694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 b="1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물리적인 장비 중심의 운영에서 서비스</a:t>
              </a:r>
              <a:r>
                <a:rPr lang="en-US" altLang="ko-KR" sz="1300" b="1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, API </a:t>
              </a:r>
              <a:r>
                <a:rPr lang="ko-KR" altLang="en-US" sz="1300" b="1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기반 운영으로 변화</a:t>
              </a:r>
              <a:endParaRPr lang="en-US" altLang="ko-KR" sz="13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34" charset="-127"/>
                <a:ea typeface="NanumSquare" panose="020B0600000101010101" pitchFamily="34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714E68B-2972-9912-F855-8744AFE20732}"/>
                </a:ext>
              </a:extLst>
            </p:cNvPr>
            <p:cNvSpPr txBox="1"/>
            <p:nvPr/>
          </p:nvSpPr>
          <p:spPr>
            <a:xfrm>
              <a:off x="9725744" y="5147203"/>
              <a:ext cx="1985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서비스 기반 운영</a:t>
              </a: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781329B1-DC91-18CB-1546-3BCDC7AE4F9F}"/>
                </a:ext>
              </a:extLst>
            </p:cNvPr>
            <p:cNvCxnSpPr>
              <a:cxnSpLocks/>
            </p:cNvCxnSpPr>
            <p:nvPr/>
          </p:nvCxnSpPr>
          <p:spPr>
            <a:xfrm>
              <a:off x="9871335" y="4517308"/>
              <a:ext cx="234243" cy="0"/>
            </a:xfrm>
            <a:prstGeom prst="line">
              <a:avLst/>
            </a:prstGeom>
            <a:ln w="38100" cap="rnd">
              <a:solidFill>
                <a:srgbClr val="03A94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01C6CC-3F82-95B1-4DD8-A26F36E7D663}"/>
                </a:ext>
              </a:extLst>
            </p:cNvPr>
            <p:cNvSpPr txBox="1"/>
            <p:nvPr/>
          </p:nvSpPr>
          <p:spPr>
            <a:xfrm>
              <a:off x="9714861" y="4121152"/>
              <a:ext cx="18623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물리 → 서비스</a:t>
              </a:r>
            </a:p>
          </p:txBody>
        </p:sp>
        <p:pic>
          <p:nvPicPr>
            <p:cNvPr id="11274" name="Picture 10">
              <a:extLst>
                <a:ext uri="{FF2B5EF4-FFF2-40B4-BE49-F238E27FC236}">
                  <a16:creationId xmlns:a16="http://schemas.microsoft.com/office/drawing/2014/main" id="{883597A4-96A6-A0CB-3A6D-C1904D9216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57973" y="4081629"/>
              <a:ext cx="417600" cy="41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45621AD-CCF3-79CE-695E-6A1D41888C03}"/>
              </a:ext>
            </a:extLst>
          </p:cNvPr>
          <p:cNvSpPr txBox="1"/>
          <p:nvPr/>
        </p:nvSpPr>
        <p:spPr>
          <a:xfrm>
            <a:off x="3114603" y="2091327"/>
            <a:ext cx="8460970" cy="334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2000"/>
              </a:lnSpc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dirty="0"/>
              <a:t>클라우드는 </a:t>
            </a:r>
            <a:r>
              <a:rPr lang="en-US" altLang="ko-KR" dirty="0"/>
              <a:t>IT </a:t>
            </a:r>
            <a:r>
              <a:rPr lang="ko-KR" altLang="en-US" dirty="0"/>
              <a:t>자원을 필요할 때</a:t>
            </a:r>
            <a:r>
              <a:rPr lang="en-US" altLang="ko-KR" dirty="0"/>
              <a:t>, </a:t>
            </a:r>
            <a:r>
              <a:rPr lang="ko-KR" altLang="en-US" dirty="0"/>
              <a:t>필요한 만큼</a:t>
            </a:r>
            <a:r>
              <a:rPr lang="en-US" altLang="ko-KR" dirty="0"/>
              <a:t>, </a:t>
            </a:r>
            <a:r>
              <a:rPr lang="ko-KR" altLang="en-US" dirty="0"/>
              <a:t>빠르게 사용할 수 있도록 제공하는 새로운 컴퓨팅 패러다임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79944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44935A1-3424-CB61-DA19-D822DCF6E8EB}"/>
              </a:ext>
            </a:extLst>
          </p:cNvPr>
          <p:cNvSpPr/>
          <p:nvPr/>
        </p:nvSpPr>
        <p:spPr>
          <a:xfrm>
            <a:off x="512510" y="1222261"/>
            <a:ext cx="11255628" cy="2014517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2E6B56-8DCE-E87F-F903-1A3445714AF3}"/>
              </a:ext>
            </a:extLst>
          </p:cNvPr>
          <p:cNvSpPr txBox="1"/>
          <p:nvPr/>
        </p:nvSpPr>
        <p:spPr>
          <a:xfrm>
            <a:off x="616427" y="1650513"/>
            <a:ext cx="471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pc="-6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클라우드 컴퓨팅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5A6FB3-2D68-9275-7573-5BC00EE897C2}"/>
              </a:ext>
            </a:extLst>
          </p:cNvPr>
          <p:cNvSpPr txBox="1"/>
          <p:nvPr/>
        </p:nvSpPr>
        <p:spPr>
          <a:xfrm>
            <a:off x="3114602" y="1390833"/>
            <a:ext cx="8564887" cy="590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2000"/>
              </a:lnSpc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dirty="0"/>
              <a:t>물리적인 하드웨어 장비에서 독립적인 별도의 자원</a:t>
            </a:r>
            <a:r>
              <a:rPr lang="en-US" altLang="ko-KR" dirty="0"/>
              <a:t>(</a:t>
            </a:r>
            <a:r>
              <a:rPr lang="ko-KR" altLang="en-US" dirty="0"/>
              <a:t>서버 영역</a:t>
            </a:r>
            <a:r>
              <a:rPr lang="en-US" altLang="ko-KR" dirty="0"/>
              <a:t>, </a:t>
            </a:r>
            <a:r>
              <a:rPr lang="ko-KR" altLang="en-US" dirty="0"/>
              <a:t>네트워크 영역</a:t>
            </a:r>
            <a:r>
              <a:rPr lang="en-US" altLang="ko-KR" dirty="0"/>
              <a:t>, </a:t>
            </a:r>
            <a:r>
              <a:rPr lang="ko-KR" altLang="en-US" dirty="0"/>
              <a:t>스토리지 영역 등</a:t>
            </a:r>
            <a:r>
              <a:rPr lang="en-US" altLang="ko-KR" dirty="0"/>
              <a:t>)</a:t>
            </a:r>
            <a:r>
              <a:rPr lang="ko-KR" altLang="en-US" dirty="0"/>
              <a:t>을 생성할 수 있는</a:t>
            </a:r>
            <a:r>
              <a:rPr lang="en-US" altLang="ko-KR" dirty="0"/>
              <a:t> </a:t>
            </a:r>
            <a:r>
              <a:rPr lang="ko-KR" altLang="en-US" dirty="0"/>
              <a:t>가상화 기술을 토대로</a:t>
            </a:r>
            <a:r>
              <a:rPr lang="en-US" altLang="ko-KR" dirty="0"/>
              <a:t>, </a:t>
            </a:r>
            <a:r>
              <a:rPr lang="ko-KR" altLang="en-US" dirty="0"/>
              <a:t>자원의 확대와 축소를 가능하게 하여 사용자가 요구한 특정 자원만을 제공할 수 있는 </a:t>
            </a:r>
            <a:r>
              <a:rPr lang="en-US" altLang="ko-KR" dirty="0"/>
              <a:t>IT </a:t>
            </a:r>
            <a:r>
              <a:rPr lang="ko-KR" altLang="en-US" dirty="0"/>
              <a:t>환경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1D35A7-BDA3-CE61-D30F-1E99B39F03B6}"/>
              </a:ext>
            </a:extLst>
          </p:cNvPr>
          <p:cNvSpPr txBox="1"/>
          <p:nvPr/>
        </p:nvSpPr>
        <p:spPr>
          <a:xfrm>
            <a:off x="3114602" y="2366562"/>
            <a:ext cx="8564888" cy="590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indent="-144000"/>
            <a:r>
              <a:rPr lang="ko-KR" altLang="en-US" dirty="0"/>
              <a:t>인터넷을 통해 컴퓨팅 자원을 원하는 만큼 빌려 사용하고 부하에 따라 확장성을 지원받으며 사용한 만큼을 지불하는 컴퓨팅 환경</a:t>
            </a:r>
            <a:endParaRPr lang="en-US" altLang="ko-KR" dirty="0"/>
          </a:p>
        </p:txBody>
      </p:sp>
      <p:sp>
        <p:nvSpPr>
          <p:cNvPr id="43" name="사각형: 둥근 위쪽 모서리 42">
            <a:extLst>
              <a:ext uri="{FF2B5EF4-FFF2-40B4-BE49-F238E27FC236}">
                <a16:creationId xmlns:a16="http://schemas.microsoft.com/office/drawing/2014/main" id="{9932837C-6B85-57C5-9A3B-62F6E06CF07B}"/>
              </a:ext>
            </a:extLst>
          </p:cNvPr>
          <p:cNvSpPr/>
          <p:nvPr/>
        </p:nvSpPr>
        <p:spPr>
          <a:xfrm>
            <a:off x="458908" y="3444453"/>
            <a:ext cx="2209284" cy="415801"/>
          </a:xfrm>
          <a:prstGeom prst="round2SameRect">
            <a:avLst/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3E301F-0459-8F40-1044-299268375958}"/>
              </a:ext>
            </a:extLst>
          </p:cNvPr>
          <p:cNvSpPr txBox="1"/>
          <p:nvPr/>
        </p:nvSpPr>
        <p:spPr>
          <a:xfrm>
            <a:off x="552269" y="3479865"/>
            <a:ext cx="2022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pc="-60">
                <a:solidFill>
                  <a:schemeClr val="bg1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핵심 기술 구성 요소</a:t>
            </a:r>
            <a:endParaRPr lang="ko-KR" altLang="en-US" sz="1600" spc="-60" dirty="0">
              <a:solidFill>
                <a:schemeClr val="bg1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3B9BFCB5-E1A9-21E0-49D1-110CD6664EA9}"/>
              </a:ext>
            </a:extLst>
          </p:cNvPr>
          <p:cNvGrpSpPr/>
          <p:nvPr/>
        </p:nvGrpSpPr>
        <p:grpSpPr>
          <a:xfrm>
            <a:off x="448273" y="3967869"/>
            <a:ext cx="2613535" cy="2249713"/>
            <a:chOff x="448273" y="3967869"/>
            <a:chExt cx="2613535" cy="224971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AFD15BE-969F-D363-7568-C40D815C420E}"/>
                </a:ext>
              </a:extLst>
            </p:cNvPr>
            <p:cNvSpPr/>
            <p:nvPr/>
          </p:nvSpPr>
          <p:spPr>
            <a:xfrm>
              <a:off x="448273" y="3967869"/>
              <a:ext cx="2613535" cy="224971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pc="-5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D7DE2F5-0C39-74A2-C387-51E1C712AF30}"/>
                </a:ext>
              </a:extLst>
            </p:cNvPr>
            <p:cNvSpPr txBox="1"/>
            <p:nvPr/>
          </p:nvSpPr>
          <p:spPr>
            <a:xfrm>
              <a:off x="520986" y="5525632"/>
              <a:ext cx="198557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물리 서버 </a:t>
              </a:r>
              <a:r>
                <a:rPr lang="en-US" altLang="ko-KR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1</a:t>
              </a:r>
              <a:r>
                <a:rPr lang="ko-KR" altLang="en-US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대를 여러 개의 가상 서버로 나눠 사용</a:t>
              </a:r>
              <a:endParaRPr lang="en-US" altLang="ko-KR" sz="13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34" charset="-127"/>
                <a:ea typeface="NanumSquare" panose="020B0600000101010101" pitchFamily="34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BAF9F9C-07AA-E58A-75C6-3D81850ABB2E}"/>
                </a:ext>
              </a:extLst>
            </p:cNvPr>
            <p:cNvSpPr txBox="1"/>
            <p:nvPr/>
          </p:nvSpPr>
          <p:spPr>
            <a:xfrm>
              <a:off x="520986" y="4085889"/>
              <a:ext cx="19855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가상화</a:t>
              </a:r>
              <a:endParaRPr lang="ko-KR" altLang="en-US" sz="1600" b="1" dirty="0">
                <a:latin typeface="NanumSquare ExtraBold" panose="020B0600000101010101" pitchFamily="50" charset="-127"/>
                <a:ea typeface="NanumSquare ExtraBold" panose="020B0600000101010101" pitchFamily="50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2CD6E8C-AD36-D288-0B57-659AA53A41A5}"/>
                </a:ext>
              </a:extLst>
            </p:cNvPr>
            <p:cNvSpPr txBox="1"/>
            <p:nvPr/>
          </p:nvSpPr>
          <p:spPr>
            <a:xfrm>
              <a:off x="520986" y="5185686"/>
              <a:ext cx="1985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멀티 테넌시 실현</a:t>
              </a:r>
              <a:endPara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</p:txBody>
        </p: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5CB65643-1335-E840-E861-93C605AB4E5E}"/>
                </a:ext>
              </a:extLst>
            </p:cNvPr>
            <p:cNvCxnSpPr>
              <a:cxnSpLocks/>
            </p:cNvCxnSpPr>
            <p:nvPr/>
          </p:nvCxnSpPr>
          <p:spPr>
            <a:xfrm>
              <a:off x="650774" y="4517309"/>
              <a:ext cx="234243" cy="0"/>
            </a:xfrm>
            <a:prstGeom prst="line">
              <a:avLst/>
            </a:prstGeom>
            <a:ln w="38100" cap="rnd">
              <a:solidFill>
                <a:srgbClr val="03A94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55" name="그림 54">
              <a:extLst>
                <a:ext uri="{FF2B5EF4-FFF2-40B4-BE49-F238E27FC236}">
                  <a16:creationId xmlns:a16="http://schemas.microsoft.com/office/drawing/2014/main" id="{8743AB3F-C31D-CE90-3E66-F393BE3C6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alphaModFix amt="3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56617" y="4113873"/>
              <a:ext cx="534581" cy="534581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0B9593A-4C10-E3DD-9CFA-B67ABAADBAE2}"/>
              </a:ext>
            </a:extLst>
          </p:cNvPr>
          <p:cNvGrpSpPr/>
          <p:nvPr/>
        </p:nvGrpSpPr>
        <p:grpSpPr>
          <a:xfrm>
            <a:off x="3342246" y="3967869"/>
            <a:ext cx="2613535" cy="2249713"/>
            <a:chOff x="3274746" y="3967869"/>
            <a:chExt cx="2613535" cy="2249713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351975E-2890-65E5-5E11-3424E3433EF3}"/>
                </a:ext>
              </a:extLst>
            </p:cNvPr>
            <p:cNvSpPr/>
            <p:nvPr/>
          </p:nvSpPr>
          <p:spPr>
            <a:xfrm>
              <a:off x="3274746" y="3967869"/>
              <a:ext cx="2613535" cy="224971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pc="-5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E942DEE-573B-0E40-2AA3-5C4E18C13CED}"/>
                </a:ext>
              </a:extLst>
            </p:cNvPr>
            <p:cNvSpPr txBox="1"/>
            <p:nvPr/>
          </p:nvSpPr>
          <p:spPr>
            <a:xfrm>
              <a:off x="3326849" y="5525632"/>
              <a:ext cx="198557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데이터와 연산을 여러 </a:t>
              </a:r>
              <a:br>
                <a:rPr lang="en-US" altLang="ko-KR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</a:br>
              <a:r>
                <a:rPr lang="ko-KR" altLang="en-US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노드에 분산하여 처리</a:t>
              </a:r>
              <a:endParaRPr lang="en-US" altLang="ko-KR" sz="13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34" charset="-127"/>
                <a:ea typeface="NanumSquare" panose="020B0600000101010101" pitchFamily="34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9CEA584B-FC78-1D65-FC6D-407BC366D5AA}"/>
                </a:ext>
              </a:extLst>
            </p:cNvPr>
            <p:cNvSpPr txBox="1"/>
            <p:nvPr/>
          </p:nvSpPr>
          <p:spPr>
            <a:xfrm>
              <a:off x="3326849" y="4085889"/>
              <a:ext cx="19855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분산처리</a:t>
              </a:r>
              <a:endParaRPr lang="ko-KR" altLang="en-US" sz="1600" b="1" dirty="0">
                <a:latin typeface="NanumSquare ExtraBold" panose="020B0600000101010101" pitchFamily="50" charset="-127"/>
                <a:ea typeface="NanumSquare ExtraBold" panose="020B0600000101010101" pitchFamily="50" charset="-127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D5C5989-DA9E-B93B-748A-19613EF2FCCA}"/>
                </a:ext>
              </a:extLst>
            </p:cNvPr>
            <p:cNvSpPr txBox="1"/>
            <p:nvPr/>
          </p:nvSpPr>
          <p:spPr>
            <a:xfrm>
              <a:off x="3326849" y="5185686"/>
              <a:ext cx="1985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대용량</a:t>
              </a:r>
              <a:r>
                <a:rPr lang="en-US" altLang="ko-KR" sz="14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·</a:t>
              </a:r>
              <a:r>
                <a:rPr lang="ko-KR" altLang="en-US" sz="14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고속 처리</a:t>
              </a:r>
              <a:endPara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</p:txBody>
        </p: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A1150EA5-7091-6B7F-A93F-BEA208BE6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alphaModFix amt="3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84416" y="4181409"/>
              <a:ext cx="455158" cy="455158"/>
            </a:xfrm>
            <a:prstGeom prst="rect">
              <a:avLst/>
            </a:prstGeom>
          </p:spPr>
        </p:pic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C21118F0-5578-DD81-92C1-00E8C4E6FBC7}"/>
                </a:ext>
              </a:extLst>
            </p:cNvPr>
            <p:cNvCxnSpPr>
              <a:cxnSpLocks/>
            </p:cNvCxnSpPr>
            <p:nvPr/>
          </p:nvCxnSpPr>
          <p:spPr>
            <a:xfrm>
              <a:off x="3467257" y="4517309"/>
              <a:ext cx="234243" cy="0"/>
            </a:xfrm>
            <a:prstGeom prst="line">
              <a:avLst/>
            </a:prstGeom>
            <a:ln w="38100" cap="rnd">
              <a:solidFill>
                <a:srgbClr val="03A94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2DED8E4-FAAA-EAA5-16C3-6BA470755C3C}"/>
              </a:ext>
            </a:extLst>
          </p:cNvPr>
          <p:cNvGrpSpPr/>
          <p:nvPr/>
        </p:nvGrpSpPr>
        <p:grpSpPr>
          <a:xfrm>
            <a:off x="6236219" y="3967869"/>
            <a:ext cx="2613535" cy="2249713"/>
            <a:chOff x="6101219" y="3967869"/>
            <a:chExt cx="2613535" cy="2249713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7891610-D0C0-2BD9-1C1F-B57BA0B38161}"/>
                </a:ext>
              </a:extLst>
            </p:cNvPr>
            <p:cNvSpPr/>
            <p:nvPr/>
          </p:nvSpPr>
          <p:spPr>
            <a:xfrm>
              <a:off x="6101219" y="3967869"/>
              <a:ext cx="2613535" cy="224971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u="sng" spc="-5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CDBDE01-3C9B-F22B-71D1-3DBA4628AC88}"/>
                </a:ext>
              </a:extLst>
            </p:cNvPr>
            <p:cNvSpPr txBox="1"/>
            <p:nvPr/>
          </p:nvSpPr>
          <p:spPr>
            <a:xfrm>
              <a:off x="6132712" y="5487150"/>
              <a:ext cx="198557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자원 프로비저닝</a:t>
              </a:r>
              <a:r>
                <a:rPr lang="en-US" altLang="ko-KR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, </a:t>
              </a:r>
              <a:r>
                <a:rPr lang="ko-KR" altLang="en-US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패치</a:t>
              </a:r>
              <a:r>
                <a:rPr lang="en-US" altLang="ko-KR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, </a:t>
              </a:r>
              <a:br>
                <a:rPr lang="en-US" altLang="ko-KR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</a:br>
              <a:r>
                <a:rPr lang="ko-KR" altLang="en-US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백업을 자동 수행</a:t>
              </a:r>
              <a:endParaRPr lang="en-US" altLang="ko-KR" sz="130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34" charset="-127"/>
                <a:ea typeface="NanumSquare" panose="020B0600000101010101" pitchFamily="34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F39B694-DB87-9B45-36BE-3C6F56CAAFA4}"/>
                </a:ext>
              </a:extLst>
            </p:cNvPr>
            <p:cNvSpPr txBox="1"/>
            <p:nvPr/>
          </p:nvSpPr>
          <p:spPr>
            <a:xfrm>
              <a:off x="6132712" y="4085889"/>
              <a:ext cx="19855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자동화</a:t>
              </a:r>
              <a:endParaRPr lang="ko-KR" altLang="en-US" sz="1600" b="1" dirty="0">
                <a:latin typeface="NanumSquare ExtraBold" panose="020B0600000101010101" pitchFamily="50" charset="-127"/>
                <a:ea typeface="NanumSquare ExtraBold" panose="020B0600000101010101" pitchFamily="50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EAC07FC-14C8-F59A-3C61-92EBAB55A8AD}"/>
                </a:ext>
              </a:extLst>
            </p:cNvPr>
            <p:cNvSpPr txBox="1"/>
            <p:nvPr/>
          </p:nvSpPr>
          <p:spPr>
            <a:xfrm>
              <a:off x="6132712" y="5147204"/>
              <a:ext cx="1985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운영 효율화</a:t>
              </a:r>
              <a:endPara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</p:txBody>
        </p:sp>
        <p:pic>
          <p:nvPicPr>
            <p:cNvPr id="57" name="그림 56">
              <a:extLst>
                <a:ext uri="{FF2B5EF4-FFF2-40B4-BE49-F238E27FC236}">
                  <a16:creationId xmlns:a16="http://schemas.microsoft.com/office/drawing/2014/main" id="{B8C2D886-9C76-DB1C-CE24-8B3BEF1E026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64168" y="4143291"/>
              <a:ext cx="555168" cy="555168"/>
            </a:xfrm>
            <a:prstGeom prst="rect">
              <a:avLst/>
            </a:prstGeom>
          </p:spPr>
        </p:pic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76BF9006-BCDD-A098-71A8-DE305AB5754A}"/>
                </a:ext>
              </a:extLst>
            </p:cNvPr>
            <p:cNvCxnSpPr>
              <a:cxnSpLocks/>
            </p:cNvCxnSpPr>
            <p:nvPr/>
          </p:nvCxnSpPr>
          <p:spPr>
            <a:xfrm>
              <a:off x="6264098" y="4517309"/>
              <a:ext cx="234243" cy="0"/>
            </a:xfrm>
            <a:prstGeom prst="line">
              <a:avLst/>
            </a:prstGeom>
            <a:ln w="38100" cap="rnd">
              <a:solidFill>
                <a:srgbClr val="03A94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9CB26B70-F543-F333-0E9F-5B44257136C6}"/>
              </a:ext>
            </a:extLst>
          </p:cNvPr>
          <p:cNvGrpSpPr/>
          <p:nvPr/>
        </p:nvGrpSpPr>
        <p:grpSpPr>
          <a:xfrm>
            <a:off x="9130192" y="3967868"/>
            <a:ext cx="2613535" cy="2249713"/>
            <a:chOff x="8927691" y="3967869"/>
            <a:chExt cx="2613535" cy="2249713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8BF1412-6C36-FDC6-889D-B268D3399016}"/>
                </a:ext>
              </a:extLst>
            </p:cNvPr>
            <p:cNvSpPr/>
            <p:nvPr/>
          </p:nvSpPr>
          <p:spPr>
            <a:xfrm>
              <a:off x="8927691" y="3967869"/>
              <a:ext cx="2613535" cy="224971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pc="-5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C26C3DB-0242-5958-D879-F7AC1480E361}"/>
                </a:ext>
              </a:extLst>
            </p:cNvPr>
            <p:cNvSpPr txBox="1"/>
            <p:nvPr/>
          </p:nvSpPr>
          <p:spPr>
            <a:xfrm>
              <a:off x="8938574" y="5487150"/>
              <a:ext cx="1985576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수요에 따라 자원을 </a:t>
              </a:r>
              <a:br>
                <a:rPr lang="en-US" altLang="ko-KR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</a:br>
              <a:r>
                <a:rPr lang="ko-KR" altLang="en-US" sz="130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스케일 </a:t>
              </a:r>
              <a:r>
                <a:rPr lang="ko-KR" altLang="en-US" sz="13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업</a:t>
              </a:r>
              <a:r>
                <a:rPr lang="en-US" altLang="ko-KR" sz="13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/</a:t>
              </a:r>
              <a:r>
                <a:rPr lang="ko-KR" altLang="en-US" sz="13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아웃</a:t>
              </a:r>
              <a:r>
                <a:rPr lang="en-US" altLang="ko-KR" sz="13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/, </a:t>
              </a:r>
              <a:r>
                <a:rPr lang="ko-KR" altLang="en-US" sz="13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다운</a:t>
              </a:r>
              <a:r>
                <a:rPr lang="en-US" altLang="ko-KR" sz="13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/</a:t>
              </a:r>
              <a:r>
                <a:rPr lang="ko-KR" altLang="en-US" sz="13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34" charset="-127"/>
                  <a:ea typeface="NanumSquare" panose="020B0600000101010101" pitchFamily="34" charset="-127"/>
                </a:rPr>
                <a:t>인</a:t>
              </a:r>
              <a:endParaRPr lang="en-US" altLang="ko-KR" sz="13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34" charset="-127"/>
                <a:ea typeface="NanumSquare" panose="020B0600000101010101" pitchFamily="34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679A6CF-A83A-05F4-E37F-7A96A8BC1D3E}"/>
                </a:ext>
              </a:extLst>
            </p:cNvPr>
            <p:cNvSpPr txBox="1"/>
            <p:nvPr/>
          </p:nvSpPr>
          <p:spPr>
            <a:xfrm>
              <a:off x="8938574" y="4085889"/>
              <a:ext cx="19855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최적화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4BAD5E1-F998-4CD3-244D-7E5C77338C4A}"/>
                </a:ext>
              </a:extLst>
            </p:cNvPr>
            <p:cNvSpPr txBox="1"/>
            <p:nvPr/>
          </p:nvSpPr>
          <p:spPr>
            <a:xfrm>
              <a:off x="8938574" y="5147204"/>
              <a:ext cx="19855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rPr>
                <a:t>비용 최적화</a:t>
              </a:r>
              <a:endParaRPr lang="ko-KR" altLang="en-US" sz="1400" b="1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</p:txBody>
        </p:sp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4E5A7010-57BD-EC86-D503-483E8EE998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77928" y="4193297"/>
              <a:ext cx="492444" cy="492444"/>
            </a:xfrm>
            <a:prstGeom prst="rect">
              <a:avLst/>
            </a:prstGeom>
          </p:spPr>
        </p:pic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C937714-ACAD-08F3-D3DB-9D3B17596E6A}"/>
                </a:ext>
              </a:extLst>
            </p:cNvPr>
            <p:cNvCxnSpPr>
              <a:cxnSpLocks/>
            </p:cNvCxnSpPr>
            <p:nvPr/>
          </p:nvCxnSpPr>
          <p:spPr>
            <a:xfrm>
              <a:off x="9084165" y="4517309"/>
              <a:ext cx="234243" cy="0"/>
            </a:xfrm>
            <a:prstGeom prst="line">
              <a:avLst/>
            </a:prstGeom>
            <a:ln w="38100" cap="rnd">
              <a:solidFill>
                <a:srgbClr val="03A94D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4EA133DE-1B15-8E03-8A01-2B755CAD91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9" y="1342142"/>
            <a:ext cx="325260" cy="32526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03B57DE-99C2-1896-A3B6-68097F60C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517394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1.1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개요</a:t>
            </a:r>
          </a:p>
        </p:txBody>
      </p:sp>
    </p:spTree>
    <p:extLst>
      <p:ext uri="{BB962C8B-B14F-4D97-AF65-F5344CB8AC3E}">
        <p14:creationId xmlns:p14="http://schemas.microsoft.com/office/powerpoint/2010/main" val="417840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C44935A1-3424-CB61-DA19-D822DCF6E8EB}"/>
              </a:ext>
            </a:extLst>
          </p:cNvPr>
          <p:cNvSpPr/>
          <p:nvPr/>
        </p:nvSpPr>
        <p:spPr>
          <a:xfrm>
            <a:off x="512510" y="1222261"/>
            <a:ext cx="11255628" cy="2014517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2E6B56-8DCE-E87F-F903-1A3445714AF3}"/>
              </a:ext>
            </a:extLst>
          </p:cNvPr>
          <p:cNvSpPr txBox="1"/>
          <p:nvPr/>
        </p:nvSpPr>
        <p:spPr>
          <a:xfrm>
            <a:off x="616427" y="1650513"/>
            <a:ext cx="471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pc="-6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클라우드 서비스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5A6FB3-2D68-9275-7573-5BC00EE897C2}"/>
              </a:ext>
            </a:extLst>
          </p:cNvPr>
          <p:cNvSpPr txBox="1"/>
          <p:nvPr/>
        </p:nvSpPr>
        <p:spPr>
          <a:xfrm>
            <a:off x="3114603" y="1390833"/>
            <a:ext cx="8460970" cy="632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2000"/>
              </a:lnSpc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76213" indent="-176213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하드웨어나 소프트웨어 등을 직접 구축하지 않고</a:t>
            </a:r>
            <a:r>
              <a:rPr lang="en-US" altLang="ko-KR" dirty="0"/>
              <a:t>, </a:t>
            </a:r>
            <a:r>
              <a:rPr lang="ko-KR" altLang="en-US" dirty="0"/>
              <a:t>제 </a:t>
            </a:r>
            <a:r>
              <a:rPr lang="en-US" altLang="ko-KR" dirty="0"/>
              <a:t>2</a:t>
            </a:r>
            <a:r>
              <a:rPr lang="ko-KR" altLang="en-US" dirty="0"/>
              <a:t>의 전문업체 </a:t>
            </a:r>
            <a:r>
              <a:rPr lang="en-US" altLang="ko-KR" dirty="0"/>
              <a:t>(CSP) </a:t>
            </a:r>
            <a:r>
              <a:rPr lang="ko-KR" altLang="en-US" dirty="0"/>
              <a:t>로부터 인터넷을 통해 필요한 </a:t>
            </a:r>
            <a:r>
              <a:rPr lang="en-US" altLang="ko-KR" dirty="0"/>
              <a:t>IT </a:t>
            </a:r>
            <a:r>
              <a:rPr lang="ko-KR" altLang="en-US" dirty="0"/>
              <a:t>자원을 원하는 만큼 받아 즉시 사용하고 사용한 시간만큼 비용을 지불하면 되는 서비스</a:t>
            </a:r>
            <a:endParaRPr lang="en-US" altLang="ko-KR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1D35A7-BDA3-CE61-D30F-1E99B39F03B6}"/>
              </a:ext>
            </a:extLst>
          </p:cNvPr>
          <p:cNvSpPr txBox="1"/>
          <p:nvPr/>
        </p:nvSpPr>
        <p:spPr>
          <a:xfrm>
            <a:off x="3114602" y="2366562"/>
            <a:ext cx="8564888" cy="334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indent="-144000"/>
            <a:r>
              <a:rPr lang="ko-KR" altLang="en-US" dirty="0"/>
              <a:t>클라우드 컴퓨팅 기술을 이용해서 만든 상품 </a:t>
            </a:r>
            <a:r>
              <a:rPr lang="en-US" altLang="ko-KR" dirty="0"/>
              <a:t>– IT</a:t>
            </a:r>
            <a:r>
              <a:rPr lang="ko-KR" altLang="en-US" dirty="0"/>
              <a:t> 자원을 비즈니스 모델로 상품화하여 제공하는 것</a:t>
            </a:r>
            <a:endParaRPr lang="en-US" altLang="ko-KR" dirty="0"/>
          </a:p>
        </p:txBody>
      </p:sp>
      <p:sp>
        <p:nvSpPr>
          <p:cNvPr id="43" name="사각형: 둥근 위쪽 모서리 42">
            <a:extLst>
              <a:ext uri="{FF2B5EF4-FFF2-40B4-BE49-F238E27FC236}">
                <a16:creationId xmlns:a16="http://schemas.microsoft.com/office/drawing/2014/main" id="{9932837C-6B85-57C5-9A3B-62F6E06CF07B}"/>
              </a:ext>
            </a:extLst>
          </p:cNvPr>
          <p:cNvSpPr/>
          <p:nvPr/>
        </p:nvSpPr>
        <p:spPr>
          <a:xfrm>
            <a:off x="458908" y="3444453"/>
            <a:ext cx="2209284" cy="415801"/>
          </a:xfrm>
          <a:prstGeom prst="round2SameRect">
            <a:avLst/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43E301F-0459-8F40-1044-299268375958}"/>
              </a:ext>
            </a:extLst>
          </p:cNvPr>
          <p:cNvSpPr txBox="1"/>
          <p:nvPr/>
        </p:nvSpPr>
        <p:spPr>
          <a:xfrm>
            <a:off x="552269" y="3479865"/>
            <a:ext cx="20225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spc="-60">
                <a:solidFill>
                  <a:schemeClr val="bg1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핵심 기술 구성 요소</a:t>
            </a:r>
            <a:endParaRPr lang="ko-KR" altLang="en-US" sz="1600" spc="-60" dirty="0">
              <a:solidFill>
                <a:schemeClr val="bg1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4EA133DE-1B15-8E03-8A01-2B755CAD91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9" y="1342142"/>
            <a:ext cx="325260" cy="325260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89103AD8-00D1-7B7F-7315-090459043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517394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1.1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개요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6EC5296-8033-6062-AEEE-409BFF27632D}"/>
              </a:ext>
            </a:extLst>
          </p:cNvPr>
          <p:cNvGrpSpPr/>
          <p:nvPr/>
        </p:nvGrpSpPr>
        <p:grpSpPr>
          <a:xfrm>
            <a:off x="438659" y="3991950"/>
            <a:ext cx="3367882" cy="2249713"/>
            <a:chOff x="438659" y="3991950"/>
            <a:chExt cx="3367882" cy="2249713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3B9BFCB5-E1A9-21E0-49D1-110CD6664EA9}"/>
                </a:ext>
              </a:extLst>
            </p:cNvPr>
            <p:cNvGrpSpPr/>
            <p:nvPr/>
          </p:nvGrpSpPr>
          <p:grpSpPr>
            <a:xfrm>
              <a:off x="438659" y="3991950"/>
              <a:ext cx="3367882" cy="2249713"/>
              <a:chOff x="448273" y="3967869"/>
              <a:chExt cx="2613535" cy="2249713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CAFD15BE-969F-D363-7568-C40D815C420E}"/>
                  </a:ext>
                </a:extLst>
              </p:cNvPr>
              <p:cNvSpPr/>
              <p:nvPr/>
            </p:nvSpPr>
            <p:spPr>
              <a:xfrm>
                <a:off x="448273" y="3967869"/>
                <a:ext cx="2613535" cy="224971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pc="-50" dirty="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D7DE2F5-0C39-74A2-C387-51E1C712AF30}"/>
                  </a:ext>
                </a:extLst>
              </p:cNvPr>
              <p:cNvSpPr txBox="1"/>
              <p:nvPr/>
            </p:nvSpPr>
            <p:spPr>
              <a:xfrm>
                <a:off x="520986" y="5525632"/>
                <a:ext cx="2540822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클라우드 서비스를 이용하는 기업 또는</a:t>
                </a:r>
                <a:r>
                  <a:rPr lang="en-US" altLang="ko-KR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 </a:t>
                </a:r>
                <a:r>
                  <a:rPr lang="ko-KR" altLang="en-US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개인</a:t>
                </a:r>
                <a:br>
                  <a:rPr lang="en-US" altLang="ko-KR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</a:br>
                <a:r>
                  <a:rPr lang="ko-KR" altLang="en-US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자원을 임대하여 비즈니스에 활용</a:t>
                </a:r>
                <a:endParaRPr lang="en-US" altLang="ko-KR" sz="1300" dirty="0">
                  <a:latin typeface="NanumSquare" panose="020B0600000101010101" pitchFamily="34" charset="-127"/>
                  <a:ea typeface="NanumSquare" panose="020B0600000101010101" pitchFamily="34" charset="-127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BAF9F9C-07AA-E58A-75C6-3D81850ABB2E}"/>
                  </a:ext>
                </a:extLst>
              </p:cNvPr>
              <p:cNvSpPr txBox="1"/>
              <p:nvPr/>
            </p:nvSpPr>
            <p:spPr>
              <a:xfrm>
                <a:off x="520986" y="4085889"/>
                <a:ext cx="19855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NanumSquare ExtraBold" panose="020B0600000101010101" pitchFamily="50" charset="-127"/>
                    <a:ea typeface="NanumSquare ExtraBold" panose="020B0600000101010101" pitchFamily="50" charset="-127"/>
                  </a:rPr>
                  <a:t>일반기업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2CD6E8C-AD36-D288-0B57-659AA53A41A5}"/>
                  </a:ext>
                </a:extLst>
              </p:cNvPr>
              <p:cNvSpPr txBox="1"/>
              <p:nvPr/>
            </p:nvSpPr>
            <p:spPr>
              <a:xfrm>
                <a:off x="520986" y="5185686"/>
                <a:ext cx="19855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latin typeface="NanumSquare" panose="020B0600000101010101" pitchFamily="50" charset="-127"/>
                    <a:ea typeface="NanumSquare" panose="020B0600000101010101" pitchFamily="50" charset="-127"/>
                  </a:rPr>
                  <a:t>서비스를 사용하는 고객</a:t>
                </a:r>
              </a:p>
            </p:txBody>
          </p:sp>
          <p:cxnSp>
            <p:nvCxnSpPr>
              <p:cNvPr id="54" name="직선 연결선 53">
                <a:extLst>
                  <a:ext uri="{FF2B5EF4-FFF2-40B4-BE49-F238E27FC236}">
                    <a16:creationId xmlns:a16="http://schemas.microsoft.com/office/drawing/2014/main" id="{5CB65643-1335-E840-E861-93C605AB4E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0774" y="4517309"/>
                <a:ext cx="234243" cy="0"/>
              </a:xfrm>
              <a:prstGeom prst="line">
                <a:avLst/>
              </a:prstGeom>
              <a:ln w="38100" cap="rnd">
                <a:solidFill>
                  <a:srgbClr val="03A9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362" name="Picture 2">
              <a:extLst>
                <a:ext uri="{FF2B5EF4-FFF2-40B4-BE49-F238E27FC236}">
                  <a16:creationId xmlns:a16="http://schemas.microsoft.com/office/drawing/2014/main" id="{2F92C22F-79F7-5E35-9277-7F13D97037D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44466" y="4144432"/>
              <a:ext cx="417600" cy="41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D145508-BB26-F837-4E71-268707A9D02F}"/>
              </a:ext>
            </a:extLst>
          </p:cNvPr>
          <p:cNvGrpSpPr/>
          <p:nvPr/>
        </p:nvGrpSpPr>
        <p:grpSpPr>
          <a:xfrm>
            <a:off x="4419458" y="3991950"/>
            <a:ext cx="3367882" cy="2249713"/>
            <a:chOff x="4419458" y="3991950"/>
            <a:chExt cx="3367882" cy="2249713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50B9593A-4C10-E3DD-9CFA-B67ABAADBAE2}"/>
                </a:ext>
              </a:extLst>
            </p:cNvPr>
            <p:cNvGrpSpPr/>
            <p:nvPr/>
          </p:nvGrpSpPr>
          <p:grpSpPr>
            <a:xfrm>
              <a:off x="4419458" y="3991950"/>
              <a:ext cx="3367882" cy="2249713"/>
              <a:chOff x="3274746" y="3967869"/>
              <a:chExt cx="2613535" cy="2249713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F351975E-2890-65E5-5E11-3424E3433EF3}"/>
                  </a:ext>
                </a:extLst>
              </p:cNvPr>
              <p:cNvSpPr/>
              <p:nvPr/>
            </p:nvSpPr>
            <p:spPr>
              <a:xfrm>
                <a:off x="3274746" y="3967869"/>
                <a:ext cx="2613535" cy="224971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pc="-50" dirty="0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E942DEE-573B-0E40-2AA3-5C4E18C13CED}"/>
                  </a:ext>
                </a:extLst>
              </p:cNvPr>
              <p:cNvSpPr txBox="1"/>
              <p:nvPr/>
            </p:nvSpPr>
            <p:spPr>
              <a:xfrm>
                <a:off x="3326849" y="5525632"/>
                <a:ext cx="247827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AWS, Azure, NCP </a:t>
                </a:r>
                <a:r>
                  <a:rPr lang="ko-KR" altLang="en-US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등 서버</a:t>
                </a:r>
                <a:r>
                  <a:rPr lang="en-US" altLang="ko-KR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·</a:t>
                </a:r>
                <a:r>
                  <a:rPr lang="ko-KR" altLang="en-US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스토리지 등 자원을 소유</a:t>
                </a:r>
                <a:r>
                  <a:rPr lang="en-US" altLang="ko-KR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,</a:t>
                </a:r>
                <a:r>
                  <a:rPr lang="ko-KR" altLang="en-US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 관리</a:t>
                </a:r>
                <a:r>
                  <a:rPr lang="en-US" altLang="ko-KR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, </a:t>
                </a:r>
                <a:r>
                  <a:rPr lang="ko-KR" altLang="en-US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운영</a:t>
                </a:r>
                <a:endParaRPr lang="en-US" altLang="ko-KR" sz="1300" dirty="0">
                  <a:latin typeface="NanumSquare" panose="020B0600000101010101" pitchFamily="34" charset="-127"/>
                  <a:ea typeface="NanumSquare" panose="020B0600000101010101" pitchFamily="34" charset="-127"/>
                </a:endParaRP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CEA584B-FC78-1D65-FC6D-407BC366D5AA}"/>
                  </a:ext>
                </a:extLst>
              </p:cNvPr>
              <p:cNvSpPr txBox="1"/>
              <p:nvPr/>
            </p:nvSpPr>
            <p:spPr>
              <a:xfrm>
                <a:off x="3326849" y="4085889"/>
                <a:ext cx="19855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NanumSquare ExtraBold" panose="020B0600000101010101" pitchFamily="50" charset="-127"/>
                    <a:ea typeface="NanumSquare ExtraBold" panose="020B0600000101010101" pitchFamily="50" charset="-127"/>
                  </a:rPr>
                  <a:t>서비스 제공자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D5C5989-DA9E-B93B-748A-19613EF2FCCA}"/>
                  </a:ext>
                </a:extLst>
              </p:cNvPr>
              <p:cNvSpPr txBox="1"/>
              <p:nvPr/>
            </p:nvSpPr>
            <p:spPr>
              <a:xfrm>
                <a:off x="3326849" y="5185686"/>
                <a:ext cx="19855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latin typeface="NanumSquare" panose="020B0600000101010101" pitchFamily="50" charset="-127"/>
                    <a:ea typeface="NanumSquare" panose="020B0600000101010101" pitchFamily="50" charset="-127"/>
                  </a:rPr>
                  <a:t>서비스를 제공하는 </a:t>
                </a:r>
                <a:r>
                  <a:rPr lang="en-US" altLang="ko-KR" sz="1400" b="1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latin typeface="NanumSquare" panose="020B0600000101010101" pitchFamily="50" charset="-127"/>
                    <a:ea typeface="NanumSquare" panose="020B0600000101010101" pitchFamily="50" charset="-127"/>
                  </a:rPr>
                  <a:t>CSP</a:t>
                </a:r>
                <a:endParaRPr lang="ko-KR" altLang="en-US" sz="1400" b="1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latin typeface="NanumSquare" panose="020B0600000101010101" pitchFamily="50" charset="-127"/>
                  <a:ea typeface="NanumSquare" panose="020B0600000101010101" pitchFamily="50" charset="-127"/>
                </a:endParaRPr>
              </a:p>
            </p:txBody>
          </p: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C21118F0-5578-DD81-92C1-00E8C4E6FB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67257" y="4517309"/>
                <a:ext cx="234243" cy="0"/>
              </a:xfrm>
              <a:prstGeom prst="line">
                <a:avLst/>
              </a:prstGeom>
              <a:ln w="38100" cap="rnd">
                <a:solidFill>
                  <a:srgbClr val="03A9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364" name="Picture 4">
              <a:extLst>
                <a:ext uri="{FF2B5EF4-FFF2-40B4-BE49-F238E27FC236}">
                  <a16:creationId xmlns:a16="http://schemas.microsoft.com/office/drawing/2014/main" id="{4A0AE9D1-F4F8-EA32-B257-E18F8A869A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49848" y="4109566"/>
              <a:ext cx="417600" cy="41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6CD041AA-9564-C069-5890-8F1A69C0474A}"/>
              </a:ext>
            </a:extLst>
          </p:cNvPr>
          <p:cNvGrpSpPr/>
          <p:nvPr/>
        </p:nvGrpSpPr>
        <p:grpSpPr>
          <a:xfrm>
            <a:off x="8400257" y="3991950"/>
            <a:ext cx="3367882" cy="2249713"/>
            <a:chOff x="8400257" y="3991950"/>
            <a:chExt cx="3367882" cy="2249713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CB26B70-F543-F333-0E9F-5B44257136C6}"/>
                </a:ext>
              </a:extLst>
            </p:cNvPr>
            <p:cNvGrpSpPr/>
            <p:nvPr/>
          </p:nvGrpSpPr>
          <p:grpSpPr>
            <a:xfrm>
              <a:off x="8400257" y="3991950"/>
              <a:ext cx="3367882" cy="2249713"/>
              <a:chOff x="8927691" y="3967869"/>
              <a:chExt cx="2613535" cy="2249713"/>
            </a:xfrm>
          </p:grpSpPr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18BF1412-6C36-FDC6-889D-B268D3399016}"/>
                  </a:ext>
                </a:extLst>
              </p:cNvPr>
              <p:cNvSpPr/>
              <p:nvPr/>
            </p:nvSpPr>
            <p:spPr>
              <a:xfrm>
                <a:off x="8927691" y="3967869"/>
                <a:ext cx="2613535" cy="2249713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spc="-50" dirty="0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C26C3DB-0242-5958-D879-F7AC1480E361}"/>
                  </a:ext>
                </a:extLst>
              </p:cNvPr>
              <p:cNvSpPr txBox="1"/>
              <p:nvPr/>
            </p:nvSpPr>
            <p:spPr>
              <a:xfrm>
                <a:off x="8938574" y="5487150"/>
                <a:ext cx="2453218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300" dirty="0" err="1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할당받은</a:t>
                </a:r>
                <a:r>
                  <a:rPr lang="ko-KR" altLang="en-US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 </a:t>
                </a:r>
                <a:r>
                  <a:rPr lang="en-US" altLang="ko-KR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VM</a:t>
                </a:r>
                <a:r>
                  <a:rPr lang="ko-KR" altLang="en-US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을 내부 팀에 </a:t>
                </a:r>
                <a:endParaRPr lang="en-US" altLang="ko-KR" sz="1300" dirty="0">
                  <a:latin typeface="NanumSquare" panose="020B0600000101010101" pitchFamily="34" charset="-127"/>
                  <a:ea typeface="NanumSquare" panose="020B0600000101010101" pitchFamily="34" charset="-127"/>
                </a:endParaRPr>
              </a:p>
              <a:p>
                <a:r>
                  <a:rPr lang="ko-KR" altLang="en-US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분배</a:t>
                </a:r>
                <a:r>
                  <a:rPr lang="en-US" altLang="ko-KR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·</a:t>
                </a:r>
                <a:r>
                  <a:rPr lang="ko-KR" altLang="en-US" sz="1300" dirty="0">
                    <a:latin typeface="NanumSquare" panose="020B0600000101010101" pitchFamily="34" charset="-127"/>
                    <a:ea typeface="NanumSquare" panose="020B0600000101010101" pitchFamily="34" charset="-127"/>
                  </a:rPr>
                  <a:t>관리하는 조직 내 클라우드 담당자</a:t>
                </a:r>
                <a:endParaRPr lang="en-US" altLang="ko-KR" sz="1300" dirty="0">
                  <a:latin typeface="NanumSquare" panose="020B0600000101010101" pitchFamily="34" charset="-127"/>
                  <a:ea typeface="NanumSquare" panose="020B0600000101010101" pitchFamily="34" charset="-127"/>
                </a:endParaRP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679A6CF-A83A-05F4-E37F-7A96A8BC1D3E}"/>
                  </a:ext>
                </a:extLst>
              </p:cNvPr>
              <p:cNvSpPr txBox="1"/>
              <p:nvPr/>
            </p:nvSpPr>
            <p:spPr>
              <a:xfrm>
                <a:off x="8938574" y="4085889"/>
                <a:ext cx="19855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600" b="1" dirty="0">
                    <a:latin typeface="NanumSquare ExtraBold" panose="020B0600000101010101" pitchFamily="50" charset="-127"/>
                    <a:ea typeface="NanumSquare ExtraBold" panose="020B0600000101010101" pitchFamily="50" charset="-127"/>
                  </a:rPr>
                  <a:t>내부 관리자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4BAD5E1-F998-4CD3-244D-7E5C77338C4A}"/>
                  </a:ext>
                </a:extLst>
              </p:cNvPr>
              <p:cNvSpPr txBox="1"/>
              <p:nvPr/>
            </p:nvSpPr>
            <p:spPr>
              <a:xfrm>
                <a:off x="8938574" y="5147204"/>
                <a:ext cx="198557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400" b="1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latin typeface="NanumSquare" panose="020B0600000101010101" pitchFamily="50" charset="-127"/>
                    <a:ea typeface="NanumSquare" panose="020B0600000101010101" pitchFamily="50" charset="-127"/>
                  </a:rPr>
                  <a:t>서비스 담당자</a:t>
                </a:r>
              </a:p>
            </p:txBody>
          </p: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8C937714-ACAD-08F3-D3DB-9D3B17596E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84165" y="4517309"/>
                <a:ext cx="234243" cy="0"/>
              </a:xfrm>
              <a:prstGeom prst="line">
                <a:avLst/>
              </a:prstGeom>
              <a:ln w="38100" cap="rnd">
                <a:solidFill>
                  <a:srgbClr val="03A94D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366" name="Picture 6">
              <a:extLst>
                <a:ext uri="{FF2B5EF4-FFF2-40B4-BE49-F238E27FC236}">
                  <a16:creationId xmlns:a16="http://schemas.microsoft.com/office/drawing/2014/main" id="{51659E4D-6E23-DEA6-9931-C0CBBB9D08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74792" y="4123790"/>
              <a:ext cx="417600" cy="417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66804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B1E958-D970-1E80-FA1C-B55B3E5904A2}"/>
              </a:ext>
            </a:extLst>
          </p:cNvPr>
          <p:cNvSpPr txBox="1"/>
          <p:nvPr/>
        </p:nvSpPr>
        <p:spPr>
          <a:xfrm>
            <a:off x="1966613" y="1278321"/>
            <a:ext cx="8258774" cy="4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ko-KR" sz="24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“</a:t>
            </a:r>
            <a:r>
              <a:rPr kumimoji="1"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컴퓨팅 기술을 사용해서 만든 </a:t>
            </a:r>
            <a:r>
              <a:rPr kumimoji="1" lang="ko-KR" altLang="en-US" sz="24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상품</a:t>
            </a:r>
            <a:r>
              <a:rPr kumimoji="1"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바로 </a:t>
            </a:r>
            <a:r>
              <a:rPr kumimoji="1" lang="ko-KR" altLang="en-US" sz="24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서비스</a:t>
            </a:r>
            <a:r>
              <a:rPr kumimoji="1"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이다</a:t>
            </a:r>
            <a:r>
              <a:rPr kumimoji="1" lang="en-US" altLang="ko-KR" sz="24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”</a:t>
            </a:r>
            <a:endParaRPr kumimoji="1" lang="ko-KR" altLang="en-US" sz="200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sp>
        <p:nvSpPr>
          <p:cNvPr id="3" name="양쪽 모서리가 둥근 사각형 58">
            <a:extLst>
              <a:ext uri="{FF2B5EF4-FFF2-40B4-BE49-F238E27FC236}">
                <a16:creationId xmlns:a16="http://schemas.microsoft.com/office/drawing/2014/main" id="{42593BE7-F3BB-9F75-00F4-F370208F341A}"/>
              </a:ext>
            </a:extLst>
          </p:cNvPr>
          <p:cNvSpPr/>
          <p:nvPr/>
        </p:nvSpPr>
        <p:spPr>
          <a:xfrm>
            <a:off x="623392" y="2251736"/>
            <a:ext cx="5040560" cy="4176464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모서리가 둥근 직사각형 176">
            <a:extLst>
              <a:ext uri="{FF2B5EF4-FFF2-40B4-BE49-F238E27FC236}">
                <a16:creationId xmlns:a16="http://schemas.microsoft.com/office/drawing/2014/main" id="{6FB839FE-4A90-3EE9-1497-DDB3F43327E0}"/>
              </a:ext>
            </a:extLst>
          </p:cNvPr>
          <p:cNvSpPr/>
          <p:nvPr/>
        </p:nvSpPr>
        <p:spPr>
          <a:xfrm>
            <a:off x="1268835" y="2090322"/>
            <a:ext cx="3749675" cy="318847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  <a:effectLst>
            <a:outerShdw blurRad="254000" dist="38100" dir="5400000" algn="t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3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컴퓨팅</a:t>
            </a:r>
            <a:endParaRPr kumimoji="1" lang="ko-Kore-KR" altLang="en-US" sz="1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모서리가 둥근 직사각형 67">
            <a:extLst>
              <a:ext uri="{FF2B5EF4-FFF2-40B4-BE49-F238E27FC236}">
                <a16:creationId xmlns:a16="http://schemas.microsoft.com/office/drawing/2014/main" id="{2CE2C917-FB29-E234-5156-B18D69DE6DD3}"/>
              </a:ext>
            </a:extLst>
          </p:cNvPr>
          <p:cNvSpPr/>
          <p:nvPr/>
        </p:nvSpPr>
        <p:spPr>
          <a:xfrm>
            <a:off x="1039101" y="2885446"/>
            <a:ext cx="4209142" cy="54765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</a:schemeClr>
          </a:solidFill>
          <a:ln w="889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61C5C8-44A0-B626-4CC9-4A6B92CAADC1}"/>
              </a:ext>
            </a:extLst>
          </p:cNvPr>
          <p:cNvSpPr txBox="1"/>
          <p:nvPr/>
        </p:nvSpPr>
        <p:spPr>
          <a:xfrm>
            <a:off x="2576921" y="3020772"/>
            <a:ext cx="2176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기술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(Technology)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C6BEB1-2ED9-E241-F6FF-845BFDA8499A}"/>
              </a:ext>
            </a:extLst>
          </p:cNvPr>
          <p:cNvSpPr txBox="1"/>
          <p:nvPr/>
        </p:nvSpPr>
        <p:spPr>
          <a:xfrm>
            <a:off x="1082778" y="3020772"/>
            <a:ext cx="1154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성격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72E7ABFF-9FB3-2E24-592A-31A29298524E}"/>
              </a:ext>
            </a:extLst>
          </p:cNvPr>
          <p:cNvSpPr/>
          <p:nvPr/>
        </p:nvSpPr>
        <p:spPr>
          <a:xfrm>
            <a:off x="1039101" y="3511997"/>
            <a:ext cx="4209142" cy="54765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</a:schemeClr>
          </a:solidFill>
          <a:ln w="889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2D7316-696B-437B-14C7-3F33F5E77D0E}"/>
              </a:ext>
            </a:extLst>
          </p:cNvPr>
          <p:cNvSpPr txBox="1"/>
          <p:nvPr/>
        </p:nvSpPr>
        <p:spPr>
          <a:xfrm>
            <a:off x="2576921" y="3647323"/>
            <a:ext cx="2176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제공자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(CSP), IT 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엔지니어 관점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0B72E95-E37A-A467-EB28-B8A00CB0200E}"/>
              </a:ext>
            </a:extLst>
          </p:cNvPr>
          <p:cNvSpPr txBox="1"/>
          <p:nvPr/>
        </p:nvSpPr>
        <p:spPr>
          <a:xfrm>
            <a:off x="1082778" y="3647323"/>
            <a:ext cx="1154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관점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모서리가 둥근 직사각형 67">
            <a:extLst>
              <a:ext uri="{FF2B5EF4-FFF2-40B4-BE49-F238E27FC236}">
                <a16:creationId xmlns:a16="http://schemas.microsoft.com/office/drawing/2014/main" id="{0C277B02-77D1-C1A6-E464-EF85BF87867D}"/>
              </a:ext>
            </a:extLst>
          </p:cNvPr>
          <p:cNvSpPr/>
          <p:nvPr/>
        </p:nvSpPr>
        <p:spPr>
          <a:xfrm>
            <a:off x="1039101" y="4196720"/>
            <a:ext cx="4209142" cy="54765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</a:schemeClr>
          </a:solidFill>
          <a:ln w="889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45AB4E-2E18-E5D3-A8EA-A9050F95A20C}"/>
              </a:ext>
            </a:extLst>
          </p:cNvPr>
          <p:cNvSpPr txBox="1"/>
          <p:nvPr/>
        </p:nvSpPr>
        <p:spPr>
          <a:xfrm>
            <a:off x="2576921" y="4332046"/>
            <a:ext cx="2176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가상화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분산처리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자동화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탄력성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2960A8-B69B-FDA6-9494-6DAB983811AB}"/>
              </a:ext>
            </a:extLst>
          </p:cNvPr>
          <p:cNvSpPr txBox="1"/>
          <p:nvPr/>
        </p:nvSpPr>
        <p:spPr>
          <a:xfrm>
            <a:off x="1082778" y="4332046"/>
            <a:ext cx="1154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구성 요소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모서리가 둥근 직사각형 67">
            <a:extLst>
              <a:ext uri="{FF2B5EF4-FFF2-40B4-BE49-F238E27FC236}">
                <a16:creationId xmlns:a16="http://schemas.microsoft.com/office/drawing/2014/main" id="{66F4FB50-7B6B-DFC9-3676-2A09407ADF40}"/>
              </a:ext>
            </a:extLst>
          </p:cNvPr>
          <p:cNvSpPr/>
          <p:nvPr/>
        </p:nvSpPr>
        <p:spPr>
          <a:xfrm>
            <a:off x="1039101" y="4823271"/>
            <a:ext cx="4209142" cy="54765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</a:schemeClr>
          </a:solidFill>
          <a:ln w="889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CFF5BEA-A02A-D287-F1F1-0A90C56F3CC6}"/>
              </a:ext>
            </a:extLst>
          </p:cNvPr>
          <p:cNvSpPr txBox="1"/>
          <p:nvPr/>
        </p:nvSpPr>
        <p:spPr>
          <a:xfrm>
            <a:off x="2404829" y="4958597"/>
            <a:ext cx="252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어떻게 자원을 만들고 운영할 것인가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B41D73-0A33-D79B-12A3-74BEB9B3774B}"/>
              </a:ext>
            </a:extLst>
          </p:cNvPr>
          <p:cNvSpPr txBox="1"/>
          <p:nvPr/>
        </p:nvSpPr>
        <p:spPr>
          <a:xfrm>
            <a:off x="1082778" y="4958597"/>
            <a:ext cx="1154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핵심 질문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2" name="모서리가 둥근 직사각형 67">
            <a:extLst>
              <a:ext uri="{FF2B5EF4-FFF2-40B4-BE49-F238E27FC236}">
                <a16:creationId xmlns:a16="http://schemas.microsoft.com/office/drawing/2014/main" id="{42B92253-405C-3E8F-CF8A-90B4DEFC67CB}"/>
              </a:ext>
            </a:extLst>
          </p:cNvPr>
          <p:cNvSpPr/>
          <p:nvPr/>
        </p:nvSpPr>
        <p:spPr>
          <a:xfrm>
            <a:off x="1039101" y="5448500"/>
            <a:ext cx="4209142" cy="54765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</a:schemeClr>
          </a:solidFill>
          <a:ln w="889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4B0C29-1E71-75E9-B6DE-291E8D8A2984}"/>
              </a:ext>
            </a:extLst>
          </p:cNvPr>
          <p:cNvSpPr txBox="1"/>
          <p:nvPr/>
        </p:nvSpPr>
        <p:spPr>
          <a:xfrm>
            <a:off x="2260813" y="5583825"/>
            <a:ext cx="2808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하이퍼바이저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Kubernetes, 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가상 네트워크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4AFF980-68AF-1687-B7B4-B845D86D1C13}"/>
              </a:ext>
            </a:extLst>
          </p:cNvPr>
          <p:cNvSpPr txBox="1"/>
          <p:nvPr/>
        </p:nvSpPr>
        <p:spPr>
          <a:xfrm>
            <a:off x="1082778" y="5583826"/>
            <a:ext cx="1154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예시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양쪽 모서리가 둥근 사각형 58">
            <a:extLst>
              <a:ext uri="{FF2B5EF4-FFF2-40B4-BE49-F238E27FC236}">
                <a16:creationId xmlns:a16="http://schemas.microsoft.com/office/drawing/2014/main" id="{42D40AF2-70E7-FD29-F08C-CE28DFDE8426}"/>
              </a:ext>
            </a:extLst>
          </p:cNvPr>
          <p:cNvSpPr/>
          <p:nvPr/>
        </p:nvSpPr>
        <p:spPr>
          <a:xfrm>
            <a:off x="6528048" y="2243814"/>
            <a:ext cx="5040560" cy="4176464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6" name="모서리가 둥근 직사각형 176">
            <a:extLst>
              <a:ext uri="{FF2B5EF4-FFF2-40B4-BE49-F238E27FC236}">
                <a16:creationId xmlns:a16="http://schemas.microsoft.com/office/drawing/2014/main" id="{F55A4FA1-AA8C-6F8B-43BF-0D1B0AF7D256}"/>
              </a:ext>
            </a:extLst>
          </p:cNvPr>
          <p:cNvSpPr/>
          <p:nvPr/>
        </p:nvSpPr>
        <p:spPr>
          <a:xfrm>
            <a:off x="7173491" y="2082400"/>
            <a:ext cx="3749675" cy="318847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  <a:effectLst>
            <a:outerShdw blurRad="254000" dist="38100" dir="5400000" algn="t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3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서비스</a:t>
            </a:r>
            <a:endParaRPr kumimoji="1" lang="ko-Kore-KR" altLang="en-US" sz="1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모서리가 둥근 직사각형 67">
            <a:extLst>
              <a:ext uri="{FF2B5EF4-FFF2-40B4-BE49-F238E27FC236}">
                <a16:creationId xmlns:a16="http://schemas.microsoft.com/office/drawing/2014/main" id="{DA074980-32BD-3AE5-59AD-DF759C9F353E}"/>
              </a:ext>
            </a:extLst>
          </p:cNvPr>
          <p:cNvSpPr/>
          <p:nvPr/>
        </p:nvSpPr>
        <p:spPr>
          <a:xfrm>
            <a:off x="6943757" y="2877524"/>
            <a:ext cx="4209142" cy="54765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</a:schemeClr>
          </a:solidFill>
          <a:ln w="889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CC6F160-CF52-B5A9-0FF8-4C9C5A57162B}"/>
              </a:ext>
            </a:extLst>
          </p:cNvPr>
          <p:cNvSpPr txBox="1"/>
          <p:nvPr/>
        </p:nvSpPr>
        <p:spPr>
          <a:xfrm>
            <a:off x="8584478" y="3012850"/>
            <a:ext cx="2176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상품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(Product)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3C1B096-ED03-996E-D233-C6DBCB597B20}"/>
              </a:ext>
            </a:extLst>
          </p:cNvPr>
          <p:cNvSpPr txBox="1"/>
          <p:nvPr/>
        </p:nvSpPr>
        <p:spPr>
          <a:xfrm>
            <a:off x="7090335" y="3012850"/>
            <a:ext cx="1154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성격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0" name="모서리가 둥근 직사각형 67">
            <a:extLst>
              <a:ext uri="{FF2B5EF4-FFF2-40B4-BE49-F238E27FC236}">
                <a16:creationId xmlns:a16="http://schemas.microsoft.com/office/drawing/2014/main" id="{3EA764F1-28D5-E44E-05A4-0ABE9B44B676}"/>
              </a:ext>
            </a:extLst>
          </p:cNvPr>
          <p:cNvSpPr/>
          <p:nvPr/>
        </p:nvSpPr>
        <p:spPr>
          <a:xfrm>
            <a:off x="6943757" y="3504075"/>
            <a:ext cx="4209142" cy="54765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</a:schemeClr>
          </a:solidFill>
          <a:ln w="889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5BC751-64FF-41E3-E71A-E0A001909D14}"/>
              </a:ext>
            </a:extLst>
          </p:cNvPr>
          <p:cNvSpPr txBox="1"/>
          <p:nvPr/>
        </p:nvSpPr>
        <p:spPr>
          <a:xfrm>
            <a:off x="8584478" y="3639401"/>
            <a:ext cx="2176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기업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비즈니스 관점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E96FAE-1805-F13E-8066-780910DF5228}"/>
              </a:ext>
            </a:extLst>
          </p:cNvPr>
          <p:cNvSpPr txBox="1"/>
          <p:nvPr/>
        </p:nvSpPr>
        <p:spPr>
          <a:xfrm>
            <a:off x="7090335" y="3639401"/>
            <a:ext cx="1154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관점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3" name="모서리가 둥근 직사각형 67">
            <a:extLst>
              <a:ext uri="{FF2B5EF4-FFF2-40B4-BE49-F238E27FC236}">
                <a16:creationId xmlns:a16="http://schemas.microsoft.com/office/drawing/2014/main" id="{AD9C28CE-2320-8D4D-5C4D-110C0E20DE6E}"/>
              </a:ext>
            </a:extLst>
          </p:cNvPr>
          <p:cNvSpPr/>
          <p:nvPr/>
        </p:nvSpPr>
        <p:spPr>
          <a:xfrm>
            <a:off x="6943757" y="4188798"/>
            <a:ext cx="4209142" cy="54765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</a:schemeClr>
          </a:solidFill>
          <a:ln w="889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829FCD-4917-C3DA-1B95-6A1CE3F2B77E}"/>
              </a:ext>
            </a:extLst>
          </p:cNvPr>
          <p:cNvSpPr txBox="1"/>
          <p:nvPr/>
        </p:nvSpPr>
        <p:spPr>
          <a:xfrm>
            <a:off x="8584478" y="4324124"/>
            <a:ext cx="21760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ore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IaaS, PaaS, SaaS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01F8343-70D6-0F44-42D5-D1F4CCA4C018}"/>
              </a:ext>
            </a:extLst>
          </p:cNvPr>
          <p:cNvSpPr txBox="1"/>
          <p:nvPr/>
        </p:nvSpPr>
        <p:spPr>
          <a:xfrm>
            <a:off x="7090335" y="4324124"/>
            <a:ext cx="1154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구성 요소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6" name="모서리가 둥근 직사각형 67">
            <a:extLst>
              <a:ext uri="{FF2B5EF4-FFF2-40B4-BE49-F238E27FC236}">
                <a16:creationId xmlns:a16="http://schemas.microsoft.com/office/drawing/2014/main" id="{19EE4A20-3885-FE2E-4B99-0FB5F38C65EC}"/>
              </a:ext>
            </a:extLst>
          </p:cNvPr>
          <p:cNvSpPr/>
          <p:nvPr/>
        </p:nvSpPr>
        <p:spPr>
          <a:xfrm>
            <a:off x="6943757" y="4815349"/>
            <a:ext cx="4209142" cy="54765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</a:schemeClr>
          </a:solidFill>
          <a:ln w="889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265E8E-C718-E73F-078D-F60DAF049ECC}"/>
              </a:ext>
            </a:extLst>
          </p:cNvPr>
          <p:cNvSpPr txBox="1"/>
          <p:nvPr/>
        </p:nvSpPr>
        <p:spPr>
          <a:xfrm>
            <a:off x="8412386" y="4950675"/>
            <a:ext cx="25202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어떤 모델로 고객에게 제공할 것인가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?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B06FA8-F38D-7B5D-EA60-AEF5EA50FC8A}"/>
              </a:ext>
            </a:extLst>
          </p:cNvPr>
          <p:cNvSpPr txBox="1"/>
          <p:nvPr/>
        </p:nvSpPr>
        <p:spPr>
          <a:xfrm>
            <a:off x="7090335" y="4950675"/>
            <a:ext cx="1154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핵심 질문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9" name="모서리가 둥근 직사각형 67">
            <a:extLst>
              <a:ext uri="{FF2B5EF4-FFF2-40B4-BE49-F238E27FC236}">
                <a16:creationId xmlns:a16="http://schemas.microsoft.com/office/drawing/2014/main" id="{BEB498CB-3D8A-FD2B-FFB8-B1EE34D3E17B}"/>
              </a:ext>
            </a:extLst>
          </p:cNvPr>
          <p:cNvSpPr/>
          <p:nvPr/>
        </p:nvSpPr>
        <p:spPr>
          <a:xfrm>
            <a:off x="6943757" y="5440578"/>
            <a:ext cx="4209142" cy="54765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</a:schemeClr>
          </a:solidFill>
          <a:ln w="889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2F5AD1B-C008-5ED8-DF54-7C6F0288A005}"/>
              </a:ext>
            </a:extLst>
          </p:cNvPr>
          <p:cNvSpPr txBox="1"/>
          <p:nvPr/>
        </p:nvSpPr>
        <p:spPr>
          <a:xfrm>
            <a:off x="8268370" y="5575903"/>
            <a:ext cx="28083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AWS EC2, Google RDS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346465-C28F-1B03-3FBC-DF0D17EC90DA}"/>
              </a:ext>
            </a:extLst>
          </p:cNvPr>
          <p:cNvSpPr txBox="1"/>
          <p:nvPr/>
        </p:nvSpPr>
        <p:spPr>
          <a:xfrm>
            <a:off x="7090335" y="5575904"/>
            <a:ext cx="11543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예시 </a:t>
            </a:r>
            <a:r>
              <a:rPr lang="en-US" altLang="ko-KR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4" name="제목 1">
            <a:extLst>
              <a:ext uri="{FF2B5EF4-FFF2-40B4-BE49-F238E27FC236}">
                <a16:creationId xmlns:a16="http://schemas.microsoft.com/office/drawing/2014/main" id="{8A3F4009-979D-A358-D131-8B6062F7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517394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1.1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개요</a:t>
            </a:r>
          </a:p>
        </p:txBody>
      </p:sp>
    </p:spTree>
    <p:extLst>
      <p:ext uri="{BB962C8B-B14F-4D97-AF65-F5344CB8AC3E}">
        <p14:creationId xmlns:p14="http://schemas.microsoft.com/office/powerpoint/2010/main" val="3932718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모서리가 둥근 직사각형 36">
            <a:extLst>
              <a:ext uri="{FF2B5EF4-FFF2-40B4-BE49-F238E27FC236}">
                <a16:creationId xmlns:a16="http://schemas.microsoft.com/office/drawing/2014/main" id="{65727EE3-40CB-8160-1B9A-905FD729D48D}"/>
              </a:ext>
            </a:extLst>
          </p:cNvPr>
          <p:cNvSpPr/>
          <p:nvPr/>
        </p:nvSpPr>
        <p:spPr>
          <a:xfrm>
            <a:off x="501179" y="1988840"/>
            <a:ext cx="10989085" cy="4158443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4" name="제목 1">
            <a:extLst>
              <a:ext uri="{FF2B5EF4-FFF2-40B4-BE49-F238E27FC236}">
                <a16:creationId xmlns:a16="http://schemas.microsoft.com/office/drawing/2014/main" id="{8A3F4009-979D-A358-D131-8B6062F7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1.2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특징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81FFE9-8A59-D530-E597-DA509F794EC9}"/>
              </a:ext>
            </a:extLst>
          </p:cNvPr>
          <p:cNvSpPr txBox="1"/>
          <p:nvPr/>
        </p:nvSpPr>
        <p:spPr>
          <a:xfrm>
            <a:off x="635608" y="1244397"/>
            <a:ext cx="10888936" cy="384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b="1" dirty="0">
                <a:solidFill>
                  <a:srgbClr val="07C6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</a:t>
            </a: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언제 어디서나</a:t>
            </a:r>
            <a:r>
              <a:rPr kumimoji="1"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필요한 만큼</a:t>
            </a:r>
            <a:r>
              <a:rPr kumimoji="1"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즉시 사용할 수 있고</a:t>
            </a:r>
            <a:r>
              <a:rPr kumimoji="1"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사용한 만큼 지불한다</a:t>
            </a:r>
            <a:endParaRPr kumimoji="1"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id="{03852AF3-D2C4-CA5A-451D-322B9938605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24149" y="3040127"/>
            <a:ext cx="10518735" cy="32021"/>
          </a:xfrm>
          <a:prstGeom prst="rect">
            <a:avLst/>
          </a:prstGeom>
        </p:spPr>
      </p:pic>
      <p:sp>
        <p:nvSpPr>
          <p:cNvPr id="13" name="TextBox 35">
            <a:extLst>
              <a:ext uri="{FF2B5EF4-FFF2-40B4-BE49-F238E27FC236}">
                <a16:creationId xmlns:a16="http://schemas.microsoft.com/office/drawing/2014/main" id="{5B94BE73-8C23-384D-9768-A6F9BA3C61E6}"/>
              </a:ext>
            </a:extLst>
          </p:cNvPr>
          <p:cNvSpPr txBox="1"/>
          <p:nvPr/>
        </p:nvSpPr>
        <p:spPr>
          <a:xfrm>
            <a:off x="2855640" y="2266707"/>
            <a:ext cx="3749059" cy="2967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indent="0">
              <a:buNone/>
            </a:pPr>
            <a:r>
              <a:rPr lang="en-US" altLang="ko-KR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시간·장소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무관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인터넷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접속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, </a:t>
            </a:r>
            <a:r>
              <a:rPr lang="en-US" altLang="ko-KR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다양한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기기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지원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6BF71267-BD3C-BB15-35D3-CA48A9E0492E}"/>
              </a:ext>
            </a:extLst>
          </p:cNvPr>
          <p:cNvSpPr/>
          <p:nvPr/>
        </p:nvSpPr>
        <p:spPr>
          <a:xfrm>
            <a:off x="724149" y="2359897"/>
            <a:ext cx="1843459" cy="403676"/>
          </a:xfrm>
          <a:prstGeom prst="roundRect">
            <a:avLst>
              <a:gd name="adj" fmla="val 50000"/>
            </a:avLst>
          </a:prstGeom>
          <a:noFill/>
          <a:ln>
            <a:solidFill>
              <a:srgbClr val="009F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9F0F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접속 용이성</a:t>
            </a:r>
          </a:p>
        </p:txBody>
      </p:sp>
      <p:sp>
        <p:nvSpPr>
          <p:cNvPr id="4" name="TextBox 35">
            <a:extLst>
              <a:ext uri="{FF2B5EF4-FFF2-40B4-BE49-F238E27FC236}">
                <a16:creationId xmlns:a16="http://schemas.microsoft.com/office/drawing/2014/main" id="{39C7C839-0798-C0D4-F0FC-6066BA1869CA}"/>
              </a:ext>
            </a:extLst>
          </p:cNvPr>
          <p:cNvSpPr txBox="1"/>
          <p:nvPr/>
        </p:nvSpPr>
        <p:spPr>
          <a:xfrm>
            <a:off x="2855640" y="2558608"/>
            <a:ext cx="8496944" cy="2967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indent="0">
              <a:buNone/>
            </a:pP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PC·스마트폰·태블릿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등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어떤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기기에서도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동일한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서비스를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이용할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수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있으며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,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장소와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시간의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제약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없이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클라우드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자원에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즉시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접근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</a:t>
            </a:r>
            <a:r>
              <a:rPr lang="en-US" altLang="ko-KR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가능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.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5" name="Picture 16">
            <a:extLst>
              <a:ext uri="{FF2B5EF4-FFF2-40B4-BE49-F238E27FC236}">
                <a16:creationId xmlns:a16="http://schemas.microsoft.com/office/drawing/2014/main" id="{1CBC3BFE-AA2F-9817-6F0E-16A3B959E4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24149" y="4060759"/>
            <a:ext cx="10518735" cy="32021"/>
          </a:xfrm>
          <a:prstGeom prst="rect">
            <a:avLst/>
          </a:prstGeom>
        </p:spPr>
      </p:pic>
      <p:sp>
        <p:nvSpPr>
          <p:cNvPr id="6" name="TextBox 35">
            <a:extLst>
              <a:ext uri="{FF2B5EF4-FFF2-40B4-BE49-F238E27FC236}">
                <a16:creationId xmlns:a16="http://schemas.microsoft.com/office/drawing/2014/main" id="{F1BEE9C9-4343-086D-EDC1-F9763491063E}"/>
              </a:ext>
            </a:extLst>
          </p:cNvPr>
          <p:cNvSpPr txBox="1"/>
          <p:nvPr/>
        </p:nvSpPr>
        <p:spPr>
          <a:xfrm>
            <a:off x="2855640" y="3287339"/>
            <a:ext cx="3749059" cy="2967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indent="0">
              <a:buNone/>
            </a:pPr>
            <a:r>
              <a:rPr lang="ko-KR" altLang="en-US" sz="14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이용량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·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사용자 수 변화에 중단 없이 신속 대응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1BD59C0-DAED-0534-F262-0269B739C2E9}"/>
              </a:ext>
            </a:extLst>
          </p:cNvPr>
          <p:cNvSpPr/>
          <p:nvPr/>
        </p:nvSpPr>
        <p:spPr>
          <a:xfrm>
            <a:off x="724149" y="3380529"/>
            <a:ext cx="1843459" cy="403676"/>
          </a:xfrm>
          <a:prstGeom prst="roundRect">
            <a:avLst>
              <a:gd name="adj" fmla="val 50000"/>
            </a:avLst>
          </a:prstGeom>
          <a:noFill/>
          <a:ln>
            <a:solidFill>
              <a:srgbClr val="009F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9F0F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유연성</a:t>
            </a:r>
          </a:p>
        </p:txBody>
      </p:sp>
      <p:sp>
        <p:nvSpPr>
          <p:cNvPr id="9" name="TextBox 35">
            <a:extLst>
              <a:ext uri="{FF2B5EF4-FFF2-40B4-BE49-F238E27FC236}">
                <a16:creationId xmlns:a16="http://schemas.microsoft.com/office/drawing/2014/main" id="{65769287-5F04-C436-D2D8-FEA046226C67}"/>
              </a:ext>
            </a:extLst>
          </p:cNvPr>
          <p:cNvSpPr txBox="1"/>
          <p:nvPr/>
        </p:nvSpPr>
        <p:spPr>
          <a:xfrm>
            <a:off x="2855640" y="3579240"/>
            <a:ext cx="8496944" cy="2967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급격한 트래픽 급증에도 서비스를 중단하지 않고 자원을 즉시 확장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(Scale-Out)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하거나 축소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(Scale-In)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하여 최적의 성능을 유지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.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10" name="Picture 16">
            <a:extLst>
              <a:ext uri="{FF2B5EF4-FFF2-40B4-BE49-F238E27FC236}">
                <a16:creationId xmlns:a16="http://schemas.microsoft.com/office/drawing/2014/main" id="{2B0738B3-8EDE-084F-7AFA-56CF8156CE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724149" y="5049370"/>
            <a:ext cx="10518735" cy="32021"/>
          </a:xfrm>
          <a:prstGeom prst="rect">
            <a:avLst/>
          </a:prstGeom>
        </p:spPr>
      </p:pic>
      <p:sp>
        <p:nvSpPr>
          <p:cNvPr id="11" name="TextBox 35">
            <a:extLst>
              <a:ext uri="{FF2B5EF4-FFF2-40B4-BE49-F238E27FC236}">
                <a16:creationId xmlns:a16="http://schemas.microsoft.com/office/drawing/2014/main" id="{5ACF174A-4C8F-9FE7-8869-1938DB3C2DA3}"/>
              </a:ext>
            </a:extLst>
          </p:cNvPr>
          <p:cNvSpPr txBox="1"/>
          <p:nvPr/>
        </p:nvSpPr>
        <p:spPr>
          <a:xfrm>
            <a:off x="2855640" y="4275950"/>
            <a:ext cx="3749059" cy="2967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indent="0">
              <a:buNone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CMP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를 통해 자율적으로 자원 생성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·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변경</a:t>
            </a: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·</a:t>
            </a: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삭제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0143C38-B09E-B13B-3ACA-87DCEE835949}"/>
              </a:ext>
            </a:extLst>
          </p:cNvPr>
          <p:cNvSpPr/>
          <p:nvPr/>
        </p:nvSpPr>
        <p:spPr>
          <a:xfrm>
            <a:off x="724149" y="4371921"/>
            <a:ext cx="1843459" cy="429144"/>
          </a:xfrm>
          <a:prstGeom prst="roundRect">
            <a:avLst>
              <a:gd name="adj" fmla="val 50000"/>
            </a:avLst>
          </a:prstGeom>
          <a:noFill/>
          <a:ln>
            <a:solidFill>
              <a:srgbClr val="009F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9F0F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주문형 셀프서비스</a:t>
            </a:r>
          </a:p>
        </p:txBody>
      </p:sp>
      <p:sp>
        <p:nvSpPr>
          <p:cNvPr id="14" name="TextBox 35">
            <a:extLst>
              <a:ext uri="{FF2B5EF4-FFF2-40B4-BE49-F238E27FC236}">
                <a16:creationId xmlns:a16="http://schemas.microsoft.com/office/drawing/2014/main" id="{9094410A-BF02-F133-14D2-FD4D30755F86}"/>
              </a:ext>
            </a:extLst>
          </p:cNvPr>
          <p:cNvSpPr txBox="1"/>
          <p:nvPr/>
        </p:nvSpPr>
        <p:spPr>
          <a:xfrm>
            <a:off x="2855640" y="4567851"/>
            <a:ext cx="8496944" cy="2967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클라우드 서비스 제공자의 개입 없이 관리 포털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(CMP)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이나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API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를 통해 필요한 자원을 즉시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프로비저닝하고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반납 가능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.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" name="TextBox 35">
            <a:extLst>
              <a:ext uri="{FF2B5EF4-FFF2-40B4-BE49-F238E27FC236}">
                <a16:creationId xmlns:a16="http://schemas.microsoft.com/office/drawing/2014/main" id="{0082F426-3039-3CC0-F745-AEDD66D4A856}"/>
              </a:ext>
            </a:extLst>
          </p:cNvPr>
          <p:cNvSpPr txBox="1"/>
          <p:nvPr/>
        </p:nvSpPr>
        <p:spPr>
          <a:xfrm>
            <a:off x="2855640" y="5290569"/>
            <a:ext cx="3749059" cy="2967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Malgun Gothic" pitchFamily="34" charset="-120"/>
              </a:rPr>
              <a:t>사용한 만큼만 지불</a:t>
            </a:r>
            <a:endParaRPr lang="en-US" altLang="ko-KR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BA2F55D-704A-E740-CA75-F3E3399F0C5C}"/>
              </a:ext>
            </a:extLst>
          </p:cNvPr>
          <p:cNvSpPr/>
          <p:nvPr/>
        </p:nvSpPr>
        <p:spPr>
          <a:xfrm>
            <a:off x="724149" y="5383759"/>
            <a:ext cx="1843459" cy="403676"/>
          </a:xfrm>
          <a:prstGeom prst="roundRect">
            <a:avLst>
              <a:gd name="adj" fmla="val 50000"/>
            </a:avLst>
          </a:prstGeom>
          <a:noFill/>
          <a:ln>
            <a:solidFill>
              <a:srgbClr val="009F0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rgbClr val="009F0F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사용량 기반 과금</a:t>
            </a:r>
          </a:p>
        </p:txBody>
      </p:sp>
      <p:sp>
        <p:nvSpPr>
          <p:cNvPr id="22" name="TextBox 35">
            <a:extLst>
              <a:ext uri="{FF2B5EF4-FFF2-40B4-BE49-F238E27FC236}">
                <a16:creationId xmlns:a16="http://schemas.microsoft.com/office/drawing/2014/main" id="{F666E334-70C7-C682-265D-889D2AEF3B1F}"/>
              </a:ext>
            </a:extLst>
          </p:cNvPr>
          <p:cNvSpPr txBox="1"/>
          <p:nvPr/>
        </p:nvSpPr>
        <p:spPr>
          <a:xfrm>
            <a:off x="2855640" y="5582470"/>
            <a:ext cx="8496944" cy="29679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초기 인프라 투자 없이 실제 사용한 컴퓨팅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·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스토리지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·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네트워크 </a:t>
            </a:r>
            <a:r>
              <a:rPr lang="ko-KR" altLang="en-US" sz="1200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자원량에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 따라 비용이 산정되어 불필요한 지출을 최소화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Malgun Gothic" pitchFamily="34" charset="-120"/>
              </a:rPr>
              <a:t>.</a:t>
            </a:r>
            <a:endParaRPr lang="en-US" altLang="ko-KR" sz="12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464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양쪽 모서리가 둥근 사각형 58">
            <a:extLst>
              <a:ext uri="{FF2B5EF4-FFF2-40B4-BE49-F238E27FC236}">
                <a16:creationId xmlns:a16="http://schemas.microsoft.com/office/drawing/2014/main" id="{0D25C8D4-2D69-B2EF-0D1C-CA8EB8AE5EA6}"/>
              </a:ext>
            </a:extLst>
          </p:cNvPr>
          <p:cNvSpPr/>
          <p:nvPr/>
        </p:nvSpPr>
        <p:spPr>
          <a:xfrm>
            <a:off x="6347416" y="1332846"/>
            <a:ext cx="5040560" cy="5087432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8" name="양쪽 모서리가 둥근 사각형 58">
            <a:extLst>
              <a:ext uri="{FF2B5EF4-FFF2-40B4-BE49-F238E27FC236}">
                <a16:creationId xmlns:a16="http://schemas.microsoft.com/office/drawing/2014/main" id="{11AB7420-4F30-72A2-A7E7-2406E35AC56B}"/>
              </a:ext>
            </a:extLst>
          </p:cNvPr>
          <p:cNvSpPr/>
          <p:nvPr/>
        </p:nvSpPr>
        <p:spPr>
          <a:xfrm>
            <a:off x="623392" y="1340768"/>
            <a:ext cx="5040560" cy="5087432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1BE18C-AFDA-6956-FA9E-561C10D07B65}"/>
              </a:ext>
            </a:extLst>
          </p:cNvPr>
          <p:cNvSpPr txBox="1"/>
          <p:nvPr/>
        </p:nvSpPr>
        <p:spPr>
          <a:xfrm>
            <a:off x="838803" y="1556792"/>
            <a:ext cx="4609738" cy="40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dirty="0">
                <a:solidFill>
                  <a:srgbClr val="07C63C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배치 모델 </a:t>
            </a:r>
            <a:r>
              <a:rPr kumimoji="1"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– </a:t>
            </a:r>
            <a:r>
              <a:rPr kumimoji="1"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어디에 존재하는 가</a:t>
            </a:r>
            <a:r>
              <a:rPr kumimoji="1"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kumimoji="1" lang="en" altLang="ko-KR" dirty="0">
              <a:solidFill>
                <a:srgbClr val="985EE3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모서리가 둥근 직사각형 14">
            <a:extLst>
              <a:ext uri="{FF2B5EF4-FFF2-40B4-BE49-F238E27FC236}">
                <a16:creationId xmlns:a16="http://schemas.microsoft.com/office/drawing/2014/main" id="{112B054B-D230-17EC-A431-F68AC7E39A5A}"/>
              </a:ext>
            </a:extLst>
          </p:cNvPr>
          <p:cNvSpPr/>
          <p:nvPr/>
        </p:nvSpPr>
        <p:spPr>
          <a:xfrm>
            <a:off x="2152804" y="2328808"/>
            <a:ext cx="1981737" cy="308104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  <a:effectLst>
            <a:outerShdw blurRad="254000" dist="38100" dir="5400000" algn="t" rotWithShape="0">
              <a:schemeClr val="bg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3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퍼블릭 클라우드</a:t>
            </a:r>
            <a:endParaRPr kumimoji="1" lang="en-US" altLang="ko-Kore-KR" sz="1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모서리가 둥근 직사각형 17">
            <a:extLst>
              <a:ext uri="{FF2B5EF4-FFF2-40B4-BE49-F238E27FC236}">
                <a16:creationId xmlns:a16="http://schemas.microsoft.com/office/drawing/2014/main" id="{79FE72B1-42A1-525B-F100-6258C5B7FB63}"/>
              </a:ext>
            </a:extLst>
          </p:cNvPr>
          <p:cNvSpPr/>
          <p:nvPr/>
        </p:nvSpPr>
        <p:spPr>
          <a:xfrm>
            <a:off x="979275" y="2781996"/>
            <a:ext cx="4328795" cy="5770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클라우드 제공자 소유 자원에 </a:t>
            </a:r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누구나 언제 어디서든 접속 가능</a:t>
            </a:r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하며</a:t>
            </a:r>
            <a:r>
              <a:rPr lang="en-US" altLang="ko-KR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보안 수준이 상대적으로 낮음</a:t>
            </a:r>
            <a:endParaRPr lang="en-US" altLang="ko-KR" sz="1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4FC8D6FD-711D-DF9F-27D6-AF67C3BCF2DE}"/>
              </a:ext>
            </a:extLst>
          </p:cNvPr>
          <p:cNvSpPr/>
          <p:nvPr/>
        </p:nvSpPr>
        <p:spPr>
          <a:xfrm>
            <a:off x="2152804" y="3613819"/>
            <a:ext cx="1981737" cy="308104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  <a:effectLst>
            <a:outerShdw blurRad="254000" dist="38100" dir="5400000" algn="t" rotWithShape="0">
              <a:schemeClr val="bg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3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프라이빗</a:t>
            </a:r>
            <a:r>
              <a:rPr kumimoji="1" lang="ko-KR" altLang="en-US" sz="13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클라우드</a:t>
            </a:r>
            <a:endParaRPr kumimoji="1" lang="en-US" altLang="ko-Kore-KR" sz="1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1" name="모서리가 둥근 직사각형 17">
            <a:extLst>
              <a:ext uri="{FF2B5EF4-FFF2-40B4-BE49-F238E27FC236}">
                <a16:creationId xmlns:a16="http://schemas.microsoft.com/office/drawing/2014/main" id="{C4D99C17-ECED-2039-8718-805406DD7B9E}"/>
              </a:ext>
            </a:extLst>
          </p:cNvPr>
          <p:cNvSpPr/>
          <p:nvPr/>
        </p:nvSpPr>
        <p:spPr>
          <a:xfrm>
            <a:off x="979275" y="4076357"/>
            <a:ext cx="4328795" cy="5770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기업</a:t>
            </a:r>
            <a:r>
              <a:rPr lang="en-US" altLang="ko-KR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공공기관이 자체 데이터센터를 구축하여</a:t>
            </a:r>
            <a:r>
              <a:rPr lang="en-US" altLang="ko-KR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허용된 사용자만 </a:t>
            </a:r>
            <a:endParaRPr lang="en-US" altLang="ko-KR" sz="12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접근 가능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하여 보안 정책을 적용하기 용이함</a:t>
            </a:r>
            <a:endParaRPr lang="en-US" altLang="ko-KR" sz="12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6" name="모서리가 둥근 직사각형 14">
            <a:extLst>
              <a:ext uri="{FF2B5EF4-FFF2-40B4-BE49-F238E27FC236}">
                <a16:creationId xmlns:a16="http://schemas.microsoft.com/office/drawing/2014/main" id="{66EA0622-AA46-F00A-32A8-799A442B656F}"/>
              </a:ext>
            </a:extLst>
          </p:cNvPr>
          <p:cNvSpPr/>
          <p:nvPr/>
        </p:nvSpPr>
        <p:spPr>
          <a:xfrm>
            <a:off x="2152804" y="4910619"/>
            <a:ext cx="1981737" cy="308104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  <a:effectLst>
            <a:outerShdw blurRad="254000" dist="38100" dir="5400000" algn="t" rotWithShape="0">
              <a:schemeClr val="bg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3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하이브리드 클라우드</a:t>
            </a:r>
            <a:endParaRPr kumimoji="1" lang="en-US" altLang="ko-Kore-KR" sz="1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7" name="모서리가 둥근 직사각형 17">
            <a:extLst>
              <a:ext uri="{FF2B5EF4-FFF2-40B4-BE49-F238E27FC236}">
                <a16:creationId xmlns:a16="http://schemas.microsoft.com/office/drawing/2014/main" id="{978C19D2-C264-3EF4-CDF0-0400D291EBEB}"/>
              </a:ext>
            </a:extLst>
          </p:cNvPr>
          <p:cNvSpPr/>
          <p:nvPr/>
        </p:nvSpPr>
        <p:spPr>
          <a:xfrm>
            <a:off x="979275" y="5373157"/>
            <a:ext cx="4328795" cy="5770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퍼블릭과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프라이빗의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결합으로</a:t>
            </a:r>
            <a:r>
              <a:rPr lang="en-US" altLang="ko-KR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핵심 시스템은 </a:t>
            </a:r>
            <a:r>
              <a:rPr lang="ko-KR" altLang="en-US" sz="12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프라이빗</a:t>
            </a:r>
            <a:r>
              <a:rPr lang="ko-KR" altLang="en-US" sz="12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에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비핵심</a:t>
            </a:r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시스템은 </a:t>
            </a:r>
            <a:r>
              <a:rPr lang="ko-KR" altLang="en-US" sz="12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퍼블릭</a:t>
            </a:r>
            <a:r>
              <a:rPr lang="ko-KR" altLang="en-US" sz="12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에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구축</a:t>
            </a:r>
            <a:r>
              <a:rPr lang="en-US" altLang="ko-KR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E85AB6-DCFF-B14A-8A8A-920DB2193517}"/>
              </a:ext>
            </a:extLst>
          </p:cNvPr>
          <p:cNvSpPr txBox="1"/>
          <p:nvPr/>
        </p:nvSpPr>
        <p:spPr>
          <a:xfrm>
            <a:off x="6562827" y="1556792"/>
            <a:ext cx="4609738" cy="405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dirty="0">
                <a:solidFill>
                  <a:srgbClr val="07C63C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서비스 모델 </a:t>
            </a:r>
            <a:r>
              <a:rPr kumimoji="1"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– </a:t>
            </a:r>
            <a:r>
              <a:rPr kumimoji="1"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무엇을 제공하는 가</a:t>
            </a:r>
            <a:r>
              <a:rPr kumimoji="1"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?</a:t>
            </a:r>
            <a:endParaRPr kumimoji="1" lang="en" altLang="ko-KR" dirty="0">
              <a:solidFill>
                <a:srgbClr val="985EE3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모서리가 둥근 직사각형 14">
            <a:extLst>
              <a:ext uri="{FF2B5EF4-FFF2-40B4-BE49-F238E27FC236}">
                <a16:creationId xmlns:a16="http://schemas.microsoft.com/office/drawing/2014/main" id="{B549D12D-6FD5-2F66-C8DC-6283D7E79E32}"/>
              </a:ext>
            </a:extLst>
          </p:cNvPr>
          <p:cNvSpPr/>
          <p:nvPr/>
        </p:nvSpPr>
        <p:spPr>
          <a:xfrm>
            <a:off x="7876828" y="2319458"/>
            <a:ext cx="1981737" cy="308104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  <a:effectLst>
            <a:outerShdw blurRad="254000" dist="38100" dir="5400000" algn="t" rotWithShape="0">
              <a:schemeClr val="bg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ko-KR" sz="13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IaaS</a:t>
            </a:r>
            <a:endParaRPr kumimoji="1" lang="en-US" altLang="ko-Kore-KR" sz="1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모서리가 둥근 직사각형 17">
            <a:extLst>
              <a:ext uri="{FF2B5EF4-FFF2-40B4-BE49-F238E27FC236}">
                <a16:creationId xmlns:a16="http://schemas.microsoft.com/office/drawing/2014/main" id="{A01479A8-8A47-E1D3-B090-5A3D08036DD5}"/>
              </a:ext>
            </a:extLst>
          </p:cNvPr>
          <p:cNvSpPr/>
          <p:nvPr/>
        </p:nvSpPr>
        <p:spPr>
          <a:xfrm>
            <a:off x="6703299" y="2780928"/>
            <a:ext cx="4328795" cy="56643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인프라</a:t>
            </a:r>
            <a:r>
              <a:rPr lang="en-US" altLang="ko-KR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</a:t>
            </a:r>
            <a:r>
              <a:rPr lang="en-US" altLang="ko-KR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네트워크</a:t>
            </a:r>
            <a:r>
              <a:rPr lang="en-US" altLang="ko-KR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스토리지</a:t>
            </a:r>
            <a:r>
              <a:rPr lang="en-US" altLang="ko-KR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만 제공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하여</a:t>
            </a:r>
            <a:r>
              <a:rPr lang="en-US" altLang="ko-KR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운영제체부터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 사용자가 직접 관리</a:t>
            </a:r>
            <a:endParaRPr lang="en-US" altLang="ko-KR" sz="12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23" name="모서리가 둥근 직사각형 14">
            <a:extLst>
              <a:ext uri="{FF2B5EF4-FFF2-40B4-BE49-F238E27FC236}">
                <a16:creationId xmlns:a16="http://schemas.microsoft.com/office/drawing/2014/main" id="{07271959-BEAC-3C1D-E5C5-ACD13A1D78D3}"/>
              </a:ext>
            </a:extLst>
          </p:cNvPr>
          <p:cNvSpPr/>
          <p:nvPr/>
        </p:nvSpPr>
        <p:spPr>
          <a:xfrm>
            <a:off x="7876828" y="3613819"/>
            <a:ext cx="1981737" cy="308104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  <a:effectLst>
            <a:outerShdw blurRad="254000" dist="38100" dir="5400000" algn="t" rotWithShape="0">
              <a:schemeClr val="bg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ko-KR" sz="13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SaaS</a:t>
            </a:r>
            <a:endParaRPr kumimoji="1" lang="en-US" altLang="ko-Kore-KR" sz="1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모서리가 둥근 직사각형 17">
            <a:extLst>
              <a:ext uri="{FF2B5EF4-FFF2-40B4-BE49-F238E27FC236}">
                <a16:creationId xmlns:a16="http://schemas.microsoft.com/office/drawing/2014/main" id="{29D00CE1-C997-7CB6-678C-050336A0E98B}"/>
              </a:ext>
            </a:extLst>
          </p:cNvPr>
          <p:cNvSpPr/>
          <p:nvPr/>
        </p:nvSpPr>
        <p:spPr>
          <a:xfrm>
            <a:off x="6703299" y="4076357"/>
            <a:ext cx="4328795" cy="5770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인프라 </a:t>
            </a:r>
            <a:r>
              <a:rPr lang="en-US" altLang="ko-KR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플랫폼</a:t>
            </a:r>
            <a:r>
              <a:rPr lang="en-US" altLang="ko-KR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(WEB, WAS, DB) </a:t>
            </a:r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까지 제공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하며</a:t>
            </a:r>
            <a:r>
              <a:rPr lang="en-US" altLang="ko-KR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라이선스 및 버전 업그레이드 포함</a:t>
            </a:r>
            <a:endParaRPr lang="en-US" altLang="ko-KR" sz="12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25" name="모서리가 둥근 직사각형 14">
            <a:extLst>
              <a:ext uri="{FF2B5EF4-FFF2-40B4-BE49-F238E27FC236}">
                <a16:creationId xmlns:a16="http://schemas.microsoft.com/office/drawing/2014/main" id="{9DAAA11F-5AB5-1D88-DE95-BFC7ED502C00}"/>
              </a:ext>
            </a:extLst>
          </p:cNvPr>
          <p:cNvSpPr/>
          <p:nvPr/>
        </p:nvSpPr>
        <p:spPr>
          <a:xfrm>
            <a:off x="7876828" y="4910619"/>
            <a:ext cx="1981737" cy="308104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  <a:effectLst>
            <a:outerShdw blurRad="254000" dist="38100" dir="5400000" algn="t" rotWithShape="0">
              <a:schemeClr val="bg1">
                <a:lumMod val="7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ko-KR" sz="13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PaaS</a:t>
            </a:r>
            <a:endParaRPr kumimoji="1" lang="en-US" altLang="ko-Kore-KR" sz="13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모서리가 둥근 직사각형 17">
            <a:extLst>
              <a:ext uri="{FF2B5EF4-FFF2-40B4-BE49-F238E27FC236}">
                <a16:creationId xmlns:a16="http://schemas.microsoft.com/office/drawing/2014/main" id="{FE31376A-4CAB-13A3-83EE-4E52EBE826A2}"/>
              </a:ext>
            </a:extLst>
          </p:cNvPr>
          <p:cNvSpPr/>
          <p:nvPr/>
        </p:nvSpPr>
        <p:spPr>
          <a:xfrm>
            <a:off x="6703299" y="5373157"/>
            <a:ext cx="4328795" cy="57700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최종 소프트웨어를 바로 사용 가능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하도록 인프라</a:t>
            </a:r>
            <a:r>
              <a:rPr lang="en-US" altLang="ko-KR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rPr>
              <a:t>플랫폼에 대한 고민 불필요</a:t>
            </a:r>
            <a:endParaRPr lang="en-US" altLang="ko-KR" sz="1200" dirty="0">
              <a:solidFill>
                <a:schemeClr val="tx1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8E6964B3-9883-6E58-EC07-D731DAAD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1.3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유형</a:t>
            </a:r>
          </a:p>
        </p:txBody>
      </p:sp>
    </p:spTree>
    <p:extLst>
      <p:ext uri="{BB962C8B-B14F-4D97-AF65-F5344CB8AC3E}">
        <p14:creationId xmlns:p14="http://schemas.microsoft.com/office/powerpoint/2010/main" val="774382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양쪽 모서리가 둥근 사각형 58">
            <a:extLst>
              <a:ext uri="{FF2B5EF4-FFF2-40B4-BE49-F238E27FC236}">
                <a16:creationId xmlns:a16="http://schemas.microsoft.com/office/drawing/2014/main" id="{B73BB87C-71A7-EBFD-A9D8-1594F158B799}"/>
              </a:ext>
            </a:extLst>
          </p:cNvPr>
          <p:cNvSpPr/>
          <p:nvPr/>
        </p:nvSpPr>
        <p:spPr>
          <a:xfrm>
            <a:off x="881975" y="1916832"/>
            <a:ext cx="10585176" cy="4483274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8E6964B3-9883-6E58-EC07-D731DAAD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1.4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장점과 한계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B4B82-4794-F0D7-E4F5-9FA7144BA888}"/>
              </a:ext>
            </a:extLst>
          </p:cNvPr>
          <p:cNvSpPr txBox="1"/>
          <p:nvPr/>
        </p:nvSpPr>
        <p:spPr>
          <a:xfrm>
            <a:off x="1055440" y="1078056"/>
            <a:ext cx="10081120" cy="689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클라우드는 </a:t>
            </a:r>
            <a:r>
              <a:rPr kumimoji="1" lang="ko-KR" altLang="en-US" dirty="0">
                <a:solidFill>
                  <a:srgbClr val="07C6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비용과 민첩성 측면에서 강점</a:t>
            </a: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가지지만</a:t>
            </a:r>
            <a:r>
              <a:rPr kumimoji="1"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통제권 일부를 외부에 의존하여 </a:t>
            </a:r>
            <a:r>
              <a:rPr kumimoji="1" lang="ko-KR" altLang="en-US" dirty="0">
                <a:solidFill>
                  <a:srgbClr val="FF58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보안과 운영 측면에서 새로운 리스크 발생</a:t>
            </a:r>
            <a:endParaRPr kumimoji="1" lang="en-US" altLang="ko-KR" dirty="0">
              <a:solidFill>
                <a:srgbClr val="FF58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모서리가 둥근 직사각형 19">
            <a:extLst>
              <a:ext uri="{FF2B5EF4-FFF2-40B4-BE49-F238E27FC236}">
                <a16:creationId xmlns:a16="http://schemas.microsoft.com/office/drawing/2014/main" id="{3BEA8CA1-A2C1-CAEB-7881-B7FB725A6189}"/>
              </a:ext>
            </a:extLst>
          </p:cNvPr>
          <p:cNvSpPr/>
          <p:nvPr/>
        </p:nvSpPr>
        <p:spPr>
          <a:xfrm>
            <a:off x="1170006" y="2152831"/>
            <a:ext cx="942719" cy="318847"/>
          </a:xfrm>
          <a:prstGeom prst="roundRect">
            <a:avLst>
              <a:gd name="adj" fmla="val 50000"/>
            </a:avLst>
          </a:prstGeom>
          <a:solidFill>
            <a:srgbClr val="07C63C"/>
          </a:solidFill>
          <a:ln>
            <a:noFill/>
          </a:ln>
          <a:effectLst>
            <a:outerShdw blurRad="254000" dist="38100" dir="5400000" algn="t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3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장점</a:t>
            </a:r>
            <a:endParaRPr kumimoji="1" lang="ko-Kore-KR" altLang="en-US" sz="130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sp>
        <p:nvSpPr>
          <p:cNvPr id="7" name="모서리가 둥근 직사각형 20">
            <a:extLst>
              <a:ext uri="{FF2B5EF4-FFF2-40B4-BE49-F238E27FC236}">
                <a16:creationId xmlns:a16="http://schemas.microsoft.com/office/drawing/2014/main" id="{E9E1B429-F1B3-828A-D24E-C4D8AC88EA3D}"/>
              </a:ext>
            </a:extLst>
          </p:cNvPr>
          <p:cNvSpPr/>
          <p:nvPr/>
        </p:nvSpPr>
        <p:spPr>
          <a:xfrm>
            <a:off x="1170006" y="4265161"/>
            <a:ext cx="942719" cy="318847"/>
          </a:xfrm>
          <a:prstGeom prst="roundRect">
            <a:avLst>
              <a:gd name="adj" fmla="val 50000"/>
            </a:avLst>
          </a:prstGeom>
          <a:solidFill>
            <a:srgbClr val="FF5800"/>
          </a:solidFill>
          <a:ln>
            <a:noFill/>
          </a:ln>
          <a:effectLst>
            <a:outerShdw blurRad="254000" dist="38100" dir="5400000" algn="t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3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한계</a:t>
            </a:r>
            <a:endParaRPr kumimoji="1" lang="ko-Kore-KR" altLang="en-US" sz="130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CF8F65B-A815-5970-0A4E-9AA9DD7A5044}"/>
              </a:ext>
            </a:extLst>
          </p:cNvPr>
          <p:cNvGrpSpPr/>
          <p:nvPr/>
        </p:nvGrpSpPr>
        <p:grpSpPr>
          <a:xfrm>
            <a:off x="1155600" y="2635981"/>
            <a:ext cx="10051683" cy="1393309"/>
            <a:chOff x="1155600" y="2635981"/>
            <a:chExt cx="10051683" cy="1393309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1BEB93F3-4D12-64CD-3F0F-4CDBC7A2F663}"/>
                </a:ext>
              </a:extLst>
            </p:cNvPr>
            <p:cNvGrpSpPr/>
            <p:nvPr/>
          </p:nvGrpSpPr>
          <p:grpSpPr>
            <a:xfrm>
              <a:off x="1155600" y="2635981"/>
              <a:ext cx="6653113" cy="1393309"/>
              <a:chOff x="4915000" y="2351022"/>
              <a:chExt cx="6132387" cy="1151011"/>
            </a:xfrm>
          </p:grpSpPr>
          <p:sp>
            <p:nvSpPr>
              <p:cNvPr id="17" name="모서리가 둥근 직사각형 11">
                <a:extLst>
                  <a:ext uri="{FF2B5EF4-FFF2-40B4-BE49-F238E27FC236}">
                    <a16:creationId xmlns:a16="http://schemas.microsoft.com/office/drawing/2014/main" id="{66FEA094-11E2-5856-987D-A390C0DDE092}"/>
                  </a:ext>
                </a:extLst>
              </p:cNvPr>
              <p:cNvSpPr/>
              <p:nvPr/>
            </p:nvSpPr>
            <p:spPr>
              <a:xfrm>
                <a:off x="4915000" y="2351022"/>
                <a:ext cx="2989936" cy="1151011"/>
              </a:xfrm>
              <a:prstGeom prst="roundRect">
                <a:avLst>
                  <a:gd name="adj" fmla="val 7716"/>
                </a:avLst>
              </a:prstGeom>
              <a:solidFill>
                <a:schemeClr val="bg1">
                  <a:alpha val="7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  <a:effectLst>
                <a:outerShdw blurRad="254000" sx="102000" sy="102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altLang="ko-KR" sz="13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6 SemiBold" pitchFamily="2" charset="-127"/>
                  <a:ea typeface="Paperlogy 6 SemiBold" pitchFamily="2" charset="-127"/>
                </a:endParaRPr>
              </a:p>
            </p:txBody>
          </p:sp>
          <p:sp>
            <p:nvSpPr>
              <p:cNvPr id="18" name="모서리가 둥근 직사각형 13">
                <a:extLst>
                  <a:ext uri="{FF2B5EF4-FFF2-40B4-BE49-F238E27FC236}">
                    <a16:creationId xmlns:a16="http://schemas.microsoft.com/office/drawing/2014/main" id="{AF23C289-F69B-60E2-B912-8FE0C1ED5FA9}"/>
                  </a:ext>
                </a:extLst>
              </p:cNvPr>
              <p:cNvSpPr/>
              <p:nvPr/>
            </p:nvSpPr>
            <p:spPr>
              <a:xfrm>
                <a:off x="8057451" y="2351022"/>
                <a:ext cx="2989936" cy="1151011"/>
              </a:xfrm>
              <a:prstGeom prst="roundRect">
                <a:avLst>
                  <a:gd name="adj" fmla="val 7716"/>
                </a:avLst>
              </a:prstGeom>
              <a:solidFill>
                <a:schemeClr val="bg1">
                  <a:alpha val="70000"/>
                </a:schemeClr>
              </a:solidFill>
              <a:ln w="12700">
                <a:solidFill>
                  <a:schemeClr val="bg1">
                    <a:lumMod val="75000"/>
                  </a:schemeClr>
                </a:solidFill>
              </a:ln>
              <a:effectLst>
                <a:outerShdw blurRad="254000" sx="102000" sy="102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US" altLang="ko-KR" sz="13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6 SemiBold" pitchFamily="2" charset="-127"/>
                  <a:ea typeface="Paperlogy 6 SemiBold" pitchFamily="2" charset="-127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CA7EC7-27C6-00D7-DA53-869A86FDD592}"/>
                </a:ext>
              </a:extLst>
            </p:cNvPr>
            <p:cNvSpPr txBox="1"/>
            <p:nvPr/>
          </p:nvSpPr>
          <p:spPr>
            <a:xfrm>
              <a:off x="1310346" y="3137571"/>
              <a:ext cx="3089078" cy="717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서버</a:t>
              </a:r>
              <a:r>
                <a:rPr lang="en-US" altLang="ko-KR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, 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네트워크 등 물리 인프라 구매 없이 사용량 기반 과금</a:t>
              </a:r>
              <a:endParaRPr lang="en-US" altLang="ko-KR" dirty="0"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초기 투자 비용</a:t>
              </a:r>
              <a:r>
                <a:rPr lang="en-US" altLang="ko-KR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 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없이 운영 비용</a:t>
              </a:r>
              <a:r>
                <a:rPr lang="en-US" altLang="ko-KR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 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중심 구조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16FCA93-2663-0529-6B12-BA51790674C6}"/>
                </a:ext>
              </a:extLst>
            </p:cNvPr>
            <p:cNvSpPr txBox="1"/>
            <p:nvPr/>
          </p:nvSpPr>
          <p:spPr>
            <a:xfrm>
              <a:off x="1310346" y="2749853"/>
              <a:ext cx="3089078" cy="370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pPr marL="0" indent="0">
                <a:buNone/>
              </a:pPr>
              <a:r>
                <a:rPr lang="ko-KR" altLang="en-US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비용 절감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ABFBC05-D85C-796F-066A-DB181759AC36}"/>
                </a:ext>
              </a:extLst>
            </p:cNvPr>
            <p:cNvSpPr txBox="1"/>
            <p:nvPr/>
          </p:nvSpPr>
          <p:spPr>
            <a:xfrm>
              <a:off x="4719635" y="3137571"/>
              <a:ext cx="3089078" cy="5048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자원을 몇 분 내 생성 및 확장 가능</a:t>
              </a:r>
              <a:endPara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r>
                <a: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트래픽 변화에 따라 자동 스케일링 지원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22E1C9F-58C6-57DD-27B4-C626760F42E7}"/>
                </a:ext>
              </a:extLst>
            </p:cNvPr>
            <p:cNvSpPr txBox="1"/>
            <p:nvPr/>
          </p:nvSpPr>
          <p:spPr>
            <a:xfrm>
              <a:off x="4719635" y="2749853"/>
              <a:ext cx="3089078" cy="370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pPr marL="0" indent="0">
                <a:buNone/>
              </a:pPr>
              <a:r>
                <a:rPr lang="ko-KR" altLang="en-US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민첩성 </a:t>
              </a:r>
              <a:r>
                <a:rPr lang="en-US" altLang="ko-KR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/ </a:t>
              </a:r>
              <a:r>
                <a:rPr lang="ko-KR" altLang="en-US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확장성</a:t>
              </a:r>
            </a:p>
          </p:txBody>
        </p:sp>
        <p:sp>
          <p:nvSpPr>
            <p:cNvPr id="8" name="모서리가 둥근 직사각형 13">
              <a:extLst>
                <a:ext uri="{FF2B5EF4-FFF2-40B4-BE49-F238E27FC236}">
                  <a16:creationId xmlns:a16="http://schemas.microsoft.com/office/drawing/2014/main" id="{275625C5-D895-65E6-FED5-A581E587FAF9}"/>
                </a:ext>
              </a:extLst>
            </p:cNvPr>
            <p:cNvSpPr/>
            <p:nvPr/>
          </p:nvSpPr>
          <p:spPr>
            <a:xfrm>
              <a:off x="7963459" y="2635981"/>
              <a:ext cx="3243824" cy="1393309"/>
            </a:xfrm>
            <a:prstGeom prst="roundRect">
              <a:avLst>
                <a:gd name="adj" fmla="val 7716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254000" sx="102000" sy="102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altLang="ko-KR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21A3F1B-5638-BE31-9CC9-42B5ABE0F40F}"/>
                </a:ext>
              </a:extLst>
            </p:cNvPr>
            <p:cNvSpPr txBox="1"/>
            <p:nvPr/>
          </p:nvSpPr>
          <p:spPr>
            <a:xfrm>
              <a:off x="8118205" y="3137571"/>
              <a:ext cx="3089078" cy="5048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멀티 </a:t>
              </a:r>
              <a:r>
                <a:rPr lang="en-US" altLang="ko-KR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AZ/</a:t>
              </a:r>
              <a:r>
                <a:rPr lang="ko-KR" altLang="en-US" dirty="0" err="1">
                  <a:latin typeface="NanumSquare" panose="020B0600000101010101" pitchFamily="50" charset="-127"/>
                  <a:ea typeface="NanumSquare" panose="020B0600000101010101" pitchFamily="50" charset="-127"/>
                </a:rPr>
                <a:t>리전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 으로 장애 대비 가능</a:t>
              </a:r>
              <a:endParaRPr lang="en-US" altLang="ko-KR" dirty="0"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오토 스케일링</a:t>
              </a:r>
              <a:r>
                <a:rPr lang="en-US" altLang="ko-KR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, DB Failover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로 장애 복구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9D489E-7E50-B5BA-38B9-D6538DA3E05A}"/>
                </a:ext>
              </a:extLst>
            </p:cNvPr>
            <p:cNvSpPr txBox="1"/>
            <p:nvPr/>
          </p:nvSpPr>
          <p:spPr>
            <a:xfrm>
              <a:off x="8118205" y="2749853"/>
              <a:ext cx="3089078" cy="370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pPr marL="0" indent="0">
                <a:buNone/>
              </a:pPr>
              <a:r>
                <a:rPr lang="ko-KR" altLang="en-US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고가용성 </a:t>
              </a:r>
              <a:r>
                <a:rPr lang="en-US" altLang="ko-KR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/ </a:t>
              </a:r>
              <a:r>
                <a:rPr lang="ko-KR" altLang="en-US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안정성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F730DE5-7A21-2E12-0BDC-C6861BD99370}"/>
              </a:ext>
            </a:extLst>
          </p:cNvPr>
          <p:cNvGrpSpPr/>
          <p:nvPr/>
        </p:nvGrpSpPr>
        <p:grpSpPr>
          <a:xfrm>
            <a:off x="1152860" y="4705689"/>
            <a:ext cx="10084649" cy="1451058"/>
            <a:chOff x="1152860" y="4705689"/>
            <a:chExt cx="10084649" cy="1451058"/>
          </a:xfrm>
        </p:grpSpPr>
        <p:sp>
          <p:nvSpPr>
            <p:cNvPr id="47" name="모서리가 둥근 직사각형 11">
              <a:extLst>
                <a:ext uri="{FF2B5EF4-FFF2-40B4-BE49-F238E27FC236}">
                  <a16:creationId xmlns:a16="http://schemas.microsoft.com/office/drawing/2014/main" id="{19FDD2A0-359E-621B-FD46-02A1F872A843}"/>
                </a:ext>
              </a:extLst>
            </p:cNvPr>
            <p:cNvSpPr/>
            <p:nvPr/>
          </p:nvSpPr>
          <p:spPr>
            <a:xfrm>
              <a:off x="1152860" y="4705689"/>
              <a:ext cx="3243824" cy="1451058"/>
            </a:xfrm>
            <a:prstGeom prst="roundRect">
              <a:avLst>
                <a:gd name="adj" fmla="val 7716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254000" sx="102000" sy="102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altLang="ko-KR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endParaRPr>
            </a:p>
          </p:txBody>
        </p:sp>
        <p:sp>
          <p:nvSpPr>
            <p:cNvPr id="48" name="모서리가 둥근 직사각형 13">
              <a:extLst>
                <a:ext uri="{FF2B5EF4-FFF2-40B4-BE49-F238E27FC236}">
                  <a16:creationId xmlns:a16="http://schemas.microsoft.com/office/drawing/2014/main" id="{79AA1881-0FF5-BF76-F434-43CFCCE98796}"/>
                </a:ext>
              </a:extLst>
            </p:cNvPr>
            <p:cNvSpPr/>
            <p:nvPr/>
          </p:nvSpPr>
          <p:spPr>
            <a:xfrm>
              <a:off x="4562149" y="4705689"/>
              <a:ext cx="3243824" cy="1451058"/>
            </a:xfrm>
            <a:prstGeom prst="roundRect">
              <a:avLst>
                <a:gd name="adj" fmla="val 7716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254000" sx="102000" sy="102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altLang="ko-KR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DFFC066-D3E6-CDD4-CD71-429BAAEAB34F}"/>
                </a:ext>
              </a:extLst>
            </p:cNvPr>
            <p:cNvSpPr txBox="1"/>
            <p:nvPr/>
          </p:nvSpPr>
          <p:spPr>
            <a:xfrm>
              <a:off x="1307606" y="5219728"/>
              <a:ext cx="3089078" cy="7378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en-US" altLang="ko-KR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CSP 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내부 인프라에 대한 직접적인 접근 및 제어 불가</a:t>
              </a:r>
              <a:endParaRPr lang="en-US" altLang="ko-KR" dirty="0"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로그</a:t>
              </a:r>
              <a:r>
                <a:rPr lang="en-US" altLang="ko-KR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, 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설정</a:t>
              </a:r>
              <a:r>
                <a:rPr lang="en-US" altLang="ko-KR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, 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장애 원인 분석에 제한 존재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C8B449D-3782-4DBD-EE63-96932A5F9458}"/>
                </a:ext>
              </a:extLst>
            </p:cNvPr>
            <p:cNvSpPr txBox="1"/>
            <p:nvPr/>
          </p:nvSpPr>
          <p:spPr>
            <a:xfrm>
              <a:off x="1307606" y="4824281"/>
              <a:ext cx="3089078" cy="370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pPr marL="0" indent="0">
                <a:buNone/>
              </a:pPr>
              <a:r>
                <a:rPr lang="ko-KR" altLang="en-US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통제 한계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47BCE30-2179-0C0B-F2EF-6C12F4D47B43}"/>
                </a:ext>
              </a:extLst>
            </p:cNvPr>
            <p:cNvSpPr txBox="1"/>
            <p:nvPr/>
          </p:nvSpPr>
          <p:spPr>
            <a:xfrm>
              <a:off x="4716895" y="5219728"/>
              <a:ext cx="3089078" cy="7378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하나의 물리 자원을 여러 고객이 공유하여 격리 실패 시 데이터 유출</a:t>
              </a:r>
              <a:r>
                <a:rPr lang="en-US" altLang="ko-KR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,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 측면 공격 가능</a:t>
              </a:r>
              <a:endParaRPr lang="en-US" altLang="ko-KR" dirty="0"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다른 고객 리소스 높게 사용 시 성능 저하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F2BB1285-C522-827C-8BBA-41DD02B138D4}"/>
                </a:ext>
              </a:extLst>
            </p:cNvPr>
            <p:cNvSpPr txBox="1"/>
            <p:nvPr/>
          </p:nvSpPr>
          <p:spPr>
            <a:xfrm>
              <a:off x="4716895" y="4824281"/>
              <a:ext cx="3089078" cy="370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pPr marL="0" indent="0">
                <a:buNone/>
              </a:pPr>
              <a:r>
                <a:rPr lang="ko-KR" altLang="en-US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공유 환경 기반 리스크</a:t>
              </a:r>
            </a:p>
          </p:txBody>
        </p:sp>
        <p:sp>
          <p:nvSpPr>
            <p:cNvPr id="21" name="모서리가 둥근 직사각형 13">
              <a:extLst>
                <a:ext uri="{FF2B5EF4-FFF2-40B4-BE49-F238E27FC236}">
                  <a16:creationId xmlns:a16="http://schemas.microsoft.com/office/drawing/2014/main" id="{9A34F2D9-1EDD-D02E-2A43-B67EEC9F5562}"/>
                </a:ext>
              </a:extLst>
            </p:cNvPr>
            <p:cNvSpPr/>
            <p:nvPr/>
          </p:nvSpPr>
          <p:spPr>
            <a:xfrm>
              <a:off x="7993685" y="4705689"/>
              <a:ext cx="3243824" cy="1451058"/>
            </a:xfrm>
            <a:prstGeom prst="roundRect">
              <a:avLst>
                <a:gd name="adj" fmla="val 7716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254000" sx="102000" sy="102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altLang="ko-KR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5CA8702-3E10-1BD4-FB42-E83C4171F2BD}"/>
                </a:ext>
              </a:extLst>
            </p:cNvPr>
            <p:cNvSpPr txBox="1"/>
            <p:nvPr/>
          </p:nvSpPr>
          <p:spPr>
            <a:xfrm>
              <a:off x="8148431" y="5197754"/>
              <a:ext cx="3089078" cy="92089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네트워크 내부 흐름 완전한 파악이 어려워 로그 의존성이 높음</a:t>
              </a:r>
              <a:endParaRPr lang="en-US" altLang="ko-KR" dirty="0"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유연성이 높은 만큼 설정 요소들이 많고 실수가 보안 사고와 연결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9490161-CEF2-CA4E-9706-98BEFE09C466}"/>
                </a:ext>
              </a:extLst>
            </p:cNvPr>
            <p:cNvSpPr txBox="1"/>
            <p:nvPr/>
          </p:nvSpPr>
          <p:spPr>
            <a:xfrm>
              <a:off x="8148431" y="4819561"/>
              <a:ext cx="3089078" cy="3707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pPr marL="0" indent="0">
                <a:buNone/>
              </a:pPr>
              <a:r>
                <a:rPr lang="ko-KR" altLang="en-US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가시성 부족 </a:t>
              </a:r>
              <a:r>
                <a:rPr lang="en-US" altLang="ko-KR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/ </a:t>
              </a:r>
              <a:r>
                <a:rPr lang="ko-KR" altLang="en-US" sz="16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구성 혼잡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8024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양쪽 모서리가 둥근 사각형 58">
            <a:extLst>
              <a:ext uri="{FF2B5EF4-FFF2-40B4-BE49-F238E27FC236}">
                <a16:creationId xmlns:a16="http://schemas.microsoft.com/office/drawing/2014/main" id="{ABE293D5-EFE9-DF4F-59EC-92BD57A43A0D}"/>
              </a:ext>
            </a:extLst>
          </p:cNvPr>
          <p:cNvSpPr/>
          <p:nvPr/>
        </p:nvSpPr>
        <p:spPr>
          <a:xfrm>
            <a:off x="767408" y="1628800"/>
            <a:ext cx="5832648" cy="4320481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2" name="제목 1">
            <a:extLst>
              <a:ext uri="{FF2B5EF4-FFF2-40B4-BE49-F238E27FC236}">
                <a16:creationId xmlns:a16="http://schemas.microsoft.com/office/drawing/2014/main" id="{8E6964B3-9883-6E58-EC07-D731DAADA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1.5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국내 클라우드 서비스 시장 현황</a:t>
            </a:r>
          </a:p>
        </p:txBody>
      </p:sp>
      <p:sp>
        <p:nvSpPr>
          <p:cNvPr id="55" name="모서리가 둥근 직사각형 17">
            <a:extLst>
              <a:ext uri="{FF2B5EF4-FFF2-40B4-BE49-F238E27FC236}">
                <a16:creationId xmlns:a16="http://schemas.microsoft.com/office/drawing/2014/main" id="{EC4ACD43-3C67-848B-66C6-8EE061EB1915}"/>
              </a:ext>
            </a:extLst>
          </p:cNvPr>
          <p:cNvSpPr/>
          <p:nvPr/>
        </p:nvSpPr>
        <p:spPr>
          <a:xfrm>
            <a:off x="903051" y="1787814"/>
            <a:ext cx="5561362" cy="4031882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B4B82-4794-F0D7-E4F5-9FA7144BA888}"/>
              </a:ext>
            </a:extLst>
          </p:cNvPr>
          <p:cNvSpPr txBox="1"/>
          <p:nvPr/>
        </p:nvSpPr>
        <p:spPr>
          <a:xfrm>
            <a:off x="1811524" y="1937827"/>
            <a:ext cx="3744416" cy="384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국내 클라우드 서비스 시장 점유율</a:t>
            </a:r>
            <a:r>
              <a:rPr kumimoji="1"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”</a:t>
            </a:r>
            <a:endParaRPr kumimoji="1" lang="en-US" altLang="ko-KR" dirty="0">
              <a:solidFill>
                <a:srgbClr val="FF58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53" name="차트 52">
            <a:extLst>
              <a:ext uri="{FF2B5EF4-FFF2-40B4-BE49-F238E27FC236}">
                <a16:creationId xmlns:a16="http://schemas.microsoft.com/office/drawing/2014/main" id="{8203D500-4BCC-38EE-35D4-20887D30EA83}"/>
              </a:ext>
            </a:extLst>
          </p:cNvPr>
          <p:cNvGraphicFramePr/>
          <p:nvPr/>
        </p:nvGraphicFramePr>
        <p:xfrm>
          <a:off x="6888088" y="1519804"/>
          <a:ext cx="4536504" cy="432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FB3C3C1-F897-68FE-9079-4C32026E8BB5}"/>
              </a:ext>
            </a:extLst>
          </p:cNvPr>
          <p:cNvSpPr txBox="1"/>
          <p:nvPr/>
        </p:nvSpPr>
        <p:spPr>
          <a:xfrm>
            <a:off x="767408" y="2723351"/>
            <a:ext cx="5832648" cy="2517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en-US" altLang="ko-KR" dirty="0">
                <a:solidFill>
                  <a:srgbClr val="00B0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Global </a:t>
            </a:r>
            <a:r>
              <a:rPr kumimoji="1" lang="ko-KR" altLang="en-US" dirty="0">
                <a:solidFill>
                  <a:srgbClr val="00B0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대표 </a:t>
            </a:r>
            <a:r>
              <a:rPr kumimoji="1" lang="en-US" altLang="ko-KR" dirty="0">
                <a:solidFill>
                  <a:srgbClr val="00B0F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CSP(AWS, Azure, GCP)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약 </a:t>
            </a:r>
            <a:r>
              <a:rPr kumimoji="1"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60% </a:t>
            </a: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이상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점유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kumimoji="1" lang="ko-KR" altLang="en-US" dirty="0">
                <a:solidFill>
                  <a:srgbClr val="07C6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국내 대표 </a:t>
            </a:r>
            <a:r>
              <a:rPr kumimoji="1" lang="en-US" altLang="ko-KR" dirty="0">
                <a:solidFill>
                  <a:srgbClr val="07C6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CSP(NCP, KT, NHN)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약 </a:t>
            </a:r>
            <a:r>
              <a:rPr kumimoji="1"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25% </a:t>
            </a: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이상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점유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kumimoji="1" lang="ko-KR" altLang="en-US" dirty="0">
                <a:solidFill>
                  <a:schemeClr val="accent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이외 </a:t>
            </a:r>
            <a:r>
              <a:rPr kumimoji="1" lang="en-US" altLang="ko-KR" dirty="0">
                <a:solidFill>
                  <a:schemeClr val="accent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CSP(Oracle, Alibaba, </a:t>
            </a:r>
            <a:r>
              <a:rPr kumimoji="1" lang="en-US" altLang="ko-KR" dirty="0" err="1">
                <a:solidFill>
                  <a:schemeClr val="accent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KaKao</a:t>
            </a:r>
            <a:r>
              <a:rPr kumimoji="1" lang="en-US" altLang="ko-KR" dirty="0">
                <a:solidFill>
                  <a:schemeClr val="accent6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..)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endParaRPr kumimoji="1" lang="en-US" altLang="ko-KR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ct val="110000"/>
              </a:lnSpc>
            </a:pP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약 </a:t>
            </a:r>
            <a:r>
              <a:rPr kumimoji="1"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10% </a:t>
            </a: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미만 </a:t>
            </a:r>
            <a:r>
              <a:rPr kumimoji="1"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점유</a:t>
            </a:r>
            <a:endParaRPr kumimoji="1" lang="en-US" altLang="ko-KR" dirty="0">
              <a:solidFill>
                <a:srgbClr val="FF5800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0976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385200" y="288001"/>
            <a:ext cx="8280000" cy="19045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algn="l" defTabSz="914400" rtl="0" eaLnBrk="1" latinLnBrk="1" hangingPunct="1">
              <a:lnSpc>
                <a:spcPct val="110000"/>
              </a:lnSpc>
              <a:spcBef>
                <a:spcPct val="0"/>
              </a:spcBef>
              <a:buNone/>
              <a:defRPr lang="ko-KR" altLang="en-US" sz="3600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2. </a:t>
            </a:r>
            <a:r>
              <a:rPr lang="ko-KR" altLang="en-US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클라우드 보안 특성</a:t>
            </a:r>
          </a:p>
        </p:txBody>
      </p:sp>
    </p:spTree>
    <p:extLst>
      <p:ext uri="{BB962C8B-B14F-4D97-AF65-F5344CB8AC3E}">
        <p14:creationId xmlns:p14="http://schemas.microsoft.com/office/powerpoint/2010/main" val="1286289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15CF66A-769A-1F1B-101E-8F729C9EE726}"/>
              </a:ext>
            </a:extLst>
          </p:cNvPr>
          <p:cNvGraphicFramePr>
            <a:graphicFrameLocks noGrp="1"/>
          </p:cNvGraphicFramePr>
          <p:nvPr/>
        </p:nvGraphicFramePr>
        <p:xfrm>
          <a:off x="423863" y="1844824"/>
          <a:ext cx="11288711" cy="4410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5107">
                  <a:extLst>
                    <a:ext uri="{9D8B030D-6E8A-4147-A177-3AD203B41FA5}">
                      <a16:colId xmlns:a16="http://schemas.microsoft.com/office/drawing/2014/main" val="3273939362"/>
                    </a:ext>
                  </a:extLst>
                </a:gridCol>
                <a:gridCol w="4616802">
                  <a:extLst>
                    <a:ext uri="{9D8B030D-6E8A-4147-A177-3AD203B41FA5}">
                      <a16:colId xmlns:a16="http://schemas.microsoft.com/office/drawing/2014/main" val="1985979074"/>
                    </a:ext>
                  </a:extLst>
                </a:gridCol>
                <a:gridCol w="4616802">
                  <a:extLst>
                    <a:ext uri="{9D8B030D-6E8A-4147-A177-3AD203B41FA5}">
                      <a16:colId xmlns:a16="http://schemas.microsoft.com/office/drawing/2014/main" val="2669046002"/>
                    </a:ext>
                  </a:extLst>
                </a:gridCol>
              </a:tblGrid>
              <a:tr h="6300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구분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 err="1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온프레미스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클라우드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Pretendard SemiBol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359215"/>
                  </a:ext>
                </a:extLst>
              </a:tr>
              <a:tr h="6300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인프라 소유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기업이 물리적 서버 </a:t>
                      </a:r>
                      <a:r>
                        <a:rPr lang="en-US" altLang="ko-KR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시설 직접 소유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클라우드 서비스 제공자</a:t>
                      </a:r>
                      <a:r>
                        <a:rPr lang="en-US" altLang="ko-KR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(AWS, </a:t>
                      </a:r>
                      <a:r>
                        <a:rPr lang="en-US" altLang="ko-KR" sz="1400" b="0" i="0" spc="-70" baseline="0" dirty="0" err="1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Auzre</a:t>
                      </a:r>
                      <a:r>
                        <a:rPr lang="en-US" altLang="ko-KR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 </a:t>
                      </a:r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등</a:t>
                      </a:r>
                      <a:r>
                        <a:rPr lang="en-US" altLang="ko-KR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) </a:t>
                      </a:r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소유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Pretendard SemiBol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521826"/>
                  </a:ext>
                </a:extLst>
              </a:tr>
              <a:tr h="6300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보안 책임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전 계층에 대한 기업의 단독 책임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공동 책임 모델 </a:t>
                      </a:r>
                      <a:r>
                        <a:rPr lang="en-US" altLang="ko-KR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(</a:t>
                      </a:r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계층 별 분담</a:t>
                      </a:r>
                      <a:r>
                        <a:rPr lang="en-US" altLang="ko-KR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)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Pretendard SemiBol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575745"/>
                  </a:ext>
                </a:extLst>
              </a:tr>
              <a:tr h="6300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확장성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하드웨어 구매 필요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즉각적 리소스 확장 </a:t>
                      </a:r>
                      <a:r>
                        <a:rPr lang="en-US" altLang="ko-KR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· </a:t>
                      </a:r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축소 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Pretendard SemiBol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8797237"/>
                  </a:ext>
                </a:extLst>
              </a:tr>
              <a:tr h="6300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비용 구조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CAPEX </a:t>
                      </a:r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높음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OPEX </a:t>
                      </a:r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기반으로 초기 투자 비용 낮음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Pretendard SemiBol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561634"/>
                  </a:ext>
                </a:extLst>
              </a:tr>
              <a:tr h="6300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 err="1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제어권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물리 </a:t>
                      </a:r>
                      <a:r>
                        <a:rPr lang="en-US" altLang="ko-KR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· </a:t>
                      </a:r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논리 전 계층 완전 제어 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관리형 서비스는 설정 범위에 제한 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Pretendard SemiBol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844364"/>
                  </a:ext>
                </a:extLst>
              </a:tr>
              <a:tr h="63003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가시성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NanumSquare" panose="020B0600000101010101" pitchFamily="50" charset="-127"/>
                          <a:ea typeface="NanumSquare" panose="020B0600000101010101" pitchFamily="50" charset="-127"/>
                          <a:cs typeface="Pretendard" panose="02000503000000020004" pitchFamily="2" charset="-127"/>
                        </a:rPr>
                        <a:t>내부망에 국한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API </a:t>
                      </a:r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연결</a:t>
                      </a:r>
                      <a:r>
                        <a:rPr lang="en-US" altLang="ko-KR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, </a:t>
                      </a:r>
                      <a:r>
                        <a:rPr lang="ko-KR" altLang="en-US" sz="1400" b="0" i="0" spc="-7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Pretendard SemiBold" panose="02000503000000020004" pitchFamily="2" charset="-127"/>
                        </a:rPr>
                        <a:t>잘못된 설정 시 노출 가능</a:t>
                      </a:r>
                      <a:endParaRPr lang="ko-Kore-KR" altLang="en-US" sz="1400" b="0" i="0" spc="-7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Pretendard SemiBol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154738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ED68DCFB-E23C-8735-47CB-0273E54A41BE}"/>
              </a:ext>
            </a:extLst>
          </p:cNvPr>
          <p:cNvSpPr/>
          <p:nvPr/>
        </p:nvSpPr>
        <p:spPr>
          <a:xfrm>
            <a:off x="7104112" y="1844824"/>
            <a:ext cx="4608462" cy="4410271"/>
          </a:xfrm>
          <a:prstGeom prst="rect">
            <a:avLst/>
          </a:prstGeom>
          <a:noFill/>
          <a:ln>
            <a:solidFill>
              <a:srgbClr val="07C6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24C7659-7867-E06B-466E-5589CAC5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2.1 </a:t>
            </a:r>
            <a:r>
              <a:rPr lang="ko-KR" altLang="en-US" sz="2400" b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온프레미스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보안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ED4803-F7FD-B6E6-7FCD-7C0524C30790}"/>
              </a:ext>
            </a:extLst>
          </p:cNvPr>
          <p:cNvSpPr txBox="1"/>
          <p:nvPr/>
        </p:nvSpPr>
        <p:spPr>
          <a:xfrm>
            <a:off x="651532" y="1125740"/>
            <a:ext cx="10888936" cy="417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온프레미스는</a:t>
            </a:r>
            <a:r>
              <a:rPr kumimoji="1"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kumimoji="1"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kumimoji="1"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인프라 중심 보안</a:t>
            </a:r>
            <a:r>
              <a:rPr kumimoji="1"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kumimoji="1"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이고 </a:t>
            </a:r>
            <a:r>
              <a:rPr kumimoji="1" lang="ko-KR" altLang="en-US" sz="2000" dirty="0">
                <a:solidFill>
                  <a:srgbClr val="07C6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클라우드는 </a:t>
            </a:r>
            <a:r>
              <a:rPr kumimoji="1" lang="en-US" altLang="ko-KR" sz="2000" dirty="0">
                <a:solidFill>
                  <a:srgbClr val="07C6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kumimoji="1" lang="ko-KR" altLang="en-US" sz="2000" dirty="0">
                <a:solidFill>
                  <a:srgbClr val="07C6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접근과 설정 중심 보안</a:t>
            </a:r>
            <a:r>
              <a:rPr kumimoji="1" lang="en-US" altLang="ko-KR" sz="2000" dirty="0">
                <a:solidFill>
                  <a:srgbClr val="07C6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</a:p>
        </p:txBody>
      </p:sp>
    </p:spTree>
    <p:extLst>
      <p:ext uri="{BB962C8B-B14F-4D97-AF65-F5344CB8AC3E}">
        <p14:creationId xmlns:p14="http://schemas.microsoft.com/office/powerpoint/2010/main" val="4217949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E24C7659-7867-E06B-466E-5589CAC5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2.1 </a:t>
            </a:r>
            <a:r>
              <a:rPr lang="ko-KR" altLang="en-US" sz="2400" b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온프레미스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보안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보안 관점 차이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ko-KR" altLang="en-US" sz="24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양쪽 모서리가 둥근 사각형 4">
            <a:extLst>
              <a:ext uri="{FF2B5EF4-FFF2-40B4-BE49-F238E27FC236}">
                <a16:creationId xmlns:a16="http://schemas.microsoft.com/office/drawing/2014/main" id="{B68E93D6-6DDA-AEEB-9018-41320E0FA4F5}"/>
              </a:ext>
            </a:extLst>
          </p:cNvPr>
          <p:cNvSpPr/>
          <p:nvPr/>
        </p:nvSpPr>
        <p:spPr>
          <a:xfrm>
            <a:off x="623888" y="1862027"/>
            <a:ext cx="5332774" cy="4591310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양쪽 모서리가 둥근 사각형 1">
            <a:extLst>
              <a:ext uri="{FF2B5EF4-FFF2-40B4-BE49-F238E27FC236}">
                <a16:creationId xmlns:a16="http://schemas.microsoft.com/office/drawing/2014/main" id="{0C3E1A12-E313-5397-E762-4E0C3C90B033}"/>
              </a:ext>
            </a:extLst>
          </p:cNvPr>
          <p:cNvSpPr/>
          <p:nvPr/>
        </p:nvSpPr>
        <p:spPr>
          <a:xfrm>
            <a:off x="6250833" y="1862027"/>
            <a:ext cx="5332774" cy="4591310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7AF72-3635-C2A6-B86C-94071FBF41B7}"/>
              </a:ext>
            </a:extLst>
          </p:cNvPr>
          <p:cNvSpPr txBox="1"/>
          <p:nvPr/>
        </p:nvSpPr>
        <p:spPr>
          <a:xfrm>
            <a:off x="1341905" y="1916832"/>
            <a:ext cx="3896740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000" dirty="0" err="1">
                <a:solidFill>
                  <a:srgbClr val="07C63C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온프레미스</a:t>
            </a:r>
            <a:r>
              <a:rPr lang="ko-KR" altLang="en-US" sz="2000" dirty="0">
                <a:solidFill>
                  <a:srgbClr val="07C63C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 보안</a:t>
            </a:r>
          </a:p>
        </p:txBody>
      </p:sp>
      <p:cxnSp>
        <p:nvCxnSpPr>
          <p:cNvPr id="10" name="직선 연결선[R] 41">
            <a:extLst>
              <a:ext uri="{FF2B5EF4-FFF2-40B4-BE49-F238E27FC236}">
                <a16:creationId xmlns:a16="http://schemas.microsoft.com/office/drawing/2014/main" id="{337F65B1-F3A7-A679-3995-F8A0B56D3949}"/>
              </a:ext>
            </a:extLst>
          </p:cNvPr>
          <p:cNvCxnSpPr>
            <a:cxnSpLocks/>
          </p:cNvCxnSpPr>
          <p:nvPr/>
        </p:nvCxnSpPr>
        <p:spPr>
          <a:xfrm>
            <a:off x="3290275" y="2271176"/>
            <a:ext cx="0" cy="360000"/>
          </a:xfrm>
          <a:prstGeom prst="line">
            <a:avLst/>
          </a:prstGeom>
          <a:ln>
            <a:gradFill flip="none" rotWithShape="1">
              <a:gsLst>
                <a:gs pos="0">
                  <a:srgbClr val="009F0F">
                    <a:alpha val="0"/>
                  </a:srgbClr>
                </a:gs>
                <a:gs pos="52000">
                  <a:srgbClr val="009F0F">
                    <a:alpha val="50000"/>
                  </a:srgbClr>
                </a:gs>
                <a:gs pos="100000">
                  <a:srgbClr val="009F0F"/>
                </a:gs>
              </a:gsLst>
              <a:lin ang="5400000" scaled="1"/>
              <a:tileRect/>
            </a:gra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모서리가 둥근 직사각형 28">
            <a:extLst>
              <a:ext uri="{FF2B5EF4-FFF2-40B4-BE49-F238E27FC236}">
                <a16:creationId xmlns:a16="http://schemas.microsoft.com/office/drawing/2014/main" id="{5F350E4A-0A08-40BA-02F2-8EE013A4D2CB}"/>
              </a:ext>
            </a:extLst>
          </p:cNvPr>
          <p:cNvSpPr/>
          <p:nvPr/>
        </p:nvSpPr>
        <p:spPr>
          <a:xfrm>
            <a:off x="1111693" y="2708920"/>
            <a:ext cx="4357164" cy="53753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  <a:alpha val="72000"/>
            </a:schemeClr>
          </a:solidFill>
          <a:ln w="8890"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29000">
                  <a:schemeClr val="tx1">
                    <a:lumMod val="75000"/>
                    <a:lumOff val="25000"/>
                  </a:schemeClr>
                </a:gs>
                <a:gs pos="72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  <a:alpha val="2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E254AE-EA07-8D2F-FA7B-CB342F70B379}"/>
              </a:ext>
            </a:extLst>
          </p:cNvPr>
          <p:cNvSpPr txBox="1"/>
          <p:nvPr/>
        </p:nvSpPr>
        <p:spPr>
          <a:xfrm>
            <a:off x="1111693" y="2823798"/>
            <a:ext cx="435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네트워크 경계 기반 보안</a:t>
            </a:r>
          </a:p>
        </p:txBody>
      </p:sp>
      <p:sp>
        <p:nvSpPr>
          <p:cNvPr id="25" name="모서리가 둥근 직사각형 28">
            <a:extLst>
              <a:ext uri="{FF2B5EF4-FFF2-40B4-BE49-F238E27FC236}">
                <a16:creationId xmlns:a16="http://schemas.microsoft.com/office/drawing/2014/main" id="{18D1B4DC-1E1A-E00E-A877-36F922DB9670}"/>
              </a:ext>
            </a:extLst>
          </p:cNvPr>
          <p:cNvSpPr/>
          <p:nvPr/>
        </p:nvSpPr>
        <p:spPr>
          <a:xfrm>
            <a:off x="1111693" y="3393318"/>
            <a:ext cx="4357164" cy="53753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  <a:alpha val="72000"/>
            </a:schemeClr>
          </a:solidFill>
          <a:ln w="8890"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29000">
                  <a:schemeClr val="tx1">
                    <a:lumMod val="75000"/>
                    <a:lumOff val="25000"/>
                  </a:schemeClr>
                </a:gs>
                <a:gs pos="72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  <a:alpha val="2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DB499C-75F9-3F63-8B69-6FD340EACFEC}"/>
              </a:ext>
            </a:extLst>
          </p:cNvPr>
          <p:cNvSpPr txBox="1"/>
          <p:nvPr/>
        </p:nvSpPr>
        <p:spPr>
          <a:xfrm>
            <a:off x="1111693" y="3508196"/>
            <a:ext cx="435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내부망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·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외부망을 구분하여 보호</a:t>
            </a:r>
          </a:p>
        </p:txBody>
      </p:sp>
      <p:sp>
        <p:nvSpPr>
          <p:cNvPr id="27" name="모서리가 둥근 직사각형 28">
            <a:extLst>
              <a:ext uri="{FF2B5EF4-FFF2-40B4-BE49-F238E27FC236}">
                <a16:creationId xmlns:a16="http://schemas.microsoft.com/office/drawing/2014/main" id="{C2280449-D32E-990E-FA79-6E06D42C91DC}"/>
              </a:ext>
            </a:extLst>
          </p:cNvPr>
          <p:cNvSpPr/>
          <p:nvPr/>
        </p:nvSpPr>
        <p:spPr>
          <a:xfrm>
            <a:off x="1111693" y="4118934"/>
            <a:ext cx="4357164" cy="53753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  <a:alpha val="72000"/>
            </a:schemeClr>
          </a:solidFill>
          <a:ln w="8890"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29000">
                  <a:schemeClr val="tx1">
                    <a:lumMod val="75000"/>
                    <a:lumOff val="25000"/>
                  </a:schemeClr>
                </a:gs>
                <a:gs pos="72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  <a:alpha val="2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522550-CD9D-62F4-4B2F-47C046A6ECF9}"/>
              </a:ext>
            </a:extLst>
          </p:cNvPr>
          <p:cNvSpPr txBox="1"/>
          <p:nvPr/>
        </p:nvSpPr>
        <p:spPr>
          <a:xfrm>
            <a:off x="1111693" y="4233812"/>
            <a:ext cx="435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물리적 장비 및 네트워크 통제 가능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3DE912E-BB1A-8622-0BFD-FEFE0DDDEC79}"/>
              </a:ext>
            </a:extLst>
          </p:cNvPr>
          <p:cNvSpPr/>
          <p:nvPr/>
        </p:nvSpPr>
        <p:spPr>
          <a:xfrm>
            <a:off x="1111693" y="4837349"/>
            <a:ext cx="4357164" cy="53753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  <a:alpha val="72000"/>
            </a:schemeClr>
          </a:solidFill>
          <a:ln w="8890"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29000">
                  <a:schemeClr val="tx1">
                    <a:lumMod val="75000"/>
                    <a:lumOff val="25000"/>
                  </a:schemeClr>
                </a:gs>
                <a:gs pos="72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  <a:alpha val="2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4F4BA1-6237-EF8A-0434-61E1333B0FA3}"/>
              </a:ext>
            </a:extLst>
          </p:cNvPr>
          <p:cNvSpPr txBox="1"/>
          <p:nvPr/>
        </p:nvSpPr>
        <p:spPr>
          <a:xfrm>
            <a:off x="1111693" y="4952227"/>
            <a:ext cx="435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직접 패치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운영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장애 대응 수행</a:t>
            </a:r>
          </a:p>
        </p:txBody>
      </p:sp>
      <p:sp>
        <p:nvSpPr>
          <p:cNvPr id="34" name="모서리가 둥근 직사각형 28">
            <a:extLst>
              <a:ext uri="{FF2B5EF4-FFF2-40B4-BE49-F238E27FC236}">
                <a16:creationId xmlns:a16="http://schemas.microsoft.com/office/drawing/2014/main" id="{7201DF21-B841-1FF3-A8AD-8502D0649E80}"/>
              </a:ext>
            </a:extLst>
          </p:cNvPr>
          <p:cNvSpPr/>
          <p:nvPr/>
        </p:nvSpPr>
        <p:spPr>
          <a:xfrm>
            <a:off x="1111693" y="5555764"/>
            <a:ext cx="4357164" cy="53753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  <a:alpha val="72000"/>
            </a:schemeClr>
          </a:solidFill>
          <a:ln w="8890"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29000">
                  <a:schemeClr val="tx1">
                    <a:lumMod val="75000"/>
                    <a:lumOff val="25000"/>
                  </a:schemeClr>
                </a:gs>
                <a:gs pos="72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  <a:alpha val="2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4ECE29-19A9-9ACE-51EC-A006D5456370}"/>
              </a:ext>
            </a:extLst>
          </p:cNvPr>
          <p:cNvSpPr txBox="1"/>
          <p:nvPr/>
        </p:nvSpPr>
        <p:spPr>
          <a:xfrm>
            <a:off x="1111693" y="5670642"/>
            <a:ext cx="435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내부는 상대적으로 신뢰하는 구조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DF7E54-A993-CFCA-D5BF-A5F88973E6C5}"/>
              </a:ext>
            </a:extLst>
          </p:cNvPr>
          <p:cNvSpPr txBox="1"/>
          <p:nvPr/>
        </p:nvSpPr>
        <p:spPr>
          <a:xfrm>
            <a:off x="6953355" y="1916832"/>
            <a:ext cx="3896740" cy="440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2000" dirty="0">
                <a:solidFill>
                  <a:srgbClr val="07C63C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클라우드 보안</a:t>
            </a:r>
          </a:p>
        </p:txBody>
      </p:sp>
      <p:cxnSp>
        <p:nvCxnSpPr>
          <p:cNvPr id="37" name="직선 연결선[R] 41">
            <a:extLst>
              <a:ext uri="{FF2B5EF4-FFF2-40B4-BE49-F238E27FC236}">
                <a16:creationId xmlns:a16="http://schemas.microsoft.com/office/drawing/2014/main" id="{151A52FC-D929-2EBF-2395-31E9B1915D29}"/>
              </a:ext>
            </a:extLst>
          </p:cNvPr>
          <p:cNvCxnSpPr>
            <a:cxnSpLocks/>
          </p:cNvCxnSpPr>
          <p:nvPr/>
        </p:nvCxnSpPr>
        <p:spPr>
          <a:xfrm>
            <a:off x="8901725" y="2271176"/>
            <a:ext cx="0" cy="360000"/>
          </a:xfrm>
          <a:prstGeom prst="line">
            <a:avLst/>
          </a:prstGeom>
          <a:ln>
            <a:gradFill flip="none" rotWithShape="1">
              <a:gsLst>
                <a:gs pos="0">
                  <a:srgbClr val="009F0F">
                    <a:alpha val="0"/>
                  </a:srgbClr>
                </a:gs>
                <a:gs pos="52000">
                  <a:srgbClr val="009F0F">
                    <a:alpha val="50000"/>
                  </a:srgbClr>
                </a:gs>
                <a:gs pos="100000">
                  <a:srgbClr val="009F0F"/>
                </a:gs>
              </a:gsLst>
              <a:lin ang="5400000" scaled="1"/>
              <a:tileRect/>
            </a:gra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모서리가 둥근 직사각형 28">
            <a:extLst>
              <a:ext uri="{FF2B5EF4-FFF2-40B4-BE49-F238E27FC236}">
                <a16:creationId xmlns:a16="http://schemas.microsoft.com/office/drawing/2014/main" id="{62FE5973-491E-47B1-1504-222D68139ACD}"/>
              </a:ext>
            </a:extLst>
          </p:cNvPr>
          <p:cNvSpPr/>
          <p:nvPr/>
        </p:nvSpPr>
        <p:spPr>
          <a:xfrm>
            <a:off x="6723143" y="2708920"/>
            <a:ext cx="4357164" cy="53753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  <a:alpha val="72000"/>
            </a:schemeClr>
          </a:solidFill>
          <a:ln w="8890"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29000">
                  <a:schemeClr val="tx1">
                    <a:lumMod val="75000"/>
                    <a:lumOff val="25000"/>
                  </a:schemeClr>
                </a:gs>
                <a:gs pos="72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  <a:alpha val="2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0C0F1E-E6BB-53A8-046D-14CCE31F6C31}"/>
              </a:ext>
            </a:extLst>
          </p:cNvPr>
          <p:cNvSpPr txBox="1"/>
          <p:nvPr/>
        </p:nvSpPr>
        <p:spPr>
          <a:xfrm>
            <a:off x="6723143" y="2823798"/>
            <a:ext cx="435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API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자원 제어 및 관리</a:t>
            </a:r>
          </a:p>
        </p:txBody>
      </p:sp>
      <p:sp>
        <p:nvSpPr>
          <p:cNvPr id="40" name="모서리가 둥근 직사각형 28">
            <a:extLst>
              <a:ext uri="{FF2B5EF4-FFF2-40B4-BE49-F238E27FC236}">
                <a16:creationId xmlns:a16="http://schemas.microsoft.com/office/drawing/2014/main" id="{FE74824E-C550-8A47-D052-CB74726F9F23}"/>
              </a:ext>
            </a:extLst>
          </p:cNvPr>
          <p:cNvSpPr/>
          <p:nvPr/>
        </p:nvSpPr>
        <p:spPr>
          <a:xfrm>
            <a:off x="6723143" y="3393318"/>
            <a:ext cx="4357164" cy="53753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  <a:alpha val="72000"/>
            </a:schemeClr>
          </a:solidFill>
          <a:ln w="8890"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29000">
                  <a:schemeClr val="tx1">
                    <a:lumMod val="75000"/>
                    <a:lumOff val="25000"/>
                  </a:schemeClr>
                </a:gs>
                <a:gs pos="72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  <a:alpha val="2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7F32A53-AB48-EA89-D739-4E33DB5EDAC7}"/>
              </a:ext>
            </a:extLst>
          </p:cNvPr>
          <p:cNvSpPr txBox="1"/>
          <p:nvPr/>
        </p:nvSpPr>
        <p:spPr>
          <a:xfrm>
            <a:off x="6723143" y="3508196"/>
            <a:ext cx="435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계정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(IAM)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과 권한 중심 통제</a:t>
            </a:r>
          </a:p>
        </p:txBody>
      </p:sp>
      <p:sp>
        <p:nvSpPr>
          <p:cNvPr id="42" name="모서리가 둥근 직사각형 28">
            <a:extLst>
              <a:ext uri="{FF2B5EF4-FFF2-40B4-BE49-F238E27FC236}">
                <a16:creationId xmlns:a16="http://schemas.microsoft.com/office/drawing/2014/main" id="{8B2A7593-8D3D-82D6-66FA-23308FA86B06}"/>
              </a:ext>
            </a:extLst>
          </p:cNvPr>
          <p:cNvSpPr/>
          <p:nvPr/>
        </p:nvSpPr>
        <p:spPr>
          <a:xfrm>
            <a:off x="6723143" y="4118934"/>
            <a:ext cx="4357164" cy="53753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  <a:alpha val="72000"/>
            </a:schemeClr>
          </a:solidFill>
          <a:ln w="8890"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29000">
                  <a:schemeClr val="tx1">
                    <a:lumMod val="75000"/>
                    <a:lumOff val="25000"/>
                  </a:schemeClr>
                </a:gs>
                <a:gs pos="72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  <a:alpha val="2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2B5208A-4E20-D85D-4BF3-A34FC3DE8C1C}"/>
              </a:ext>
            </a:extLst>
          </p:cNvPr>
          <p:cNvSpPr txBox="1"/>
          <p:nvPr/>
        </p:nvSpPr>
        <p:spPr>
          <a:xfrm>
            <a:off x="6723143" y="4233812"/>
            <a:ext cx="435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설정 오류가 주요 공격 경로</a:t>
            </a:r>
          </a:p>
        </p:txBody>
      </p:sp>
      <p:sp>
        <p:nvSpPr>
          <p:cNvPr id="44" name="모서리가 둥근 직사각형 28">
            <a:extLst>
              <a:ext uri="{FF2B5EF4-FFF2-40B4-BE49-F238E27FC236}">
                <a16:creationId xmlns:a16="http://schemas.microsoft.com/office/drawing/2014/main" id="{33A7C7A1-6D2E-83E9-650B-9B0AE32740B6}"/>
              </a:ext>
            </a:extLst>
          </p:cNvPr>
          <p:cNvSpPr/>
          <p:nvPr/>
        </p:nvSpPr>
        <p:spPr>
          <a:xfrm>
            <a:off x="6723143" y="4837349"/>
            <a:ext cx="4357164" cy="53753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  <a:alpha val="72000"/>
            </a:schemeClr>
          </a:solidFill>
          <a:ln w="8890"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29000">
                  <a:schemeClr val="tx1">
                    <a:lumMod val="75000"/>
                    <a:lumOff val="25000"/>
                  </a:schemeClr>
                </a:gs>
                <a:gs pos="72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  <a:alpha val="2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D60A3A-95E0-92CD-0FB8-560B08377BB1}"/>
              </a:ext>
            </a:extLst>
          </p:cNvPr>
          <p:cNvSpPr txBox="1"/>
          <p:nvPr/>
        </p:nvSpPr>
        <p:spPr>
          <a:xfrm>
            <a:off x="6723143" y="4952227"/>
            <a:ext cx="435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자동화된 환경에서 보안 정책도 자동화 필요</a:t>
            </a:r>
          </a:p>
        </p:txBody>
      </p:sp>
      <p:sp>
        <p:nvSpPr>
          <p:cNvPr id="46" name="모서리가 둥근 직사각형 28">
            <a:extLst>
              <a:ext uri="{FF2B5EF4-FFF2-40B4-BE49-F238E27FC236}">
                <a16:creationId xmlns:a16="http://schemas.microsoft.com/office/drawing/2014/main" id="{8F542FFE-46B6-E08E-45BB-9BAD0225FDF5}"/>
              </a:ext>
            </a:extLst>
          </p:cNvPr>
          <p:cNvSpPr/>
          <p:nvPr/>
        </p:nvSpPr>
        <p:spPr>
          <a:xfrm>
            <a:off x="6723143" y="5555764"/>
            <a:ext cx="4357164" cy="537532"/>
          </a:xfrm>
          <a:prstGeom prst="roundRect">
            <a:avLst>
              <a:gd name="adj" fmla="val 5364"/>
            </a:avLst>
          </a:prstGeom>
          <a:solidFill>
            <a:schemeClr val="bg1">
              <a:lumMod val="95000"/>
              <a:alpha val="72000"/>
            </a:schemeClr>
          </a:solidFill>
          <a:ln w="8890">
            <a:gradFill flip="none" rotWithShape="1">
              <a:gsLst>
                <a:gs pos="0">
                  <a:schemeClr val="tx1">
                    <a:lumMod val="75000"/>
                    <a:lumOff val="25000"/>
                    <a:alpha val="20000"/>
                  </a:schemeClr>
                </a:gs>
                <a:gs pos="29000">
                  <a:schemeClr val="tx1">
                    <a:lumMod val="75000"/>
                    <a:lumOff val="25000"/>
                  </a:schemeClr>
                </a:gs>
                <a:gs pos="72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  <a:alpha val="20000"/>
                  </a:schemeClr>
                </a:gs>
              </a:gsLst>
              <a:lin ang="27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8BCC52E-8260-EBE3-199A-8BEFBD19F2E4}"/>
              </a:ext>
            </a:extLst>
          </p:cNvPr>
          <p:cNvSpPr txBox="1"/>
          <p:nvPr/>
        </p:nvSpPr>
        <p:spPr>
          <a:xfrm>
            <a:off x="6723143" y="5670642"/>
            <a:ext cx="43571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모든 접근을 검증하는 </a:t>
            </a:r>
            <a:r>
              <a:rPr lang="en-US" altLang="ko-K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zero trust </a:t>
            </a:r>
            <a:r>
              <a:rPr lang="ko-KR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구조로 전환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E75D019-1362-15CA-F79D-3BDC4ABBA99A}"/>
              </a:ext>
            </a:extLst>
          </p:cNvPr>
          <p:cNvSpPr txBox="1"/>
          <p:nvPr/>
        </p:nvSpPr>
        <p:spPr>
          <a:xfrm>
            <a:off x="651532" y="1125740"/>
            <a:ext cx="10888936" cy="384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보안의 핵심은 서버를 보호하는 것이 아니라</a:t>
            </a:r>
            <a:r>
              <a:rPr kumimoji="1"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kumimoji="1" lang="ko-KR" altLang="en-US" dirty="0">
                <a:solidFill>
                  <a:srgbClr val="07C6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누가 </a:t>
            </a:r>
            <a:r>
              <a:rPr kumimoji="1" lang="en-US" altLang="ko-KR" dirty="0">
                <a:solidFill>
                  <a:srgbClr val="07C6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 </a:t>
            </a:r>
            <a:r>
              <a:rPr kumimoji="1" lang="ko-KR" altLang="en-US" dirty="0">
                <a:solidFill>
                  <a:srgbClr val="07C6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어떤 권한으로 무엇을 할 수 있는 지 통제</a:t>
            </a: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하는 것</a:t>
            </a:r>
            <a:endParaRPr kumimoji="1" lang="en-US" altLang="ko-KR" dirty="0">
              <a:solidFill>
                <a:srgbClr val="07C63C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46361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E24C7659-7867-E06B-466E-5589CAC5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2.2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보안의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요소의 클라우드 확장</a:t>
            </a:r>
          </a:p>
        </p:txBody>
      </p:sp>
      <p:sp>
        <p:nvSpPr>
          <p:cNvPr id="4" name="오른쪽 화살표[R] 3">
            <a:extLst>
              <a:ext uri="{FF2B5EF4-FFF2-40B4-BE49-F238E27FC236}">
                <a16:creationId xmlns:a16="http://schemas.microsoft.com/office/drawing/2014/main" id="{D0EA5BE0-5C8C-35FF-E592-026DE85F7D38}"/>
              </a:ext>
            </a:extLst>
          </p:cNvPr>
          <p:cNvSpPr/>
          <p:nvPr/>
        </p:nvSpPr>
        <p:spPr>
          <a:xfrm>
            <a:off x="47328" y="3212976"/>
            <a:ext cx="11951208" cy="548640"/>
          </a:xfrm>
          <a:prstGeom prst="rightArrow">
            <a:avLst/>
          </a:prstGeom>
          <a:gradFill flip="none" rotWithShape="1">
            <a:gsLst>
              <a:gs pos="0">
                <a:srgbClr val="009F0F">
                  <a:alpha val="0"/>
                </a:srgbClr>
              </a:gs>
              <a:gs pos="33000">
                <a:srgbClr val="009F0F">
                  <a:alpha val="40000"/>
                </a:srgbClr>
              </a:gs>
              <a:gs pos="67000">
                <a:srgbClr val="009F0F">
                  <a:alpha val="70000"/>
                </a:srgbClr>
              </a:gs>
              <a:gs pos="100000">
                <a:srgbClr val="009F0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" name="모서리가 둥근 직사각형 14">
            <a:extLst>
              <a:ext uri="{FF2B5EF4-FFF2-40B4-BE49-F238E27FC236}">
                <a16:creationId xmlns:a16="http://schemas.microsoft.com/office/drawing/2014/main" id="{49949784-CD2E-2FB7-046A-ADF9CE27F351}"/>
              </a:ext>
            </a:extLst>
          </p:cNvPr>
          <p:cNvSpPr/>
          <p:nvPr/>
        </p:nvSpPr>
        <p:spPr>
          <a:xfrm>
            <a:off x="6551760" y="1212512"/>
            <a:ext cx="4560443" cy="4736768"/>
          </a:xfrm>
          <a:prstGeom prst="roundRect">
            <a:avLst>
              <a:gd name="adj" fmla="val 7456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301A22-6797-1774-DA9F-44E78121E1D4}"/>
              </a:ext>
            </a:extLst>
          </p:cNvPr>
          <p:cNvSpPr txBox="1"/>
          <p:nvPr/>
        </p:nvSpPr>
        <p:spPr>
          <a:xfrm>
            <a:off x="6542679" y="1379505"/>
            <a:ext cx="4560444" cy="4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ore-KR"/>
            </a:defPPr>
            <a:lvl1pPr algn="ctr">
              <a:lnSpc>
                <a:spcPct val="120000"/>
              </a:lnSpc>
              <a:defRPr kumimoji="1" sz="2400" b="1">
                <a:solidFill>
                  <a:schemeClr val="tx1">
                    <a:lumMod val="85000"/>
                    <a:lumOff val="15000"/>
                  </a:schemeClr>
                </a:solidFill>
                <a:latin typeface="Paperlogy 7 Bold" pitchFamily="2" charset="-127"/>
                <a:ea typeface="Paperlogy 7 Bold" pitchFamily="2" charset="-127"/>
              </a:defRPr>
            </a:lvl1pPr>
          </a:lstStyle>
          <a:p>
            <a:pPr>
              <a:lnSpc>
                <a:spcPct val="110000"/>
              </a:lnSpc>
            </a:pPr>
            <a:r>
              <a:rPr lang="ko-KR" altLang="en-US" b="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책임 추적성</a:t>
            </a:r>
          </a:p>
        </p:txBody>
      </p:sp>
      <p:sp>
        <p:nvSpPr>
          <p:cNvPr id="8" name="모서리가 둥근 직사각형 35">
            <a:extLst>
              <a:ext uri="{FF2B5EF4-FFF2-40B4-BE49-F238E27FC236}">
                <a16:creationId xmlns:a16="http://schemas.microsoft.com/office/drawing/2014/main" id="{8FC28477-C13B-E930-CFC1-2E53764D4279}"/>
              </a:ext>
            </a:extLst>
          </p:cNvPr>
          <p:cNvSpPr/>
          <p:nvPr/>
        </p:nvSpPr>
        <p:spPr>
          <a:xfrm>
            <a:off x="1169914" y="1212512"/>
            <a:ext cx="4560443" cy="4736768"/>
          </a:xfrm>
          <a:prstGeom prst="roundRect">
            <a:avLst>
              <a:gd name="adj" fmla="val 7456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29B882-2E2C-2778-2DE2-68740A205417}"/>
              </a:ext>
            </a:extLst>
          </p:cNvPr>
          <p:cNvSpPr txBox="1"/>
          <p:nvPr/>
        </p:nvSpPr>
        <p:spPr>
          <a:xfrm>
            <a:off x="1169914" y="1352210"/>
            <a:ext cx="4560443" cy="48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보안의 </a:t>
            </a:r>
            <a:r>
              <a:rPr kumimoji="1"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3</a:t>
            </a:r>
            <a:r>
              <a:rPr kumimoji="1" lang="ko-KR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요소</a:t>
            </a:r>
          </a:p>
        </p:txBody>
      </p:sp>
      <p:sp>
        <p:nvSpPr>
          <p:cNvPr id="61" name="모서리가 둥근 직사각형 23">
            <a:extLst>
              <a:ext uri="{FF2B5EF4-FFF2-40B4-BE49-F238E27FC236}">
                <a16:creationId xmlns:a16="http://schemas.microsoft.com/office/drawing/2014/main" id="{3642A7E5-7E19-EA97-EE1C-B5ECD1471775}"/>
              </a:ext>
            </a:extLst>
          </p:cNvPr>
          <p:cNvSpPr/>
          <p:nvPr/>
        </p:nvSpPr>
        <p:spPr>
          <a:xfrm>
            <a:off x="1519845" y="2060023"/>
            <a:ext cx="3860580" cy="1124688"/>
          </a:xfrm>
          <a:prstGeom prst="roundRect">
            <a:avLst>
              <a:gd name="adj" fmla="val 7716"/>
            </a:avLst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" altLang="ko-KR" sz="1200">
              <a:solidFill>
                <a:schemeClr val="tx1">
                  <a:lumMod val="85000"/>
                  <a:lumOff val="15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3B8594-CBEC-80C5-99FC-9EE2258D50C1}"/>
              </a:ext>
            </a:extLst>
          </p:cNvPr>
          <p:cNvSpPr txBox="1"/>
          <p:nvPr/>
        </p:nvSpPr>
        <p:spPr>
          <a:xfrm>
            <a:off x="1581950" y="2166183"/>
            <a:ext cx="3736371" cy="873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dirty="0">
                <a:solidFill>
                  <a:srgbClr val="009F0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기밀성</a:t>
            </a:r>
            <a:br>
              <a:rPr kumimoji="1" lang="en-US" altLang="ko-KR" sz="1900" dirty="0">
                <a:solidFill>
                  <a:srgbClr val="177DFA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kumimoji="1"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중요 정보가 인가되지 않은 외부인이나 비인가 사용자에게 노출되지 않도록 보호</a:t>
            </a:r>
          </a:p>
        </p:txBody>
      </p:sp>
      <p:sp>
        <p:nvSpPr>
          <p:cNvPr id="66" name="모서리가 둥근 직사각형 23">
            <a:extLst>
              <a:ext uri="{FF2B5EF4-FFF2-40B4-BE49-F238E27FC236}">
                <a16:creationId xmlns:a16="http://schemas.microsoft.com/office/drawing/2014/main" id="{834F019E-0943-0D11-EF58-8BC31F088250}"/>
              </a:ext>
            </a:extLst>
          </p:cNvPr>
          <p:cNvSpPr/>
          <p:nvPr/>
        </p:nvSpPr>
        <p:spPr>
          <a:xfrm>
            <a:off x="1519845" y="4454133"/>
            <a:ext cx="3860580" cy="1124688"/>
          </a:xfrm>
          <a:prstGeom prst="roundRect">
            <a:avLst>
              <a:gd name="adj" fmla="val 7716"/>
            </a:avLst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" altLang="ko-KR" sz="1200">
              <a:solidFill>
                <a:schemeClr val="tx1">
                  <a:lumMod val="85000"/>
                  <a:lumOff val="15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28E056-2FCE-EA3D-A582-FDA101514DBA}"/>
              </a:ext>
            </a:extLst>
          </p:cNvPr>
          <p:cNvSpPr txBox="1"/>
          <p:nvPr/>
        </p:nvSpPr>
        <p:spPr>
          <a:xfrm>
            <a:off x="1581950" y="4560293"/>
            <a:ext cx="3736371" cy="873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dirty="0">
                <a:solidFill>
                  <a:srgbClr val="009F0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가용성</a:t>
            </a:r>
            <a:br>
              <a:rPr kumimoji="1" lang="en-US" altLang="ko-KR" sz="1900" dirty="0">
                <a:solidFill>
                  <a:srgbClr val="177DFA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kumimoji="1"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정상적인 사용자가 필요할 때 언제든지 시스템과 데이터를 사용할 수 있도록 유지하는 것</a:t>
            </a:r>
          </a:p>
        </p:txBody>
      </p:sp>
      <p:sp>
        <p:nvSpPr>
          <p:cNvPr id="68" name="모서리가 둥근 직사각형 23">
            <a:extLst>
              <a:ext uri="{FF2B5EF4-FFF2-40B4-BE49-F238E27FC236}">
                <a16:creationId xmlns:a16="http://schemas.microsoft.com/office/drawing/2014/main" id="{79102BCF-E5FA-B864-7F60-B592673BE0EA}"/>
              </a:ext>
            </a:extLst>
          </p:cNvPr>
          <p:cNvSpPr/>
          <p:nvPr/>
        </p:nvSpPr>
        <p:spPr>
          <a:xfrm>
            <a:off x="1519845" y="3258681"/>
            <a:ext cx="3860580" cy="1124688"/>
          </a:xfrm>
          <a:prstGeom prst="roundRect">
            <a:avLst>
              <a:gd name="adj" fmla="val 7716"/>
            </a:avLst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" altLang="ko-KR" sz="1200">
              <a:solidFill>
                <a:schemeClr val="tx1">
                  <a:lumMod val="85000"/>
                  <a:lumOff val="15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AC7346E-4347-E8C1-E865-DB8643BC6F60}"/>
              </a:ext>
            </a:extLst>
          </p:cNvPr>
          <p:cNvSpPr txBox="1"/>
          <p:nvPr/>
        </p:nvSpPr>
        <p:spPr>
          <a:xfrm>
            <a:off x="1581950" y="3364841"/>
            <a:ext cx="3736371" cy="873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ko-KR" altLang="en-US" dirty="0">
                <a:solidFill>
                  <a:srgbClr val="009F0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무결성</a:t>
            </a:r>
            <a:br>
              <a:rPr kumimoji="1" lang="en-US" altLang="ko-KR" sz="1900" dirty="0">
                <a:solidFill>
                  <a:srgbClr val="177DFA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kumimoji="1"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데이터가 전송 과정에서 임의로 변경되지 않고 정확성과 일관성을 유지하는 것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FA0F9FD-6732-1703-DD21-45AD3217EC8C}"/>
              </a:ext>
            </a:extLst>
          </p:cNvPr>
          <p:cNvSpPr txBox="1"/>
          <p:nvPr/>
        </p:nvSpPr>
        <p:spPr>
          <a:xfrm>
            <a:off x="6277133" y="1860584"/>
            <a:ext cx="5332774" cy="558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클라우드 환경에서는 자원을 직접 소유하지 않고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</a:t>
            </a:r>
          </a:p>
          <a:p>
            <a:pPr algn="ctr">
              <a:lnSpc>
                <a:spcPct val="120000"/>
              </a:lnSpc>
            </a:pP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블랙박스 영역이 존재하므로 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책임 추적성이 추가로 중요</a:t>
            </a:r>
          </a:p>
        </p:txBody>
      </p:sp>
      <p:sp>
        <p:nvSpPr>
          <p:cNvPr id="83" name="모서리가 둥근 직사각형 1">
            <a:extLst>
              <a:ext uri="{FF2B5EF4-FFF2-40B4-BE49-F238E27FC236}">
                <a16:creationId xmlns:a16="http://schemas.microsoft.com/office/drawing/2014/main" id="{3EA05A2D-D064-6713-D451-1DBFB38EC378}"/>
              </a:ext>
            </a:extLst>
          </p:cNvPr>
          <p:cNvSpPr/>
          <p:nvPr/>
        </p:nvSpPr>
        <p:spPr>
          <a:xfrm>
            <a:off x="7262142" y="2502121"/>
            <a:ext cx="3139676" cy="397644"/>
          </a:xfrm>
          <a:prstGeom prst="roundRect">
            <a:avLst>
              <a:gd name="adj" fmla="val 50000"/>
            </a:avLst>
          </a:prstGeom>
          <a:solidFill>
            <a:srgbClr val="154975"/>
          </a:solidFill>
          <a:ln>
            <a:noFill/>
          </a:ln>
          <a:effectLst>
            <a:outerShdw blurRad="254000" dist="38100" dir="5400000" algn="t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5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1081FA5-4555-BD1E-A8EC-CBC4167435A9}"/>
              </a:ext>
            </a:extLst>
          </p:cNvPr>
          <p:cNvSpPr txBox="1"/>
          <p:nvPr/>
        </p:nvSpPr>
        <p:spPr>
          <a:xfrm>
            <a:off x="7423286" y="2562443"/>
            <a:ext cx="896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식별</a:t>
            </a:r>
            <a:endParaRPr kumimoji="1" lang="en-US" altLang="ko-KR" sz="1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5" name="직선 연결선[R] 12">
            <a:extLst>
              <a:ext uri="{FF2B5EF4-FFF2-40B4-BE49-F238E27FC236}">
                <a16:creationId xmlns:a16="http://schemas.microsoft.com/office/drawing/2014/main" id="{4D5B292D-CF8D-10B6-261E-A9CD1EF10ADB}"/>
              </a:ext>
            </a:extLst>
          </p:cNvPr>
          <p:cNvCxnSpPr>
            <a:cxnSpLocks/>
          </p:cNvCxnSpPr>
          <p:nvPr/>
        </p:nvCxnSpPr>
        <p:spPr>
          <a:xfrm>
            <a:off x="8197456" y="2700942"/>
            <a:ext cx="392186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55C8530C-AA28-BD21-E366-63A7D6D9A105}"/>
              </a:ext>
            </a:extLst>
          </p:cNvPr>
          <p:cNvSpPr txBox="1"/>
          <p:nvPr/>
        </p:nvSpPr>
        <p:spPr>
          <a:xfrm>
            <a:off x="9045796" y="2562443"/>
            <a:ext cx="12877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접근 주체 구분</a:t>
            </a:r>
            <a:endParaRPr kumimoji="1"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9" name="모서리가 둥근 직사각형 7">
            <a:extLst>
              <a:ext uri="{FF2B5EF4-FFF2-40B4-BE49-F238E27FC236}">
                <a16:creationId xmlns:a16="http://schemas.microsoft.com/office/drawing/2014/main" id="{E8A64D2D-5C69-D5F3-CF4C-2B9597563B14}"/>
              </a:ext>
            </a:extLst>
          </p:cNvPr>
          <p:cNvSpPr/>
          <p:nvPr/>
        </p:nvSpPr>
        <p:spPr>
          <a:xfrm>
            <a:off x="7262142" y="3059132"/>
            <a:ext cx="3139676" cy="397644"/>
          </a:xfrm>
          <a:prstGeom prst="roundRect">
            <a:avLst>
              <a:gd name="adj" fmla="val 50000"/>
            </a:avLst>
          </a:prstGeom>
          <a:solidFill>
            <a:srgbClr val="E9F3FF"/>
          </a:solidFill>
          <a:ln>
            <a:noFill/>
          </a:ln>
          <a:effectLst>
            <a:outerShdw blurRad="254000" dist="38100" dir="5400000" algn="t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5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90F041E-7894-E0F4-E352-0AD4D0030F62}"/>
              </a:ext>
            </a:extLst>
          </p:cNvPr>
          <p:cNvSpPr txBox="1"/>
          <p:nvPr/>
        </p:nvSpPr>
        <p:spPr>
          <a:xfrm>
            <a:off x="7424126" y="3124745"/>
            <a:ext cx="962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인증</a:t>
            </a:r>
            <a:endParaRPr kumimoji="1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81" name="직선 연결선[R] 24">
            <a:extLst>
              <a:ext uri="{FF2B5EF4-FFF2-40B4-BE49-F238E27FC236}">
                <a16:creationId xmlns:a16="http://schemas.microsoft.com/office/drawing/2014/main" id="{99C04C0C-91B6-DCCD-59C5-C2B4392046DE}"/>
              </a:ext>
            </a:extLst>
          </p:cNvPr>
          <p:cNvCxnSpPr>
            <a:cxnSpLocks/>
          </p:cNvCxnSpPr>
          <p:nvPr/>
        </p:nvCxnSpPr>
        <p:spPr>
          <a:xfrm>
            <a:off x="8197236" y="3263244"/>
            <a:ext cx="392627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1CAAEBB6-E672-624A-B38A-715E79472D05}"/>
              </a:ext>
            </a:extLst>
          </p:cNvPr>
          <p:cNvSpPr txBox="1"/>
          <p:nvPr/>
        </p:nvSpPr>
        <p:spPr>
          <a:xfrm>
            <a:off x="8764838" y="3124745"/>
            <a:ext cx="1568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신원 확인</a:t>
            </a:r>
            <a:endParaRPr kumimoji="1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5" name="모서리가 둥근 직사각형 8">
            <a:extLst>
              <a:ext uri="{FF2B5EF4-FFF2-40B4-BE49-F238E27FC236}">
                <a16:creationId xmlns:a16="http://schemas.microsoft.com/office/drawing/2014/main" id="{CB62DD6A-DE15-D853-3418-B4927972123A}"/>
              </a:ext>
            </a:extLst>
          </p:cNvPr>
          <p:cNvSpPr/>
          <p:nvPr/>
        </p:nvSpPr>
        <p:spPr>
          <a:xfrm>
            <a:off x="7262142" y="3618588"/>
            <a:ext cx="3139676" cy="397644"/>
          </a:xfrm>
          <a:prstGeom prst="roundRect">
            <a:avLst>
              <a:gd name="adj" fmla="val 50000"/>
            </a:avLst>
          </a:prstGeom>
          <a:solidFill>
            <a:srgbClr val="154975"/>
          </a:solidFill>
          <a:ln>
            <a:noFill/>
          </a:ln>
          <a:effectLst>
            <a:outerShdw blurRad="254000" dist="38100" dir="5400000" algn="t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5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476A2F7-8558-5B72-2CE2-1139A69D523C}"/>
              </a:ext>
            </a:extLst>
          </p:cNvPr>
          <p:cNvSpPr txBox="1"/>
          <p:nvPr/>
        </p:nvSpPr>
        <p:spPr>
          <a:xfrm>
            <a:off x="7423286" y="3678911"/>
            <a:ext cx="896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인가</a:t>
            </a:r>
            <a:endParaRPr kumimoji="1" lang="en-US" altLang="ko-KR" sz="1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77" name="직선 연결선[R] 28">
            <a:extLst>
              <a:ext uri="{FF2B5EF4-FFF2-40B4-BE49-F238E27FC236}">
                <a16:creationId xmlns:a16="http://schemas.microsoft.com/office/drawing/2014/main" id="{71887970-AB68-CA81-FB36-E878635E3929}"/>
              </a:ext>
            </a:extLst>
          </p:cNvPr>
          <p:cNvCxnSpPr>
            <a:cxnSpLocks/>
          </p:cNvCxnSpPr>
          <p:nvPr/>
        </p:nvCxnSpPr>
        <p:spPr>
          <a:xfrm>
            <a:off x="8197456" y="3817410"/>
            <a:ext cx="392186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8414A94-011B-9BB0-EE96-C5457EF76B4D}"/>
              </a:ext>
            </a:extLst>
          </p:cNvPr>
          <p:cNvSpPr txBox="1"/>
          <p:nvPr/>
        </p:nvSpPr>
        <p:spPr>
          <a:xfrm>
            <a:off x="8730774" y="3678911"/>
            <a:ext cx="1602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권한에 대한 접근 통제</a:t>
            </a:r>
            <a:endParaRPr kumimoji="1"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9" name="모서리가 둥근 직사각형 7">
            <a:extLst>
              <a:ext uri="{FF2B5EF4-FFF2-40B4-BE49-F238E27FC236}">
                <a16:creationId xmlns:a16="http://schemas.microsoft.com/office/drawing/2014/main" id="{1CCF35A9-0469-5151-1E99-8B4D8B837162}"/>
              </a:ext>
            </a:extLst>
          </p:cNvPr>
          <p:cNvSpPr/>
          <p:nvPr/>
        </p:nvSpPr>
        <p:spPr>
          <a:xfrm>
            <a:off x="7262142" y="4156682"/>
            <a:ext cx="3139676" cy="397644"/>
          </a:xfrm>
          <a:prstGeom prst="roundRect">
            <a:avLst>
              <a:gd name="adj" fmla="val 50000"/>
            </a:avLst>
          </a:prstGeom>
          <a:solidFill>
            <a:srgbClr val="E9F3FF"/>
          </a:solidFill>
          <a:ln>
            <a:noFill/>
          </a:ln>
          <a:effectLst>
            <a:outerShdw blurRad="254000" dist="38100" dir="5400000" algn="t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5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B9132AD-406A-2512-7539-CC9562EFBFAA}"/>
              </a:ext>
            </a:extLst>
          </p:cNvPr>
          <p:cNvSpPr txBox="1"/>
          <p:nvPr/>
        </p:nvSpPr>
        <p:spPr>
          <a:xfrm>
            <a:off x="7424126" y="4222295"/>
            <a:ext cx="962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로깅</a:t>
            </a:r>
            <a:endParaRPr kumimoji="1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1" name="직선 연결선[R] 24">
            <a:extLst>
              <a:ext uri="{FF2B5EF4-FFF2-40B4-BE49-F238E27FC236}">
                <a16:creationId xmlns:a16="http://schemas.microsoft.com/office/drawing/2014/main" id="{AB6A34AB-A177-D452-1AD7-4E0A11973B35}"/>
              </a:ext>
            </a:extLst>
          </p:cNvPr>
          <p:cNvCxnSpPr>
            <a:cxnSpLocks/>
          </p:cNvCxnSpPr>
          <p:nvPr/>
        </p:nvCxnSpPr>
        <p:spPr>
          <a:xfrm>
            <a:off x="8197236" y="4360794"/>
            <a:ext cx="392627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EC857359-AA5E-7ADF-CBE4-5BCEE910498F}"/>
              </a:ext>
            </a:extLst>
          </p:cNvPr>
          <p:cNvSpPr txBox="1"/>
          <p:nvPr/>
        </p:nvSpPr>
        <p:spPr>
          <a:xfrm>
            <a:off x="8764838" y="4222295"/>
            <a:ext cx="1568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행위 기록 저장</a:t>
            </a:r>
            <a:endParaRPr kumimoji="1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3" name="모서리가 둥근 직사각형 8">
            <a:extLst>
              <a:ext uri="{FF2B5EF4-FFF2-40B4-BE49-F238E27FC236}">
                <a16:creationId xmlns:a16="http://schemas.microsoft.com/office/drawing/2014/main" id="{D66F6C11-17C4-BD0A-8B16-0C482C5D0760}"/>
              </a:ext>
            </a:extLst>
          </p:cNvPr>
          <p:cNvSpPr/>
          <p:nvPr/>
        </p:nvSpPr>
        <p:spPr>
          <a:xfrm>
            <a:off x="7262142" y="4698115"/>
            <a:ext cx="3139676" cy="397644"/>
          </a:xfrm>
          <a:prstGeom prst="roundRect">
            <a:avLst>
              <a:gd name="adj" fmla="val 50000"/>
            </a:avLst>
          </a:prstGeom>
          <a:solidFill>
            <a:srgbClr val="154975"/>
          </a:solidFill>
          <a:ln>
            <a:noFill/>
          </a:ln>
          <a:effectLst>
            <a:outerShdw blurRad="254000" dist="38100" dir="5400000" algn="t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5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65B7409-3FBC-6158-30A0-4A6BCAFE5E52}"/>
              </a:ext>
            </a:extLst>
          </p:cNvPr>
          <p:cNvSpPr txBox="1"/>
          <p:nvPr/>
        </p:nvSpPr>
        <p:spPr>
          <a:xfrm>
            <a:off x="7423286" y="4758438"/>
            <a:ext cx="8963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dirty="0">
                <a:solidFill>
                  <a:schemeClr val="bg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모니터링</a:t>
            </a:r>
            <a:endParaRPr kumimoji="1" lang="en-US" altLang="ko-KR" sz="1200" dirty="0">
              <a:solidFill>
                <a:schemeClr val="bg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5" name="직선 연결선[R] 28">
            <a:extLst>
              <a:ext uri="{FF2B5EF4-FFF2-40B4-BE49-F238E27FC236}">
                <a16:creationId xmlns:a16="http://schemas.microsoft.com/office/drawing/2014/main" id="{7020C3AA-A875-1CF0-13D7-DBBD7FE1D6EB}"/>
              </a:ext>
            </a:extLst>
          </p:cNvPr>
          <p:cNvCxnSpPr>
            <a:cxnSpLocks/>
          </p:cNvCxnSpPr>
          <p:nvPr/>
        </p:nvCxnSpPr>
        <p:spPr>
          <a:xfrm>
            <a:off x="8197456" y="4896937"/>
            <a:ext cx="392186" cy="0"/>
          </a:xfrm>
          <a:prstGeom prst="line">
            <a:avLst/>
          </a:prstGeom>
          <a:ln w="1270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C3FFAE0-47CF-0A9A-5EC7-C926DCDCFB9C}"/>
              </a:ext>
            </a:extLst>
          </p:cNvPr>
          <p:cNvSpPr txBox="1"/>
          <p:nvPr/>
        </p:nvSpPr>
        <p:spPr>
          <a:xfrm>
            <a:off x="8730774" y="4758438"/>
            <a:ext cx="16028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2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이상 행위 탐지</a:t>
            </a:r>
            <a:endParaRPr kumimoji="1"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7" name="모서리가 둥근 직사각형 7">
            <a:extLst>
              <a:ext uri="{FF2B5EF4-FFF2-40B4-BE49-F238E27FC236}">
                <a16:creationId xmlns:a16="http://schemas.microsoft.com/office/drawing/2014/main" id="{764149C2-EE28-8218-A01F-DA352D48EFB6}"/>
              </a:ext>
            </a:extLst>
          </p:cNvPr>
          <p:cNvSpPr/>
          <p:nvPr/>
        </p:nvSpPr>
        <p:spPr>
          <a:xfrm>
            <a:off x="7262142" y="5236209"/>
            <a:ext cx="3139676" cy="397644"/>
          </a:xfrm>
          <a:prstGeom prst="roundRect">
            <a:avLst>
              <a:gd name="adj" fmla="val 50000"/>
            </a:avLst>
          </a:prstGeom>
          <a:solidFill>
            <a:srgbClr val="E9F3FF"/>
          </a:solidFill>
          <a:ln>
            <a:noFill/>
          </a:ln>
          <a:effectLst>
            <a:outerShdw blurRad="254000" dist="38100" dir="5400000" algn="t" rotWithShape="0">
              <a:schemeClr val="tx1">
                <a:lumMod val="50000"/>
                <a:lumOff val="50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500" b="1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61CDEED1-6FD1-B1A4-6839-CF1D88EAF7D1}"/>
              </a:ext>
            </a:extLst>
          </p:cNvPr>
          <p:cNvSpPr txBox="1"/>
          <p:nvPr/>
        </p:nvSpPr>
        <p:spPr>
          <a:xfrm>
            <a:off x="7424126" y="5301822"/>
            <a:ext cx="962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감사</a:t>
            </a:r>
            <a:endParaRPr kumimoji="1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cxnSp>
        <p:nvCxnSpPr>
          <p:cNvPr id="109" name="직선 연결선[R] 24">
            <a:extLst>
              <a:ext uri="{FF2B5EF4-FFF2-40B4-BE49-F238E27FC236}">
                <a16:creationId xmlns:a16="http://schemas.microsoft.com/office/drawing/2014/main" id="{7D38EE7B-1AF6-7C19-ABBE-7950E6F07AF7}"/>
              </a:ext>
            </a:extLst>
          </p:cNvPr>
          <p:cNvCxnSpPr>
            <a:cxnSpLocks/>
          </p:cNvCxnSpPr>
          <p:nvPr/>
        </p:nvCxnSpPr>
        <p:spPr>
          <a:xfrm>
            <a:off x="8197236" y="5440321"/>
            <a:ext cx="392627" cy="0"/>
          </a:xfrm>
          <a:prstGeom prst="line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1AA9FED7-4028-CDB7-5029-D61A0E03E4F5}"/>
              </a:ext>
            </a:extLst>
          </p:cNvPr>
          <p:cNvSpPr txBox="1"/>
          <p:nvPr/>
        </p:nvSpPr>
        <p:spPr>
          <a:xfrm>
            <a:off x="8764838" y="5301822"/>
            <a:ext cx="15687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ko-KR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행위 검증 및 추적</a:t>
            </a:r>
            <a:endParaRPr kumimoji="1" lang="en-US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C961CA6-E4FB-26CD-7B6B-6A7DD644525F}"/>
              </a:ext>
            </a:extLst>
          </p:cNvPr>
          <p:cNvSpPr/>
          <p:nvPr/>
        </p:nvSpPr>
        <p:spPr>
          <a:xfrm>
            <a:off x="336550" y="6054317"/>
            <a:ext cx="11255628" cy="334387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66FCA6-C5AC-088B-0981-B22E0528F1AD}"/>
              </a:ext>
            </a:extLst>
          </p:cNvPr>
          <p:cNvSpPr txBox="1"/>
          <p:nvPr/>
        </p:nvSpPr>
        <p:spPr>
          <a:xfrm>
            <a:off x="471233" y="6046845"/>
            <a:ext cx="8564888" cy="334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※ </a:t>
            </a:r>
            <a:r>
              <a:rPr lang="ko-KR" altLang="en-US" sz="1200" dirty="0"/>
              <a:t>블랙박스 영역 </a:t>
            </a:r>
            <a:r>
              <a:rPr lang="en-US" altLang="ko-KR" sz="1200" dirty="0"/>
              <a:t>: </a:t>
            </a:r>
            <a:r>
              <a:rPr lang="ko-KR" altLang="en-US" sz="1200" dirty="0"/>
              <a:t>사용자가 내부 구조를 볼 수 없고</a:t>
            </a:r>
            <a:r>
              <a:rPr lang="en-US" altLang="ko-KR" sz="1200" dirty="0"/>
              <a:t>, </a:t>
            </a:r>
            <a:r>
              <a:rPr lang="ko-KR" altLang="en-US" sz="1200" dirty="0"/>
              <a:t>통제할 수 없는 영역</a:t>
            </a:r>
            <a:endParaRPr lang="en-US" altLang="ko-KR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FC49D-6E5D-5623-5A60-085456846F3A}"/>
              </a:ext>
            </a:extLst>
          </p:cNvPr>
          <p:cNvSpPr txBox="1"/>
          <p:nvPr/>
        </p:nvSpPr>
        <p:spPr>
          <a:xfrm>
            <a:off x="7972888" y="5614893"/>
            <a:ext cx="1941263" cy="334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ko-KR" altLang="en-US" sz="1200" dirty="0"/>
              <a:t>책임 추적성의 핵심 요소</a:t>
            </a:r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8792757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9D73198-3809-4A1F-FE64-634F9E2FC939}"/>
              </a:ext>
            </a:extLst>
          </p:cNvPr>
          <p:cNvSpPr/>
          <p:nvPr/>
        </p:nvSpPr>
        <p:spPr>
          <a:xfrm>
            <a:off x="6155558" y="5427235"/>
            <a:ext cx="5653778" cy="985157"/>
          </a:xfrm>
          <a:prstGeom prst="rect">
            <a:avLst/>
          </a:prstGeom>
          <a:solidFill>
            <a:schemeClr val="accent6">
              <a:lumMod val="20000"/>
              <a:lumOff val="80000"/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24C7659-7867-E06B-466E-5589CAC5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2.2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보안의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요소의 클라우드 확장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D30E77-93D0-EBA5-5FC9-549B6A8ED923}"/>
              </a:ext>
            </a:extLst>
          </p:cNvPr>
          <p:cNvSpPr/>
          <p:nvPr/>
        </p:nvSpPr>
        <p:spPr>
          <a:xfrm>
            <a:off x="512510" y="1222261"/>
            <a:ext cx="11255628" cy="1699273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A96F5B-6EF0-568F-850F-1F3838759FC3}"/>
              </a:ext>
            </a:extLst>
          </p:cNvPr>
          <p:cNvSpPr txBox="1"/>
          <p:nvPr/>
        </p:nvSpPr>
        <p:spPr>
          <a:xfrm>
            <a:off x="616427" y="1650513"/>
            <a:ext cx="471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pc="-6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책임 추적성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BB91B4-4BB8-AD93-2AAE-A418F4AB0F44}"/>
              </a:ext>
            </a:extLst>
          </p:cNvPr>
          <p:cNvSpPr txBox="1"/>
          <p:nvPr/>
        </p:nvSpPr>
        <p:spPr>
          <a:xfrm>
            <a:off x="3215679" y="1342142"/>
            <a:ext cx="8463811" cy="1103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2000"/>
              </a:lnSpc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dirty="0"/>
              <a:t>클라우드 환경에서 발생한 모든 행위에 대해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누가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언제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어디서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무엇을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어떻게 </a:t>
            </a:r>
            <a:r>
              <a:rPr lang="ko-KR" altLang="en-US" dirty="0"/>
              <a:t>했는지를 기록하고 추적하는 보안 원칙</a:t>
            </a:r>
            <a:endParaRPr lang="en-US" altLang="ko-KR" dirty="0"/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dirty="0"/>
              <a:t>특정 행위를 수행한 주체를 식별할 수 있으며</a:t>
            </a:r>
            <a:r>
              <a:rPr lang="en-US" altLang="ko-KR" dirty="0"/>
              <a:t>, </a:t>
            </a:r>
            <a:r>
              <a:rPr lang="ko-KR" altLang="en-US" dirty="0"/>
              <a:t>그 행위가 자원에 어떤 영향을 주었는 지 확인 가능함</a:t>
            </a:r>
            <a:endParaRPr lang="en-US" altLang="ko-KR" dirty="0"/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dirty="0"/>
              <a:t>이를 통해</a:t>
            </a:r>
            <a:r>
              <a:rPr lang="en-US" altLang="ko-KR" dirty="0"/>
              <a:t>, </a:t>
            </a:r>
            <a:r>
              <a:rPr lang="ko-KR" altLang="en-US" dirty="0"/>
              <a:t>사고 발생 시 원인 분석과 책임 소재 판단이 가능</a:t>
            </a:r>
            <a:endParaRPr lang="en-US" altLang="ko-KR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BAEA84E-DE37-9F33-DC27-22190A9008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9" y="1342142"/>
            <a:ext cx="325260" cy="325260"/>
          </a:xfrm>
          <a:prstGeom prst="rect">
            <a:avLst/>
          </a:prstGeom>
        </p:spPr>
      </p:pic>
      <p:sp>
        <p:nvSpPr>
          <p:cNvPr id="14" name="양쪽 모서리가 둥근 사각형 58">
            <a:extLst>
              <a:ext uri="{FF2B5EF4-FFF2-40B4-BE49-F238E27FC236}">
                <a16:creationId xmlns:a16="http://schemas.microsoft.com/office/drawing/2014/main" id="{3BB0ABDA-3C61-DB0D-F02F-7CD94E52FEE0}"/>
              </a:ext>
            </a:extLst>
          </p:cNvPr>
          <p:cNvSpPr/>
          <p:nvPr/>
        </p:nvSpPr>
        <p:spPr>
          <a:xfrm>
            <a:off x="512510" y="3193174"/>
            <a:ext cx="11296826" cy="1895897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모서리가 둥근 직사각형 19">
            <a:extLst>
              <a:ext uri="{FF2B5EF4-FFF2-40B4-BE49-F238E27FC236}">
                <a16:creationId xmlns:a16="http://schemas.microsoft.com/office/drawing/2014/main" id="{0A6CD411-AC27-E09F-1518-AD217755D67B}"/>
              </a:ext>
            </a:extLst>
          </p:cNvPr>
          <p:cNvSpPr/>
          <p:nvPr/>
        </p:nvSpPr>
        <p:spPr>
          <a:xfrm>
            <a:off x="4967426" y="3029316"/>
            <a:ext cx="2376264" cy="294343"/>
          </a:xfrm>
          <a:prstGeom prst="roundRect">
            <a:avLst>
              <a:gd name="adj" fmla="val 50000"/>
            </a:avLst>
          </a:prstGeom>
          <a:solidFill>
            <a:srgbClr val="07C63C"/>
          </a:solidFill>
          <a:ln>
            <a:noFill/>
          </a:ln>
          <a:effectLst>
            <a:outerShdw blurRad="254000" dist="38100" dir="5400000" algn="t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ko-KR" altLang="en-US" sz="13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책임 추적성 핵심 목적</a:t>
            </a:r>
            <a:endParaRPr kumimoji="1" lang="ko-Kore-KR" altLang="en-US" sz="130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73D3A5E-20B2-E828-852E-C7B20C3F8475}"/>
              </a:ext>
            </a:extLst>
          </p:cNvPr>
          <p:cNvGrpSpPr/>
          <p:nvPr/>
        </p:nvGrpSpPr>
        <p:grpSpPr>
          <a:xfrm>
            <a:off x="1154635" y="3471976"/>
            <a:ext cx="10012576" cy="1413996"/>
            <a:chOff x="983432" y="4101862"/>
            <a:chExt cx="10012576" cy="1413996"/>
          </a:xfrm>
        </p:grpSpPr>
        <p:sp>
          <p:nvSpPr>
            <p:cNvPr id="26" name="모서리가 둥근 직사각형 13">
              <a:extLst>
                <a:ext uri="{FF2B5EF4-FFF2-40B4-BE49-F238E27FC236}">
                  <a16:creationId xmlns:a16="http://schemas.microsoft.com/office/drawing/2014/main" id="{0507EB9D-A72D-780E-2825-21F212BC110C}"/>
                </a:ext>
              </a:extLst>
            </p:cNvPr>
            <p:cNvSpPr/>
            <p:nvPr/>
          </p:nvSpPr>
          <p:spPr>
            <a:xfrm>
              <a:off x="983432" y="4122549"/>
              <a:ext cx="3243824" cy="1393309"/>
            </a:xfrm>
            <a:prstGeom prst="roundRect">
              <a:avLst>
                <a:gd name="adj" fmla="val 7716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254000" sx="102000" sy="102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altLang="ko-KR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79F7AFC-B346-3798-4685-89DEC0ACB038}"/>
                </a:ext>
              </a:extLst>
            </p:cNvPr>
            <p:cNvSpPr txBox="1"/>
            <p:nvPr/>
          </p:nvSpPr>
          <p:spPr>
            <a:xfrm>
              <a:off x="1055440" y="4700708"/>
              <a:ext cx="3089078" cy="5048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변경이나 접근이 발생 했을 경우 </a:t>
              </a:r>
              <a:r>
                <a:rPr lang="ko-KR" altLang="en-US" dirty="0" err="1">
                  <a:latin typeface="NanumSquare" panose="020B0600000101010101" pitchFamily="50" charset="-127"/>
                  <a:ea typeface="NanumSquare" panose="020B0600000101010101" pitchFamily="50" charset="-127"/>
                </a:rPr>
                <a:t>누구에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 의해 수정되었는지 식별 가능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EB0BF70-9D38-8C3E-56E6-2AF793D142EF}"/>
                </a:ext>
              </a:extLst>
            </p:cNvPr>
            <p:cNvSpPr txBox="1"/>
            <p:nvPr/>
          </p:nvSpPr>
          <p:spPr>
            <a:xfrm>
              <a:off x="1055440" y="4284415"/>
              <a:ext cx="3089078" cy="405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pPr marL="0" indent="0">
                <a:buNone/>
              </a:pPr>
              <a:r>
                <a:rPr lang="ko-KR" altLang="en-US" sz="18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행위 주제 식별</a:t>
              </a:r>
            </a:p>
          </p:txBody>
        </p:sp>
        <p:sp>
          <p:nvSpPr>
            <p:cNvPr id="29" name="모서리가 둥근 직사각형 13">
              <a:extLst>
                <a:ext uri="{FF2B5EF4-FFF2-40B4-BE49-F238E27FC236}">
                  <a16:creationId xmlns:a16="http://schemas.microsoft.com/office/drawing/2014/main" id="{75D62481-4D67-857A-B188-94A25A7C667C}"/>
                </a:ext>
              </a:extLst>
            </p:cNvPr>
            <p:cNvSpPr/>
            <p:nvPr/>
          </p:nvSpPr>
          <p:spPr>
            <a:xfrm>
              <a:off x="4367808" y="4116706"/>
              <a:ext cx="3243824" cy="1393309"/>
            </a:xfrm>
            <a:prstGeom prst="roundRect">
              <a:avLst>
                <a:gd name="adj" fmla="val 7716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254000" sx="102000" sy="102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altLang="ko-KR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24B791A-B633-AD7C-FB81-6BE19763FC7F}"/>
                </a:ext>
              </a:extLst>
            </p:cNvPr>
            <p:cNvSpPr txBox="1"/>
            <p:nvPr/>
          </p:nvSpPr>
          <p:spPr>
            <a:xfrm>
              <a:off x="4439816" y="4694865"/>
              <a:ext cx="3089078" cy="5048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보안 사고가 발생했을 때 구체적으로 원인 파악 가능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8D40038-C8F3-22D7-006E-25254F3FA21A}"/>
                </a:ext>
              </a:extLst>
            </p:cNvPr>
            <p:cNvSpPr txBox="1"/>
            <p:nvPr/>
          </p:nvSpPr>
          <p:spPr>
            <a:xfrm>
              <a:off x="4439816" y="4278572"/>
              <a:ext cx="3089078" cy="405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pPr marL="0" indent="0">
                <a:buNone/>
              </a:pPr>
              <a:r>
                <a:rPr lang="ko-KR" altLang="en-US" sz="18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사고 원인 규명</a:t>
              </a:r>
            </a:p>
          </p:txBody>
        </p:sp>
        <p:sp>
          <p:nvSpPr>
            <p:cNvPr id="32" name="모서리가 둥근 직사각형 13">
              <a:extLst>
                <a:ext uri="{FF2B5EF4-FFF2-40B4-BE49-F238E27FC236}">
                  <a16:creationId xmlns:a16="http://schemas.microsoft.com/office/drawing/2014/main" id="{9C1B5966-C289-871E-4E21-9E8C3583CE7D}"/>
                </a:ext>
              </a:extLst>
            </p:cNvPr>
            <p:cNvSpPr/>
            <p:nvPr/>
          </p:nvSpPr>
          <p:spPr>
            <a:xfrm>
              <a:off x="7752184" y="4101862"/>
              <a:ext cx="3243824" cy="1393309"/>
            </a:xfrm>
            <a:prstGeom prst="roundRect">
              <a:avLst>
                <a:gd name="adj" fmla="val 7716"/>
              </a:avLst>
            </a:prstGeom>
            <a:solidFill>
              <a:schemeClr val="bg1">
                <a:alpha val="70000"/>
              </a:schemeClr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254000" sx="102000" sy="102000" algn="ctr" rotWithShape="0">
                <a:schemeClr val="bg1">
                  <a:lumMod val="6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altLang="ko-KR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6 SemiBold" pitchFamily="2" charset="-127"/>
                <a:ea typeface="Paperlogy 6 SemiBold" pitchFamily="2" charset="-127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5592F43-9CB9-A867-EF39-EEE2B78082B5}"/>
                </a:ext>
              </a:extLst>
            </p:cNvPr>
            <p:cNvSpPr txBox="1"/>
            <p:nvPr/>
          </p:nvSpPr>
          <p:spPr>
            <a:xfrm>
              <a:off x="7824192" y="4680021"/>
              <a:ext cx="3089078" cy="717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클라우드는 책임 공유 모델이 있기 때문에 문제가 </a:t>
              </a:r>
              <a:r>
                <a:rPr lang="en-US" altLang="ko-KR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CSP/ 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고객</a:t>
              </a:r>
              <a:r>
                <a:rPr lang="en-US" altLang="ko-KR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, </a:t>
              </a:r>
              <a:r>
                <a:rPr lang="ko-KR" altLang="en-US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고객 내부 조직 등 책임 소재 명확화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B40C9D2-E843-7868-3A69-95AA4422AC64}"/>
                </a:ext>
              </a:extLst>
            </p:cNvPr>
            <p:cNvSpPr txBox="1"/>
            <p:nvPr/>
          </p:nvSpPr>
          <p:spPr>
            <a:xfrm>
              <a:off x="7824192" y="4263728"/>
              <a:ext cx="3089078" cy="4055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ore-KR"/>
              </a:defPPr>
              <a:lvl1pPr marL="139700" indent="-139700">
                <a:lnSpc>
                  <a:spcPct val="120000"/>
                </a:lnSpc>
                <a:buFont typeface="Arial" panose="020B0604020202020204" pitchFamily="34" charset="0"/>
                <a:buChar char="•"/>
                <a:defRPr sz="115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pPr marL="0" indent="0">
                <a:buNone/>
              </a:pPr>
              <a:r>
                <a:rPr lang="ko-KR" altLang="en-US" sz="1800" dirty="0"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책임 소재 명확화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2A12DD6-957A-7CE1-5832-6B5A46A34B00}"/>
              </a:ext>
            </a:extLst>
          </p:cNvPr>
          <p:cNvSpPr txBox="1"/>
          <p:nvPr/>
        </p:nvSpPr>
        <p:spPr>
          <a:xfrm>
            <a:off x="3236508" y="2587147"/>
            <a:ext cx="8582822" cy="334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dirty="0"/>
              <a:t>추적하려면 </a:t>
            </a:r>
            <a:r>
              <a:rPr lang="en-US" altLang="ko-KR" dirty="0"/>
              <a:t>CloudTrail, Azure Activity Log, GCP Audit Logs </a:t>
            </a:r>
            <a:r>
              <a:rPr lang="ko-KR" altLang="en-US" dirty="0"/>
              <a:t>같은 감사 로그와 계정 식별 체계가 필요</a:t>
            </a:r>
            <a:endParaRPr lang="en-US" altLang="ko-KR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468B57-4AD3-12BE-58C1-43740FAD25F9}"/>
              </a:ext>
            </a:extLst>
          </p:cNvPr>
          <p:cNvSpPr/>
          <p:nvPr/>
        </p:nvSpPr>
        <p:spPr>
          <a:xfrm>
            <a:off x="512509" y="5448300"/>
            <a:ext cx="5452862" cy="985157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FB310-D661-51F8-25EC-839F18A3E4DF}"/>
              </a:ext>
            </a:extLst>
          </p:cNvPr>
          <p:cNvSpPr txBox="1"/>
          <p:nvPr/>
        </p:nvSpPr>
        <p:spPr>
          <a:xfrm>
            <a:off x="647193" y="5515858"/>
            <a:ext cx="4507193" cy="840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indent="-144000"/>
            <a:r>
              <a:rPr lang="en-US" altLang="ko-KR" sz="1200" dirty="0"/>
              <a:t>AWS CloudTrail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r>
              <a:rPr lang="ko-KR" altLang="en-US" sz="1200" dirty="0"/>
              <a:t>계정에서 발생하는 모든 </a:t>
            </a:r>
            <a:r>
              <a:rPr lang="en-US" altLang="ko-KR" sz="1200" dirty="0"/>
              <a:t>API </a:t>
            </a:r>
            <a:r>
              <a:rPr lang="ko-KR" altLang="en-US" sz="1200" dirty="0"/>
              <a:t>호출 기록</a:t>
            </a:r>
            <a:endParaRPr lang="en-US" altLang="ko-KR" sz="1200" dirty="0"/>
          </a:p>
          <a:p>
            <a:pPr marL="144000" indent="-144000"/>
            <a:r>
              <a:rPr lang="en-US" altLang="ko-KR" sz="1200" dirty="0"/>
              <a:t>Azure Activity Log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Azure </a:t>
            </a:r>
            <a:r>
              <a:rPr lang="ko-KR" altLang="en-US" sz="1200" dirty="0"/>
              <a:t>리소스에 대한 모든 관리 작업 기록</a:t>
            </a:r>
            <a:endParaRPr lang="en-US" altLang="ko-KR" sz="1200" dirty="0"/>
          </a:p>
          <a:p>
            <a:pPr marL="144000" indent="-144000"/>
            <a:r>
              <a:rPr lang="en-US" altLang="ko-KR" sz="1200" dirty="0"/>
              <a:t>GCP Audit Logs</a:t>
            </a:r>
            <a:r>
              <a:rPr lang="ko-KR" altLang="en-US" sz="1200" dirty="0"/>
              <a:t> </a:t>
            </a:r>
            <a:r>
              <a:rPr lang="en-US" altLang="ko-KR" sz="1200" dirty="0"/>
              <a:t>:</a:t>
            </a:r>
            <a:r>
              <a:rPr lang="ko-KR" altLang="en-US" sz="1200" dirty="0"/>
              <a:t> </a:t>
            </a:r>
            <a:r>
              <a:rPr lang="en-US" altLang="ko-KR" sz="1200" dirty="0"/>
              <a:t>GCP </a:t>
            </a:r>
            <a:r>
              <a:rPr lang="ko-KR" altLang="en-US" sz="1200" dirty="0"/>
              <a:t>리소스 접근 및 변경 기록</a:t>
            </a:r>
            <a:endParaRPr lang="en-US" altLang="ko-KR" sz="1200" dirty="0"/>
          </a:p>
        </p:txBody>
      </p:sp>
      <p:sp>
        <p:nvSpPr>
          <p:cNvPr id="8" name="모서리가 둥근 직사각형 19">
            <a:extLst>
              <a:ext uri="{FF2B5EF4-FFF2-40B4-BE49-F238E27FC236}">
                <a16:creationId xmlns:a16="http://schemas.microsoft.com/office/drawing/2014/main" id="{DBB8651F-7C3A-D21C-E525-FC3B0CB6AF89}"/>
              </a:ext>
            </a:extLst>
          </p:cNvPr>
          <p:cNvSpPr/>
          <p:nvPr/>
        </p:nvSpPr>
        <p:spPr>
          <a:xfrm>
            <a:off x="2582524" y="5259122"/>
            <a:ext cx="1189376" cy="244200"/>
          </a:xfrm>
          <a:prstGeom prst="roundRect">
            <a:avLst>
              <a:gd name="adj" fmla="val 50000"/>
            </a:avLst>
          </a:prstGeom>
          <a:solidFill>
            <a:srgbClr val="07C63C"/>
          </a:solidFill>
          <a:ln>
            <a:noFill/>
          </a:ln>
          <a:effectLst>
            <a:outerShdw blurRad="254000" dist="38100" dir="5400000" algn="t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en-US" sz="13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Global CSP</a:t>
            </a:r>
            <a:endParaRPr kumimoji="1" lang="ko-Kore-KR" altLang="en-US" sz="130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A6E669-7DE6-7DEF-47F3-BF8D103051DD}"/>
              </a:ext>
            </a:extLst>
          </p:cNvPr>
          <p:cNvSpPr txBox="1"/>
          <p:nvPr/>
        </p:nvSpPr>
        <p:spPr>
          <a:xfrm>
            <a:off x="6271245" y="5627906"/>
            <a:ext cx="4507193" cy="583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indent="-144000"/>
            <a:r>
              <a:rPr lang="en-US" altLang="ko-KR" sz="1200" dirty="0"/>
              <a:t>Cloud Activity Trace : API </a:t>
            </a:r>
            <a:r>
              <a:rPr lang="ko-KR" altLang="en-US" sz="1200" dirty="0"/>
              <a:t>호출 기록</a:t>
            </a:r>
            <a:r>
              <a:rPr lang="en-US" altLang="ko-KR" sz="1200" dirty="0"/>
              <a:t>, </a:t>
            </a:r>
            <a:r>
              <a:rPr lang="ko-KR" altLang="en-US" sz="1200" dirty="0"/>
              <a:t>리소스 생성</a:t>
            </a:r>
            <a:r>
              <a:rPr lang="en-US" altLang="ko-KR" sz="1200" dirty="0"/>
              <a:t>/</a:t>
            </a:r>
            <a:r>
              <a:rPr lang="ko-KR" altLang="en-US" sz="1200" dirty="0"/>
              <a:t>삭제 로그</a:t>
            </a:r>
          </a:p>
          <a:p>
            <a:pPr marL="144000" indent="-144000"/>
            <a:r>
              <a:rPr lang="en-US" altLang="ko-KR" sz="1200" dirty="0"/>
              <a:t>NCP Cloud Log Analytics : </a:t>
            </a:r>
            <a:r>
              <a:rPr lang="ko-KR" altLang="en-US" sz="1200" dirty="0"/>
              <a:t>로그 수집 </a:t>
            </a:r>
            <a:r>
              <a:rPr lang="en-US" altLang="ko-KR" sz="1200" dirty="0"/>
              <a:t>+ </a:t>
            </a:r>
            <a:r>
              <a:rPr lang="ko-KR" altLang="en-US" sz="1200" dirty="0"/>
              <a:t>분석</a:t>
            </a:r>
            <a:r>
              <a:rPr lang="en-US" altLang="ko-KR" sz="1200" dirty="0"/>
              <a:t>, </a:t>
            </a:r>
            <a:r>
              <a:rPr lang="ko-KR" altLang="en-US" sz="1200" dirty="0"/>
              <a:t>이벤트 모니터링</a:t>
            </a:r>
            <a:endParaRPr lang="en-US" altLang="ko-KR" sz="1200" dirty="0"/>
          </a:p>
        </p:txBody>
      </p:sp>
      <p:sp>
        <p:nvSpPr>
          <p:cNvPr id="17" name="모서리가 둥근 직사각형 19">
            <a:extLst>
              <a:ext uri="{FF2B5EF4-FFF2-40B4-BE49-F238E27FC236}">
                <a16:creationId xmlns:a16="http://schemas.microsoft.com/office/drawing/2014/main" id="{7A33409E-5862-2602-E8D9-FCC05915BF7D}"/>
              </a:ext>
            </a:extLst>
          </p:cNvPr>
          <p:cNvSpPr/>
          <p:nvPr/>
        </p:nvSpPr>
        <p:spPr>
          <a:xfrm>
            <a:off x="8184805" y="5259122"/>
            <a:ext cx="1189376" cy="244200"/>
          </a:xfrm>
          <a:prstGeom prst="roundRect">
            <a:avLst>
              <a:gd name="adj" fmla="val 50000"/>
            </a:avLst>
          </a:prstGeom>
          <a:solidFill>
            <a:srgbClr val="07C63C"/>
          </a:solidFill>
          <a:ln>
            <a:noFill/>
          </a:ln>
          <a:effectLst>
            <a:outerShdw blurRad="254000" dist="38100" dir="5400000" algn="t" rotWithShape="0">
              <a:schemeClr val="tx1">
                <a:lumMod val="65000"/>
                <a:lumOff val="35000"/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en-US" sz="13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NCP</a:t>
            </a:r>
            <a:endParaRPr kumimoji="1" lang="ko-Kore-KR" altLang="en-US" sz="130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6169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그룹 56">
            <a:extLst>
              <a:ext uri="{FF2B5EF4-FFF2-40B4-BE49-F238E27FC236}">
                <a16:creationId xmlns:a16="http://schemas.microsoft.com/office/drawing/2014/main" id="{B4DB282D-BEFD-2953-5879-D5BACF8120E7}"/>
              </a:ext>
            </a:extLst>
          </p:cNvPr>
          <p:cNvGrpSpPr/>
          <p:nvPr/>
        </p:nvGrpSpPr>
        <p:grpSpPr>
          <a:xfrm>
            <a:off x="983432" y="2348880"/>
            <a:ext cx="2159955" cy="3384376"/>
            <a:chOff x="349161" y="1787450"/>
            <a:chExt cx="2159955" cy="358576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DA1C4BC8-728B-5FD0-C476-EA638C5DFE41}"/>
                </a:ext>
              </a:extLst>
            </p:cNvPr>
            <p:cNvSpPr/>
            <p:nvPr/>
          </p:nvSpPr>
          <p:spPr>
            <a:xfrm>
              <a:off x="350838" y="1787450"/>
              <a:ext cx="2156600" cy="35255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500">
                  <a:solidFill>
                    <a:schemeClr val="bg1"/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온프레미스</a:t>
              </a:r>
              <a:endParaRPr kumimoji="1" lang="ko-Kore-KR" altLang="en-US" sz="1500" dirty="0">
                <a:solidFill>
                  <a:schemeClr val="bg1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endParaRPr>
            </a:p>
          </p:txBody>
        </p:sp>
        <p:sp>
          <p:nvSpPr>
            <p:cNvPr id="7" name="모서리가 둥근 직사각형 21">
              <a:extLst>
                <a:ext uri="{FF2B5EF4-FFF2-40B4-BE49-F238E27FC236}">
                  <a16:creationId xmlns:a16="http://schemas.microsoft.com/office/drawing/2014/main" id="{6B07F884-9640-1347-910E-F4C000710A16}"/>
                </a:ext>
              </a:extLst>
            </p:cNvPr>
            <p:cNvSpPr/>
            <p:nvPr/>
          </p:nvSpPr>
          <p:spPr>
            <a:xfrm>
              <a:off x="349161" y="2384896"/>
              <a:ext cx="2159955" cy="387814"/>
            </a:xfrm>
            <a:prstGeom prst="roundRect">
              <a:avLst/>
            </a:prstGeom>
            <a:solidFill>
              <a:schemeClr val="bg1">
                <a:lumMod val="95000"/>
                <a:alpha val="7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Application</a:t>
              </a:r>
              <a:endParaRPr kumimoji="1" lang="en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5 Medium" pitchFamily="2" charset="-127"/>
                <a:ea typeface="Paperlogy 5 Medium" pitchFamily="2" charset="-127"/>
              </a:endParaRPr>
            </a:p>
          </p:txBody>
        </p:sp>
        <p:sp>
          <p:nvSpPr>
            <p:cNvPr id="8" name="모서리가 둥근 직사각형 22">
              <a:extLst>
                <a:ext uri="{FF2B5EF4-FFF2-40B4-BE49-F238E27FC236}">
                  <a16:creationId xmlns:a16="http://schemas.microsoft.com/office/drawing/2014/main" id="{305E706E-F702-CF34-842C-FD24B9F46D7E}"/>
                </a:ext>
              </a:extLst>
            </p:cNvPr>
            <p:cNvSpPr/>
            <p:nvPr/>
          </p:nvSpPr>
          <p:spPr>
            <a:xfrm>
              <a:off x="349161" y="2818314"/>
              <a:ext cx="2159955" cy="387814"/>
            </a:xfrm>
            <a:prstGeom prst="roundRect">
              <a:avLst/>
            </a:prstGeom>
            <a:solidFill>
              <a:schemeClr val="bg1">
                <a:lumMod val="95000"/>
                <a:alpha val="7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Runtime / </a:t>
              </a:r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미들웨어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" name="모서리가 둥근 직사각형 23">
              <a:extLst>
                <a:ext uri="{FF2B5EF4-FFF2-40B4-BE49-F238E27FC236}">
                  <a16:creationId xmlns:a16="http://schemas.microsoft.com/office/drawing/2014/main" id="{3E542EC9-3862-8BE2-A1C6-8E028C3445F5}"/>
                </a:ext>
              </a:extLst>
            </p:cNvPr>
            <p:cNvSpPr/>
            <p:nvPr/>
          </p:nvSpPr>
          <p:spPr>
            <a:xfrm>
              <a:off x="349161" y="3251732"/>
              <a:ext cx="2159955" cy="387814"/>
            </a:xfrm>
            <a:prstGeom prst="roundRect">
              <a:avLst/>
            </a:prstGeom>
            <a:solidFill>
              <a:schemeClr val="bg1">
                <a:lumMod val="95000"/>
                <a:alpha val="7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운영 체제</a:t>
              </a:r>
              <a:r>
                <a:rPr lang="en-US" altLang="ko-KR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(OS)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" name="모서리가 둥근 직사각형 24">
              <a:extLst>
                <a:ext uri="{FF2B5EF4-FFF2-40B4-BE49-F238E27FC236}">
                  <a16:creationId xmlns:a16="http://schemas.microsoft.com/office/drawing/2014/main" id="{47CB4B55-8725-E713-93BD-C604CBDC6493}"/>
                </a:ext>
              </a:extLst>
            </p:cNvPr>
            <p:cNvSpPr/>
            <p:nvPr/>
          </p:nvSpPr>
          <p:spPr>
            <a:xfrm>
              <a:off x="349161" y="3685150"/>
              <a:ext cx="2159955" cy="387814"/>
            </a:xfrm>
            <a:prstGeom prst="roundRect">
              <a:avLst/>
            </a:prstGeom>
            <a:solidFill>
              <a:schemeClr val="bg1">
                <a:lumMod val="95000"/>
                <a:alpha val="7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가상 머신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1" name="모서리가 둥근 직사각형 24">
              <a:extLst>
                <a:ext uri="{FF2B5EF4-FFF2-40B4-BE49-F238E27FC236}">
                  <a16:creationId xmlns:a16="http://schemas.microsoft.com/office/drawing/2014/main" id="{42840642-2145-E8F2-02E0-0332B4042C79}"/>
                </a:ext>
              </a:extLst>
            </p:cNvPr>
            <p:cNvSpPr/>
            <p:nvPr/>
          </p:nvSpPr>
          <p:spPr>
            <a:xfrm>
              <a:off x="349161" y="4118568"/>
              <a:ext cx="2159955" cy="387814"/>
            </a:xfrm>
            <a:prstGeom prst="roundRect">
              <a:avLst/>
            </a:prstGeom>
            <a:solidFill>
              <a:schemeClr val="bg1">
                <a:lumMod val="95000"/>
                <a:alpha val="7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컴퓨팅 </a:t>
              </a:r>
              <a:r>
                <a:rPr lang="en-US" altLang="ko-KR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</a:t>
              </a:r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서버</a:t>
              </a:r>
              <a:r>
                <a:rPr lang="en-US" altLang="ko-KR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2" name="모서리가 둥근 직사각형 24">
              <a:extLst>
                <a:ext uri="{FF2B5EF4-FFF2-40B4-BE49-F238E27FC236}">
                  <a16:creationId xmlns:a16="http://schemas.microsoft.com/office/drawing/2014/main" id="{0E54A60B-0AB4-74F5-5809-DC3E6D8891B4}"/>
                </a:ext>
              </a:extLst>
            </p:cNvPr>
            <p:cNvSpPr/>
            <p:nvPr/>
          </p:nvSpPr>
          <p:spPr>
            <a:xfrm>
              <a:off x="349161" y="4551986"/>
              <a:ext cx="2159955" cy="387814"/>
            </a:xfrm>
            <a:prstGeom prst="roundRect">
              <a:avLst/>
            </a:prstGeom>
            <a:solidFill>
              <a:schemeClr val="bg1">
                <a:lumMod val="95000"/>
                <a:alpha val="7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네트워킹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3" name="모서리가 둥근 직사각형 24">
              <a:extLst>
                <a:ext uri="{FF2B5EF4-FFF2-40B4-BE49-F238E27FC236}">
                  <a16:creationId xmlns:a16="http://schemas.microsoft.com/office/drawing/2014/main" id="{167EDEC3-5E3D-3902-CC0C-3E6FBBE8A9C8}"/>
                </a:ext>
              </a:extLst>
            </p:cNvPr>
            <p:cNvSpPr/>
            <p:nvPr/>
          </p:nvSpPr>
          <p:spPr>
            <a:xfrm>
              <a:off x="349161" y="4985402"/>
              <a:ext cx="2159955" cy="387814"/>
            </a:xfrm>
            <a:prstGeom prst="roundRect">
              <a:avLst/>
            </a:prstGeom>
            <a:solidFill>
              <a:schemeClr val="bg1">
                <a:lumMod val="95000"/>
                <a:alpha val="7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스토리지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E610A77-8E1B-9DB0-BFAB-F39C3BF76A73}"/>
              </a:ext>
            </a:extLst>
          </p:cNvPr>
          <p:cNvSpPr/>
          <p:nvPr/>
        </p:nvSpPr>
        <p:spPr>
          <a:xfrm>
            <a:off x="3648941" y="2348880"/>
            <a:ext cx="2156600" cy="332757"/>
          </a:xfrm>
          <a:prstGeom prst="rect">
            <a:avLst/>
          </a:prstGeom>
          <a:solidFill>
            <a:srgbClr val="07C63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solidFill>
                  <a:schemeClr val="bg1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IaaS</a:t>
            </a:r>
            <a:endParaRPr kumimoji="1" lang="ko-Kore-KR" altLang="en-US" sz="1500" dirty="0">
              <a:solidFill>
                <a:schemeClr val="bg1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9DFEC9FA-3FEE-5E4D-A580-319544AD1334}"/>
              </a:ext>
            </a:extLst>
          </p:cNvPr>
          <p:cNvGrpSpPr/>
          <p:nvPr/>
        </p:nvGrpSpPr>
        <p:grpSpPr>
          <a:xfrm>
            <a:off x="8977248" y="2348880"/>
            <a:ext cx="2159955" cy="3384376"/>
            <a:chOff x="7271036" y="1787450"/>
            <a:chExt cx="2159955" cy="3585766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8767055-3EB5-A76C-75A2-EEA4DCD8A067}"/>
                </a:ext>
              </a:extLst>
            </p:cNvPr>
            <p:cNvSpPr/>
            <p:nvPr/>
          </p:nvSpPr>
          <p:spPr>
            <a:xfrm>
              <a:off x="7272713" y="1787450"/>
              <a:ext cx="2156600" cy="352558"/>
            </a:xfrm>
            <a:prstGeom prst="rect">
              <a:avLst/>
            </a:prstGeom>
            <a:solidFill>
              <a:srgbClr val="0079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en-US" sz="1500" dirty="0">
                  <a:solidFill>
                    <a:schemeClr val="bg1"/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SaaS</a:t>
              </a:r>
              <a:endParaRPr kumimoji="1" lang="ko-Kore-KR" altLang="en-US" sz="1500" dirty="0">
                <a:solidFill>
                  <a:schemeClr val="bg1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endParaRPr>
            </a:p>
          </p:txBody>
        </p:sp>
        <p:sp>
          <p:nvSpPr>
            <p:cNvPr id="19" name="모서리가 둥근 직사각형 21">
              <a:extLst>
                <a:ext uri="{FF2B5EF4-FFF2-40B4-BE49-F238E27FC236}">
                  <a16:creationId xmlns:a16="http://schemas.microsoft.com/office/drawing/2014/main" id="{1A775816-D291-A026-60CB-FAF51C2BBD61}"/>
                </a:ext>
              </a:extLst>
            </p:cNvPr>
            <p:cNvSpPr/>
            <p:nvPr/>
          </p:nvSpPr>
          <p:spPr>
            <a:xfrm>
              <a:off x="7271036" y="2384896"/>
              <a:ext cx="2159955" cy="387814"/>
            </a:xfrm>
            <a:prstGeom prst="roundRect">
              <a:avLst/>
            </a:prstGeom>
            <a:solidFill>
              <a:schemeClr val="bg1">
                <a:lumMod val="95000"/>
                <a:alpha val="7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고객 책임</a:t>
              </a:r>
              <a:endParaRPr kumimoji="1" lang="en" altLang="ko-KR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Paperlogy 5 Medium" pitchFamily="2" charset="-127"/>
                <a:ea typeface="Paperlogy 5 Medium" pitchFamily="2" charset="-127"/>
              </a:endParaRPr>
            </a:p>
          </p:txBody>
        </p:sp>
        <p:sp>
          <p:nvSpPr>
            <p:cNvPr id="20" name="모서리가 둥근 직사각형 22">
              <a:extLst>
                <a:ext uri="{FF2B5EF4-FFF2-40B4-BE49-F238E27FC236}">
                  <a16:creationId xmlns:a16="http://schemas.microsoft.com/office/drawing/2014/main" id="{6C81FA25-F3AF-1F59-F2D8-4C801B57C696}"/>
                </a:ext>
              </a:extLst>
            </p:cNvPr>
            <p:cNvSpPr/>
            <p:nvPr/>
          </p:nvSpPr>
          <p:spPr>
            <a:xfrm>
              <a:off x="7271036" y="2818314"/>
              <a:ext cx="2159955" cy="387814"/>
            </a:xfrm>
            <a:prstGeom prst="roundRect">
              <a:avLst/>
            </a:prstGeom>
            <a:solidFill>
              <a:srgbClr val="E5F6FF">
                <a:alpha val="70000"/>
              </a:srgb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CSP</a:t>
              </a:r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책임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1" name="모서리가 둥근 직사각형 23">
              <a:extLst>
                <a:ext uri="{FF2B5EF4-FFF2-40B4-BE49-F238E27FC236}">
                  <a16:creationId xmlns:a16="http://schemas.microsoft.com/office/drawing/2014/main" id="{CDD0CEDD-DAA9-F173-2484-CE12921B04B4}"/>
                </a:ext>
              </a:extLst>
            </p:cNvPr>
            <p:cNvSpPr/>
            <p:nvPr/>
          </p:nvSpPr>
          <p:spPr>
            <a:xfrm>
              <a:off x="7271036" y="3251732"/>
              <a:ext cx="2159955" cy="387814"/>
            </a:xfrm>
            <a:prstGeom prst="roundRect">
              <a:avLst/>
            </a:prstGeom>
            <a:solidFill>
              <a:srgbClr val="E5F6FF">
                <a:alpha val="70000"/>
              </a:srgb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CSP</a:t>
              </a:r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책임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2" name="모서리가 둥근 직사각형 24">
              <a:extLst>
                <a:ext uri="{FF2B5EF4-FFF2-40B4-BE49-F238E27FC236}">
                  <a16:creationId xmlns:a16="http://schemas.microsoft.com/office/drawing/2014/main" id="{39641C84-36AA-EC49-1BB3-BD82EC3BB48B}"/>
                </a:ext>
              </a:extLst>
            </p:cNvPr>
            <p:cNvSpPr/>
            <p:nvPr/>
          </p:nvSpPr>
          <p:spPr>
            <a:xfrm>
              <a:off x="7271036" y="3685150"/>
              <a:ext cx="2159955" cy="387814"/>
            </a:xfrm>
            <a:prstGeom prst="roundRect">
              <a:avLst/>
            </a:prstGeom>
            <a:solidFill>
              <a:srgbClr val="E5F6FF">
                <a:alpha val="70000"/>
              </a:srgb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CSP</a:t>
              </a:r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책임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3" name="모서리가 둥근 직사각형 24">
              <a:extLst>
                <a:ext uri="{FF2B5EF4-FFF2-40B4-BE49-F238E27FC236}">
                  <a16:creationId xmlns:a16="http://schemas.microsoft.com/office/drawing/2014/main" id="{D12C1365-99C8-174B-87C0-C9DF058800F1}"/>
                </a:ext>
              </a:extLst>
            </p:cNvPr>
            <p:cNvSpPr/>
            <p:nvPr/>
          </p:nvSpPr>
          <p:spPr>
            <a:xfrm>
              <a:off x="7271036" y="4118568"/>
              <a:ext cx="2159955" cy="387814"/>
            </a:xfrm>
            <a:prstGeom prst="roundRect">
              <a:avLst/>
            </a:prstGeom>
            <a:solidFill>
              <a:srgbClr val="E5F6FF">
                <a:alpha val="70000"/>
              </a:srgb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CSP</a:t>
              </a:r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책임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6" name="모서리가 둥근 직사각형 24">
              <a:extLst>
                <a:ext uri="{FF2B5EF4-FFF2-40B4-BE49-F238E27FC236}">
                  <a16:creationId xmlns:a16="http://schemas.microsoft.com/office/drawing/2014/main" id="{83A8DA52-A5C5-199B-2119-656C12CBA2F2}"/>
                </a:ext>
              </a:extLst>
            </p:cNvPr>
            <p:cNvSpPr/>
            <p:nvPr/>
          </p:nvSpPr>
          <p:spPr>
            <a:xfrm>
              <a:off x="7271036" y="4551986"/>
              <a:ext cx="2159955" cy="387814"/>
            </a:xfrm>
            <a:prstGeom prst="roundRect">
              <a:avLst/>
            </a:prstGeom>
            <a:solidFill>
              <a:srgbClr val="E5F6FF">
                <a:alpha val="70000"/>
              </a:srgb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CSP</a:t>
              </a:r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책임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7" name="모서리가 둥근 직사각형 24">
              <a:extLst>
                <a:ext uri="{FF2B5EF4-FFF2-40B4-BE49-F238E27FC236}">
                  <a16:creationId xmlns:a16="http://schemas.microsoft.com/office/drawing/2014/main" id="{00A87B71-6DCD-9A15-72D5-D3B0600F65F4}"/>
                </a:ext>
              </a:extLst>
            </p:cNvPr>
            <p:cNvSpPr/>
            <p:nvPr/>
          </p:nvSpPr>
          <p:spPr>
            <a:xfrm>
              <a:off x="7271036" y="4985402"/>
              <a:ext cx="2159955" cy="387814"/>
            </a:xfrm>
            <a:prstGeom prst="roundRect">
              <a:avLst/>
            </a:prstGeom>
            <a:solidFill>
              <a:srgbClr val="E5F6FF">
                <a:alpha val="70000"/>
              </a:srgb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CSP</a:t>
              </a:r>
              <a:r>
                <a:rPr lang="ko-KR" altLang="en-US" sz="12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책임</a:t>
              </a:r>
              <a:endParaRPr lang="ko-Kore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6A121E9-9D81-2F2C-5E7E-4D4D077A4B52}"/>
              </a:ext>
            </a:extLst>
          </p:cNvPr>
          <p:cNvSpPr/>
          <p:nvPr/>
        </p:nvSpPr>
        <p:spPr>
          <a:xfrm>
            <a:off x="6303150" y="2348880"/>
            <a:ext cx="2156600" cy="332757"/>
          </a:xfrm>
          <a:prstGeom prst="rect">
            <a:avLst/>
          </a:prstGeom>
          <a:solidFill>
            <a:srgbClr val="009F0F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500" dirty="0">
                <a:solidFill>
                  <a:schemeClr val="bg1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PaaS</a:t>
            </a:r>
            <a:endParaRPr kumimoji="1" lang="ko-Kore-KR" altLang="en-US" sz="1500" dirty="0">
              <a:solidFill>
                <a:schemeClr val="bg1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sp>
        <p:nvSpPr>
          <p:cNvPr id="31" name="모서리가 둥근 직사각형 21">
            <a:extLst>
              <a:ext uri="{FF2B5EF4-FFF2-40B4-BE49-F238E27FC236}">
                <a16:creationId xmlns:a16="http://schemas.microsoft.com/office/drawing/2014/main" id="{CBDCE37D-9B3B-5C00-9B8C-F08F87D3879F}"/>
              </a:ext>
            </a:extLst>
          </p:cNvPr>
          <p:cNvSpPr/>
          <p:nvPr/>
        </p:nvSpPr>
        <p:spPr>
          <a:xfrm>
            <a:off x="6301473" y="2912771"/>
            <a:ext cx="2159955" cy="366033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책임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32" name="모서리가 둥근 직사각형 22">
            <a:extLst>
              <a:ext uri="{FF2B5EF4-FFF2-40B4-BE49-F238E27FC236}">
                <a16:creationId xmlns:a16="http://schemas.microsoft.com/office/drawing/2014/main" id="{B4C0866B-0F50-74AD-E474-85912265E8AE}"/>
              </a:ext>
            </a:extLst>
          </p:cNvPr>
          <p:cNvSpPr/>
          <p:nvPr/>
        </p:nvSpPr>
        <p:spPr>
          <a:xfrm>
            <a:off x="6301473" y="3321847"/>
            <a:ext cx="2159955" cy="366033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책임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33" name="모서리가 둥근 직사각형 23">
            <a:extLst>
              <a:ext uri="{FF2B5EF4-FFF2-40B4-BE49-F238E27FC236}">
                <a16:creationId xmlns:a16="http://schemas.microsoft.com/office/drawing/2014/main" id="{772BC481-BB68-2622-579E-22DECA391050}"/>
              </a:ext>
            </a:extLst>
          </p:cNvPr>
          <p:cNvSpPr/>
          <p:nvPr/>
        </p:nvSpPr>
        <p:spPr>
          <a:xfrm>
            <a:off x="6301473" y="3730922"/>
            <a:ext cx="2159955" cy="366033"/>
          </a:xfrm>
          <a:prstGeom prst="roundRect">
            <a:avLst/>
          </a:prstGeom>
          <a:solidFill>
            <a:srgbClr val="E5F6FF">
              <a:alpha val="69804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책임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4" name="모서리가 둥근 직사각형 24">
            <a:extLst>
              <a:ext uri="{FF2B5EF4-FFF2-40B4-BE49-F238E27FC236}">
                <a16:creationId xmlns:a16="http://schemas.microsoft.com/office/drawing/2014/main" id="{FB9B7687-F2CE-AEED-2668-1346EF1A9FF8}"/>
              </a:ext>
            </a:extLst>
          </p:cNvPr>
          <p:cNvSpPr/>
          <p:nvPr/>
        </p:nvSpPr>
        <p:spPr>
          <a:xfrm>
            <a:off x="6301473" y="4139998"/>
            <a:ext cx="2159955" cy="366033"/>
          </a:xfrm>
          <a:prstGeom prst="roundRect">
            <a:avLst/>
          </a:prstGeom>
          <a:solidFill>
            <a:srgbClr val="E5F6FF">
              <a:alpha val="69804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책임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5" name="모서리가 둥근 직사각형 24">
            <a:extLst>
              <a:ext uri="{FF2B5EF4-FFF2-40B4-BE49-F238E27FC236}">
                <a16:creationId xmlns:a16="http://schemas.microsoft.com/office/drawing/2014/main" id="{3C077657-ACEA-900E-DF7C-12E67D980038}"/>
              </a:ext>
            </a:extLst>
          </p:cNvPr>
          <p:cNvSpPr/>
          <p:nvPr/>
        </p:nvSpPr>
        <p:spPr>
          <a:xfrm>
            <a:off x="6301473" y="4549074"/>
            <a:ext cx="2159955" cy="366033"/>
          </a:xfrm>
          <a:prstGeom prst="roundRect">
            <a:avLst/>
          </a:prstGeom>
          <a:solidFill>
            <a:srgbClr val="E5F6FF">
              <a:alpha val="69804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책임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8" name="모서리가 둥근 직사각형 24">
            <a:extLst>
              <a:ext uri="{FF2B5EF4-FFF2-40B4-BE49-F238E27FC236}">
                <a16:creationId xmlns:a16="http://schemas.microsoft.com/office/drawing/2014/main" id="{27CB2DFE-46D9-7D4B-ADDA-57DE47D91DEE}"/>
              </a:ext>
            </a:extLst>
          </p:cNvPr>
          <p:cNvSpPr/>
          <p:nvPr/>
        </p:nvSpPr>
        <p:spPr>
          <a:xfrm>
            <a:off x="6301473" y="4958149"/>
            <a:ext cx="2159955" cy="366033"/>
          </a:xfrm>
          <a:prstGeom prst="roundRect">
            <a:avLst/>
          </a:prstGeom>
          <a:solidFill>
            <a:srgbClr val="E5F6FF">
              <a:alpha val="69804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책임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9" name="모서리가 둥근 직사각형 24">
            <a:extLst>
              <a:ext uri="{FF2B5EF4-FFF2-40B4-BE49-F238E27FC236}">
                <a16:creationId xmlns:a16="http://schemas.microsoft.com/office/drawing/2014/main" id="{21DA70A9-EA5A-AE55-63FB-088C49E4446F}"/>
              </a:ext>
            </a:extLst>
          </p:cNvPr>
          <p:cNvSpPr/>
          <p:nvPr/>
        </p:nvSpPr>
        <p:spPr>
          <a:xfrm>
            <a:off x="6301473" y="5367223"/>
            <a:ext cx="2159955" cy="366033"/>
          </a:xfrm>
          <a:prstGeom prst="roundRect">
            <a:avLst/>
          </a:prstGeom>
          <a:solidFill>
            <a:srgbClr val="E5F6FF">
              <a:alpha val="69804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책임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1050B-059A-AA92-3C38-440BA9BE8D8E}"/>
              </a:ext>
            </a:extLst>
          </p:cNvPr>
          <p:cNvSpPr txBox="1"/>
          <p:nvPr/>
        </p:nvSpPr>
        <p:spPr>
          <a:xfrm>
            <a:off x="1677014" y="1185743"/>
            <a:ext cx="8837972" cy="952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600" dirty="0">
                <a:solidFill>
                  <a:srgbClr val="07C63C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| </a:t>
            </a:r>
            <a:r>
              <a:rPr lang="ko-KR" altLang="en-US" sz="16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클라우드 책임 공유 원칙 </a:t>
            </a:r>
            <a:r>
              <a:rPr lang="en-US" altLang="ko-KR" sz="1600" dirty="0">
                <a:solidFill>
                  <a:srgbClr val="07C63C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|</a:t>
            </a:r>
          </a:p>
          <a:p>
            <a:pPr algn="ctr">
              <a:lnSpc>
                <a:spcPct val="13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클라우드 환경에서는 서비스 제공자가 인프라를 소유</a:t>
            </a:r>
            <a:r>
              <a:rPr lang="en-US" altLang="ko-KR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운영하고 사용자는 이를 대여하여 사용하는 구주로</a:t>
            </a:r>
            <a:endParaRPr lang="en-US" altLang="ko-KR" sz="14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4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보안 사고나 이슈 발생 시 책임이 단일 주체에 귀속되지 않고 클라우드 서비스 제공자와 사용자 간에 공유됨</a:t>
            </a:r>
          </a:p>
        </p:txBody>
      </p:sp>
      <p:sp>
        <p:nvSpPr>
          <p:cNvPr id="27" name="제목 1">
            <a:extLst>
              <a:ext uri="{FF2B5EF4-FFF2-40B4-BE49-F238E27FC236}">
                <a16:creationId xmlns:a16="http://schemas.microsoft.com/office/drawing/2014/main" id="{36F53E5C-94E0-F2E1-2E03-F10022041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2.3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보안 책임 공유 모델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9DB449F-EE50-1D3E-A666-390442C5228B}"/>
              </a:ext>
            </a:extLst>
          </p:cNvPr>
          <p:cNvSpPr/>
          <p:nvPr/>
        </p:nvSpPr>
        <p:spPr>
          <a:xfrm>
            <a:off x="416701" y="5884744"/>
            <a:ext cx="11255628" cy="576342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192B9-1F04-CB77-30CD-60D59F4D82B5}"/>
              </a:ext>
            </a:extLst>
          </p:cNvPr>
          <p:cNvSpPr txBox="1"/>
          <p:nvPr/>
        </p:nvSpPr>
        <p:spPr>
          <a:xfrm>
            <a:off x="416701" y="5877272"/>
            <a:ext cx="11151907" cy="583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※ </a:t>
            </a:r>
            <a:r>
              <a: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책임 공유 모델 </a:t>
            </a:r>
            <a:r>
              <a:rPr lang="en-US" altLang="ko-KR" sz="1200" dirty="0"/>
              <a:t>: </a:t>
            </a:r>
            <a:r>
              <a:rPr lang="ko-KR" altLang="en-US" sz="1200" dirty="0"/>
              <a:t>클라우드 환경에서 보안과 운영 책임을 </a:t>
            </a:r>
            <a:r>
              <a:rPr lang="en-US" altLang="ko-KR" sz="1200" dirty="0"/>
              <a:t>CSP</a:t>
            </a:r>
            <a:r>
              <a:rPr lang="ko-KR" altLang="en-US" sz="1200" dirty="0"/>
              <a:t>와 사용자</a:t>
            </a:r>
            <a:r>
              <a:rPr lang="en-US" altLang="ko-KR" sz="1200" dirty="0"/>
              <a:t>(</a:t>
            </a:r>
            <a:r>
              <a:rPr lang="ko-KR" altLang="en-US" sz="1200" dirty="0"/>
              <a:t>고객</a:t>
            </a:r>
            <a:r>
              <a:rPr lang="en-US" altLang="ko-KR" sz="1200" dirty="0"/>
              <a:t>) </a:t>
            </a:r>
            <a:r>
              <a:rPr lang="ko-KR" altLang="en-US" sz="1200" dirty="0"/>
              <a:t>간에 나누는 모델</a:t>
            </a:r>
            <a:endParaRPr lang="en-US" altLang="ko-KR" sz="1200" dirty="0"/>
          </a:p>
          <a:p>
            <a:pPr marL="1257300" indent="-95250">
              <a:buNone/>
            </a:pPr>
            <a:r>
              <a:rPr lang="ko-KR" altLang="en-US" sz="1200" dirty="0"/>
              <a:t> 클라우드는 인프라의 보안은 </a:t>
            </a:r>
            <a:r>
              <a:rPr lang="en-US" altLang="ko-KR" sz="1200" dirty="0"/>
              <a:t>CSP</a:t>
            </a:r>
            <a:r>
              <a:rPr lang="ko-KR" altLang="en-US" sz="1200" dirty="0"/>
              <a:t>가</a:t>
            </a:r>
            <a:r>
              <a:rPr lang="en-US" altLang="ko-KR" sz="1200" dirty="0"/>
              <a:t>, </a:t>
            </a:r>
            <a:r>
              <a:rPr lang="ko-KR" altLang="en-US" sz="1200" dirty="0"/>
              <a:t>그 위에서 사용하는 환경과 데이터의</a:t>
            </a:r>
            <a:r>
              <a:rPr lang="en-US" altLang="ko-KR" sz="1200" dirty="0"/>
              <a:t> </a:t>
            </a:r>
            <a:r>
              <a:rPr lang="ko-KR" altLang="en-US" sz="1200" dirty="0"/>
              <a:t>보안은 고객이 책임지는 구조</a:t>
            </a:r>
            <a:endParaRPr lang="en-US" altLang="ko-KR" sz="1200" dirty="0"/>
          </a:p>
        </p:txBody>
      </p:sp>
      <p:sp>
        <p:nvSpPr>
          <p:cNvPr id="6" name="모서리가 둥근 직사각형 24">
            <a:extLst>
              <a:ext uri="{FF2B5EF4-FFF2-40B4-BE49-F238E27FC236}">
                <a16:creationId xmlns:a16="http://schemas.microsoft.com/office/drawing/2014/main" id="{59343661-71E0-5584-7CEA-D866D0696ABA}"/>
              </a:ext>
            </a:extLst>
          </p:cNvPr>
          <p:cNvSpPr/>
          <p:nvPr/>
        </p:nvSpPr>
        <p:spPr>
          <a:xfrm>
            <a:off x="3659207" y="4549074"/>
            <a:ext cx="2159955" cy="366033"/>
          </a:xfrm>
          <a:prstGeom prst="roundRect">
            <a:avLst/>
          </a:prstGeom>
          <a:solidFill>
            <a:srgbClr val="E5F6FF">
              <a:alpha val="69804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책임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4" name="모서리가 둥근 직사각형 24">
            <a:extLst>
              <a:ext uri="{FF2B5EF4-FFF2-40B4-BE49-F238E27FC236}">
                <a16:creationId xmlns:a16="http://schemas.microsoft.com/office/drawing/2014/main" id="{D5F314E5-9B8C-E93A-CFF6-C7DCCF98D1A3}"/>
              </a:ext>
            </a:extLst>
          </p:cNvPr>
          <p:cNvSpPr/>
          <p:nvPr/>
        </p:nvSpPr>
        <p:spPr>
          <a:xfrm>
            <a:off x="3659207" y="4958149"/>
            <a:ext cx="2159955" cy="366033"/>
          </a:xfrm>
          <a:prstGeom prst="roundRect">
            <a:avLst/>
          </a:prstGeom>
          <a:solidFill>
            <a:srgbClr val="E5F6FF">
              <a:alpha val="69804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책임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425607BE-D7B9-6D4B-C0E7-A2DE7B3C1597}"/>
              </a:ext>
            </a:extLst>
          </p:cNvPr>
          <p:cNvSpPr/>
          <p:nvPr/>
        </p:nvSpPr>
        <p:spPr>
          <a:xfrm>
            <a:off x="3659207" y="5367223"/>
            <a:ext cx="2159955" cy="366033"/>
          </a:xfrm>
          <a:prstGeom prst="roundRect">
            <a:avLst/>
          </a:prstGeom>
          <a:solidFill>
            <a:srgbClr val="E5F6FF">
              <a:alpha val="69804"/>
            </a:srgb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</a:t>
            </a:r>
            <a:r>
              <a:rPr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책임</a:t>
            </a:r>
            <a:endParaRPr lang="ko-Kore-KR" altLang="en-US" sz="1200" spc="-3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" name="모서리가 둥근 직사각형 21">
            <a:extLst>
              <a:ext uri="{FF2B5EF4-FFF2-40B4-BE49-F238E27FC236}">
                <a16:creationId xmlns:a16="http://schemas.microsoft.com/office/drawing/2014/main" id="{158F80B6-A89E-B88C-12C5-093CA8D40324}"/>
              </a:ext>
            </a:extLst>
          </p:cNvPr>
          <p:cNvSpPr/>
          <p:nvPr/>
        </p:nvSpPr>
        <p:spPr>
          <a:xfrm>
            <a:off x="3659207" y="2912771"/>
            <a:ext cx="2159955" cy="366033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책임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28" name="모서리가 둥근 직사각형 22">
            <a:extLst>
              <a:ext uri="{FF2B5EF4-FFF2-40B4-BE49-F238E27FC236}">
                <a16:creationId xmlns:a16="http://schemas.microsoft.com/office/drawing/2014/main" id="{FA3E33B8-724E-CD12-78A9-0D2999808A25}"/>
              </a:ext>
            </a:extLst>
          </p:cNvPr>
          <p:cNvSpPr/>
          <p:nvPr/>
        </p:nvSpPr>
        <p:spPr>
          <a:xfrm>
            <a:off x="3659207" y="3321847"/>
            <a:ext cx="2159955" cy="366033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책임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29" name="모서리가 둥근 직사각형 21">
            <a:extLst>
              <a:ext uri="{FF2B5EF4-FFF2-40B4-BE49-F238E27FC236}">
                <a16:creationId xmlns:a16="http://schemas.microsoft.com/office/drawing/2014/main" id="{2B075107-E952-60C1-82EC-C7524BB39F34}"/>
              </a:ext>
            </a:extLst>
          </p:cNvPr>
          <p:cNvSpPr/>
          <p:nvPr/>
        </p:nvSpPr>
        <p:spPr>
          <a:xfrm>
            <a:off x="3659207" y="3747387"/>
            <a:ext cx="2159955" cy="366033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책임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  <p:sp>
        <p:nvSpPr>
          <p:cNvPr id="36" name="모서리가 둥근 직사각형 22">
            <a:extLst>
              <a:ext uri="{FF2B5EF4-FFF2-40B4-BE49-F238E27FC236}">
                <a16:creationId xmlns:a16="http://schemas.microsoft.com/office/drawing/2014/main" id="{C6E6F5B8-CC47-D8B4-D64E-2F2DE8A1CD75}"/>
              </a:ext>
            </a:extLst>
          </p:cNvPr>
          <p:cNvSpPr/>
          <p:nvPr/>
        </p:nvSpPr>
        <p:spPr>
          <a:xfrm>
            <a:off x="3659207" y="4156463"/>
            <a:ext cx="2159955" cy="366033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spc="-3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책임</a:t>
            </a:r>
            <a:endParaRPr kumimoji="1" lang="en" altLang="ko-KR" sz="1200" dirty="0">
              <a:solidFill>
                <a:schemeClr val="tx1">
                  <a:lumMod val="85000"/>
                  <a:lumOff val="15000"/>
                </a:schemeClr>
              </a:solidFill>
              <a:latin typeface="Paperlogy 5 Medium" pitchFamily="2" charset="-127"/>
              <a:ea typeface="Paperlogy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1033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385200" y="288001"/>
            <a:ext cx="8280000" cy="19045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algn="l" defTabSz="914400" rtl="0" eaLnBrk="1" latinLnBrk="1" hangingPunct="1">
              <a:lnSpc>
                <a:spcPct val="110000"/>
              </a:lnSpc>
              <a:spcBef>
                <a:spcPct val="0"/>
              </a:spcBef>
              <a:buNone/>
              <a:defRPr lang="ko-KR" altLang="en-US" sz="3600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3. </a:t>
            </a:r>
            <a:r>
              <a:rPr lang="ko-KR" altLang="en-US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클라우드 보안 핵심</a:t>
            </a:r>
          </a:p>
        </p:txBody>
      </p:sp>
    </p:spTree>
    <p:extLst>
      <p:ext uri="{BB962C8B-B14F-4D97-AF65-F5344CB8AC3E}">
        <p14:creationId xmlns:p14="http://schemas.microsoft.com/office/powerpoint/2010/main" val="2352765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E24C7659-7867-E06B-466E-5589CAC5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3.1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보안의 중요성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D8A258-5B55-0290-A620-E676A3A47069}"/>
              </a:ext>
            </a:extLst>
          </p:cNvPr>
          <p:cNvSpPr txBox="1"/>
          <p:nvPr/>
        </p:nvSpPr>
        <p:spPr>
          <a:xfrm>
            <a:off x="651532" y="1155340"/>
            <a:ext cx="10888936" cy="689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클라우드는 편의성과 민첩성을 제공하지만</a:t>
            </a:r>
            <a:r>
              <a:rPr kumimoji="1"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pPr algn="ctr">
              <a:lnSpc>
                <a:spcPct val="110000"/>
              </a:lnSpc>
            </a:pPr>
            <a:r>
              <a:rPr kumimoji="1"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동시에 관리 범위 확대와 가시성 부족으로 인해 </a:t>
            </a:r>
            <a:r>
              <a:rPr kumimoji="1" lang="ko-KR" altLang="en-US" dirty="0">
                <a:solidFill>
                  <a:srgbClr val="07C6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새로운 형태의 보안 위협을 동반</a:t>
            </a:r>
            <a:endParaRPr kumimoji="1" lang="en-US" altLang="ko-KR" dirty="0">
              <a:solidFill>
                <a:srgbClr val="07C63C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모서리가 둥근 직사각형 36">
            <a:extLst>
              <a:ext uri="{FF2B5EF4-FFF2-40B4-BE49-F238E27FC236}">
                <a16:creationId xmlns:a16="http://schemas.microsoft.com/office/drawing/2014/main" id="{BE49FF5E-E19B-1014-4720-3B59127268E0}"/>
              </a:ext>
            </a:extLst>
          </p:cNvPr>
          <p:cNvSpPr/>
          <p:nvPr/>
        </p:nvSpPr>
        <p:spPr>
          <a:xfrm>
            <a:off x="407988" y="2237098"/>
            <a:ext cx="2172051" cy="4158443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ADDDE9-C6E7-EFCD-3D5C-DE6FBBB9BB38}"/>
              </a:ext>
            </a:extLst>
          </p:cNvPr>
          <p:cNvSpPr txBox="1"/>
          <p:nvPr/>
        </p:nvSpPr>
        <p:spPr>
          <a:xfrm>
            <a:off x="498721" y="2587137"/>
            <a:ext cx="1974593" cy="433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kumimoji="1" lang="ko-KR" altLang="en-US" sz="2100" dirty="0">
                <a:solidFill>
                  <a:srgbClr val="009F0F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기존 위협 계승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7524F-DEFF-DC82-F0A3-C8914F5A915B}"/>
              </a:ext>
            </a:extLst>
          </p:cNvPr>
          <p:cNvSpPr txBox="1"/>
          <p:nvPr/>
        </p:nvSpPr>
        <p:spPr>
          <a:xfrm>
            <a:off x="499716" y="3543150"/>
            <a:ext cx="1980599" cy="52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ore-KR"/>
            </a:defPPr>
            <a:lvl1pPr algn="ctr">
              <a:lnSpc>
                <a:spcPct val="120000"/>
              </a:lnSpc>
              <a:defRPr kumimoji="1" sz="1300">
                <a:solidFill>
                  <a:schemeClr val="tx1">
                    <a:lumMod val="85000"/>
                    <a:lumOff val="15000"/>
                  </a:schemeClr>
                </a:solidFill>
                <a:latin typeface="Paperlogy 4 Regular" pitchFamily="2" charset="-127"/>
                <a:ea typeface="Paperlogy 4 Regular" pitchFamily="2" charset="-127"/>
              </a:defRPr>
            </a:lvl1pPr>
          </a:lstStyle>
          <a:p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기존 </a:t>
            </a:r>
            <a:r>
              <a: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IT</a:t>
            </a:r>
            <a:r>
              <a:rPr lang="ko-KR" altLang="en-US" sz="12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보안 위협이 클라우드에도 그대로 존재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77FAD64-3D86-F278-280E-804F049F70D0}"/>
              </a:ext>
            </a:extLst>
          </p:cNvPr>
          <p:cNvGrpSpPr/>
          <p:nvPr/>
        </p:nvGrpSpPr>
        <p:grpSpPr>
          <a:xfrm>
            <a:off x="2695862" y="2237098"/>
            <a:ext cx="2172051" cy="4158443"/>
            <a:chOff x="3551004" y="2237098"/>
            <a:chExt cx="2172051" cy="4158443"/>
          </a:xfrm>
        </p:grpSpPr>
        <p:sp>
          <p:nvSpPr>
            <p:cNvPr id="5" name="모서리가 둥근 직사각형 41">
              <a:extLst>
                <a:ext uri="{FF2B5EF4-FFF2-40B4-BE49-F238E27FC236}">
                  <a16:creationId xmlns:a16="http://schemas.microsoft.com/office/drawing/2014/main" id="{3CE5868E-B609-F24F-0225-17534554EC3F}"/>
                </a:ext>
              </a:extLst>
            </p:cNvPr>
            <p:cNvSpPr/>
            <p:nvPr/>
          </p:nvSpPr>
          <p:spPr>
            <a:xfrm>
              <a:off x="3551004" y="2237098"/>
              <a:ext cx="2172051" cy="4158443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7F09D349-EA3F-0C8A-B1E6-5D036FF5A0E6}"/>
                </a:ext>
              </a:extLst>
            </p:cNvPr>
            <p:cNvGrpSpPr/>
            <p:nvPr/>
          </p:nvGrpSpPr>
          <p:grpSpPr>
            <a:xfrm>
              <a:off x="3652164" y="2587137"/>
              <a:ext cx="1981594" cy="1478785"/>
              <a:chOff x="3652164" y="2587137"/>
              <a:chExt cx="1981594" cy="1478785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FA3132A-EA59-A2E8-5B55-F84A394EC9B6}"/>
                  </a:ext>
                </a:extLst>
              </p:cNvPr>
              <p:cNvSpPr txBox="1"/>
              <p:nvPr/>
            </p:nvSpPr>
            <p:spPr>
              <a:xfrm>
                <a:off x="3652164" y="2587137"/>
                <a:ext cx="1974593" cy="4335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kumimoji="1" lang="ko-KR" altLang="en-US" sz="2100" dirty="0">
                    <a:solidFill>
                      <a:srgbClr val="009F0F"/>
                    </a:solidFill>
                    <a:latin typeface="NanumSquare ExtraBold" panose="020B0600000101010101" pitchFamily="50" charset="-127"/>
                    <a:ea typeface="NanumSquare ExtraBold" panose="020B0600000101010101" pitchFamily="50" charset="-127"/>
                  </a:rPr>
                  <a:t>공격 표면 확대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0A6CC46-5E65-1454-5A9A-C8B5A3E09835}"/>
                  </a:ext>
                </a:extLst>
              </p:cNvPr>
              <p:cNvSpPr txBox="1"/>
              <p:nvPr/>
            </p:nvSpPr>
            <p:spPr>
              <a:xfrm>
                <a:off x="3653159" y="3543150"/>
                <a:ext cx="1980599" cy="522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ore-KR"/>
                </a:defPPr>
                <a:lvl1pPr algn="ctr">
                  <a:lnSpc>
                    <a:spcPct val="120000"/>
                  </a:lnSpc>
                  <a:defRPr kumimoji="1" sz="120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Paperlogy 3 Light" pitchFamily="2" charset="-127"/>
                    <a:ea typeface="Paperlogy 3 Light" pitchFamily="2" charset="-127"/>
                  </a:defRPr>
                </a:lvl1pPr>
              </a:lstStyle>
              <a:p>
                <a:r>
                  <a:rPr lang="ko-KR" altLang="en-US" dirty="0"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인터넷 기반 접근성으로 공격 경로 급증</a:t>
                </a:r>
                <a:endParaRPr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6C6D41F-B3F4-4DB2-F7B0-976BBE4F2384}"/>
              </a:ext>
            </a:extLst>
          </p:cNvPr>
          <p:cNvGrpSpPr/>
          <p:nvPr/>
        </p:nvGrpSpPr>
        <p:grpSpPr>
          <a:xfrm>
            <a:off x="4983736" y="2237098"/>
            <a:ext cx="2172051" cy="4158443"/>
            <a:chOff x="6320353" y="2237098"/>
            <a:chExt cx="2172051" cy="4158443"/>
          </a:xfrm>
        </p:grpSpPr>
        <p:sp>
          <p:nvSpPr>
            <p:cNvPr id="6" name="모서리가 둥근 직사각형 45">
              <a:extLst>
                <a:ext uri="{FF2B5EF4-FFF2-40B4-BE49-F238E27FC236}">
                  <a16:creationId xmlns:a16="http://schemas.microsoft.com/office/drawing/2014/main" id="{2543AC6C-EAEB-B5F8-A475-01F7F8DDA441}"/>
                </a:ext>
              </a:extLst>
            </p:cNvPr>
            <p:cNvSpPr/>
            <p:nvPr/>
          </p:nvSpPr>
          <p:spPr>
            <a:xfrm>
              <a:off x="6320353" y="2237098"/>
              <a:ext cx="2172051" cy="4158443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1066A74-6809-E71B-AAD8-FB3F174D50F1}"/>
                </a:ext>
              </a:extLst>
            </p:cNvPr>
            <p:cNvSpPr txBox="1"/>
            <p:nvPr/>
          </p:nvSpPr>
          <p:spPr>
            <a:xfrm>
              <a:off x="6422796" y="2587137"/>
              <a:ext cx="1974593" cy="43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2100" dirty="0">
                  <a:solidFill>
                    <a:srgbClr val="009F0F"/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신규 위협 등장</a:t>
              </a:r>
              <a:endParaRPr kumimoji="1" lang="en" altLang="ko-KR" sz="2100" dirty="0">
                <a:solidFill>
                  <a:srgbClr val="009F0F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9D6C0B9-6537-AE8F-9717-F5F75D8323C0}"/>
                </a:ext>
              </a:extLst>
            </p:cNvPr>
            <p:cNvSpPr txBox="1"/>
            <p:nvPr/>
          </p:nvSpPr>
          <p:spPr>
            <a:xfrm>
              <a:off x="6423791" y="3543150"/>
              <a:ext cx="1980599" cy="522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ore-KR"/>
              </a:defPPr>
              <a:lvl1pPr algn="ctr">
                <a:lnSpc>
                  <a:spcPct val="120000"/>
                </a:lnSpc>
                <a:defRPr kumimoji="1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가상화 </a:t>
              </a:r>
              <a:r>
                <a:rPr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· </a:t>
              </a:r>
              <a:r>
                <a:rPr lang="ko-KR" altLang="en-US" dirty="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멀티테넌시로</a:t>
              </a:r>
              <a:r>
                <a: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인한 새로운 취약점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9913DBB-256E-1CAC-1FC4-5455B5D0D0EB}"/>
              </a:ext>
            </a:extLst>
          </p:cNvPr>
          <p:cNvGrpSpPr/>
          <p:nvPr/>
        </p:nvGrpSpPr>
        <p:grpSpPr>
          <a:xfrm>
            <a:off x="7271610" y="2237098"/>
            <a:ext cx="2172051" cy="4158443"/>
            <a:chOff x="9088666" y="2237098"/>
            <a:chExt cx="2172051" cy="4158443"/>
          </a:xfrm>
        </p:grpSpPr>
        <p:sp>
          <p:nvSpPr>
            <p:cNvPr id="8" name="모서리가 둥근 직사각형 50">
              <a:extLst>
                <a:ext uri="{FF2B5EF4-FFF2-40B4-BE49-F238E27FC236}">
                  <a16:creationId xmlns:a16="http://schemas.microsoft.com/office/drawing/2014/main" id="{134ED9E7-DA06-0174-EA54-412CCE4149E3}"/>
                </a:ext>
              </a:extLst>
            </p:cNvPr>
            <p:cNvSpPr/>
            <p:nvPr/>
          </p:nvSpPr>
          <p:spPr>
            <a:xfrm>
              <a:off x="9088666" y="2237098"/>
              <a:ext cx="2172051" cy="4158443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1AD699-6819-9A9C-0EF7-0729124FF3A3}"/>
                </a:ext>
              </a:extLst>
            </p:cNvPr>
            <p:cNvSpPr txBox="1"/>
            <p:nvPr/>
          </p:nvSpPr>
          <p:spPr>
            <a:xfrm>
              <a:off x="9186358" y="2587137"/>
              <a:ext cx="1974593" cy="43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en-US" altLang="ko-KR" sz="2100" dirty="0">
                  <a:solidFill>
                    <a:srgbClr val="009F0F"/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API </a:t>
              </a:r>
              <a:r>
                <a:rPr kumimoji="1" lang="ko-KR" altLang="en-US" sz="2100" dirty="0">
                  <a:solidFill>
                    <a:srgbClr val="009F0F"/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리스크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E94268B-121F-318F-1AF5-4EF56A815D0B}"/>
                </a:ext>
              </a:extLst>
            </p:cNvPr>
            <p:cNvSpPr txBox="1"/>
            <p:nvPr/>
          </p:nvSpPr>
          <p:spPr>
            <a:xfrm>
              <a:off x="9194694" y="3543150"/>
              <a:ext cx="1980599" cy="522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ore-KR"/>
              </a:defPPr>
              <a:lvl1pPr algn="ctr">
                <a:lnSpc>
                  <a:spcPct val="120000"/>
                </a:lnSpc>
                <a:defRPr kumimoji="1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잘못된 </a:t>
              </a:r>
              <a:r>
                <a:rPr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API </a:t>
              </a:r>
              <a:r>
                <a: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호출 </a:t>
              </a:r>
              <a:r>
                <a:rPr lang="en-US" altLang="ko-KR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· </a:t>
              </a:r>
              <a:r>
                <a: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설정이 즉시 사고로 연결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CDF1E273-86C5-1456-1B90-1C645D4A7EEE}"/>
              </a:ext>
            </a:extLst>
          </p:cNvPr>
          <p:cNvGrpSpPr/>
          <p:nvPr/>
        </p:nvGrpSpPr>
        <p:grpSpPr>
          <a:xfrm>
            <a:off x="9559484" y="2237098"/>
            <a:ext cx="2172051" cy="4158443"/>
            <a:chOff x="9088666" y="2237098"/>
            <a:chExt cx="2172051" cy="4158443"/>
          </a:xfrm>
        </p:grpSpPr>
        <p:sp>
          <p:nvSpPr>
            <p:cNvPr id="27" name="모서리가 둥근 직사각형 50">
              <a:extLst>
                <a:ext uri="{FF2B5EF4-FFF2-40B4-BE49-F238E27FC236}">
                  <a16:creationId xmlns:a16="http://schemas.microsoft.com/office/drawing/2014/main" id="{25FF0FE4-D11B-AE89-26D6-1D6FBD16C629}"/>
                </a:ext>
              </a:extLst>
            </p:cNvPr>
            <p:cNvSpPr/>
            <p:nvPr/>
          </p:nvSpPr>
          <p:spPr>
            <a:xfrm>
              <a:off x="9088666" y="2237098"/>
              <a:ext cx="2172051" cy="4158443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7692F41-90DD-350A-9A07-47B1ECB10D7B}"/>
                </a:ext>
              </a:extLst>
            </p:cNvPr>
            <p:cNvSpPr txBox="1"/>
            <p:nvPr/>
          </p:nvSpPr>
          <p:spPr>
            <a:xfrm>
              <a:off x="9186358" y="2587137"/>
              <a:ext cx="1974593" cy="4335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2100" dirty="0">
                  <a:solidFill>
                    <a:srgbClr val="009F0F"/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가시성 한계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CC32DDE-ABA7-B415-EC49-58B619859E32}"/>
                </a:ext>
              </a:extLst>
            </p:cNvPr>
            <p:cNvSpPr txBox="1"/>
            <p:nvPr/>
          </p:nvSpPr>
          <p:spPr>
            <a:xfrm>
              <a:off x="9194694" y="3543150"/>
              <a:ext cx="1980599" cy="522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ore-KR"/>
              </a:defPPr>
              <a:lvl1pPr algn="ctr">
                <a:lnSpc>
                  <a:spcPct val="120000"/>
                </a:lnSpc>
                <a:defRPr kumimoji="1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Paperlogy 3 Light" pitchFamily="2" charset="-127"/>
                  <a:ea typeface="Paperlogy 3 Light" pitchFamily="2" charset="-127"/>
                </a:defRPr>
              </a:lvl1pPr>
            </a:lstStyle>
            <a:p>
              <a:r>
                <a: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물리적 통제 부족과 모니터링 사각지대 존재</a:t>
              </a:r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0D3787B3-6A63-CD78-1CF3-892A53C493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"/>
          </a:blip>
          <a:srcRect l="-4935" t="1" r="4935" b="34731"/>
          <a:stretch/>
        </p:blipFill>
        <p:spPr>
          <a:xfrm>
            <a:off x="2844000" y="5038471"/>
            <a:ext cx="2040877" cy="1332000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920D0C8-B312-4AD6-14C6-5ABD211E95F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"/>
          </a:blip>
          <a:srcRect l="-10744" t="-27635" r="10744" b="27635"/>
          <a:stretch/>
        </p:blipFill>
        <p:spPr>
          <a:xfrm rot="21101745">
            <a:off x="5004000" y="4212000"/>
            <a:ext cx="2056551" cy="2056551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82EDD326-D7A0-0879-878F-2A5D5D2CB18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"/>
          </a:blip>
          <a:srcRect l="-5347" t="-22777" r="5347" b="22777"/>
          <a:stretch/>
        </p:blipFill>
        <p:spPr>
          <a:xfrm>
            <a:off x="7164000" y="4104000"/>
            <a:ext cx="2291368" cy="2291368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D461B6D9-3891-9A92-47F2-EE24B36F95D1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"/>
          </a:blip>
          <a:stretch>
            <a:fillRect/>
          </a:stretch>
        </p:blipFill>
        <p:spPr>
          <a:xfrm>
            <a:off x="9746255" y="4794915"/>
            <a:ext cx="1819111" cy="1819111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373A458F-E78B-707E-02D3-2EC76BB0DC3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2000"/>
          </a:blip>
          <a:srcRect l="2378" t="-17775" r="-2378" b="17775"/>
          <a:stretch/>
        </p:blipFill>
        <p:spPr>
          <a:xfrm rot="21142888">
            <a:off x="588277" y="4284000"/>
            <a:ext cx="2065648" cy="206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386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제목 1">
            <a:extLst>
              <a:ext uri="{FF2B5EF4-FFF2-40B4-BE49-F238E27FC236}">
                <a16:creationId xmlns:a16="http://schemas.microsoft.com/office/drawing/2014/main" id="{AF511264-DEF5-6D9D-DAC6-B412E83C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3.2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속성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4EA5316-6CA2-1F2E-FF5F-0DE93AB9F25C}"/>
              </a:ext>
            </a:extLst>
          </p:cNvPr>
          <p:cNvGrpSpPr/>
          <p:nvPr/>
        </p:nvGrpSpPr>
        <p:grpSpPr>
          <a:xfrm>
            <a:off x="448781" y="1668359"/>
            <a:ext cx="3414969" cy="4352072"/>
            <a:chOff x="448781" y="1668359"/>
            <a:chExt cx="3414969" cy="4352072"/>
          </a:xfrm>
        </p:grpSpPr>
        <p:sp>
          <p:nvSpPr>
            <p:cNvPr id="2" name="모서리가 둥근 직사각형 36">
              <a:extLst>
                <a:ext uri="{FF2B5EF4-FFF2-40B4-BE49-F238E27FC236}">
                  <a16:creationId xmlns:a16="http://schemas.microsoft.com/office/drawing/2014/main" id="{A35BF61D-BF32-87D9-6F87-EDEB1B002C7B}"/>
                </a:ext>
              </a:extLst>
            </p:cNvPr>
            <p:cNvSpPr/>
            <p:nvPr/>
          </p:nvSpPr>
          <p:spPr>
            <a:xfrm>
              <a:off x="448781" y="1668359"/>
              <a:ext cx="3414969" cy="4352072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pic>
          <p:nvPicPr>
            <p:cNvPr id="112" name="Picture 6">
              <a:extLst>
                <a:ext uri="{FF2B5EF4-FFF2-40B4-BE49-F238E27FC236}">
                  <a16:creationId xmlns:a16="http://schemas.microsoft.com/office/drawing/2014/main" id="{9C9574FD-D7AD-90E5-22E3-097FFE8F3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628492" y="2253000"/>
              <a:ext cx="2866339" cy="10495"/>
            </a:xfrm>
            <a:prstGeom prst="rect">
              <a:avLst/>
            </a:prstGeom>
          </p:spPr>
        </p:pic>
        <p:sp>
          <p:nvSpPr>
            <p:cNvPr id="113" name="TextBox 34">
              <a:extLst>
                <a:ext uri="{FF2B5EF4-FFF2-40B4-BE49-F238E27FC236}">
                  <a16:creationId xmlns:a16="http://schemas.microsoft.com/office/drawing/2014/main" id="{1DC88620-886A-B7A8-2EB6-0E74CD7EAED0}"/>
                </a:ext>
              </a:extLst>
            </p:cNvPr>
            <p:cNvSpPr txBox="1"/>
            <p:nvPr/>
          </p:nvSpPr>
          <p:spPr>
            <a:xfrm>
              <a:off x="623392" y="1833995"/>
              <a:ext cx="1618908" cy="303894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l">
                <a:lnSpc>
                  <a:spcPct val="107899"/>
                </a:lnSpc>
              </a:pPr>
              <a:r>
                <a:rPr lang="ko-KR" altLang="en-US" spc="-100" dirty="0">
                  <a:solidFill>
                    <a:srgbClr val="000000"/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  <a:cs typeface="Pretendard Bold"/>
                </a:rPr>
                <a:t>멀티 </a:t>
              </a:r>
              <a:r>
                <a:rPr lang="ko-KR" altLang="en-US" spc="-100" dirty="0" err="1">
                  <a:solidFill>
                    <a:srgbClr val="000000"/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  <a:cs typeface="Pretendard Bold"/>
                </a:rPr>
                <a:t>테넌시</a:t>
              </a:r>
              <a:endParaRPr lang="en-US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endParaRPr>
            </a:p>
          </p:txBody>
        </p:sp>
        <p:sp>
          <p:nvSpPr>
            <p:cNvPr id="126" name="TextBox 17">
              <a:extLst>
                <a:ext uri="{FF2B5EF4-FFF2-40B4-BE49-F238E27FC236}">
                  <a16:creationId xmlns:a16="http://schemas.microsoft.com/office/drawing/2014/main" id="{B110AD2D-17D8-0E6E-03DC-0897F50F9D76}"/>
                </a:ext>
              </a:extLst>
            </p:cNvPr>
            <p:cNvSpPr txBox="1"/>
            <p:nvPr/>
          </p:nvSpPr>
          <p:spPr>
            <a:xfrm>
              <a:off x="623392" y="2378606"/>
              <a:ext cx="3096344" cy="1442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SzPct val="100000"/>
              </a:pP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하나의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물리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자원을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여러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사용자가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가상화로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공유</a:t>
              </a:r>
              <a:endPara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marL="180975" indent="-95250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제공자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: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물리·가상화·인프라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운영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80975" indent="-95250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사용자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: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OS·계정·SW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내부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운영만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수행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80975" indent="-95250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SaaS</a:t>
              </a: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모델의 대중화로 비용 절감과 운영 효율성 증가의 목적으로 인해 고객마다 별도로 운영되는 싱글 </a:t>
              </a:r>
              <a:r>
                <a:rPr lang="ko-KR" altLang="en-US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테넌시</a:t>
              </a: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방식에서 변경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pic>
          <p:nvPicPr>
            <p:cNvPr id="127" name="Picture 4">
              <a:extLst>
                <a:ext uri="{FF2B5EF4-FFF2-40B4-BE49-F238E27FC236}">
                  <a16:creationId xmlns:a16="http://schemas.microsoft.com/office/drawing/2014/main" id="{33F5E224-FC1B-B56B-E569-93FF53C36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1070" y="3964648"/>
              <a:ext cx="3169598" cy="398707"/>
            </a:xfrm>
            <a:prstGeom prst="rect">
              <a:avLst/>
            </a:prstGeom>
          </p:spPr>
        </p:pic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057ACDF-2D35-6661-C0FA-806FCF462392}"/>
                </a:ext>
              </a:extLst>
            </p:cNvPr>
            <p:cNvSpPr txBox="1"/>
            <p:nvPr/>
          </p:nvSpPr>
          <p:spPr>
            <a:xfrm>
              <a:off x="561479" y="4531790"/>
              <a:ext cx="3145279" cy="1219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7313" indent="-87313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통제 실패로 논리적 격리가 유지되지 않을 경우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ko-KR" altLang="en-US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테넌트</a:t>
              </a: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간 자원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및 데이터의 비인가 접근 발생 가능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itchFamily="34" charset="-120"/>
              </a:endParaRPr>
            </a:p>
            <a:p>
              <a:pPr marL="87313" indent="-87313">
                <a:lnSpc>
                  <a:spcPct val="13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데이터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암호화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, 키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관리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, IAM,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접속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이력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모니터링</a:t>
              </a: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이 중요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itchFamily="34" charset="-120"/>
              </a:endParaRPr>
            </a:p>
          </p:txBody>
        </p:sp>
        <p:sp>
          <p:nvSpPr>
            <p:cNvPr id="129" name="TextBox 34">
              <a:extLst>
                <a:ext uri="{FF2B5EF4-FFF2-40B4-BE49-F238E27FC236}">
                  <a16:creationId xmlns:a16="http://schemas.microsoft.com/office/drawing/2014/main" id="{98219B3D-A3DF-0510-B6EF-3DB53666D8B7}"/>
                </a:ext>
              </a:extLst>
            </p:cNvPr>
            <p:cNvSpPr txBox="1"/>
            <p:nvPr/>
          </p:nvSpPr>
          <p:spPr>
            <a:xfrm>
              <a:off x="1608425" y="4050997"/>
              <a:ext cx="1054889" cy="226008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l">
                <a:lnSpc>
                  <a:spcPct val="107899"/>
                </a:lnSpc>
              </a:pPr>
              <a:r>
                <a:rPr lang="ko-KR" altLang="en-US" sz="1400" b="0" i="0" u="none" strike="noStrike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보안 고려사항</a:t>
              </a:r>
              <a:endParaRPr lang="en-US" sz="1400" b="0" i="0" u="none" strike="noStrike" spc="-1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3776235E-4309-6ADA-E63E-B83B9E2180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4748" y="1773929"/>
              <a:ext cx="445654" cy="445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C90C5C-9CF4-BD54-74DD-A3EDF5D9EEA3}"/>
              </a:ext>
            </a:extLst>
          </p:cNvPr>
          <p:cNvGrpSpPr/>
          <p:nvPr/>
        </p:nvGrpSpPr>
        <p:grpSpPr>
          <a:xfrm>
            <a:off x="4388516" y="1668359"/>
            <a:ext cx="3414969" cy="4352072"/>
            <a:chOff x="4362994" y="1668359"/>
            <a:chExt cx="3414969" cy="4352072"/>
          </a:xfrm>
        </p:grpSpPr>
        <p:sp>
          <p:nvSpPr>
            <p:cNvPr id="3" name="모서리가 둥근 직사각형 36">
              <a:extLst>
                <a:ext uri="{FF2B5EF4-FFF2-40B4-BE49-F238E27FC236}">
                  <a16:creationId xmlns:a16="http://schemas.microsoft.com/office/drawing/2014/main" id="{87B91538-89C8-5AF0-F660-613AE22B9B92}"/>
                </a:ext>
              </a:extLst>
            </p:cNvPr>
            <p:cNvSpPr/>
            <p:nvPr/>
          </p:nvSpPr>
          <p:spPr>
            <a:xfrm>
              <a:off x="4362994" y="1668359"/>
              <a:ext cx="3414969" cy="4352072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pic>
          <p:nvPicPr>
            <p:cNvPr id="124" name="Picture 6">
              <a:extLst>
                <a:ext uri="{FF2B5EF4-FFF2-40B4-BE49-F238E27FC236}">
                  <a16:creationId xmlns:a16="http://schemas.microsoft.com/office/drawing/2014/main" id="{E866D7DA-E1A2-25A8-A69D-14FD4A398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4552903" y="2220550"/>
              <a:ext cx="2866339" cy="10495"/>
            </a:xfrm>
            <a:prstGeom prst="rect">
              <a:avLst/>
            </a:prstGeom>
          </p:spPr>
        </p:pic>
        <p:sp>
          <p:nvSpPr>
            <p:cNvPr id="125" name="TextBox 34">
              <a:extLst>
                <a:ext uri="{FF2B5EF4-FFF2-40B4-BE49-F238E27FC236}">
                  <a16:creationId xmlns:a16="http://schemas.microsoft.com/office/drawing/2014/main" id="{F0A9F3D6-D54D-23CF-438B-528078105D98}"/>
                </a:ext>
              </a:extLst>
            </p:cNvPr>
            <p:cNvSpPr txBox="1"/>
            <p:nvPr/>
          </p:nvSpPr>
          <p:spPr>
            <a:xfrm>
              <a:off x="4547803" y="1801545"/>
              <a:ext cx="1618908" cy="303894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l">
                <a:lnSpc>
                  <a:spcPct val="107899"/>
                </a:lnSpc>
              </a:pPr>
              <a:r>
                <a:rPr lang="ko-KR" altLang="en-US" b="0" i="0" u="none" strike="noStrike" spc="-100" dirty="0">
                  <a:solidFill>
                    <a:srgbClr val="000000"/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  <a:cs typeface="Pretendard Bold"/>
                </a:rPr>
                <a:t>접근성</a:t>
              </a:r>
              <a:endParaRPr lang="en-US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endParaRPr>
            </a:p>
          </p:txBody>
        </p:sp>
        <p:pic>
          <p:nvPicPr>
            <p:cNvPr id="130" name="Picture 4">
              <a:extLst>
                <a:ext uri="{FF2B5EF4-FFF2-40B4-BE49-F238E27FC236}">
                  <a16:creationId xmlns:a16="http://schemas.microsoft.com/office/drawing/2014/main" id="{4107BA44-4144-27B7-3E53-EE8F31A21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1824" y="3964648"/>
              <a:ext cx="3169598" cy="398707"/>
            </a:xfrm>
            <a:prstGeom prst="rect">
              <a:avLst/>
            </a:prstGeom>
          </p:spPr>
        </p:pic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06A3CA54-234D-E5C3-3F15-776308834F9D}"/>
                </a:ext>
              </a:extLst>
            </p:cNvPr>
            <p:cNvSpPr txBox="1"/>
            <p:nvPr/>
          </p:nvSpPr>
          <p:spPr>
            <a:xfrm>
              <a:off x="4522233" y="4531790"/>
              <a:ext cx="3145279" cy="14091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7313" indent="-87313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적절한 통제 없이 높은 접근성이 유지될 경우 비인가 접근 및 보안 위험 증가 가능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itchFamily="34" charset="-120"/>
              </a:endParaRPr>
            </a:p>
            <a:p>
              <a:pPr marL="87313" indent="-87313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기존 레거시 방식의 보안 장비 중심 통제는 비용 증가 및 클라우드 장점 저해 우려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itchFamily="34" charset="-120"/>
              </a:endParaRPr>
            </a:p>
            <a:p>
              <a:pPr marL="87313" indent="-87313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초기 설계 단계부터 클라우드 환경에 적합한 접근 통제 및 보안 구조 수립이 중요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itchFamily="34" charset="-120"/>
              </a:endParaRPr>
            </a:p>
          </p:txBody>
        </p:sp>
        <p:sp>
          <p:nvSpPr>
            <p:cNvPr id="132" name="TextBox 34">
              <a:extLst>
                <a:ext uri="{FF2B5EF4-FFF2-40B4-BE49-F238E27FC236}">
                  <a16:creationId xmlns:a16="http://schemas.microsoft.com/office/drawing/2014/main" id="{DDDB730A-8AE3-892F-3C83-7F87B1F87B4C}"/>
                </a:ext>
              </a:extLst>
            </p:cNvPr>
            <p:cNvSpPr txBox="1"/>
            <p:nvPr/>
          </p:nvSpPr>
          <p:spPr>
            <a:xfrm>
              <a:off x="5569179" y="4050997"/>
              <a:ext cx="1054889" cy="226008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l">
                <a:lnSpc>
                  <a:spcPct val="107899"/>
                </a:lnSpc>
              </a:pPr>
              <a:r>
                <a:rPr lang="ko-KR" altLang="en-US" sz="1400" b="0" i="0" u="none" strike="noStrike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보안 고려사항</a:t>
              </a:r>
              <a:endParaRPr lang="en-US" sz="1400" b="0" i="0" u="none" strike="noStrike" spc="-1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138" name="TextBox 17">
              <a:extLst>
                <a:ext uri="{FF2B5EF4-FFF2-40B4-BE49-F238E27FC236}">
                  <a16:creationId xmlns:a16="http://schemas.microsoft.com/office/drawing/2014/main" id="{EAE3E046-1089-2616-D045-5AB08A0DB146}"/>
                </a:ext>
              </a:extLst>
            </p:cNvPr>
            <p:cNvSpPr txBox="1"/>
            <p:nvPr/>
          </p:nvSpPr>
          <p:spPr>
            <a:xfrm>
              <a:off x="4512108" y="2378606"/>
              <a:ext cx="3096344" cy="1442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ct val="120000"/>
                </a:lnSpc>
                <a:buSzPct val="100000"/>
              </a:pP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인터넷을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통해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언제·어디서든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자원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접근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가능</a:t>
              </a:r>
              <a:endPara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marL="180975" indent="-95250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온프레미스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: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경계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방화벽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중심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통제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80975" indent="-95250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클라우드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: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권한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(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인증·인가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)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기반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접근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제어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80975" indent="-95250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디바이스·OS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무관하게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API로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자원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제어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AA8E96E0-57C6-75C4-C5CB-792EE040A1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4112" y="1796950"/>
              <a:ext cx="377433" cy="3774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EC4C1F29-06A6-70CB-5492-4EBAF63BB2FB}"/>
              </a:ext>
            </a:extLst>
          </p:cNvPr>
          <p:cNvGrpSpPr/>
          <p:nvPr/>
        </p:nvGrpSpPr>
        <p:grpSpPr>
          <a:xfrm>
            <a:off x="8328250" y="1668359"/>
            <a:ext cx="3414969" cy="4352072"/>
            <a:chOff x="8277208" y="1668359"/>
            <a:chExt cx="3414969" cy="4352072"/>
          </a:xfrm>
        </p:grpSpPr>
        <p:sp>
          <p:nvSpPr>
            <p:cNvPr id="4" name="모서리가 둥근 직사각형 36">
              <a:extLst>
                <a:ext uri="{FF2B5EF4-FFF2-40B4-BE49-F238E27FC236}">
                  <a16:creationId xmlns:a16="http://schemas.microsoft.com/office/drawing/2014/main" id="{136DF047-57BE-B8FC-0566-CBB039E1D96B}"/>
                </a:ext>
              </a:extLst>
            </p:cNvPr>
            <p:cNvSpPr/>
            <p:nvPr/>
          </p:nvSpPr>
          <p:spPr>
            <a:xfrm>
              <a:off x="8277208" y="1668359"/>
              <a:ext cx="3414969" cy="4352072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pic>
          <p:nvPicPr>
            <p:cNvPr id="119" name="Picture 6">
              <a:extLst>
                <a:ext uri="{FF2B5EF4-FFF2-40B4-BE49-F238E27FC236}">
                  <a16:creationId xmlns:a16="http://schemas.microsoft.com/office/drawing/2014/main" id="{04865AC5-52D5-6E5F-1385-FCBD5E699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alphaModFix amt="20000"/>
            </a:blip>
            <a:stretch>
              <a:fillRect/>
            </a:stretch>
          </p:blipFill>
          <p:spPr>
            <a:xfrm>
              <a:off x="8477315" y="2253000"/>
              <a:ext cx="2866339" cy="10495"/>
            </a:xfrm>
            <a:prstGeom prst="rect">
              <a:avLst/>
            </a:prstGeom>
          </p:spPr>
        </p:pic>
        <p:sp>
          <p:nvSpPr>
            <p:cNvPr id="120" name="TextBox 34">
              <a:extLst>
                <a:ext uri="{FF2B5EF4-FFF2-40B4-BE49-F238E27FC236}">
                  <a16:creationId xmlns:a16="http://schemas.microsoft.com/office/drawing/2014/main" id="{163CE60B-EA6A-041E-59A0-F5A86D2CE1F9}"/>
                </a:ext>
              </a:extLst>
            </p:cNvPr>
            <p:cNvSpPr txBox="1"/>
            <p:nvPr/>
          </p:nvSpPr>
          <p:spPr>
            <a:xfrm>
              <a:off x="8472215" y="1833995"/>
              <a:ext cx="1618908" cy="303894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l">
                <a:lnSpc>
                  <a:spcPct val="107899"/>
                </a:lnSpc>
              </a:pPr>
              <a:r>
                <a:rPr lang="ko-KR" altLang="en-US" b="0" i="0" u="none" strike="noStrike" spc="-100" dirty="0">
                  <a:solidFill>
                    <a:srgbClr val="000000"/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  <a:cs typeface="Pretendard Bold"/>
                </a:rPr>
                <a:t>탄력성</a:t>
              </a:r>
              <a:endParaRPr lang="en-US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endParaRPr>
            </a:p>
          </p:txBody>
        </p:sp>
        <p:pic>
          <p:nvPicPr>
            <p:cNvPr id="133" name="Picture 4">
              <a:extLst>
                <a:ext uri="{FF2B5EF4-FFF2-40B4-BE49-F238E27FC236}">
                  <a16:creationId xmlns:a16="http://schemas.microsoft.com/office/drawing/2014/main" id="{9602171A-BFC2-8196-BDF6-9B0B77C98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9894" y="3964648"/>
              <a:ext cx="3169598" cy="398707"/>
            </a:xfrm>
            <a:prstGeom prst="rect">
              <a:avLst/>
            </a:prstGeom>
          </p:spPr>
        </p:pic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3952D4FD-7376-3418-B5F4-CC1CF2DE27B9}"/>
                </a:ext>
              </a:extLst>
            </p:cNvPr>
            <p:cNvSpPr txBox="1"/>
            <p:nvPr/>
          </p:nvSpPr>
          <p:spPr>
            <a:xfrm>
              <a:off x="8412054" y="4531790"/>
              <a:ext cx="3145279" cy="965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7313" indent="-87313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통제 실패로 자원 생성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·</a:t>
              </a: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변경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·</a:t>
              </a: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삭제 과정이 모니터링되지 않을 경우 보안 설정 누락 발생 가능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itchFamily="34" charset="-120"/>
              </a:endParaRPr>
            </a:p>
            <a:p>
              <a:pPr marL="87313" indent="-87313">
                <a:lnSpc>
                  <a:spcPct val="120000"/>
                </a:lnSpc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자동화 기반 보안 정책 적용 및 점검을 통해 의도치 않은 자원 증가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·</a:t>
              </a:r>
              <a:r>
                <a:rPr lang="ko-KR" altLang="en-US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설정 누락 사전 방지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  <a:cs typeface="Calibri" pitchFamily="34" charset="-120"/>
              </a:endParaRPr>
            </a:p>
          </p:txBody>
        </p:sp>
        <p:sp>
          <p:nvSpPr>
            <p:cNvPr id="135" name="TextBox 34">
              <a:extLst>
                <a:ext uri="{FF2B5EF4-FFF2-40B4-BE49-F238E27FC236}">
                  <a16:creationId xmlns:a16="http://schemas.microsoft.com/office/drawing/2014/main" id="{253AD80D-EB71-839C-BA98-41F94A1CCE65}"/>
                </a:ext>
              </a:extLst>
            </p:cNvPr>
            <p:cNvSpPr txBox="1"/>
            <p:nvPr/>
          </p:nvSpPr>
          <p:spPr>
            <a:xfrm>
              <a:off x="9457249" y="4050997"/>
              <a:ext cx="1054889" cy="226008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l">
                <a:lnSpc>
                  <a:spcPct val="107899"/>
                </a:lnSpc>
              </a:pPr>
              <a:r>
                <a:rPr lang="ko-KR" altLang="en-US" sz="1400" b="0" i="0" u="none" strike="noStrike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보안 고려사항</a:t>
              </a:r>
              <a:endParaRPr lang="en-US" sz="1400" b="0" i="0" u="none" strike="noStrike" spc="-1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139" name="TextBox 17">
              <a:extLst>
                <a:ext uri="{FF2B5EF4-FFF2-40B4-BE49-F238E27FC236}">
                  <a16:creationId xmlns:a16="http://schemas.microsoft.com/office/drawing/2014/main" id="{6D0A6ECC-02B2-B85E-C2C8-CB6DAE09AAA3}"/>
                </a:ext>
              </a:extLst>
            </p:cNvPr>
            <p:cNvSpPr txBox="1"/>
            <p:nvPr/>
          </p:nvSpPr>
          <p:spPr>
            <a:xfrm>
              <a:off x="8399894" y="2378606"/>
              <a:ext cx="3096344" cy="14420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buSzPct val="100000"/>
              </a:pP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자원이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필요에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따라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유연하게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itchFamily="34" charset="-120"/>
                </a:rPr>
                <a:t>생성·변경·삭제</a:t>
              </a:r>
              <a:endPara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 marL="180975" indent="-95250"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Scale-Up/Down: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사양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증설·축소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80975" indent="-95250"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Scale-Out/In: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자원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수량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추가·감소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180975" indent="-95250">
                <a:buSzPct val="100000"/>
                <a:buFont typeface="Arial" panose="020B0604020202020204" pitchFamily="34" charset="0"/>
                <a:buChar char="•"/>
              </a:pP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온프레미스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고정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자원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방식과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근본적</a:t>
              </a:r>
              <a:r>
                <a:rPr lang="en-US" altLang="ko-KR" sz="1200" dirty="0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 </a:t>
              </a:r>
              <a:r>
                <a:rPr lang="en-US" altLang="ko-KR" sz="1200" dirty="0" err="1">
                  <a:latin typeface="나눔스퀘어" panose="020B0600000101010101" pitchFamily="50" charset="-127"/>
                  <a:ea typeface="나눔스퀘어" panose="020B0600000101010101" pitchFamily="50" charset="-127"/>
                  <a:cs typeface="Calibri" pitchFamily="34" charset="-120"/>
                </a:rPr>
                <a:t>차이</a:t>
              </a:r>
              <a:endParaRPr lang="en-US" altLang="ko-KR" sz="12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07A53825-1943-1269-FB0B-D34FAFFA3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37631" y="1815776"/>
              <a:ext cx="358607" cy="3586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5588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3.3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보안 모델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FFEEC4C2-783F-1F36-7684-AA8A083A1D36}"/>
              </a:ext>
            </a:extLst>
          </p:cNvPr>
          <p:cNvGrpSpPr/>
          <p:nvPr/>
        </p:nvGrpSpPr>
        <p:grpSpPr>
          <a:xfrm>
            <a:off x="448781" y="1556792"/>
            <a:ext cx="3414969" cy="4392487"/>
            <a:chOff x="448781" y="1556792"/>
            <a:chExt cx="3414969" cy="4392487"/>
          </a:xfrm>
        </p:grpSpPr>
        <p:sp>
          <p:nvSpPr>
            <p:cNvPr id="75" name="모서리가 둥근 직사각형 36">
              <a:extLst>
                <a:ext uri="{FF2B5EF4-FFF2-40B4-BE49-F238E27FC236}">
                  <a16:creationId xmlns:a16="http://schemas.microsoft.com/office/drawing/2014/main" id="{380F7AFB-6B96-312A-8D69-569F11AA1FC0}"/>
                </a:ext>
              </a:extLst>
            </p:cNvPr>
            <p:cNvSpPr/>
            <p:nvPr/>
          </p:nvSpPr>
          <p:spPr>
            <a:xfrm>
              <a:off x="448781" y="1556792"/>
              <a:ext cx="3414969" cy="4392487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pic>
          <p:nvPicPr>
            <p:cNvPr id="26" name="Picture 4">
              <a:extLst>
                <a:ext uri="{FF2B5EF4-FFF2-40B4-BE49-F238E27FC236}">
                  <a16:creationId xmlns:a16="http://schemas.microsoft.com/office/drawing/2014/main" id="{6381B1CE-C6DF-DE16-6F4A-27FD6B6E1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466" y="4077072"/>
              <a:ext cx="3169598" cy="398707"/>
            </a:xfrm>
            <a:prstGeom prst="rect">
              <a:avLst/>
            </a:prstGeom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0F08560-A06C-BDF5-1A21-2748298BE21F}"/>
                </a:ext>
              </a:extLst>
            </p:cNvPr>
            <p:cNvSpPr txBox="1"/>
            <p:nvPr/>
          </p:nvSpPr>
          <p:spPr>
            <a:xfrm>
              <a:off x="583626" y="4644214"/>
              <a:ext cx="3145279" cy="6924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7313" indent="-87313">
                <a:buFont typeface="Arial" panose="020B0604020202020204" pitchFamily="34" charset="0"/>
                <a:buChar char="•"/>
              </a:pPr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내부자 위협에 취약</a:t>
              </a:r>
              <a:endParaRPr lang="en-US" altLang="ko-KR" sz="1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87313" indent="-87313">
                <a:buFont typeface="Arial" panose="020B0604020202020204" pitchFamily="34" charset="0"/>
                <a:buChar char="•"/>
              </a:pPr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모바일</a:t>
              </a:r>
              <a:r>
                <a:rPr lang="en-US" altLang="ko-KR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원격 환경 대응 한계</a:t>
              </a:r>
              <a:endParaRPr lang="en-US" altLang="ko-KR" sz="13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87313" indent="-87313">
                <a:buFont typeface="Arial" panose="020B0604020202020204" pitchFamily="34" charset="0"/>
                <a:buChar char="•"/>
              </a:pPr>
              <a:r>
                <a:rPr lang="ko-KR" altLang="en-US" sz="13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클라우드 동적 자원 반영 불가</a:t>
              </a:r>
            </a:p>
          </p:txBody>
        </p:sp>
        <p:sp>
          <p:nvSpPr>
            <p:cNvPr id="37" name="TextBox 34">
              <a:extLst>
                <a:ext uri="{FF2B5EF4-FFF2-40B4-BE49-F238E27FC236}">
                  <a16:creationId xmlns:a16="http://schemas.microsoft.com/office/drawing/2014/main" id="{3F26E373-3F0E-2176-0A23-4EF52F999048}"/>
                </a:ext>
              </a:extLst>
            </p:cNvPr>
            <p:cNvSpPr txBox="1"/>
            <p:nvPr/>
          </p:nvSpPr>
          <p:spPr>
            <a:xfrm>
              <a:off x="1542856" y="4163421"/>
              <a:ext cx="1226819" cy="226008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400" b="0" i="0" u="none" strike="noStrike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한계 및 고려사항</a:t>
              </a:r>
              <a:endParaRPr lang="en-US" sz="1400" b="0" i="0" u="none" strike="noStrike" spc="-1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pic>
          <p:nvPicPr>
            <p:cNvPr id="63" name="Picture 4">
              <a:extLst>
                <a:ext uri="{FF2B5EF4-FFF2-40B4-BE49-F238E27FC236}">
                  <a16:creationId xmlns:a16="http://schemas.microsoft.com/office/drawing/2014/main" id="{EBCC49BC-1D8D-CB1C-7582-FD5F9B0A54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466" y="2327936"/>
              <a:ext cx="3169598" cy="398707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826B9EE-7CD1-7495-1508-37C48732EC6E}"/>
                </a:ext>
              </a:extLst>
            </p:cNvPr>
            <p:cNvSpPr txBox="1"/>
            <p:nvPr/>
          </p:nvSpPr>
          <p:spPr>
            <a:xfrm>
              <a:off x="583626" y="2895078"/>
              <a:ext cx="3145279" cy="798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네트워크 경계 명확히 분리</a:t>
              </a:r>
              <a:endPara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내부 진입 후 신뢰 허용</a:t>
              </a:r>
              <a:endPara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kumimoji="1" lang="ko-KR" alt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방화벽</a:t>
              </a:r>
              <a:r>
                <a:rPr kumimoji="1" lang="en-US" altLang="ko-KR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DMZ, </a:t>
              </a:r>
              <a:r>
                <a:rPr kumimoji="1" lang="ko-KR" altLang="en-US" sz="13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내부망</a:t>
              </a:r>
              <a:r>
                <a:rPr kumimoji="1" lang="ko-KR" altLang="en-US" sz="13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다단계 구성</a:t>
              </a:r>
            </a:p>
          </p:txBody>
        </p:sp>
        <p:sp>
          <p:nvSpPr>
            <p:cNvPr id="65" name="TextBox 34">
              <a:extLst>
                <a:ext uri="{FF2B5EF4-FFF2-40B4-BE49-F238E27FC236}">
                  <a16:creationId xmlns:a16="http://schemas.microsoft.com/office/drawing/2014/main" id="{C9187B58-F56B-BBD6-1824-3CE6C034C95C}"/>
                </a:ext>
              </a:extLst>
            </p:cNvPr>
            <p:cNvSpPr txBox="1"/>
            <p:nvPr/>
          </p:nvSpPr>
          <p:spPr>
            <a:xfrm>
              <a:off x="1628821" y="2414285"/>
              <a:ext cx="1054889" cy="226008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400" b="0" i="0" u="none" strike="noStrike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특징</a:t>
              </a:r>
              <a:endParaRPr lang="en-US" sz="1400" b="0" i="0" u="none" strike="noStrike" spc="-1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275AC688-84CF-072B-701E-A8D63E4E228C}"/>
                </a:ext>
              </a:extLst>
            </p:cNvPr>
            <p:cNvGrpSpPr/>
            <p:nvPr/>
          </p:nvGrpSpPr>
          <p:grpSpPr>
            <a:xfrm>
              <a:off x="448781" y="1556793"/>
              <a:ext cx="3414969" cy="461664"/>
              <a:chOff x="448780" y="1484785"/>
              <a:chExt cx="3414969" cy="461664"/>
            </a:xfrm>
          </p:grpSpPr>
          <p:sp>
            <p:nvSpPr>
              <p:cNvPr id="81" name="Shape 1">
                <a:extLst>
                  <a:ext uri="{FF2B5EF4-FFF2-40B4-BE49-F238E27FC236}">
                    <a16:creationId xmlns:a16="http://schemas.microsoft.com/office/drawing/2014/main" id="{475DA800-1881-32D9-9644-8EEAB41BAD59}"/>
                  </a:ext>
                </a:extLst>
              </p:cNvPr>
              <p:cNvSpPr/>
              <p:nvPr/>
            </p:nvSpPr>
            <p:spPr>
              <a:xfrm>
                <a:off x="448781" y="1484785"/>
                <a:ext cx="3414968" cy="461664"/>
              </a:xfrm>
              <a:prstGeom prst="roundRect">
                <a:avLst>
                  <a:gd name="adj" fmla="val 41867"/>
                </a:avLst>
              </a:prstGeom>
              <a:solidFill>
                <a:srgbClr val="009F0F"/>
              </a:solidFill>
              <a:ln w="12700">
                <a:noFill/>
                <a:prstDash val="solid"/>
              </a:ln>
            </p:spPr>
          </p:sp>
          <p:sp>
            <p:nvSpPr>
              <p:cNvPr id="82" name="Shape 2">
                <a:extLst>
                  <a:ext uri="{FF2B5EF4-FFF2-40B4-BE49-F238E27FC236}">
                    <a16:creationId xmlns:a16="http://schemas.microsoft.com/office/drawing/2014/main" id="{CB9B4C0C-5905-2C82-3BCC-C75FB0066346}"/>
                  </a:ext>
                </a:extLst>
              </p:cNvPr>
              <p:cNvSpPr/>
              <p:nvPr/>
            </p:nvSpPr>
            <p:spPr>
              <a:xfrm>
                <a:off x="448780" y="1681786"/>
                <a:ext cx="3414968" cy="264662"/>
              </a:xfrm>
              <a:prstGeom prst="rect">
                <a:avLst/>
              </a:prstGeom>
              <a:solidFill>
                <a:srgbClr val="009F0F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84" name="TextBox 34">
              <a:extLst>
                <a:ext uri="{FF2B5EF4-FFF2-40B4-BE49-F238E27FC236}">
                  <a16:creationId xmlns:a16="http://schemas.microsoft.com/office/drawing/2014/main" id="{A1D2337F-3B44-595A-F688-2BBD74985618}"/>
                </a:ext>
              </a:extLst>
            </p:cNvPr>
            <p:cNvSpPr txBox="1"/>
            <p:nvPr/>
          </p:nvSpPr>
          <p:spPr>
            <a:xfrm>
              <a:off x="1589015" y="1646833"/>
              <a:ext cx="1618908" cy="303894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l">
                <a:lnSpc>
                  <a:spcPct val="107899"/>
                </a:lnSpc>
              </a:pPr>
              <a:endParaRPr lang="en-US" sz="20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775F550-FEB9-6C6B-9288-7739607CBC13}"/>
                </a:ext>
              </a:extLst>
            </p:cNvPr>
            <p:cNvSpPr txBox="1"/>
            <p:nvPr/>
          </p:nvSpPr>
          <p:spPr>
            <a:xfrm>
              <a:off x="775552" y="1597260"/>
              <a:ext cx="2761427" cy="35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600" dirty="0">
                  <a:solidFill>
                    <a:schemeClr val="bg1">
                      <a:lumMod val="9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성벽형 </a:t>
              </a:r>
              <a:r>
                <a:rPr kumimoji="1" lang="en-US" altLang="ko-KR" sz="1600" dirty="0">
                  <a:solidFill>
                    <a:schemeClr val="bg1">
                      <a:lumMod val="9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/ </a:t>
              </a:r>
              <a:r>
                <a:rPr kumimoji="1" lang="ko-KR" altLang="en-US" sz="1600" dirty="0">
                  <a:solidFill>
                    <a:schemeClr val="bg1">
                      <a:lumMod val="9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경계형 보안 모델</a:t>
              </a: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2CDB16CE-3C94-F5F2-87C2-1AE42B897ADF}"/>
              </a:ext>
            </a:extLst>
          </p:cNvPr>
          <p:cNvGrpSpPr/>
          <p:nvPr/>
        </p:nvGrpSpPr>
        <p:grpSpPr>
          <a:xfrm>
            <a:off x="4378569" y="1556792"/>
            <a:ext cx="3427521" cy="4392487"/>
            <a:chOff x="4350442" y="1556792"/>
            <a:chExt cx="3427521" cy="4392487"/>
          </a:xfrm>
        </p:grpSpPr>
        <p:sp>
          <p:nvSpPr>
            <p:cNvPr id="73" name="모서리가 둥근 직사각형 36">
              <a:extLst>
                <a:ext uri="{FF2B5EF4-FFF2-40B4-BE49-F238E27FC236}">
                  <a16:creationId xmlns:a16="http://schemas.microsoft.com/office/drawing/2014/main" id="{9F954C8C-3D38-AE2B-51F0-DA046B85CD5C}"/>
                </a:ext>
              </a:extLst>
            </p:cNvPr>
            <p:cNvSpPr/>
            <p:nvPr/>
          </p:nvSpPr>
          <p:spPr>
            <a:xfrm>
              <a:off x="4362994" y="1556792"/>
              <a:ext cx="3414969" cy="4392487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pic>
          <p:nvPicPr>
            <p:cNvPr id="38" name="Picture 4">
              <a:extLst>
                <a:ext uri="{FF2B5EF4-FFF2-40B4-BE49-F238E27FC236}">
                  <a16:creationId xmlns:a16="http://schemas.microsoft.com/office/drawing/2014/main" id="{1A5CE7E4-E4D7-8445-F01D-B93EC08FB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1824" y="4077072"/>
              <a:ext cx="3169598" cy="398707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BC384C4-5FB2-B0BF-2DE4-03B8C9F42DD2}"/>
                </a:ext>
              </a:extLst>
            </p:cNvPr>
            <p:cNvSpPr txBox="1"/>
            <p:nvPr/>
          </p:nvSpPr>
          <p:spPr>
            <a:xfrm>
              <a:off x="4522233" y="4644214"/>
              <a:ext cx="3145279" cy="5586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  <a:defRPr kumimoji="1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r>
                <a:rPr lang="ko-KR" altLang="en-US" sz="1300" dirty="0"/>
                <a:t>내부 자유로운 </a:t>
              </a:r>
              <a:r>
                <a:rPr lang="ko-KR" altLang="en-US" sz="1300"/>
                <a:t>활용 허용</a:t>
              </a:r>
              <a:endParaRPr lang="en-US" altLang="ko-KR" sz="1300" dirty="0"/>
            </a:p>
            <a:p>
              <a:r>
                <a:rPr lang="ko-KR" altLang="en-US" sz="1300" dirty="0"/>
                <a:t>모든 행위 책임 추적성 필요</a:t>
              </a:r>
            </a:p>
          </p:txBody>
        </p:sp>
        <p:sp>
          <p:nvSpPr>
            <p:cNvPr id="40" name="TextBox 34">
              <a:extLst>
                <a:ext uri="{FF2B5EF4-FFF2-40B4-BE49-F238E27FC236}">
                  <a16:creationId xmlns:a16="http://schemas.microsoft.com/office/drawing/2014/main" id="{481ADD84-ADD3-9B07-CE89-380D3E54A722}"/>
                </a:ext>
              </a:extLst>
            </p:cNvPr>
            <p:cNvSpPr txBox="1"/>
            <p:nvPr/>
          </p:nvSpPr>
          <p:spPr>
            <a:xfrm>
              <a:off x="5516434" y="4163421"/>
              <a:ext cx="1160378" cy="226008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400" b="0" i="0" u="none" strike="noStrike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한계 및 고려사항</a:t>
              </a:r>
              <a:endParaRPr lang="en-US" altLang="ko-KR" sz="1400" b="0" i="0" u="none" strike="noStrike" spc="-1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pic>
          <p:nvPicPr>
            <p:cNvPr id="66" name="Picture 4">
              <a:extLst>
                <a:ext uri="{FF2B5EF4-FFF2-40B4-BE49-F238E27FC236}">
                  <a16:creationId xmlns:a16="http://schemas.microsoft.com/office/drawing/2014/main" id="{C0F2C04C-7399-05A9-57C7-80A20B266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1824" y="2327936"/>
              <a:ext cx="3169598" cy="398707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0F4BB41-E0F0-D327-E8E9-5ECC10C6C819}"/>
                </a:ext>
              </a:extLst>
            </p:cNvPr>
            <p:cNvSpPr txBox="1"/>
            <p:nvPr/>
          </p:nvSpPr>
          <p:spPr>
            <a:xfrm>
              <a:off x="4522233" y="2895078"/>
              <a:ext cx="3145279" cy="7986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  <a:defRPr kumimoji="1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r>
                <a:rPr lang="ko-KR" altLang="en-US" sz="1300" dirty="0"/>
                <a:t>접속 시마다 인증 및 </a:t>
              </a:r>
              <a:r>
                <a:rPr lang="ko-KR" altLang="en-US" sz="1300"/>
                <a:t>권한 검증</a:t>
              </a:r>
              <a:endParaRPr lang="en-US" altLang="ko-KR" sz="1300" dirty="0"/>
            </a:p>
            <a:p>
              <a:r>
                <a:rPr lang="ko-KR" altLang="en-US" sz="1300"/>
                <a:t>인바운드</a:t>
              </a:r>
              <a:r>
                <a:rPr lang="en-US" altLang="ko-KR" sz="1300" dirty="0"/>
                <a:t>, </a:t>
              </a:r>
              <a:r>
                <a:rPr lang="ko-KR" altLang="en-US" sz="1300" dirty="0" err="1"/>
                <a:t>아웃바운드</a:t>
              </a:r>
              <a:r>
                <a:rPr lang="ko-KR" altLang="en-US" sz="1300" dirty="0"/>
                <a:t> </a:t>
              </a:r>
              <a:r>
                <a:rPr lang="ko-KR" altLang="en-US" sz="1300"/>
                <a:t>모두 통제</a:t>
              </a:r>
              <a:endParaRPr lang="en-US" altLang="ko-KR" sz="1300" dirty="0"/>
            </a:p>
            <a:p>
              <a:r>
                <a:rPr lang="ko-KR" altLang="en-US" sz="1300" dirty="0"/>
                <a:t>다중 </a:t>
              </a:r>
              <a:r>
                <a:rPr lang="ko-KR" altLang="en-US" sz="1300"/>
                <a:t>요소 인증</a:t>
              </a:r>
              <a:r>
                <a:rPr lang="en-US" altLang="ko-KR" sz="1300" dirty="0"/>
                <a:t>(MFA) </a:t>
              </a:r>
              <a:r>
                <a:rPr lang="ko-KR" altLang="en-US" sz="1300" dirty="0"/>
                <a:t>강화</a:t>
              </a:r>
            </a:p>
          </p:txBody>
        </p:sp>
        <p:sp>
          <p:nvSpPr>
            <p:cNvPr id="68" name="TextBox 34">
              <a:extLst>
                <a:ext uri="{FF2B5EF4-FFF2-40B4-BE49-F238E27FC236}">
                  <a16:creationId xmlns:a16="http://schemas.microsoft.com/office/drawing/2014/main" id="{9A9DF4B1-EE80-62A3-59E7-3BD3ED45CB12}"/>
                </a:ext>
              </a:extLst>
            </p:cNvPr>
            <p:cNvSpPr txBox="1"/>
            <p:nvPr/>
          </p:nvSpPr>
          <p:spPr>
            <a:xfrm>
              <a:off x="5569179" y="2414285"/>
              <a:ext cx="1054889" cy="226008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400" b="0" i="0" u="none" strike="noStrike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특징</a:t>
              </a:r>
              <a:endParaRPr lang="en-US" sz="1400" b="0" i="0" u="none" strike="noStrike" spc="-1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1521B7FA-1C08-01DD-F644-1B6E5EE5FB87}"/>
                </a:ext>
              </a:extLst>
            </p:cNvPr>
            <p:cNvGrpSpPr/>
            <p:nvPr/>
          </p:nvGrpSpPr>
          <p:grpSpPr>
            <a:xfrm>
              <a:off x="4350442" y="1556793"/>
              <a:ext cx="3414969" cy="461664"/>
              <a:chOff x="448780" y="1484785"/>
              <a:chExt cx="3414969" cy="461664"/>
            </a:xfrm>
          </p:grpSpPr>
          <p:sp>
            <p:nvSpPr>
              <p:cNvPr id="87" name="Shape 1">
                <a:extLst>
                  <a:ext uri="{FF2B5EF4-FFF2-40B4-BE49-F238E27FC236}">
                    <a16:creationId xmlns:a16="http://schemas.microsoft.com/office/drawing/2014/main" id="{C3197F47-8A60-E5E0-8B36-CDD991574DF9}"/>
                  </a:ext>
                </a:extLst>
              </p:cNvPr>
              <p:cNvSpPr/>
              <p:nvPr/>
            </p:nvSpPr>
            <p:spPr>
              <a:xfrm>
                <a:off x="448781" y="1484785"/>
                <a:ext cx="3414968" cy="461664"/>
              </a:xfrm>
              <a:prstGeom prst="roundRect">
                <a:avLst>
                  <a:gd name="adj" fmla="val 41867"/>
                </a:avLst>
              </a:prstGeom>
              <a:solidFill>
                <a:srgbClr val="009F0F"/>
              </a:solidFill>
              <a:ln w="12700">
                <a:noFill/>
                <a:prstDash val="solid"/>
              </a:ln>
            </p:spPr>
          </p:sp>
          <p:sp>
            <p:nvSpPr>
              <p:cNvPr id="88" name="Shape 2">
                <a:extLst>
                  <a:ext uri="{FF2B5EF4-FFF2-40B4-BE49-F238E27FC236}">
                    <a16:creationId xmlns:a16="http://schemas.microsoft.com/office/drawing/2014/main" id="{9A00A956-6199-85A1-0639-7B1CF3F11FAF}"/>
                  </a:ext>
                </a:extLst>
              </p:cNvPr>
              <p:cNvSpPr/>
              <p:nvPr/>
            </p:nvSpPr>
            <p:spPr>
              <a:xfrm>
                <a:off x="448780" y="1681786"/>
                <a:ext cx="3414968" cy="264662"/>
              </a:xfrm>
              <a:prstGeom prst="rect">
                <a:avLst/>
              </a:prstGeom>
              <a:solidFill>
                <a:srgbClr val="009F0F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89" name="TextBox 34">
              <a:extLst>
                <a:ext uri="{FF2B5EF4-FFF2-40B4-BE49-F238E27FC236}">
                  <a16:creationId xmlns:a16="http://schemas.microsoft.com/office/drawing/2014/main" id="{65C8CA7D-967D-8D33-5DA0-DA771387F6DB}"/>
                </a:ext>
              </a:extLst>
            </p:cNvPr>
            <p:cNvSpPr txBox="1"/>
            <p:nvPr/>
          </p:nvSpPr>
          <p:spPr>
            <a:xfrm>
              <a:off x="5490676" y="1646833"/>
              <a:ext cx="1618908" cy="303894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l">
                <a:lnSpc>
                  <a:spcPct val="107899"/>
                </a:lnSpc>
              </a:pPr>
              <a:endParaRPr lang="en-US" sz="20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DAFE7CA4-4014-A386-B81E-C313AFEFCCBE}"/>
                </a:ext>
              </a:extLst>
            </p:cNvPr>
            <p:cNvSpPr txBox="1"/>
            <p:nvPr/>
          </p:nvSpPr>
          <p:spPr>
            <a:xfrm>
              <a:off x="4677213" y="1597260"/>
              <a:ext cx="2761427" cy="35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600" dirty="0">
                  <a:solidFill>
                    <a:schemeClr val="bg1">
                      <a:lumMod val="9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공항형 보안 모델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0CD4C831-3225-B79E-9737-4446C735638E}"/>
              </a:ext>
            </a:extLst>
          </p:cNvPr>
          <p:cNvGrpSpPr/>
          <p:nvPr/>
        </p:nvGrpSpPr>
        <p:grpSpPr>
          <a:xfrm>
            <a:off x="8320909" y="1556792"/>
            <a:ext cx="3414969" cy="4392487"/>
            <a:chOff x="8277208" y="1556792"/>
            <a:chExt cx="3414969" cy="4392487"/>
          </a:xfrm>
        </p:grpSpPr>
        <p:sp>
          <p:nvSpPr>
            <p:cNvPr id="74" name="모서리가 둥근 직사각형 36">
              <a:extLst>
                <a:ext uri="{FF2B5EF4-FFF2-40B4-BE49-F238E27FC236}">
                  <a16:creationId xmlns:a16="http://schemas.microsoft.com/office/drawing/2014/main" id="{1B654A4D-F9F7-E011-1649-AD1E2C98E2EE}"/>
                </a:ext>
              </a:extLst>
            </p:cNvPr>
            <p:cNvSpPr/>
            <p:nvPr/>
          </p:nvSpPr>
          <p:spPr>
            <a:xfrm>
              <a:off x="8277208" y="1556792"/>
              <a:ext cx="3414969" cy="4392487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pic>
          <p:nvPicPr>
            <p:cNvPr id="41" name="Picture 4">
              <a:extLst>
                <a:ext uri="{FF2B5EF4-FFF2-40B4-BE49-F238E27FC236}">
                  <a16:creationId xmlns:a16="http://schemas.microsoft.com/office/drawing/2014/main" id="{7CAE8E61-2C98-BF93-3628-1F300730A5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9894" y="4077072"/>
              <a:ext cx="3169598" cy="398707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67FD71B3-B4BA-BD08-DF7E-FE8AA8DC26EC}"/>
                </a:ext>
              </a:extLst>
            </p:cNvPr>
            <p:cNvSpPr txBox="1"/>
            <p:nvPr/>
          </p:nvSpPr>
          <p:spPr>
            <a:xfrm>
              <a:off x="8412054" y="4644214"/>
              <a:ext cx="3145279" cy="5586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  <a:defRPr kumimoji="1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r>
                <a:rPr lang="ko-KR" altLang="en-US" sz="1300" dirty="0"/>
                <a:t>구현 </a:t>
              </a:r>
              <a:r>
                <a:rPr lang="ko-KR" altLang="en-US" sz="1300"/>
                <a:t>복잡성 높음</a:t>
              </a:r>
              <a:endParaRPr lang="en-US" altLang="ko-KR" sz="1300" dirty="0"/>
            </a:p>
            <a:p>
              <a:r>
                <a:rPr lang="en-US" altLang="ko-KR" sz="1300"/>
                <a:t>VPN </a:t>
              </a:r>
              <a:r>
                <a:rPr lang="ko-KR" altLang="en-US" sz="1300"/>
                <a:t>의존</a:t>
              </a:r>
              <a:r>
                <a:rPr lang="en-US" altLang="ko-KR" sz="1300" dirty="0"/>
                <a:t> </a:t>
              </a:r>
              <a:r>
                <a:rPr lang="ko-KR" altLang="en-US" sz="1300"/>
                <a:t>탈피 필요</a:t>
              </a:r>
              <a:endParaRPr lang="en-US" altLang="ko-KR" sz="1300" dirty="0"/>
            </a:p>
          </p:txBody>
        </p:sp>
        <p:sp>
          <p:nvSpPr>
            <p:cNvPr id="43" name="TextBox 34">
              <a:extLst>
                <a:ext uri="{FF2B5EF4-FFF2-40B4-BE49-F238E27FC236}">
                  <a16:creationId xmlns:a16="http://schemas.microsoft.com/office/drawing/2014/main" id="{BB4EFF81-E1AB-3C6C-E50C-DAF1D03F2C34}"/>
                </a:ext>
              </a:extLst>
            </p:cNvPr>
            <p:cNvSpPr txBox="1"/>
            <p:nvPr/>
          </p:nvSpPr>
          <p:spPr>
            <a:xfrm>
              <a:off x="9404504" y="4163421"/>
              <a:ext cx="1160378" cy="226008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400" b="0" i="0" u="none" strike="noStrike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한계 및 고려사항</a:t>
              </a:r>
              <a:endParaRPr lang="en-US" altLang="ko-KR" sz="1400" b="0" i="0" u="none" strike="noStrike" spc="-1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pic>
          <p:nvPicPr>
            <p:cNvPr id="69" name="Picture 4">
              <a:extLst>
                <a:ext uri="{FF2B5EF4-FFF2-40B4-BE49-F238E27FC236}">
                  <a16:creationId xmlns:a16="http://schemas.microsoft.com/office/drawing/2014/main" id="{3DEE001A-1FF7-A2C7-4623-04B29473DA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99894" y="2327936"/>
              <a:ext cx="3169598" cy="398707"/>
            </a:xfrm>
            <a:prstGeom prst="rect">
              <a:avLst/>
            </a:prstGeom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6EE9632-CD2A-4026-96CF-A443737CA273}"/>
                </a:ext>
              </a:extLst>
            </p:cNvPr>
            <p:cNvSpPr txBox="1"/>
            <p:nvPr/>
          </p:nvSpPr>
          <p:spPr>
            <a:xfrm>
              <a:off x="8412054" y="2895078"/>
              <a:ext cx="3145279" cy="10387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87313" indent="-87313">
                <a:lnSpc>
                  <a:spcPct val="120000"/>
                </a:lnSpc>
                <a:buFont typeface="Arial" panose="020B0604020202020204" pitchFamily="34" charset="0"/>
                <a:buChar char="•"/>
                <a:defRPr kumimoji="1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defRPr>
              </a:lvl1pPr>
            </a:lstStyle>
            <a:p>
              <a:r>
                <a:rPr lang="ko-KR" altLang="en-US" sz="1300" dirty="0"/>
                <a:t>접속 위치 무관 </a:t>
              </a:r>
              <a:r>
                <a:rPr lang="ko-KR" altLang="en-US" sz="1300"/>
                <a:t>자격증명 기반</a:t>
              </a:r>
              <a:endParaRPr lang="en-US" altLang="ko-KR" sz="1300" dirty="0"/>
            </a:p>
            <a:p>
              <a:r>
                <a:rPr lang="ko-KR" altLang="en-US" sz="1300" dirty="0"/>
                <a:t>최소 권한 원칙 </a:t>
              </a:r>
              <a:r>
                <a:rPr lang="ko-KR" altLang="en-US" sz="1300"/>
                <a:t>상시 적용</a:t>
              </a:r>
              <a:endParaRPr lang="en-US" altLang="ko-KR" sz="1300" dirty="0"/>
            </a:p>
            <a:p>
              <a:r>
                <a:rPr lang="ko-KR" altLang="en-US" sz="1300"/>
                <a:t>마이크로 세그멘테이션</a:t>
              </a:r>
              <a:endParaRPr lang="en-US" altLang="ko-KR" sz="1300" dirty="0"/>
            </a:p>
            <a:p>
              <a:r>
                <a:rPr lang="ko-KR" altLang="en-US" sz="1300" dirty="0"/>
                <a:t>모든 </a:t>
              </a:r>
              <a:r>
                <a:rPr lang="ko-KR" altLang="en-US" sz="1300"/>
                <a:t>접근 로깅</a:t>
              </a:r>
              <a:r>
                <a:rPr lang="en-US" altLang="ko-KR" sz="1300"/>
                <a:t>, </a:t>
              </a:r>
              <a:r>
                <a:rPr lang="ko-KR" altLang="en-US" sz="1300"/>
                <a:t>감사</a:t>
              </a:r>
              <a:endParaRPr lang="en-US" altLang="ko-KR" sz="1300" dirty="0"/>
            </a:p>
          </p:txBody>
        </p:sp>
        <p:sp>
          <p:nvSpPr>
            <p:cNvPr id="71" name="TextBox 34">
              <a:extLst>
                <a:ext uri="{FF2B5EF4-FFF2-40B4-BE49-F238E27FC236}">
                  <a16:creationId xmlns:a16="http://schemas.microsoft.com/office/drawing/2014/main" id="{5AC9FCF6-945B-CE6B-8635-750761CADFF8}"/>
                </a:ext>
              </a:extLst>
            </p:cNvPr>
            <p:cNvSpPr txBox="1"/>
            <p:nvPr/>
          </p:nvSpPr>
          <p:spPr>
            <a:xfrm>
              <a:off x="9457249" y="2414285"/>
              <a:ext cx="1054889" cy="226008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400" b="0" i="0" u="none" strike="noStrike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특징</a:t>
              </a:r>
              <a:endParaRPr lang="en-US" altLang="ko-KR" sz="1400" b="0" i="0" u="none" strike="noStrike" spc="-1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grpSp>
          <p:nvGrpSpPr>
            <p:cNvPr id="91" name="그룹 90">
              <a:extLst>
                <a:ext uri="{FF2B5EF4-FFF2-40B4-BE49-F238E27FC236}">
                  <a16:creationId xmlns:a16="http://schemas.microsoft.com/office/drawing/2014/main" id="{0F750D15-0F13-7014-5294-049496DC644E}"/>
                </a:ext>
              </a:extLst>
            </p:cNvPr>
            <p:cNvGrpSpPr/>
            <p:nvPr/>
          </p:nvGrpSpPr>
          <p:grpSpPr>
            <a:xfrm>
              <a:off x="8277208" y="1556793"/>
              <a:ext cx="3414969" cy="461664"/>
              <a:chOff x="448780" y="1484785"/>
              <a:chExt cx="3414969" cy="461664"/>
            </a:xfrm>
          </p:grpSpPr>
          <p:sp>
            <p:nvSpPr>
              <p:cNvPr id="92" name="Shape 1">
                <a:extLst>
                  <a:ext uri="{FF2B5EF4-FFF2-40B4-BE49-F238E27FC236}">
                    <a16:creationId xmlns:a16="http://schemas.microsoft.com/office/drawing/2014/main" id="{8D4F21A8-5044-4A11-D66F-0325AD7E17E0}"/>
                  </a:ext>
                </a:extLst>
              </p:cNvPr>
              <p:cNvSpPr/>
              <p:nvPr/>
            </p:nvSpPr>
            <p:spPr>
              <a:xfrm>
                <a:off x="448781" y="1484785"/>
                <a:ext cx="3414968" cy="461664"/>
              </a:xfrm>
              <a:prstGeom prst="roundRect">
                <a:avLst>
                  <a:gd name="adj" fmla="val 41867"/>
                </a:avLst>
              </a:prstGeom>
              <a:solidFill>
                <a:srgbClr val="009F0F"/>
              </a:solidFill>
              <a:ln w="12700">
                <a:noFill/>
                <a:prstDash val="solid"/>
              </a:ln>
            </p:spPr>
          </p:sp>
          <p:sp>
            <p:nvSpPr>
              <p:cNvPr id="93" name="Shape 2">
                <a:extLst>
                  <a:ext uri="{FF2B5EF4-FFF2-40B4-BE49-F238E27FC236}">
                    <a16:creationId xmlns:a16="http://schemas.microsoft.com/office/drawing/2014/main" id="{EF11C890-BF80-064D-1DDE-E14575DE55E3}"/>
                  </a:ext>
                </a:extLst>
              </p:cNvPr>
              <p:cNvSpPr/>
              <p:nvPr/>
            </p:nvSpPr>
            <p:spPr>
              <a:xfrm>
                <a:off x="448780" y="1681786"/>
                <a:ext cx="3414968" cy="264662"/>
              </a:xfrm>
              <a:prstGeom prst="rect">
                <a:avLst/>
              </a:prstGeom>
              <a:solidFill>
                <a:srgbClr val="009F0F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</p:grpSp>
        <p:sp>
          <p:nvSpPr>
            <p:cNvPr id="94" name="TextBox 34">
              <a:extLst>
                <a:ext uri="{FF2B5EF4-FFF2-40B4-BE49-F238E27FC236}">
                  <a16:creationId xmlns:a16="http://schemas.microsoft.com/office/drawing/2014/main" id="{4C87AA1E-8942-8EF4-3E19-F562A8A2C538}"/>
                </a:ext>
              </a:extLst>
            </p:cNvPr>
            <p:cNvSpPr txBox="1"/>
            <p:nvPr/>
          </p:nvSpPr>
          <p:spPr>
            <a:xfrm>
              <a:off x="9417442" y="1646833"/>
              <a:ext cx="1618908" cy="303894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l">
                <a:lnSpc>
                  <a:spcPct val="107899"/>
                </a:lnSpc>
              </a:pPr>
              <a:endParaRPr lang="en-US" sz="20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1D4658A-1C63-1296-6106-D19925C503FA}"/>
                </a:ext>
              </a:extLst>
            </p:cNvPr>
            <p:cNvSpPr txBox="1"/>
            <p:nvPr/>
          </p:nvSpPr>
          <p:spPr>
            <a:xfrm>
              <a:off x="8603979" y="1597260"/>
              <a:ext cx="2761427" cy="352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600" dirty="0">
                  <a:solidFill>
                    <a:schemeClr val="bg1">
                      <a:lumMod val="9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제로 트러스트 모델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4246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3.4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보안 핵심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요소</a:t>
            </a:r>
          </a:p>
        </p:txBody>
      </p:sp>
      <p:sp>
        <p:nvSpPr>
          <p:cNvPr id="106" name="TextBox 19">
            <a:extLst>
              <a:ext uri="{FF2B5EF4-FFF2-40B4-BE49-F238E27FC236}">
                <a16:creationId xmlns:a16="http://schemas.microsoft.com/office/drawing/2014/main" id="{E7BA54DB-A248-EAA7-CD55-D063D869F0E7}"/>
              </a:ext>
            </a:extLst>
          </p:cNvPr>
          <p:cNvSpPr txBox="1"/>
          <p:nvPr/>
        </p:nvSpPr>
        <p:spPr>
          <a:xfrm>
            <a:off x="3296983" y="1538295"/>
            <a:ext cx="1867225" cy="251227"/>
          </a:xfrm>
          <a:prstGeom prst="rect">
            <a:avLst/>
          </a:prstGeom>
        </p:spPr>
        <p:txBody>
          <a:bodyPr lIns="0" tIns="9053" rIns="0" bIns="9053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426" spc="-53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핵심 목표</a:t>
            </a:r>
            <a:endParaRPr lang="en-US" sz="1426" spc="-53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07" name="TextBox 20">
            <a:extLst>
              <a:ext uri="{FF2B5EF4-FFF2-40B4-BE49-F238E27FC236}">
                <a16:creationId xmlns:a16="http://schemas.microsoft.com/office/drawing/2014/main" id="{0A3D92F9-FE8D-633D-AAC0-624800BC6C68}"/>
              </a:ext>
            </a:extLst>
          </p:cNvPr>
          <p:cNvSpPr txBox="1"/>
          <p:nvPr/>
        </p:nvSpPr>
        <p:spPr>
          <a:xfrm>
            <a:off x="5829620" y="1538295"/>
            <a:ext cx="1867225" cy="251227"/>
          </a:xfrm>
          <a:prstGeom prst="rect">
            <a:avLst/>
          </a:prstGeom>
        </p:spPr>
        <p:txBody>
          <a:bodyPr lIns="0" tIns="9053" rIns="0" bIns="9053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426" spc="-53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주요 기술 및 방법</a:t>
            </a:r>
            <a:endParaRPr lang="en-US" sz="1426" spc="-53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08" name="TextBox 21">
            <a:extLst>
              <a:ext uri="{FF2B5EF4-FFF2-40B4-BE49-F238E27FC236}">
                <a16:creationId xmlns:a16="http://schemas.microsoft.com/office/drawing/2014/main" id="{B04A75FB-4395-FC64-11FB-3AA3C902E543}"/>
              </a:ext>
            </a:extLst>
          </p:cNvPr>
          <p:cNvSpPr txBox="1"/>
          <p:nvPr/>
        </p:nvSpPr>
        <p:spPr>
          <a:xfrm>
            <a:off x="8416576" y="1538295"/>
            <a:ext cx="1867225" cy="251227"/>
          </a:xfrm>
          <a:prstGeom prst="rect">
            <a:avLst/>
          </a:prstGeom>
        </p:spPr>
        <p:txBody>
          <a:bodyPr lIns="0" tIns="9053" rIns="0" bIns="9053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426" spc="-53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위험 수준</a:t>
            </a:r>
            <a:endParaRPr lang="en-US" sz="1426" spc="-53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949CAAC-239F-E82A-A95E-89E1DC123F88}"/>
              </a:ext>
            </a:extLst>
          </p:cNvPr>
          <p:cNvGrpSpPr/>
          <p:nvPr/>
        </p:nvGrpSpPr>
        <p:grpSpPr>
          <a:xfrm>
            <a:off x="1131005" y="1937666"/>
            <a:ext cx="9501498" cy="790098"/>
            <a:chOff x="1131005" y="1823366"/>
            <a:chExt cx="9501498" cy="790098"/>
          </a:xfrm>
        </p:grpSpPr>
        <p:sp>
          <p:nvSpPr>
            <p:cNvPr id="135" name="모서리가 둥근 직사각형 36">
              <a:extLst>
                <a:ext uri="{FF2B5EF4-FFF2-40B4-BE49-F238E27FC236}">
                  <a16:creationId xmlns:a16="http://schemas.microsoft.com/office/drawing/2014/main" id="{BBF97D5F-FF39-2778-5604-E2C8CA27CE4E}"/>
                </a:ext>
              </a:extLst>
            </p:cNvPr>
            <p:cNvSpPr/>
            <p:nvPr/>
          </p:nvSpPr>
          <p:spPr>
            <a:xfrm>
              <a:off x="1131005" y="1829540"/>
              <a:ext cx="1561678" cy="777750"/>
            </a:xfrm>
            <a:prstGeom prst="roundRect">
              <a:avLst>
                <a:gd name="adj" fmla="val 12422"/>
              </a:avLst>
            </a:prstGeom>
            <a:solidFill>
              <a:srgbClr val="009F0F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29" name="모서리가 둥근 직사각형 36">
              <a:extLst>
                <a:ext uri="{FF2B5EF4-FFF2-40B4-BE49-F238E27FC236}">
                  <a16:creationId xmlns:a16="http://schemas.microsoft.com/office/drawing/2014/main" id="{785E18BD-DE66-CCF1-7D23-7C0716681CBC}"/>
                </a:ext>
              </a:extLst>
            </p:cNvPr>
            <p:cNvSpPr/>
            <p:nvPr/>
          </p:nvSpPr>
          <p:spPr>
            <a:xfrm>
              <a:off x="2855640" y="1823366"/>
              <a:ext cx="7776863" cy="790098"/>
            </a:xfrm>
            <a:prstGeom prst="roundRect">
              <a:avLst>
                <a:gd name="adj" fmla="val 12614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pic>
          <p:nvPicPr>
            <p:cNvPr id="98" name="Picture 11">
              <a:extLst>
                <a:ext uri="{FF2B5EF4-FFF2-40B4-BE49-F238E27FC236}">
                  <a16:creationId xmlns:a16="http://schemas.microsoft.com/office/drawing/2014/main" id="{B6ABB3AD-ACE6-5EED-20EF-99102A02AC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 rot="5400000">
              <a:off x="5164208" y="2211623"/>
              <a:ext cx="583933" cy="13580"/>
            </a:xfrm>
            <a:prstGeom prst="rect">
              <a:avLst/>
            </a:prstGeom>
          </p:spPr>
        </p:pic>
        <p:pic>
          <p:nvPicPr>
            <p:cNvPr id="99" name="Picture 12">
              <a:extLst>
                <a:ext uri="{FF2B5EF4-FFF2-40B4-BE49-F238E27FC236}">
                  <a16:creationId xmlns:a16="http://schemas.microsoft.com/office/drawing/2014/main" id="{600B5D35-A9C3-0B50-B90A-8F82F93967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 rot="5400000">
              <a:off x="7778324" y="2211623"/>
              <a:ext cx="583933" cy="13580"/>
            </a:xfrm>
            <a:prstGeom prst="rect">
              <a:avLst/>
            </a:prstGeom>
          </p:spPr>
        </p:pic>
        <p:sp>
          <p:nvSpPr>
            <p:cNvPr id="109" name="TextBox 22">
              <a:extLst>
                <a:ext uri="{FF2B5EF4-FFF2-40B4-BE49-F238E27FC236}">
                  <a16:creationId xmlns:a16="http://schemas.microsoft.com/office/drawing/2014/main" id="{BC653205-3B32-FDCD-76B9-F5131768657F}"/>
                </a:ext>
              </a:extLst>
            </p:cNvPr>
            <p:cNvSpPr txBox="1"/>
            <p:nvPr/>
          </p:nvSpPr>
          <p:spPr>
            <a:xfrm>
              <a:off x="1239641" y="2096196"/>
              <a:ext cx="1337613" cy="251227"/>
            </a:xfrm>
            <a:prstGeom prst="rect">
              <a:avLst/>
            </a:prstGeom>
          </p:spPr>
          <p:txBody>
            <a:bodyPr lIns="0" tIns="9053" rIns="0" bIns="9053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430" spc="-100" dirty="0">
                  <a:solidFill>
                    <a:schemeClr val="bg1">
                      <a:lumMod val="9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Nirmala Text" panose="020B0502040204020203" pitchFamily="34" charset="0"/>
                </a:rPr>
                <a:t>계정 및 접근 관리</a:t>
              </a:r>
              <a:endParaRPr lang="en-US" altLang="ko-KR" sz="1430" b="0" i="0" u="none" strike="noStrike" spc="-1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endParaRPr>
            </a:p>
          </p:txBody>
        </p:sp>
        <p:sp>
          <p:nvSpPr>
            <p:cNvPr id="110" name="TextBox 23">
              <a:extLst>
                <a:ext uri="{FF2B5EF4-FFF2-40B4-BE49-F238E27FC236}">
                  <a16:creationId xmlns:a16="http://schemas.microsoft.com/office/drawing/2014/main" id="{833CCBF9-B734-0029-A245-C088758FBE6B}"/>
                </a:ext>
              </a:extLst>
            </p:cNvPr>
            <p:cNvSpPr txBox="1"/>
            <p:nvPr/>
          </p:nvSpPr>
          <p:spPr>
            <a:xfrm>
              <a:off x="3283404" y="2001137"/>
              <a:ext cx="1887595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권한 최소화 및 인증 강화</a:t>
              </a:r>
              <a:endParaRPr lang="en-US" sz="1283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sp>
          <p:nvSpPr>
            <p:cNvPr id="111" name="TextBox 24">
              <a:extLst>
                <a:ext uri="{FF2B5EF4-FFF2-40B4-BE49-F238E27FC236}">
                  <a16:creationId xmlns:a16="http://schemas.microsoft.com/office/drawing/2014/main" id="{BC70D2AD-8AAA-DEDE-D229-9B9026216E35}"/>
                </a:ext>
              </a:extLst>
            </p:cNvPr>
            <p:cNvSpPr txBox="1"/>
            <p:nvPr/>
          </p:nvSpPr>
          <p:spPr>
            <a:xfrm>
              <a:off x="5700613" y="2001137"/>
              <a:ext cx="2125242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MFA, RBAC, Zero Trust</a:t>
              </a:r>
            </a:p>
          </p:txBody>
        </p:sp>
        <p:sp>
          <p:nvSpPr>
            <p:cNvPr id="112" name="TextBox 25">
              <a:extLst>
                <a:ext uri="{FF2B5EF4-FFF2-40B4-BE49-F238E27FC236}">
                  <a16:creationId xmlns:a16="http://schemas.microsoft.com/office/drawing/2014/main" id="{698015E7-81C2-0304-D7FB-37075B8182B3}"/>
                </a:ext>
              </a:extLst>
            </p:cNvPr>
            <p:cNvSpPr txBox="1"/>
            <p:nvPr/>
          </p:nvSpPr>
          <p:spPr>
            <a:xfrm>
              <a:off x="8144980" y="2001137"/>
              <a:ext cx="2410418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매우 높음</a:t>
              </a:r>
              <a:endParaRPr lang="en-US" sz="1283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FCFBDC7-DAC2-098A-E8C0-69EAA05B29B1}"/>
              </a:ext>
            </a:extLst>
          </p:cNvPr>
          <p:cNvGrpSpPr/>
          <p:nvPr/>
        </p:nvGrpSpPr>
        <p:grpSpPr>
          <a:xfrm>
            <a:off x="1131005" y="2926393"/>
            <a:ext cx="9501498" cy="798264"/>
            <a:chOff x="1131005" y="2868392"/>
            <a:chExt cx="9501498" cy="798264"/>
          </a:xfrm>
        </p:grpSpPr>
        <p:sp>
          <p:nvSpPr>
            <p:cNvPr id="136" name="모서리가 둥근 직사각형 36">
              <a:extLst>
                <a:ext uri="{FF2B5EF4-FFF2-40B4-BE49-F238E27FC236}">
                  <a16:creationId xmlns:a16="http://schemas.microsoft.com/office/drawing/2014/main" id="{BAD9AE13-7849-60F7-76BC-F2EFFB8D732A}"/>
                </a:ext>
              </a:extLst>
            </p:cNvPr>
            <p:cNvSpPr/>
            <p:nvPr/>
          </p:nvSpPr>
          <p:spPr>
            <a:xfrm>
              <a:off x="1131005" y="2868392"/>
              <a:ext cx="1561678" cy="777749"/>
            </a:xfrm>
            <a:prstGeom prst="roundRect">
              <a:avLst>
                <a:gd name="adj" fmla="val 12422"/>
              </a:avLst>
            </a:prstGeom>
            <a:solidFill>
              <a:srgbClr val="009F0F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2" name="모서리가 둥근 직사각형 36">
              <a:extLst>
                <a:ext uri="{FF2B5EF4-FFF2-40B4-BE49-F238E27FC236}">
                  <a16:creationId xmlns:a16="http://schemas.microsoft.com/office/drawing/2014/main" id="{A590CBA3-F1DE-C229-E860-01A98A5376F0}"/>
                </a:ext>
              </a:extLst>
            </p:cNvPr>
            <p:cNvSpPr/>
            <p:nvPr/>
          </p:nvSpPr>
          <p:spPr>
            <a:xfrm>
              <a:off x="2855641" y="2891685"/>
              <a:ext cx="7776862" cy="774971"/>
            </a:xfrm>
            <a:prstGeom prst="roundRect">
              <a:avLst>
                <a:gd name="adj" fmla="val 12614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pic>
          <p:nvPicPr>
            <p:cNvPr id="100" name="Picture 13">
              <a:extLst>
                <a:ext uri="{FF2B5EF4-FFF2-40B4-BE49-F238E27FC236}">
                  <a16:creationId xmlns:a16="http://schemas.microsoft.com/office/drawing/2014/main" id="{B94F4FCE-E1E6-E160-0E69-74608F7FD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 rot="5400000">
              <a:off x="5164208" y="3264059"/>
              <a:ext cx="583933" cy="13580"/>
            </a:xfrm>
            <a:prstGeom prst="rect">
              <a:avLst/>
            </a:prstGeom>
          </p:spPr>
        </p:pic>
        <p:pic>
          <p:nvPicPr>
            <p:cNvPr id="101" name="Picture 14">
              <a:extLst>
                <a:ext uri="{FF2B5EF4-FFF2-40B4-BE49-F238E27FC236}">
                  <a16:creationId xmlns:a16="http://schemas.microsoft.com/office/drawing/2014/main" id="{4CA7D7D7-A8A5-8D0F-41C5-26F8294F5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 rot="5400000">
              <a:off x="7778324" y="3264059"/>
              <a:ext cx="583933" cy="13580"/>
            </a:xfrm>
            <a:prstGeom prst="rect">
              <a:avLst/>
            </a:prstGeom>
          </p:spPr>
        </p:pic>
        <p:sp>
          <p:nvSpPr>
            <p:cNvPr id="113" name="TextBox 26">
              <a:extLst>
                <a:ext uri="{FF2B5EF4-FFF2-40B4-BE49-F238E27FC236}">
                  <a16:creationId xmlns:a16="http://schemas.microsoft.com/office/drawing/2014/main" id="{A41EBB43-223C-9699-82D9-873169097972}"/>
                </a:ext>
              </a:extLst>
            </p:cNvPr>
            <p:cNvSpPr txBox="1"/>
            <p:nvPr/>
          </p:nvSpPr>
          <p:spPr>
            <a:xfrm>
              <a:off x="1341490" y="3148632"/>
              <a:ext cx="1140705" cy="251227"/>
            </a:xfrm>
            <a:prstGeom prst="rect">
              <a:avLst/>
            </a:prstGeom>
          </p:spPr>
          <p:txBody>
            <a:bodyPr lIns="0" tIns="9053" rIns="0" bIns="9053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430" spc="-100" dirty="0">
                  <a:solidFill>
                    <a:schemeClr val="bg1">
                      <a:lumMod val="9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Nirmala Text" panose="020B0502040204020203" pitchFamily="34" charset="0"/>
                </a:rPr>
                <a:t>데이터 보안</a:t>
              </a:r>
              <a:endParaRPr lang="en-US" altLang="ko-KR" sz="1430" b="0" i="0" u="none" strike="noStrike" spc="-1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endParaRPr>
            </a:p>
          </p:txBody>
        </p:sp>
        <p:sp>
          <p:nvSpPr>
            <p:cNvPr id="114" name="TextBox 27">
              <a:extLst>
                <a:ext uri="{FF2B5EF4-FFF2-40B4-BE49-F238E27FC236}">
                  <a16:creationId xmlns:a16="http://schemas.microsoft.com/office/drawing/2014/main" id="{7A56716C-57BE-A3CD-FF71-1324B5D7B4C7}"/>
                </a:ext>
              </a:extLst>
            </p:cNvPr>
            <p:cNvSpPr txBox="1"/>
            <p:nvPr/>
          </p:nvSpPr>
          <p:spPr>
            <a:xfrm>
              <a:off x="2998228" y="3053573"/>
              <a:ext cx="2451157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저장 </a:t>
              </a:r>
              <a:r>
                <a:rPr lang="en-US" altLang="ko-KR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/ </a:t>
              </a:r>
              <a:r>
                <a:rPr lang="ko-KR" alt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전송 데이터 보호</a:t>
              </a:r>
              <a:endParaRPr lang="en-US" sz="1283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sp>
          <p:nvSpPr>
            <p:cNvPr id="115" name="TextBox 28">
              <a:extLst>
                <a:ext uri="{FF2B5EF4-FFF2-40B4-BE49-F238E27FC236}">
                  <a16:creationId xmlns:a16="http://schemas.microsoft.com/office/drawing/2014/main" id="{90E89B88-DB8C-9B99-45AA-B7A3F95324EA}"/>
                </a:ext>
              </a:extLst>
            </p:cNvPr>
            <p:cNvSpPr txBox="1"/>
            <p:nvPr/>
          </p:nvSpPr>
          <p:spPr>
            <a:xfrm>
              <a:off x="5693823" y="3053573"/>
              <a:ext cx="2132032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AES-256, TLS 1.3, DLP</a:t>
              </a:r>
            </a:p>
          </p:txBody>
        </p:sp>
        <p:sp>
          <p:nvSpPr>
            <p:cNvPr id="116" name="TextBox 29">
              <a:extLst>
                <a:ext uri="{FF2B5EF4-FFF2-40B4-BE49-F238E27FC236}">
                  <a16:creationId xmlns:a16="http://schemas.microsoft.com/office/drawing/2014/main" id="{B7200798-4200-0F8E-BD9E-CF5F2F3EC7DF}"/>
                </a:ext>
              </a:extLst>
            </p:cNvPr>
            <p:cNvSpPr txBox="1"/>
            <p:nvPr/>
          </p:nvSpPr>
          <p:spPr>
            <a:xfrm>
              <a:off x="8144980" y="3053573"/>
              <a:ext cx="2410418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매우 높음</a:t>
              </a:r>
              <a:endParaRPr lang="en-US" altLang="ko-KR" sz="1283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564D7FB-3CB4-F6B1-F99B-EEC6839502EC}"/>
              </a:ext>
            </a:extLst>
          </p:cNvPr>
          <p:cNvGrpSpPr/>
          <p:nvPr/>
        </p:nvGrpSpPr>
        <p:grpSpPr>
          <a:xfrm>
            <a:off x="1131005" y="3923286"/>
            <a:ext cx="9501497" cy="808255"/>
            <a:chOff x="1131005" y="3910699"/>
            <a:chExt cx="9501497" cy="808255"/>
          </a:xfrm>
        </p:grpSpPr>
        <p:sp>
          <p:nvSpPr>
            <p:cNvPr id="139" name="모서리가 둥근 직사각형 36">
              <a:extLst>
                <a:ext uri="{FF2B5EF4-FFF2-40B4-BE49-F238E27FC236}">
                  <a16:creationId xmlns:a16="http://schemas.microsoft.com/office/drawing/2014/main" id="{6997536E-8041-E1C3-49FF-504AF6667E14}"/>
                </a:ext>
              </a:extLst>
            </p:cNvPr>
            <p:cNvSpPr/>
            <p:nvPr/>
          </p:nvSpPr>
          <p:spPr>
            <a:xfrm>
              <a:off x="1131005" y="3941205"/>
              <a:ext cx="1561678" cy="777749"/>
            </a:xfrm>
            <a:prstGeom prst="roundRect">
              <a:avLst>
                <a:gd name="adj" fmla="val 12422"/>
              </a:avLst>
            </a:prstGeom>
            <a:solidFill>
              <a:srgbClr val="009F0F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3" name="모서리가 둥근 직사각형 36">
              <a:extLst>
                <a:ext uri="{FF2B5EF4-FFF2-40B4-BE49-F238E27FC236}">
                  <a16:creationId xmlns:a16="http://schemas.microsoft.com/office/drawing/2014/main" id="{80C855FB-CBB1-E0E1-D4FD-D71AA42C07E7}"/>
                </a:ext>
              </a:extLst>
            </p:cNvPr>
            <p:cNvSpPr/>
            <p:nvPr/>
          </p:nvSpPr>
          <p:spPr>
            <a:xfrm>
              <a:off x="2855641" y="3910699"/>
              <a:ext cx="7776861" cy="765407"/>
            </a:xfrm>
            <a:prstGeom prst="roundRect">
              <a:avLst>
                <a:gd name="adj" fmla="val 12614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pic>
          <p:nvPicPr>
            <p:cNvPr id="102" name="Picture 15">
              <a:extLst>
                <a:ext uri="{FF2B5EF4-FFF2-40B4-BE49-F238E27FC236}">
                  <a16:creationId xmlns:a16="http://schemas.microsoft.com/office/drawing/2014/main" id="{A1A08A8D-60EA-9459-C974-67A1B298E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 rot="5400000">
              <a:off x="5164208" y="4316495"/>
              <a:ext cx="583933" cy="13580"/>
            </a:xfrm>
            <a:prstGeom prst="rect">
              <a:avLst/>
            </a:prstGeom>
          </p:spPr>
        </p:pic>
        <p:pic>
          <p:nvPicPr>
            <p:cNvPr id="103" name="Picture 16">
              <a:extLst>
                <a:ext uri="{FF2B5EF4-FFF2-40B4-BE49-F238E27FC236}">
                  <a16:creationId xmlns:a16="http://schemas.microsoft.com/office/drawing/2014/main" id="{BDC802BB-87C0-B9B4-4DFB-28B4E45FE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 rot="5400000">
              <a:off x="7778324" y="4316495"/>
              <a:ext cx="583933" cy="13580"/>
            </a:xfrm>
            <a:prstGeom prst="rect">
              <a:avLst/>
            </a:prstGeom>
          </p:spPr>
        </p:pic>
        <p:sp>
          <p:nvSpPr>
            <p:cNvPr id="117" name="TextBox 30">
              <a:extLst>
                <a:ext uri="{FF2B5EF4-FFF2-40B4-BE49-F238E27FC236}">
                  <a16:creationId xmlns:a16="http://schemas.microsoft.com/office/drawing/2014/main" id="{A3DEE64A-2609-88C7-8E13-1483B810F1CE}"/>
                </a:ext>
              </a:extLst>
            </p:cNvPr>
            <p:cNvSpPr txBox="1"/>
            <p:nvPr/>
          </p:nvSpPr>
          <p:spPr>
            <a:xfrm>
              <a:off x="1287170" y="4078848"/>
              <a:ext cx="1242554" cy="488874"/>
            </a:xfrm>
            <a:prstGeom prst="rect">
              <a:avLst/>
            </a:prstGeom>
          </p:spPr>
          <p:txBody>
            <a:bodyPr lIns="0" tIns="9053" rIns="0" bIns="9053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430" b="0" i="0" u="none" strike="noStrike" spc="-100" dirty="0">
                  <a:solidFill>
                    <a:schemeClr val="bg1">
                      <a:lumMod val="9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Nirmala Text" panose="020B0502040204020203" pitchFamily="34" charset="0"/>
                </a:rPr>
                <a:t>네트워크 보안</a:t>
              </a:r>
              <a:endParaRPr lang="en-US" altLang="ko-KR" sz="1430" b="0" i="0" u="none" strike="noStrike" spc="-1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endParaRPr>
            </a:p>
          </p:txBody>
        </p:sp>
        <p:sp>
          <p:nvSpPr>
            <p:cNvPr id="118" name="TextBox 31">
              <a:extLst>
                <a:ext uri="{FF2B5EF4-FFF2-40B4-BE49-F238E27FC236}">
                  <a16:creationId xmlns:a16="http://schemas.microsoft.com/office/drawing/2014/main" id="{C0FAEABB-A22E-67C6-CB88-E5AA80C8E420}"/>
                </a:ext>
              </a:extLst>
            </p:cNvPr>
            <p:cNvSpPr txBox="1"/>
            <p:nvPr/>
          </p:nvSpPr>
          <p:spPr>
            <a:xfrm>
              <a:off x="3005018" y="4106009"/>
              <a:ext cx="2437577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위협 탐지 및 트래픽 보호</a:t>
              </a:r>
              <a:endParaRPr lang="en-US" sz="1283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sp>
          <p:nvSpPr>
            <p:cNvPr id="119" name="TextBox 32">
              <a:extLst>
                <a:ext uri="{FF2B5EF4-FFF2-40B4-BE49-F238E27FC236}">
                  <a16:creationId xmlns:a16="http://schemas.microsoft.com/office/drawing/2014/main" id="{FCA250C2-A73E-69B2-743C-86196A9D25E5}"/>
                </a:ext>
              </a:extLst>
            </p:cNvPr>
            <p:cNvSpPr txBox="1"/>
            <p:nvPr/>
          </p:nvSpPr>
          <p:spPr>
            <a:xfrm>
              <a:off x="5625923" y="4106009"/>
              <a:ext cx="2267830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VPC, WAF, IDS/IPS</a:t>
              </a:r>
            </a:p>
          </p:txBody>
        </p:sp>
        <p:sp>
          <p:nvSpPr>
            <p:cNvPr id="120" name="TextBox 33">
              <a:extLst>
                <a:ext uri="{FF2B5EF4-FFF2-40B4-BE49-F238E27FC236}">
                  <a16:creationId xmlns:a16="http://schemas.microsoft.com/office/drawing/2014/main" id="{D24E08A5-5B5E-A6A3-B3CE-FF05055D20A8}"/>
                </a:ext>
              </a:extLst>
            </p:cNvPr>
            <p:cNvSpPr txBox="1"/>
            <p:nvPr/>
          </p:nvSpPr>
          <p:spPr>
            <a:xfrm>
              <a:off x="8144980" y="4106009"/>
              <a:ext cx="2410418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높음</a:t>
              </a:r>
              <a:endParaRPr lang="en-US" altLang="ko-KR" sz="1283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50A50FE-3FF3-A0E3-98EF-F4DFB3011D08}"/>
              </a:ext>
            </a:extLst>
          </p:cNvPr>
          <p:cNvGrpSpPr/>
          <p:nvPr/>
        </p:nvGrpSpPr>
        <p:grpSpPr>
          <a:xfrm>
            <a:off x="1131005" y="4930170"/>
            <a:ext cx="9501497" cy="790098"/>
            <a:chOff x="1131005" y="4980673"/>
            <a:chExt cx="9501497" cy="790098"/>
          </a:xfrm>
        </p:grpSpPr>
        <p:sp>
          <p:nvSpPr>
            <p:cNvPr id="140" name="모서리가 둥근 직사각형 36">
              <a:extLst>
                <a:ext uri="{FF2B5EF4-FFF2-40B4-BE49-F238E27FC236}">
                  <a16:creationId xmlns:a16="http://schemas.microsoft.com/office/drawing/2014/main" id="{D7B272B1-3C3A-E5BA-CE37-0CDCA472CF65}"/>
                </a:ext>
              </a:extLst>
            </p:cNvPr>
            <p:cNvSpPr/>
            <p:nvPr/>
          </p:nvSpPr>
          <p:spPr>
            <a:xfrm>
              <a:off x="1131005" y="4989302"/>
              <a:ext cx="1561678" cy="777749"/>
            </a:xfrm>
            <a:prstGeom prst="roundRect">
              <a:avLst>
                <a:gd name="adj" fmla="val 12422"/>
              </a:avLst>
            </a:prstGeom>
            <a:solidFill>
              <a:srgbClr val="009F0F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sp>
          <p:nvSpPr>
            <p:cNvPr id="134" name="모서리가 둥근 직사각형 36">
              <a:extLst>
                <a:ext uri="{FF2B5EF4-FFF2-40B4-BE49-F238E27FC236}">
                  <a16:creationId xmlns:a16="http://schemas.microsoft.com/office/drawing/2014/main" id="{80D3BDD6-AE69-9D34-3C34-5B6DB40BCFEB}"/>
                </a:ext>
              </a:extLst>
            </p:cNvPr>
            <p:cNvSpPr/>
            <p:nvPr/>
          </p:nvSpPr>
          <p:spPr>
            <a:xfrm>
              <a:off x="2855641" y="4980673"/>
              <a:ext cx="7776861" cy="790098"/>
            </a:xfrm>
            <a:prstGeom prst="roundRect">
              <a:avLst>
                <a:gd name="adj" fmla="val 12614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  <p:pic>
          <p:nvPicPr>
            <p:cNvPr id="104" name="Picture 17">
              <a:extLst>
                <a:ext uri="{FF2B5EF4-FFF2-40B4-BE49-F238E27FC236}">
                  <a16:creationId xmlns:a16="http://schemas.microsoft.com/office/drawing/2014/main" id="{33AB3CF1-EA13-25A4-A911-25A358103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 rot="5400000">
              <a:off x="5164208" y="5368931"/>
              <a:ext cx="583933" cy="13580"/>
            </a:xfrm>
            <a:prstGeom prst="rect">
              <a:avLst/>
            </a:prstGeom>
          </p:spPr>
        </p:pic>
        <p:pic>
          <p:nvPicPr>
            <p:cNvPr id="105" name="Picture 18">
              <a:extLst>
                <a:ext uri="{FF2B5EF4-FFF2-40B4-BE49-F238E27FC236}">
                  <a16:creationId xmlns:a16="http://schemas.microsoft.com/office/drawing/2014/main" id="{6E9EE797-C4AD-3D9E-12AB-35E542014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 rot="5400000">
              <a:off x="7778324" y="5368931"/>
              <a:ext cx="583933" cy="13580"/>
            </a:xfrm>
            <a:prstGeom prst="rect">
              <a:avLst/>
            </a:prstGeom>
          </p:spPr>
        </p:pic>
        <p:sp>
          <p:nvSpPr>
            <p:cNvPr id="121" name="TextBox 34">
              <a:extLst>
                <a:ext uri="{FF2B5EF4-FFF2-40B4-BE49-F238E27FC236}">
                  <a16:creationId xmlns:a16="http://schemas.microsoft.com/office/drawing/2014/main" id="{177DD059-E2E4-E267-2F1D-B23395A69818}"/>
                </a:ext>
              </a:extLst>
            </p:cNvPr>
            <p:cNvSpPr txBox="1"/>
            <p:nvPr/>
          </p:nvSpPr>
          <p:spPr>
            <a:xfrm>
              <a:off x="1246431" y="5246714"/>
              <a:ext cx="1324033" cy="251227"/>
            </a:xfrm>
            <a:prstGeom prst="rect">
              <a:avLst/>
            </a:prstGeom>
          </p:spPr>
          <p:txBody>
            <a:bodyPr lIns="0" tIns="9053" rIns="0" bIns="9053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430" spc="-100" dirty="0">
                  <a:solidFill>
                    <a:schemeClr val="bg1">
                      <a:lumMod val="9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Nirmala Text" panose="020B0502040204020203" pitchFamily="34" charset="0"/>
                </a:rPr>
                <a:t>컴플라이언스</a:t>
              </a:r>
              <a:endParaRPr lang="en-US" altLang="ko-KR" sz="1430" b="0" i="0" u="none" strike="noStrike" spc="-1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endParaRPr>
            </a:p>
          </p:txBody>
        </p:sp>
        <p:sp>
          <p:nvSpPr>
            <p:cNvPr id="122" name="TextBox 35">
              <a:extLst>
                <a:ext uri="{FF2B5EF4-FFF2-40B4-BE49-F238E27FC236}">
                  <a16:creationId xmlns:a16="http://schemas.microsoft.com/office/drawing/2014/main" id="{D5F7FA8D-A7B2-B8FB-94DD-1F24D632A53C}"/>
                </a:ext>
              </a:extLst>
            </p:cNvPr>
            <p:cNvSpPr txBox="1"/>
            <p:nvPr/>
          </p:nvSpPr>
          <p:spPr>
            <a:xfrm>
              <a:off x="3005018" y="5158445"/>
              <a:ext cx="2437577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규정 준수 및 감사 대응</a:t>
              </a:r>
              <a:endParaRPr lang="en-US" sz="1283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sp>
          <p:nvSpPr>
            <p:cNvPr id="123" name="TextBox 36">
              <a:extLst>
                <a:ext uri="{FF2B5EF4-FFF2-40B4-BE49-F238E27FC236}">
                  <a16:creationId xmlns:a16="http://schemas.microsoft.com/office/drawing/2014/main" id="{0CD28D44-276F-F9F0-A6BE-D19725845DA1}"/>
                </a:ext>
              </a:extLst>
            </p:cNvPr>
            <p:cNvSpPr txBox="1"/>
            <p:nvPr/>
          </p:nvSpPr>
          <p:spPr>
            <a:xfrm>
              <a:off x="5625923" y="5158445"/>
              <a:ext cx="2267830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CSPM, SIEM, </a:t>
              </a:r>
              <a:r>
                <a:rPr lang="ko-KR" alt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자동화 감사</a:t>
              </a:r>
              <a:endParaRPr lang="en-US" sz="1283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sp>
          <p:nvSpPr>
            <p:cNvPr id="124" name="TextBox 37">
              <a:extLst>
                <a:ext uri="{FF2B5EF4-FFF2-40B4-BE49-F238E27FC236}">
                  <a16:creationId xmlns:a16="http://schemas.microsoft.com/office/drawing/2014/main" id="{C91A8502-CAF3-9C15-0757-6F7B9443DDF5}"/>
                </a:ext>
              </a:extLst>
            </p:cNvPr>
            <p:cNvSpPr txBox="1"/>
            <p:nvPr/>
          </p:nvSpPr>
          <p:spPr>
            <a:xfrm>
              <a:off x="8144980" y="5158445"/>
              <a:ext cx="2410418" cy="441345"/>
            </a:xfrm>
            <a:prstGeom prst="rect">
              <a:avLst/>
            </a:prstGeom>
          </p:spPr>
          <p:txBody>
            <a:bodyPr lIns="0" tIns="8148" rIns="0" bIns="8148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283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rPr>
                <a:t>높음</a:t>
              </a:r>
              <a:endParaRPr lang="en-US" sz="1283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025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3.4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보안 핵심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요소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6C00748-3607-DFBF-1908-220A7CF7B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07988" y="1174689"/>
            <a:ext cx="5616004" cy="2470334"/>
          </a:xfrm>
          <a:prstGeom prst="rect">
            <a:avLst/>
          </a:prstGeom>
          <a:effectLst>
            <a:outerShdw blurRad="685800" dir="16200000">
              <a:srgbClr val="787878">
                <a:alpha val="15000"/>
              </a:srgbClr>
            </a:outerShdw>
          </a:effec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EF452290-5172-4089-5EFD-D7C70BD0F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138128" y="1165274"/>
            <a:ext cx="5616004" cy="2470333"/>
          </a:xfrm>
          <a:prstGeom prst="rect">
            <a:avLst/>
          </a:prstGeom>
          <a:effectLst>
            <a:outerShdw blurRad="685800" dir="16200000">
              <a:srgbClr val="787878">
                <a:alpha val="15000"/>
              </a:srgbClr>
            </a:outerShdw>
          </a:effec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08E2CB63-7E3D-851D-211C-EBD60E584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07988" y="3928668"/>
            <a:ext cx="5616004" cy="2470333"/>
          </a:xfrm>
          <a:prstGeom prst="rect">
            <a:avLst/>
          </a:prstGeom>
          <a:effectLst>
            <a:outerShdw blurRad="685800" dir="16200000">
              <a:srgbClr val="787878">
                <a:alpha val="15000"/>
              </a:srgbClr>
            </a:outerShdw>
          </a:effectLst>
        </p:spPr>
      </p:pic>
      <p:pic>
        <p:nvPicPr>
          <p:cNvPr id="16" name="Picture 2">
            <a:extLst>
              <a:ext uri="{FF2B5EF4-FFF2-40B4-BE49-F238E27FC236}">
                <a16:creationId xmlns:a16="http://schemas.microsoft.com/office/drawing/2014/main" id="{C8658AD7-4A31-671D-F64B-B58F872C5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6138128" y="3919253"/>
            <a:ext cx="5616004" cy="2470333"/>
          </a:xfrm>
          <a:prstGeom prst="rect">
            <a:avLst/>
          </a:prstGeom>
          <a:effectLst>
            <a:outerShdw blurRad="685800" dir="16200000">
              <a:srgbClr val="787878">
                <a:alpha val="15000"/>
              </a:srgbClr>
            </a:outerShdw>
          </a:effectLst>
        </p:spPr>
      </p:pic>
      <p:sp>
        <p:nvSpPr>
          <p:cNvPr id="32" name="TextBox 32">
            <a:extLst>
              <a:ext uri="{FF2B5EF4-FFF2-40B4-BE49-F238E27FC236}">
                <a16:creationId xmlns:a16="http://schemas.microsoft.com/office/drawing/2014/main" id="{5C0D9329-BF08-540F-BFAE-79021E8AE703}"/>
              </a:ext>
            </a:extLst>
          </p:cNvPr>
          <p:cNvSpPr txBox="1"/>
          <p:nvPr/>
        </p:nvSpPr>
        <p:spPr>
          <a:xfrm>
            <a:off x="2511687" y="1218437"/>
            <a:ext cx="1408606" cy="33835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400" spc="-100" dirty="0">
                <a:latin typeface="NanumSquare ExtraBold" panose="020B0600000101010101" pitchFamily="50" charset="-127"/>
                <a:ea typeface="NanumSquare ExtraBold" panose="020B0600000101010101" pitchFamily="50" charset="-127"/>
                <a:cs typeface="Nirmala Text" panose="020B0502040204020203" pitchFamily="34" charset="0"/>
              </a:rPr>
              <a:t>계정 및 접근 관리</a:t>
            </a:r>
            <a:endParaRPr lang="en-US" altLang="ko-KR" sz="1400" b="0" i="0" u="none" strike="noStrike" spc="-100" dirty="0">
              <a:latin typeface="NanumSquare ExtraBold" panose="020B0600000101010101" pitchFamily="50" charset="-127"/>
              <a:ea typeface="NanumSquare ExtraBold" panose="020B0600000101010101" pitchFamily="50" charset="-127"/>
              <a:cs typeface="Nirmala Text" panose="020B0502040204020203" pitchFamily="34" charset="0"/>
            </a:endParaRPr>
          </a:p>
        </p:txBody>
      </p:sp>
      <p:pic>
        <p:nvPicPr>
          <p:cNvPr id="68" name="Picture 17">
            <a:extLst>
              <a:ext uri="{FF2B5EF4-FFF2-40B4-BE49-F238E27FC236}">
                <a16:creationId xmlns:a16="http://schemas.microsoft.com/office/drawing/2014/main" id="{60033666-09D6-3738-FC86-8EE6BDE520C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26604" y="1625928"/>
            <a:ext cx="4978769" cy="8216"/>
          </a:xfrm>
          <a:prstGeom prst="rect">
            <a:avLst/>
          </a:prstGeom>
        </p:spPr>
      </p:pic>
      <p:sp>
        <p:nvSpPr>
          <p:cNvPr id="3" name="TextBox 32">
            <a:extLst>
              <a:ext uri="{FF2B5EF4-FFF2-40B4-BE49-F238E27FC236}">
                <a16:creationId xmlns:a16="http://schemas.microsoft.com/office/drawing/2014/main" id="{F5D34B3D-7F8D-FAB3-178E-F10CC3191176}"/>
              </a:ext>
            </a:extLst>
          </p:cNvPr>
          <p:cNvSpPr txBox="1"/>
          <p:nvPr/>
        </p:nvSpPr>
        <p:spPr>
          <a:xfrm>
            <a:off x="8241827" y="1218437"/>
            <a:ext cx="1408606" cy="33835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400" spc="-100" dirty="0">
                <a:latin typeface="NanumSquare ExtraBold" panose="020B0600000101010101" pitchFamily="50" charset="-127"/>
                <a:ea typeface="NanumSquare ExtraBold" panose="020B0600000101010101" pitchFamily="50" charset="-127"/>
                <a:cs typeface="Nirmala Text" panose="020B0502040204020203" pitchFamily="34" charset="0"/>
              </a:rPr>
              <a:t>네트워크 보안</a:t>
            </a:r>
            <a:endParaRPr lang="en-US" altLang="ko-KR" sz="1400" b="0" i="0" u="none" strike="noStrike" spc="-100" dirty="0">
              <a:latin typeface="NanumSquare ExtraBold" panose="020B0600000101010101" pitchFamily="50" charset="-127"/>
              <a:ea typeface="NanumSquare ExtraBold" panose="020B0600000101010101" pitchFamily="50" charset="-127"/>
              <a:cs typeface="Nirmala Text" panose="020B0502040204020203" pitchFamily="34" charset="0"/>
            </a:endParaRPr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37C9AC72-51DB-6071-5940-4923A3F63BC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6486627" y="1625928"/>
            <a:ext cx="4978769" cy="8216"/>
          </a:xfrm>
          <a:prstGeom prst="rect">
            <a:avLst/>
          </a:prstGeom>
        </p:spPr>
      </p:pic>
      <p:sp>
        <p:nvSpPr>
          <p:cNvPr id="11" name="TextBox 32">
            <a:extLst>
              <a:ext uri="{FF2B5EF4-FFF2-40B4-BE49-F238E27FC236}">
                <a16:creationId xmlns:a16="http://schemas.microsoft.com/office/drawing/2014/main" id="{8E94ABD4-0CC4-08D6-B853-37F97C3911AF}"/>
              </a:ext>
            </a:extLst>
          </p:cNvPr>
          <p:cNvSpPr txBox="1"/>
          <p:nvPr/>
        </p:nvSpPr>
        <p:spPr>
          <a:xfrm>
            <a:off x="2511687" y="4020602"/>
            <a:ext cx="1408606" cy="33835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400" spc="-100" dirty="0">
                <a:latin typeface="NanumSquare ExtraBold" panose="020B0600000101010101" pitchFamily="50" charset="-127"/>
                <a:ea typeface="NanumSquare ExtraBold" panose="020B0600000101010101" pitchFamily="50" charset="-127"/>
                <a:cs typeface="Nirmala Text" panose="020B0502040204020203" pitchFamily="34" charset="0"/>
              </a:rPr>
              <a:t>데이터 보안</a:t>
            </a:r>
            <a:endParaRPr lang="en-US" altLang="ko-KR" sz="1400" b="0" i="0" u="none" strike="noStrike" spc="-100" dirty="0">
              <a:latin typeface="NanumSquare ExtraBold" panose="020B0600000101010101" pitchFamily="50" charset="-127"/>
              <a:ea typeface="NanumSquare ExtraBold" panose="020B0600000101010101" pitchFamily="50" charset="-127"/>
              <a:cs typeface="Nirmala Text" panose="020B0502040204020203" pitchFamily="34" charset="0"/>
            </a:endParaRPr>
          </a:p>
        </p:txBody>
      </p:sp>
      <p:pic>
        <p:nvPicPr>
          <p:cNvPr id="12" name="Picture 17">
            <a:extLst>
              <a:ext uri="{FF2B5EF4-FFF2-40B4-BE49-F238E27FC236}">
                <a16:creationId xmlns:a16="http://schemas.microsoft.com/office/drawing/2014/main" id="{0A6173C5-822F-C76D-0EB3-B1A1C94AD1F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726604" y="4419901"/>
            <a:ext cx="4978769" cy="8216"/>
          </a:xfrm>
          <a:prstGeom prst="rect">
            <a:avLst/>
          </a:prstGeom>
        </p:spPr>
      </p:pic>
      <p:sp>
        <p:nvSpPr>
          <p:cNvPr id="14" name="TextBox 32">
            <a:extLst>
              <a:ext uri="{FF2B5EF4-FFF2-40B4-BE49-F238E27FC236}">
                <a16:creationId xmlns:a16="http://schemas.microsoft.com/office/drawing/2014/main" id="{F7B2F17C-B103-13C7-0FB0-277306E7536A}"/>
              </a:ext>
            </a:extLst>
          </p:cNvPr>
          <p:cNvSpPr txBox="1"/>
          <p:nvPr/>
        </p:nvSpPr>
        <p:spPr>
          <a:xfrm>
            <a:off x="8241827" y="4020602"/>
            <a:ext cx="1408606" cy="33835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400" spc="-100" dirty="0">
                <a:latin typeface="NanumSquare ExtraBold" panose="020B0600000101010101" pitchFamily="50" charset="-127"/>
                <a:ea typeface="NanumSquare ExtraBold" panose="020B0600000101010101" pitchFamily="50" charset="-127"/>
                <a:cs typeface="Nirmala Text" panose="020B0502040204020203" pitchFamily="34" charset="0"/>
              </a:rPr>
              <a:t>컴플라이언스</a:t>
            </a:r>
            <a:endParaRPr lang="en-US" altLang="ko-KR" sz="1400" b="0" i="0" u="none" strike="noStrike" spc="-100" dirty="0">
              <a:latin typeface="NanumSquare ExtraBold" panose="020B0600000101010101" pitchFamily="50" charset="-127"/>
              <a:ea typeface="NanumSquare ExtraBold" panose="020B0600000101010101" pitchFamily="50" charset="-127"/>
              <a:cs typeface="Nirmala Text" panose="020B0502040204020203" pitchFamily="34" charset="0"/>
            </a:endParaRPr>
          </a:p>
        </p:txBody>
      </p:sp>
      <p:pic>
        <p:nvPicPr>
          <p:cNvPr id="15" name="Picture 17">
            <a:extLst>
              <a:ext uri="{FF2B5EF4-FFF2-40B4-BE49-F238E27FC236}">
                <a16:creationId xmlns:a16="http://schemas.microsoft.com/office/drawing/2014/main" id="{756A84D4-C999-05FE-EEF9-01578729DA5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6486627" y="4419901"/>
            <a:ext cx="4978769" cy="8216"/>
          </a:xfrm>
          <a:prstGeom prst="rect">
            <a:avLst/>
          </a:prstGeom>
        </p:spPr>
      </p:pic>
      <p:sp>
        <p:nvSpPr>
          <p:cNvPr id="17" name="TextBox 32">
            <a:extLst>
              <a:ext uri="{FF2B5EF4-FFF2-40B4-BE49-F238E27FC236}">
                <a16:creationId xmlns:a16="http://schemas.microsoft.com/office/drawing/2014/main" id="{C11ADED0-8754-6920-0B23-4C0CBE80FB95}"/>
              </a:ext>
            </a:extLst>
          </p:cNvPr>
          <p:cNvSpPr txBox="1"/>
          <p:nvPr/>
        </p:nvSpPr>
        <p:spPr>
          <a:xfrm>
            <a:off x="726606" y="1716850"/>
            <a:ext cx="4978769" cy="270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자원에 접근하는 사용자의 신원을 확인하고 권한을 관리하는 영역</a:t>
            </a:r>
            <a:endParaRPr lang="en-US" altLang="ko-KR" sz="1200" b="0" i="0" u="none" strike="noStrike" spc="-1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18" name="TextBox 32">
            <a:extLst>
              <a:ext uri="{FF2B5EF4-FFF2-40B4-BE49-F238E27FC236}">
                <a16:creationId xmlns:a16="http://schemas.microsoft.com/office/drawing/2014/main" id="{033A272D-A00A-5C8E-337F-DEC179550D0F}"/>
              </a:ext>
            </a:extLst>
          </p:cNvPr>
          <p:cNvSpPr txBox="1"/>
          <p:nvPr/>
        </p:nvSpPr>
        <p:spPr>
          <a:xfrm>
            <a:off x="6240016" y="1716850"/>
            <a:ext cx="5400599" cy="269679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가상 환경 내 네트워크 경계를 설정하고 악성 트래픽의 유입을 물리적</a:t>
            </a:r>
            <a:r>
              <a:rPr lang="en-US" altLang="ko-KR" sz="1200" b="0" i="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200" b="0" i="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논리적으로 막음</a:t>
            </a:r>
            <a:endParaRPr lang="en-US" altLang="ko-KR" sz="1200" b="0" i="0" u="none" strike="noStrike" spc="-1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25" name="TextBox 32">
            <a:extLst>
              <a:ext uri="{FF2B5EF4-FFF2-40B4-BE49-F238E27FC236}">
                <a16:creationId xmlns:a16="http://schemas.microsoft.com/office/drawing/2014/main" id="{271AFB16-E91F-8C58-CFB0-6474A4981BE6}"/>
              </a:ext>
            </a:extLst>
          </p:cNvPr>
          <p:cNvSpPr txBox="1"/>
          <p:nvPr/>
        </p:nvSpPr>
        <p:spPr>
          <a:xfrm>
            <a:off x="623392" y="4499436"/>
            <a:ext cx="5184576" cy="270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내 핵심 자산인 데이터를 암호화하여 유출 시에도 내용을 알 수 없게 보호</a:t>
            </a:r>
            <a:endParaRPr lang="en-US" altLang="ko-KR" sz="1200" b="0" i="0" u="none" strike="noStrike" spc="-1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26" name="TextBox 32">
            <a:extLst>
              <a:ext uri="{FF2B5EF4-FFF2-40B4-BE49-F238E27FC236}">
                <a16:creationId xmlns:a16="http://schemas.microsoft.com/office/drawing/2014/main" id="{4AD688C0-F83B-518F-6685-D854B0D98422}"/>
              </a:ext>
            </a:extLst>
          </p:cNvPr>
          <p:cNvSpPr txBox="1"/>
          <p:nvPr/>
        </p:nvSpPr>
        <p:spPr>
          <a:xfrm>
            <a:off x="6390199" y="4499436"/>
            <a:ext cx="5111863" cy="270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법적 규제를 준수하고 전체 시스템의 보안 설정이 </a:t>
            </a:r>
            <a:r>
              <a:rPr lang="ko-KR" altLang="en-US" sz="1200" b="0" i="0" dirty="0" err="1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올바른지</a:t>
            </a:r>
            <a:r>
              <a:rPr lang="ko-KR" altLang="en-US" sz="1200" b="0" i="0" dirty="0"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지속적으로 감시</a:t>
            </a:r>
            <a:endParaRPr lang="en-US" altLang="ko-KR" sz="1200" b="0" i="0" u="none" strike="noStrike" spc="-1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5803799-2822-E98E-5759-BFA6733F8F4B}"/>
              </a:ext>
            </a:extLst>
          </p:cNvPr>
          <p:cNvSpPr/>
          <p:nvPr/>
        </p:nvSpPr>
        <p:spPr>
          <a:xfrm>
            <a:off x="551384" y="2127385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MFA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29" name="TextBox 32">
            <a:extLst>
              <a:ext uri="{FF2B5EF4-FFF2-40B4-BE49-F238E27FC236}">
                <a16:creationId xmlns:a16="http://schemas.microsoft.com/office/drawing/2014/main" id="{0911F236-B1E7-A41C-3D4F-9A17808FBCA1}"/>
              </a:ext>
            </a:extLst>
          </p:cNvPr>
          <p:cNvSpPr txBox="1"/>
          <p:nvPr/>
        </p:nvSpPr>
        <p:spPr>
          <a:xfrm>
            <a:off x="1673632" y="2107720"/>
            <a:ext cx="3941394" cy="309331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비밀번호 외 추가 인증을 통해 </a:t>
            </a:r>
            <a:r>
              <a:rPr lang="ko-KR" altLang="en-US" sz="1200" b="0" i="0" dirty="0" err="1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도난된</a:t>
            </a: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 계정의 무단 접속을 차단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CB22855E-A63E-EA78-5BA6-5EFE30C2B6E7}"/>
              </a:ext>
            </a:extLst>
          </p:cNvPr>
          <p:cNvSpPr/>
          <p:nvPr/>
        </p:nvSpPr>
        <p:spPr>
          <a:xfrm>
            <a:off x="551384" y="2564318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RBAC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2756F8C5-7259-FFE0-B7A8-CFCAB88D5CA9}"/>
              </a:ext>
            </a:extLst>
          </p:cNvPr>
          <p:cNvSpPr txBox="1"/>
          <p:nvPr/>
        </p:nvSpPr>
        <p:spPr>
          <a:xfrm>
            <a:off x="1673632" y="2544653"/>
            <a:ext cx="4163373" cy="28966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직무에 필요한 최소 권한만 부여하여 내부자에 의한 보안 사고 범위를 최소화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B02EA83-EDED-FE3F-7031-6F40743738A4}"/>
              </a:ext>
            </a:extLst>
          </p:cNvPr>
          <p:cNvSpPr/>
          <p:nvPr/>
        </p:nvSpPr>
        <p:spPr>
          <a:xfrm>
            <a:off x="551384" y="3014984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Zero Trust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38" name="TextBox 32">
            <a:extLst>
              <a:ext uri="{FF2B5EF4-FFF2-40B4-BE49-F238E27FC236}">
                <a16:creationId xmlns:a16="http://schemas.microsoft.com/office/drawing/2014/main" id="{04BA8AF4-3B95-E657-A9E0-C4402DFF1DF8}"/>
              </a:ext>
            </a:extLst>
          </p:cNvPr>
          <p:cNvSpPr txBox="1"/>
          <p:nvPr/>
        </p:nvSpPr>
        <p:spPr>
          <a:xfrm>
            <a:off x="1673632" y="2995319"/>
            <a:ext cx="4307390" cy="28966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아무도 믿지 않는다는 원칙하에 모든 접속 요청을 매번 검증하고 감시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6F9483E-77FC-A0E7-0344-B0632D8D8AFC}"/>
              </a:ext>
            </a:extLst>
          </p:cNvPr>
          <p:cNvSpPr/>
          <p:nvPr/>
        </p:nvSpPr>
        <p:spPr>
          <a:xfrm>
            <a:off x="551384" y="4923381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AES-256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46" name="TextBox 32">
            <a:extLst>
              <a:ext uri="{FF2B5EF4-FFF2-40B4-BE49-F238E27FC236}">
                <a16:creationId xmlns:a16="http://schemas.microsoft.com/office/drawing/2014/main" id="{520AD7B4-0E1E-33B6-9E2B-788DC4D0F4A4}"/>
              </a:ext>
            </a:extLst>
          </p:cNvPr>
          <p:cNvSpPr txBox="1"/>
          <p:nvPr/>
        </p:nvSpPr>
        <p:spPr>
          <a:xfrm>
            <a:off x="1673632" y="4903717"/>
            <a:ext cx="3270240" cy="270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저장된 데이터와 전송 중인 데이터를 철저히 보호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7595DBFB-A7C6-3412-0EE0-28F1A97ACB14}"/>
              </a:ext>
            </a:extLst>
          </p:cNvPr>
          <p:cNvSpPr/>
          <p:nvPr/>
        </p:nvSpPr>
        <p:spPr>
          <a:xfrm>
            <a:off x="551384" y="5360314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DLP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48" name="TextBox 32">
            <a:extLst>
              <a:ext uri="{FF2B5EF4-FFF2-40B4-BE49-F238E27FC236}">
                <a16:creationId xmlns:a16="http://schemas.microsoft.com/office/drawing/2014/main" id="{8F436E86-3F7E-BBCF-BB1F-1873BDF202EA}"/>
              </a:ext>
            </a:extLst>
          </p:cNvPr>
          <p:cNvSpPr txBox="1"/>
          <p:nvPr/>
        </p:nvSpPr>
        <p:spPr>
          <a:xfrm>
            <a:off x="1673632" y="5340649"/>
            <a:ext cx="4163373" cy="28966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민감 정보</a:t>
            </a:r>
            <a:r>
              <a:rPr lang="en-US" altLang="ko-KR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(</a:t>
            </a:r>
            <a:r>
              <a:rPr lang="ko-KR" altLang="en-US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개인정보 등</a:t>
            </a:r>
            <a:r>
              <a:rPr lang="en-US" altLang="ko-KR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)</a:t>
            </a:r>
            <a:r>
              <a:rPr lang="ko-KR" altLang="en-US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가 외부로 나가는 패턴을 실시간 탐지하여 차단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572C40FC-983A-78EC-A908-2F1FBA23A025}"/>
              </a:ext>
            </a:extLst>
          </p:cNvPr>
          <p:cNvSpPr/>
          <p:nvPr/>
        </p:nvSpPr>
        <p:spPr>
          <a:xfrm>
            <a:off x="551384" y="5810980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KMS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50" name="TextBox 32">
            <a:extLst>
              <a:ext uri="{FF2B5EF4-FFF2-40B4-BE49-F238E27FC236}">
                <a16:creationId xmlns:a16="http://schemas.microsoft.com/office/drawing/2014/main" id="{40F14E86-21DC-0F8D-904B-5EC14EF4FD17}"/>
              </a:ext>
            </a:extLst>
          </p:cNvPr>
          <p:cNvSpPr txBox="1"/>
          <p:nvPr/>
        </p:nvSpPr>
        <p:spPr>
          <a:xfrm>
            <a:off x="1673632" y="5791315"/>
            <a:ext cx="4379398" cy="28966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암호화에 사용되는 키를 안전하게 생성</a:t>
            </a:r>
            <a:r>
              <a:rPr lang="en-US" altLang="ko-KR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,</a:t>
            </a: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저장</a:t>
            </a:r>
            <a:r>
              <a:rPr lang="en-US" altLang="ko-KR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,</a:t>
            </a: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회전시키며 중앙 집중 관리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ACDE17BE-6C37-207E-96C3-D7EF6C373C6B}"/>
              </a:ext>
            </a:extLst>
          </p:cNvPr>
          <p:cNvSpPr/>
          <p:nvPr/>
        </p:nvSpPr>
        <p:spPr>
          <a:xfrm>
            <a:off x="6281524" y="2127385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VPC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75" name="TextBox 32">
            <a:extLst>
              <a:ext uri="{FF2B5EF4-FFF2-40B4-BE49-F238E27FC236}">
                <a16:creationId xmlns:a16="http://schemas.microsoft.com/office/drawing/2014/main" id="{33FF0159-889F-D2D6-86F0-5DC5E0FCAEC9}"/>
              </a:ext>
            </a:extLst>
          </p:cNvPr>
          <p:cNvSpPr txBox="1"/>
          <p:nvPr/>
        </p:nvSpPr>
        <p:spPr>
          <a:xfrm>
            <a:off x="7403771" y="2107720"/>
            <a:ext cx="4163373" cy="269679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독립된 가상 네트워크를 구성하여 외부 인터넷으로부터 자원을 격리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C58ACC28-F785-16C5-ECA1-F3A5F3FF69CF}"/>
              </a:ext>
            </a:extLst>
          </p:cNvPr>
          <p:cNvSpPr/>
          <p:nvPr/>
        </p:nvSpPr>
        <p:spPr>
          <a:xfrm>
            <a:off x="6281524" y="2564318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WAF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79" name="TextBox 32">
            <a:extLst>
              <a:ext uri="{FF2B5EF4-FFF2-40B4-BE49-F238E27FC236}">
                <a16:creationId xmlns:a16="http://schemas.microsoft.com/office/drawing/2014/main" id="{BFF1DED5-F03D-8AD6-C15C-6C48E027A785}"/>
              </a:ext>
            </a:extLst>
          </p:cNvPr>
          <p:cNvSpPr txBox="1"/>
          <p:nvPr/>
        </p:nvSpPr>
        <p:spPr>
          <a:xfrm>
            <a:off x="7403772" y="2544653"/>
            <a:ext cx="4163373" cy="28966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웹 애플리케이션을 노린 특정 공격</a:t>
            </a:r>
            <a:r>
              <a:rPr lang="en-US" altLang="ko-KR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(SQL </a:t>
            </a:r>
            <a:r>
              <a:rPr lang="ko-KR" altLang="en-US" sz="1200" u="none" strike="noStrike" spc="-100" dirty="0" err="1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인젝션</a:t>
            </a:r>
            <a:r>
              <a:rPr lang="ko-KR" altLang="en-US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 등</a:t>
            </a:r>
            <a:r>
              <a:rPr lang="en-US" altLang="ko-KR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)</a:t>
            </a:r>
            <a:r>
              <a:rPr lang="ko-KR" altLang="en-US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을 정교하게 </a:t>
            </a:r>
            <a:r>
              <a:rPr lang="ko-KR" altLang="en-US" sz="1200" u="none" strike="noStrike" spc="-100" dirty="0" err="1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걸러</a:t>
            </a:r>
            <a:r>
              <a:rPr lang="ko-KR" altLang="en-US" sz="1200" spc="-100" dirty="0" err="1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냄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7FED28F4-8FD8-08C8-FA16-BA7DCF6A8C0E}"/>
              </a:ext>
            </a:extLst>
          </p:cNvPr>
          <p:cNvSpPr/>
          <p:nvPr/>
        </p:nvSpPr>
        <p:spPr>
          <a:xfrm>
            <a:off x="6281524" y="3014984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IDS / IPS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81" name="TextBox 32">
            <a:extLst>
              <a:ext uri="{FF2B5EF4-FFF2-40B4-BE49-F238E27FC236}">
                <a16:creationId xmlns:a16="http://schemas.microsoft.com/office/drawing/2014/main" id="{B432254E-6CAE-13CE-6BE3-C39EB63C74E3}"/>
              </a:ext>
            </a:extLst>
          </p:cNvPr>
          <p:cNvSpPr txBox="1"/>
          <p:nvPr/>
        </p:nvSpPr>
        <p:spPr>
          <a:xfrm>
            <a:off x="7403772" y="2995319"/>
            <a:ext cx="4307390" cy="28966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비정상적인 네트워크 패턴을 분석하여 공격 시도를 감지하고 차단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35AA32D9-9FCB-2B6E-6E18-5F502F5737BC}"/>
              </a:ext>
            </a:extLst>
          </p:cNvPr>
          <p:cNvSpPr/>
          <p:nvPr/>
        </p:nvSpPr>
        <p:spPr>
          <a:xfrm>
            <a:off x="6281524" y="4935697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CSPM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83" name="TextBox 32">
            <a:extLst>
              <a:ext uri="{FF2B5EF4-FFF2-40B4-BE49-F238E27FC236}">
                <a16:creationId xmlns:a16="http://schemas.microsoft.com/office/drawing/2014/main" id="{81F13ED5-D203-064F-CD18-C34F0B3115AC}"/>
              </a:ext>
            </a:extLst>
          </p:cNvPr>
          <p:cNvSpPr txBox="1"/>
          <p:nvPr/>
        </p:nvSpPr>
        <p:spPr>
          <a:xfrm>
            <a:off x="7403771" y="4916032"/>
            <a:ext cx="4350361" cy="286281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설정 오류를 자동 탐지하고 규정 위반 사항을 실시간으로 알림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38CA0BC3-0BDC-29D9-098B-9AF8B2B40B5A}"/>
              </a:ext>
            </a:extLst>
          </p:cNvPr>
          <p:cNvSpPr/>
          <p:nvPr/>
        </p:nvSpPr>
        <p:spPr>
          <a:xfrm>
            <a:off x="6281524" y="5372630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SIEM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85" name="TextBox 32">
            <a:extLst>
              <a:ext uri="{FF2B5EF4-FFF2-40B4-BE49-F238E27FC236}">
                <a16:creationId xmlns:a16="http://schemas.microsoft.com/office/drawing/2014/main" id="{B7C29745-CC16-DC97-7743-E8B0EEFF6797}"/>
              </a:ext>
            </a:extLst>
          </p:cNvPr>
          <p:cNvSpPr txBox="1"/>
          <p:nvPr/>
        </p:nvSpPr>
        <p:spPr>
          <a:xfrm>
            <a:off x="7403772" y="5352965"/>
            <a:ext cx="4163373" cy="28966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보안 이벤트를 중앙에서 수집</a:t>
            </a:r>
            <a:r>
              <a:rPr lang="en-US" altLang="ko-KR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·</a:t>
            </a:r>
            <a:r>
              <a:rPr lang="ko-KR" altLang="en-US" sz="1200" u="none" strike="noStrike" spc="-100" dirty="0">
                <a:latin typeface="NanumSquare" panose="020B0600000101010101" pitchFamily="50" charset="-127"/>
                <a:ea typeface="NanumSquare" panose="020B0600000101010101" pitchFamily="50" charset="-127"/>
                <a:cs typeface="Nirmala Text" panose="020B0502040204020203" pitchFamily="34" charset="0"/>
              </a:rPr>
              <a:t>분석하여 사고 발생 시 신속하게 대응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74F8DAF1-BC68-D193-8821-9649226BCC60}"/>
              </a:ext>
            </a:extLst>
          </p:cNvPr>
          <p:cNvSpPr/>
          <p:nvPr/>
        </p:nvSpPr>
        <p:spPr>
          <a:xfrm>
            <a:off x="6281524" y="5823296"/>
            <a:ext cx="1008112" cy="270000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감사 로그</a:t>
            </a:r>
          </a:p>
        </p:txBody>
      </p:sp>
      <p:sp>
        <p:nvSpPr>
          <p:cNvPr id="87" name="TextBox 32">
            <a:extLst>
              <a:ext uri="{FF2B5EF4-FFF2-40B4-BE49-F238E27FC236}">
                <a16:creationId xmlns:a16="http://schemas.microsoft.com/office/drawing/2014/main" id="{F7986D51-D3C9-9655-2F39-B3B49A32E7BD}"/>
              </a:ext>
            </a:extLst>
          </p:cNvPr>
          <p:cNvSpPr txBox="1"/>
          <p:nvPr/>
        </p:nvSpPr>
        <p:spPr>
          <a:xfrm>
            <a:off x="7403772" y="5803631"/>
            <a:ext cx="4307390" cy="28966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>
              <a:lnSpc>
                <a:spcPct val="107899"/>
              </a:lnSpc>
            </a:pP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모든 활동</a:t>
            </a:r>
            <a:r>
              <a:rPr lang="ko-KR" altLang="en-US" sz="1200" dirty="0">
                <a:latin typeface="NanumSquare" panose="020B0600000101010101" pitchFamily="50" charset="-127"/>
                <a:ea typeface="NanumSquare" panose="020B0600000101010101" pitchFamily="50" charset="-127"/>
              </a:rPr>
              <a:t>을</a:t>
            </a: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 남겨 사후 추적성을 확보하고</a:t>
            </a:r>
            <a:r>
              <a:rPr lang="en-US" altLang="ko-KR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, </a:t>
            </a:r>
            <a:r>
              <a:rPr lang="ko-KR" altLang="en-US" sz="1200" b="0" i="0" dirty="0"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산업별 보안 표준을 충족</a:t>
            </a:r>
            <a:endParaRPr lang="en-US" altLang="ko-KR" sz="1200" b="0" i="0" u="none" strike="noStrike" spc="-100" dirty="0">
              <a:latin typeface="NanumSquare" panose="020B0600000101010101" pitchFamily="50" charset="-127"/>
              <a:ea typeface="NanumSquare" panose="020B0600000101010101" pitchFamily="50" charset="-127"/>
              <a:cs typeface="Nirmala Tex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897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385200" y="288001"/>
            <a:ext cx="8280000" cy="19045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algn="l" defTabSz="914400" rtl="0" eaLnBrk="1" latinLnBrk="1" hangingPunct="1">
              <a:lnSpc>
                <a:spcPct val="110000"/>
              </a:lnSpc>
              <a:spcBef>
                <a:spcPct val="0"/>
              </a:spcBef>
              <a:buNone/>
              <a:defRPr lang="ko-KR" altLang="en-US" sz="3600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4. </a:t>
            </a:r>
            <a:r>
              <a:rPr lang="ko-KR" altLang="en-US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네이버</a:t>
            </a:r>
            <a:r>
              <a:rPr lang="en-US" altLang="ko-KR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 </a:t>
            </a:r>
            <a:r>
              <a:rPr lang="ko-KR" altLang="en-US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클라우드 인프라 구조 분석</a:t>
            </a:r>
          </a:p>
        </p:txBody>
      </p:sp>
    </p:spTree>
    <p:extLst>
      <p:ext uri="{BB962C8B-B14F-4D97-AF65-F5344CB8AC3E}">
        <p14:creationId xmlns:p14="http://schemas.microsoft.com/office/powerpoint/2010/main" val="397089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4.1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보안 </a:t>
            </a:r>
            <a:r>
              <a:rPr lang="ko-KR" altLang="en-US" sz="2400" b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아키텍쳐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구성 영역</a:t>
            </a:r>
          </a:p>
        </p:txBody>
      </p: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6E0CBBBE-C10A-62EC-6993-B37BFCB8B531}"/>
              </a:ext>
            </a:extLst>
          </p:cNvPr>
          <p:cNvGrpSpPr/>
          <p:nvPr/>
        </p:nvGrpSpPr>
        <p:grpSpPr>
          <a:xfrm>
            <a:off x="418588" y="1764873"/>
            <a:ext cx="3414969" cy="4688463"/>
            <a:chOff x="418588" y="1764873"/>
            <a:chExt cx="3414969" cy="4688463"/>
          </a:xfrm>
        </p:grpSpPr>
        <p:sp>
          <p:nvSpPr>
            <p:cNvPr id="2" name="cb100">
              <a:extLst>
                <a:ext uri="{FF2B5EF4-FFF2-40B4-BE49-F238E27FC236}">
                  <a16:creationId xmlns:a16="http://schemas.microsoft.com/office/drawing/2014/main" id="{CB5B2F16-7BE5-D5B1-23DC-6395D3A93560}"/>
                </a:ext>
              </a:extLst>
            </p:cNvPr>
            <p:cNvSpPr/>
            <p:nvPr/>
          </p:nvSpPr>
          <p:spPr>
            <a:xfrm>
              <a:off x="418588" y="1914244"/>
              <a:ext cx="3414969" cy="4539092"/>
            </a:xfrm>
            <a:prstGeom prst="round2SameRect">
              <a:avLst>
                <a:gd name="adj1" fmla="val 2669"/>
                <a:gd name="adj2" fmla="val 0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</p:txBody>
        </p:sp>
        <p:sp>
          <p:nvSpPr>
            <p:cNvPr id="3" name="p101">
              <a:extLst>
                <a:ext uri="{FF2B5EF4-FFF2-40B4-BE49-F238E27FC236}">
                  <a16:creationId xmlns:a16="http://schemas.microsoft.com/office/drawing/2014/main" id="{1238AF10-6115-B7C4-BC62-C5CD1431A7C1}"/>
                </a:ext>
              </a:extLst>
            </p:cNvPr>
            <p:cNvSpPr/>
            <p:nvPr/>
          </p:nvSpPr>
          <p:spPr>
            <a:xfrm>
              <a:off x="626072" y="1764873"/>
              <a:ext cx="3000000" cy="318847"/>
            </a:xfrm>
            <a:prstGeom prst="roundRect">
              <a:avLst>
                <a:gd name="adj" fmla="val 50000"/>
              </a:avLst>
            </a:prstGeom>
            <a:solidFill>
              <a:srgbClr val="009F0F"/>
            </a:solidFill>
            <a:ln>
              <a:noFill/>
            </a:ln>
            <a:effectLst>
              <a:outerShdw blurRad="254000" dist="38100" dir="5400000" algn="t" rotWithShape="0">
                <a:schemeClr val="tx1">
                  <a:lumMod val="65000"/>
                  <a:lumOff val="3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3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관리적 보안</a:t>
              </a:r>
            </a:p>
          </p:txBody>
        </p:sp>
        <p:sp>
          <p:nvSpPr>
            <p:cNvPr id="4" name="tx102">
              <a:extLst>
                <a:ext uri="{FF2B5EF4-FFF2-40B4-BE49-F238E27FC236}">
                  <a16:creationId xmlns:a16="http://schemas.microsoft.com/office/drawing/2014/main" id="{9139BB42-3BC9-0EC9-DA9A-228F364564A6}"/>
                </a:ext>
              </a:extLst>
            </p:cNvPr>
            <p:cNvSpPr txBox="1"/>
            <p:nvPr/>
          </p:nvSpPr>
          <p:spPr>
            <a:xfrm>
              <a:off x="518588" y="2163096"/>
              <a:ext cx="32149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조직 차원의 정책·제도·감사 중심</a:t>
              </a:r>
            </a:p>
          </p:txBody>
        </p:sp>
        <p:pic>
          <p:nvPicPr>
            <p:cNvPr id="49" name="Picture 9">
              <a:extLst>
                <a:ext uri="{FF2B5EF4-FFF2-40B4-BE49-F238E27FC236}">
                  <a16:creationId xmlns:a16="http://schemas.microsoft.com/office/drawing/2014/main" id="{390E6534-1A48-EFC7-964F-2441D6B5F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552868" y="3115806"/>
              <a:ext cx="3154280" cy="7885"/>
            </a:xfrm>
            <a:prstGeom prst="rect">
              <a:avLst/>
            </a:prstGeom>
          </p:spPr>
        </p:pic>
        <p:sp>
          <p:nvSpPr>
            <p:cNvPr id="53" name="TextBox 32">
              <a:extLst>
                <a:ext uri="{FF2B5EF4-FFF2-40B4-BE49-F238E27FC236}">
                  <a16:creationId xmlns:a16="http://schemas.microsoft.com/office/drawing/2014/main" id="{9A727BAF-3263-2665-04BA-799A579CD0AD}"/>
                </a:ext>
              </a:extLst>
            </p:cNvPr>
            <p:cNvSpPr txBox="1"/>
            <p:nvPr/>
          </p:nvSpPr>
          <p:spPr>
            <a:xfrm>
              <a:off x="945197" y="2501123"/>
              <a:ext cx="2667000" cy="317500"/>
            </a:xfrm>
            <a:prstGeom prst="rect">
              <a:avLst/>
            </a:prstGeom>
          </p:spPr>
          <p:txBody>
            <a:bodyPr lIns="0" tIns="33867" rIns="0" bIns="33867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200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컴플라이언스</a:t>
              </a:r>
              <a:endParaRPr lang="en-US" sz="120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54" name="TextBox 33">
              <a:extLst>
                <a:ext uri="{FF2B5EF4-FFF2-40B4-BE49-F238E27FC236}">
                  <a16:creationId xmlns:a16="http://schemas.microsoft.com/office/drawing/2014/main" id="{5D74D31A-CC18-A90B-48DC-02EF5E6A8B49}"/>
                </a:ext>
              </a:extLst>
            </p:cNvPr>
            <p:cNvSpPr txBox="1"/>
            <p:nvPr/>
          </p:nvSpPr>
          <p:spPr>
            <a:xfrm>
              <a:off x="945197" y="2774642"/>
              <a:ext cx="2808360" cy="265246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준수 여부 관리 및 법</a:t>
              </a:r>
              <a:r>
                <a:rPr lang="en-US" altLang="ko-KR" sz="1100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·</a:t>
              </a:r>
              <a:r>
                <a:rPr lang="ko-KR" altLang="en-US" sz="1100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제도 변화 대응</a:t>
              </a:r>
              <a:endParaRPr lang="en-US" sz="1100" b="0" i="0" u="none" strike="noStrike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Light"/>
              </a:endParaRPr>
            </a:p>
          </p:txBody>
        </p:sp>
        <p:grpSp>
          <p:nvGrpSpPr>
            <p:cNvPr id="57" name="그룹 56">
              <a:extLst>
                <a:ext uri="{FF2B5EF4-FFF2-40B4-BE49-F238E27FC236}">
                  <a16:creationId xmlns:a16="http://schemas.microsoft.com/office/drawing/2014/main" id="{3BA99B7A-C289-BF6B-FD41-83040CFDA9A0}"/>
                </a:ext>
              </a:extLst>
            </p:cNvPr>
            <p:cNvGrpSpPr/>
            <p:nvPr/>
          </p:nvGrpSpPr>
          <p:grpSpPr>
            <a:xfrm>
              <a:off x="612832" y="2531793"/>
              <a:ext cx="216025" cy="266700"/>
              <a:chOff x="-888776" y="2535726"/>
              <a:chExt cx="216025" cy="266700"/>
            </a:xfrm>
          </p:grpSpPr>
          <p:sp>
            <p:nvSpPr>
              <p:cNvPr id="56" name="타원 55">
                <a:extLst>
                  <a:ext uri="{FF2B5EF4-FFF2-40B4-BE49-F238E27FC236}">
                    <a16:creationId xmlns:a16="http://schemas.microsoft.com/office/drawing/2014/main" id="{85631629-85F9-2C55-DE09-ECEE6D8527D2}"/>
                  </a:ext>
                </a:extLst>
              </p:cNvPr>
              <p:cNvSpPr/>
              <p:nvPr/>
            </p:nvSpPr>
            <p:spPr>
              <a:xfrm>
                <a:off x="-888776" y="2561064"/>
                <a:ext cx="216024" cy="216024"/>
              </a:xfrm>
              <a:prstGeom prst="ellipse">
                <a:avLst/>
              </a:prstGeom>
              <a:solidFill>
                <a:srgbClr val="07C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TextBox 26">
                <a:extLst>
                  <a:ext uri="{FF2B5EF4-FFF2-40B4-BE49-F238E27FC236}">
                    <a16:creationId xmlns:a16="http://schemas.microsoft.com/office/drawing/2014/main" id="{C9DCC044-6ECA-6D96-78DC-FFCBF38D3E6E}"/>
                  </a:ext>
                </a:extLst>
              </p:cNvPr>
              <p:cNvSpPr txBox="1"/>
              <p:nvPr/>
            </p:nvSpPr>
            <p:spPr>
              <a:xfrm>
                <a:off x="-888776" y="2535726"/>
                <a:ext cx="216025" cy="266700"/>
              </a:xfrm>
              <a:prstGeom prst="rect">
                <a:avLst/>
              </a:prstGeom>
            </p:spPr>
            <p:txBody>
              <a:bodyPr lIns="0" tIns="27093" rIns="0" bIns="27093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1100" b="0" i="0" u="none" strike="noStrike" cap="all" dirty="0">
                    <a:solidFill>
                      <a:srgbClr val="FFFFFF"/>
                    </a:solidFill>
                    <a:latin typeface="NanumSquare" panose="020B0600000101010101" pitchFamily="50" charset="-127"/>
                    <a:ea typeface="NanumSquare" panose="020B0600000101010101" pitchFamily="50" charset="-127"/>
                    <a:cs typeface="Pretendard Regular"/>
                  </a:rPr>
                  <a:t>1</a:t>
                </a:r>
              </a:p>
            </p:txBody>
          </p:sp>
        </p:grpSp>
        <p:pic>
          <p:nvPicPr>
            <p:cNvPr id="58" name="Picture 9">
              <a:extLst>
                <a:ext uri="{FF2B5EF4-FFF2-40B4-BE49-F238E27FC236}">
                  <a16:creationId xmlns:a16="http://schemas.microsoft.com/office/drawing/2014/main" id="{4956E8C4-8170-FC92-3E14-C74791BF1D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552868" y="3880428"/>
              <a:ext cx="3154280" cy="7885"/>
            </a:xfrm>
            <a:prstGeom prst="rect">
              <a:avLst/>
            </a:prstGeom>
          </p:spPr>
        </p:pic>
        <p:sp>
          <p:nvSpPr>
            <p:cNvPr id="59" name="TextBox 32">
              <a:extLst>
                <a:ext uri="{FF2B5EF4-FFF2-40B4-BE49-F238E27FC236}">
                  <a16:creationId xmlns:a16="http://schemas.microsoft.com/office/drawing/2014/main" id="{65801041-3210-0DC6-7CF4-97F50DC13EA3}"/>
                </a:ext>
              </a:extLst>
            </p:cNvPr>
            <p:cNvSpPr txBox="1"/>
            <p:nvPr/>
          </p:nvSpPr>
          <p:spPr>
            <a:xfrm>
              <a:off x="945197" y="3265745"/>
              <a:ext cx="2667000" cy="317500"/>
            </a:xfrm>
            <a:prstGeom prst="rect">
              <a:avLst/>
            </a:prstGeom>
          </p:spPr>
          <p:txBody>
            <a:bodyPr lIns="0" tIns="33867" rIns="0" bIns="33867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200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보안 정책</a:t>
              </a:r>
              <a:endParaRPr lang="en-US" sz="120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60" name="TextBox 33">
              <a:extLst>
                <a:ext uri="{FF2B5EF4-FFF2-40B4-BE49-F238E27FC236}">
                  <a16:creationId xmlns:a16="http://schemas.microsoft.com/office/drawing/2014/main" id="{A827122B-876B-5D90-E82C-E5B381DD32DF}"/>
                </a:ext>
              </a:extLst>
            </p:cNvPr>
            <p:cNvSpPr txBox="1"/>
            <p:nvPr/>
          </p:nvSpPr>
          <p:spPr>
            <a:xfrm>
              <a:off x="945197" y="3539264"/>
              <a:ext cx="2808360" cy="265246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수립 및 지속적 유지</a:t>
              </a:r>
              <a:r>
                <a:rPr lang="en-US" altLang="ko-KR" sz="1100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 ·</a:t>
              </a:r>
              <a:r>
                <a:rPr lang="ko-KR" altLang="en-US" sz="1100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관리</a:t>
              </a:r>
              <a:endParaRPr lang="en-US" sz="1100" b="0" i="0" u="none" strike="noStrike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Light"/>
              </a:endParaRPr>
            </a:p>
          </p:txBody>
        </p: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11E1DEE3-4E51-3D84-0650-F0A0D44E0592}"/>
                </a:ext>
              </a:extLst>
            </p:cNvPr>
            <p:cNvGrpSpPr/>
            <p:nvPr/>
          </p:nvGrpSpPr>
          <p:grpSpPr>
            <a:xfrm>
              <a:off x="612832" y="3296415"/>
              <a:ext cx="216025" cy="266700"/>
              <a:chOff x="-888776" y="2535726"/>
              <a:chExt cx="216025" cy="266700"/>
            </a:xfrm>
          </p:grpSpPr>
          <p:sp>
            <p:nvSpPr>
              <p:cNvPr id="62" name="타원 61">
                <a:extLst>
                  <a:ext uri="{FF2B5EF4-FFF2-40B4-BE49-F238E27FC236}">
                    <a16:creationId xmlns:a16="http://schemas.microsoft.com/office/drawing/2014/main" id="{7AE3B15F-5F4D-B857-824D-C3EF643B72DE}"/>
                  </a:ext>
                </a:extLst>
              </p:cNvPr>
              <p:cNvSpPr/>
              <p:nvPr/>
            </p:nvSpPr>
            <p:spPr>
              <a:xfrm>
                <a:off x="-888776" y="2561064"/>
                <a:ext cx="216024" cy="216024"/>
              </a:xfrm>
              <a:prstGeom prst="ellipse">
                <a:avLst/>
              </a:prstGeom>
              <a:solidFill>
                <a:srgbClr val="07C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TextBox 26">
                <a:extLst>
                  <a:ext uri="{FF2B5EF4-FFF2-40B4-BE49-F238E27FC236}">
                    <a16:creationId xmlns:a16="http://schemas.microsoft.com/office/drawing/2014/main" id="{70170915-D19A-101B-49BC-05FC99A39B70}"/>
                  </a:ext>
                </a:extLst>
              </p:cNvPr>
              <p:cNvSpPr txBox="1"/>
              <p:nvPr/>
            </p:nvSpPr>
            <p:spPr>
              <a:xfrm>
                <a:off x="-888776" y="2535726"/>
                <a:ext cx="216025" cy="266700"/>
              </a:xfrm>
              <a:prstGeom prst="rect">
                <a:avLst/>
              </a:prstGeom>
            </p:spPr>
            <p:txBody>
              <a:bodyPr lIns="0" tIns="27093" rIns="0" bIns="27093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1100" cap="all" dirty="0">
                    <a:solidFill>
                      <a:srgbClr val="FFFFFF"/>
                    </a:solidFill>
                    <a:latin typeface="NanumSquare" panose="020B0600000101010101" pitchFamily="50" charset="-127"/>
                    <a:ea typeface="NanumSquare" panose="020B0600000101010101" pitchFamily="50" charset="-127"/>
                    <a:cs typeface="Pretendard Regular"/>
                  </a:rPr>
                  <a:t>2</a:t>
                </a:r>
                <a:endParaRPr lang="en-US" sz="1100" b="0" i="0" u="none" strike="noStrike" cap="all" dirty="0">
                  <a:solidFill>
                    <a:srgbClr val="FFFFFF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endParaRPr>
              </a:p>
            </p:txBody>
          </p:sp>
        </p:grpSp>
        <p:pic>
          <p:nvPicPr>
            <p:cNvPr id="64" name="Picture 9">
              <a:extLst>
                <a:ext uri="{FF2B5EF4-FFF2-40B4-BE49-F238E27FC236}">
                  <a16:creationId xmlns:a16="http://schemas.microsoft.com/office/drawing/2014/main" id="{8E0F30CF-60DA-C189-34D7-C2ACBC60C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552868" y="4649302"/>
              <a:ext cx="3154280" cy="7885"/>
            </a:xfrm>
            <a:prstGeom prst="rect">
              <a:avLst/>
            </a:prstGeom>
          </p:spPr>
        </p:pic>
        <p:sp>
          <p:nvSpPr>
            <p:cNvPr id="65" name="TextBox 32">
              <a:extLst>
                <a:ext uri="{FF2B5EF4-FFF2-40B4-BE49-F238E27FC236}">
                  <a16:creationId xmlns:a16="http://schemas.microsoft.com/office/drawing/2014/main" id="{613BC72C-E6C0-BB41-D378-9F041F702541}"/>
                </a:ext>
              </a:extLst>
            </p:cNvPr>
            <p:cNvSpPr txBox="1"/>
            <p:nvPr/>
          </p:nvSpPr>
          <p:spPr>
            <a:xfrm>
              <a:off x="945197" y="4034619"/>
              <a:ext cx="2667000" cy="317500"/>
            </a:xfrm>
            <a:prstGeom prst="rect">
              <a:avLst/>
            </a:prstGeom>
          </p:spPr>
          <p:txBody>
            <a:bodyPr lIns="0" tIns="33867" rIns="0" bIns="33867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200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보안 조치</a:t>
              </a:r>
              <a:endParaRPr lang="en-US" sz="120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66" name="TextBox 33">
              <a:extLst>
                <a:ext uri="{FF2B5EF4-FFF2-40B4-BE49-F238E27FC236}">
                  <a16:creationId xmlns:a16="http://schemas.microsoft.com/office/drawing/2014/main" id="{B18FA36F-DC39-279E-4F33-148B050BFFF1}"/>
                </a:ext>
              </a:extLst>
            </p:cNvPr>
            <p:cNvSpPr txBox="1"/>
            <p:nvPr/>
          </p:nvSpPr>
          <p:spPr>
            <a:xfrm>
              <a:off x="945197" y="4308138"/>
              <a:ext cx="2808360" cy="265246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구성 및 역할 정의</a:t>
              </a:r>
              <a:endParaRPr lang="en-US" sz="1100" b="0" i="0" u="none" strike="noStrike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Light"/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0401078E-5215-085E-5FEC-911F44726BD2}"/>
                </a:ext>
              </a:extLst>
            </p:cNvPr>
            <p:cNvGrpSpPr/>
            <p:nvPr/>
          </p:nvGrpSpPr>
          <p:grpSpPr>
            <a:xfrm>
              <a:off x="612832" y="4065289"/>
              <a:ext cx="216025" cy="266700"/>
              <a:chOff x="-888776" y="2535726"/>
              <a:chExt cx="216025" cy="266700"/>
            </a:xfrm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13F5E38E-9FEF-1874-E3F9-911DC9773BB1}"/>
                  </a:ext>
                </a:extLst>
              </p:cNvPr>
              <p:cNvSpPr/>
              <p:nvPr/>
            </p:nvSpPr>
            <p:spPr>
              <a:xfrm>
                <a:off x="-888776" y="2561064"/>
                <a:ext cx="216024" cy="216024"/>
              </a:xfrm>
              <a:prstGeom prst="ellipse">
                <a:avLst/>
              </a:prstGeom>
              <a:solidFill>
                <a:srgbClr val="07C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TextBox 26">
                <a:extLst>
                  <a:ext uri="{FF2B5EF4-FFF2-40B4-BE49-F238E27FC236}">
                    <a16:creationId xmlns:a16="http://schemas.microsoft.com/office/drawing/2014/main" id="{2837E0F5-C26E-CFD4-55C7-82537AC49202}"/>
                  </a:ext>
                </a:extLst>
              </p:cNvPr>
              <p:cNvSpPr txBox="1"/>
              <p:nvPr/>
            </p:nvSpPr>
            <p:spPr>
              <a:xfrm>
                <a:off x="-888776" y="2535726"/>
                <a:ext cx="216025" cy="266700"/>
              </a:xfrm>
              <a:prstGeom prst="rect">
                <a:avLst/>
              </a:prstGeom>
            </p:spPr>
            <p:txBody>
              <a:bodyPr lIns="0" tIns="27093" rIns="0" bIns="27093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1100" cap="all" dirty="0">
                    <a:solidFill>
                      <a:srgbClr val="FFFFFF"/>
                    </a:solidFill>
                    <a:latin typeface="NanumSquare" panose="020B0600000101010101" pitchFamily="50" charset="-127"/>
                    <a:ea typeface="NanumSquare" panose="020B0600000101010101" pitchFamily="50" charset="-127"/>
                    <a:cs typeface="Pretendard Regular"/>
                  </a:rPr>
                  <a:t>3</a:t>
                </a:r>
                <a:endParaRPr lang="en-US" sz="1100" b="0" i="0" u="none" strike="noStrike" cap="all" dirty="0">
                  <a:solidFill>
                    <a:srgbClr val="FFFFFF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endParaRPr>
              </a:p>
            </p:txBody>
          </p:sp>
        </p:grpSp>
        <p:sp>
          <p:nvSpPr>
            <p:cNvPr id="71" name="TextBox 32">
              <a:extLst>
                <a:ext uri="{FF2B5EF4-FFF2-40B4-BE49-F238E27FC236}">
                  <a16:creationId xmlns:a16="http://schemas.microsoft.com/office/drawing/2014/main" id="{393D94E4-6E96-5177-A33F-33DA1587ACE9}"/>
                </a:ext>
              </a:extLst>
            </p:cNvPr>
            <p:cNvSpPr txBox="1"/>
            <p:nvPr/>
          </p:nvSpPr>
          <p:spPr>
            <a:xfrm>
              <a:off x="945197" y="4799241"/>
              <a:ext cx="2667000" cy="317500"/>
            </a:xfrm>
            <a:prstGeom prst="rect">
              <a:avLst/>
            </a:prstGeom>
          </p:spPr>
          <p:txBody>
            <a:bodyPr lIns="0" tIns="33867" rIns="0" bIns="33867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200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보안 감사</a:t>
              </a:r>
              <a:endParaRPr lang="en-US" sz="120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72" name="TextBox 33">
              <a:extLst>
                <a:ext uri="{FF2B5EF4-FFF2-40B4-BE49-F238E27FC236}">
                  <a16:creationId xmlns:a16="http://schemas.microsoft.com/office/drawing/2014/main" id="{A2DCA27E-3115-30D3-7A36-3391646F2602}"/>
                </a:ext>
              </a:extLst>
            </p:cNvPr>
            <p:cNvSpPr txBox="1"/>
            <p:nvPr/>
          </p:nvSpPr>
          <p:spPr>
            <a:xfrm>
              <a:off x="945197" y="5072760"/>
              <a:ext cx="2808360" cy="265246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100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정기적 </a:t>
              </a:r>
              <a:r>
                <a:rPr lang="en-US" altLang="ko-KR" sz="1100" dirty="0" err="1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Aduit</a:t>
              </a:r>
              <a:r>
                <a:rPr lang="en-US" altLang="ko-KR" sz="1100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 </a:t>
              </a:r>
              <a:r>
                <a:rPr lang="ko-KR" altLang="en-US" sz="1100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수행</a:t>
              </a:r>
              <a:endParaRPr lang="en-US" sz="1100" b="0" i="0" u="none" strike="noStrike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Light"/>
              </a:endParaRPr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C7B99BAC-B37D-667B-68ED-A04879D21118}"/>
                </a:ext>
              </a:extLst>
            </p:cNvPr>
            <p:cNvGrpSpPr/>
            <p:nvPr/>
          </p:nvGrpSpPr>
          <p:grpSpPr>
            <a:xfrm>
              <a:off x="612832" y="4829911"/>
              <a:ext cx="216025" cy="266700"/>
              <a:chOff x="-888776" y="2535726"/>
              <a:chExt cx="216025" cy="266700"/>
            </a:xfrm>
          </p:grpSpPr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D2B3D77F-8D44-B5EF-A9B7-C498AF68B2FC}"/>
                  </a:ext>
                </a:extLst>
              </p:cNvPr>
              <p:cNvSpPr/>
              <p:nvPr/>
            </p:nvSpPr>
            <p:spPr>
              <a:xfrm>
                <a:off x="-888776" y="2561064"/>
                <a:ext cx="216024" cy="216024"/>
              </a:xfrm>
              <a:prstGeom prst="ellipse">
                <a:avLst/>
              </a:prstGeom>
              <a:solidFill>
                <a:srgbClr val="07C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TextBox 26">
                <a:extLst>
                  <a:ext uri="{FF2B5EF4-FFF2-40B4-BE49-F238E27FC236}">
                    <a16:creationId xmlns:a16="http://schemas.microsoft.com/office/drawing/2014/main" id="{28CF5517-EA10-8A72-A6DE-1C5BD40080A3}"/>
                  </a:ext>
                </a:extLst>
              </p:cNvPr>
              <p:cNvSpPr txBox="1"/>
              <p:nvPr/>
            </p:nvSpPr>
            <p:spPr>
              <a:xfrm>
                <a:off x="-888776" y="2535726"/>
                <a:ext cx="216025" cy="266700"/>
              </a:xfrm>
              <a:prstGeom prst="rect">
                <a:avLst/>
              </a:prstGeom>
            </p:spPr>
            <p:txBody>
              <a:bodyPr lIns="0" tIns="27093" rIns="0" bIns="27093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1100" b="0" i="0" u="none" strike="noStrike" cap="all" dirty="0">
                    <a:solidFill>
                      <a:srgbClr val="FFFFFF"/>
                    </a:solidFill>
                    <a:latin typeface="NanumSquare" panose="020B0600000101010101" pitchFamily="50" charset="-127"/>
                    <a:ea typeface="NanumSquare" panose="020B0600000101010101" pitchFamily="50" charset="-127"/>
                    <a:cs typeface="Pretendard Regular"/>
                  </a:rPr>
                  <a:t>4</a:t>
                </a:r>
              </a:p>
            </p:txBody>
          </p:sp>
        </p:grpSp>
        <p:pic>
          <p:nvPicPr>
            <p:cNvPr id="78" name="Picture 4">
              <a:extLst>
                <a:ext uri="{FF2B5EF4-FFF2-40B4-BE49-F238E27FC236}">
                  <a16:creationId xmlns:a16="http://schemas.microsoft.com/office/drawing/2014/main" id="{26B3F4D3-CA4D-802C-64B8-EEA09DAE6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1273" y="5595529"/>
              <a:ext cx="3169598" cy="708550"/>
            </a:xfrm>
            <a:prstGeom prst="rect">
              <a:avLst/>
            </a:prstGeom>
          </p:spPr>
        </p:pic>
        <p:sp>
          <p:nvSpPr>
            <p:cNvPr id="79" name="TextBox 34">
              <a:extLst>
                <a:ext uri="{FF2B5EF4-FFF2-40B4-BE49-F238E27FC236}">
                  <a16:creationId xmlns:a16="http://schemas.microsoft.com/office/drawing/2014/main" id="{4B191C3D-993D-0135-62A1-83B4DCF7AC55}"/>
                </a:ext>
              </a:extLst>
            </p:cNvPr>
            <p:cNvSpPr txBox="1"/>
            <p:nvPr/>
          </p:nvSpPr>
          <p:spPr>
            <a:xfrm>
              <a:off x="651701" y="5637800"/>
              <a:ext cx="2948742" cy="587749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100" dirty="0" err="1">
                  <a:latin typeface="NanumSquare" panose="020B0600000101010101" pitchFamily="50" charset="-127"/>
                  <a:ea typeface="NanumSquare" panose="020B0600000101010101" pitchFamily="50" charset="-127"/>
                </a:rPr>
                <a:t>법·제도</a:t>
              </a:r>
              <a:r>
                <a:rPr lang="ko-KR" altLang="en-US" sz="1100" dirty="0">
                  <a:latin typeface="NanumSquare" panose="020B0600000101010101" pitchFamily="50" charset="-127"/>
                  <a:ea typeface="NanumSquare" panose="020B0600000101010101" pitchFamily="50" charset="-127"/>
                </a:rPr>
                <a:t> 변화에 따라 지속적으로 </a:t>
              </a:r>
              <a:r>
                <a:rPr lang="ko-KR" altLang="en-US" sz="1100" dirty="0" err="1">
                  <a:latin typeface="NanumSquare" panose="020B0600000101010101" pitchFamily="50" charset="-127"/>
                  <a:ea typeface="NanumSquare" panose="020B0600000101010101" pitchFamily="50" charset="-127"/>
                </a:rPr>
                <a:t>점검·관리</a:t>
              </a:r>
              <a:endParaRPr lang="en-US" altLang="ko-KR" sz="1100" dirty="0"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  <a:p>
              <a:pPr algn="ctr">
                <a:lnSpc>
                  <a:spcPct val="107899"/>
                </a:lnSpc>
              </a:pPr>
              <a:r>
                <a:rPr lang="ko-KR" altLang="en-US" sz="1100" dirty="0">
                  <a:solidFill>
                    <a:srgbClr val="009F0F"/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" 보안 기준과 운영 방향을 정의하는 영역 "</a:t>
              </a:r>
            </a:p>
          </p:txBody>
        </p:sp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0BBCFD01-B4B1-3AF9-0A9E-9CBE09886B4F}"/>
              </a:ext>
            </a:extLst>
          </p:cNvPr>
          <p:cNvGrpSpPr/>
          <p:nvPr/>
        </p:nvGrpSpPr>
        <p:grpSpPr>
          <a:xfrm>
            <a:off x="8340100" y="1764873"/>
            <a:ext cx="3414969" cy="4688463"/>
            <a:chOff x="8132616" y="1764873"/>
            <a:chExt cx="3414969" cy="4688463"/>
          </a:xfrm>
        </p:grpSpPr>
        <p:sp>
          <p:nvSpPr>
            <p:cNvPr id="167" name="cb100">
              <a:extLst>
                <a:ext uri="{FF2B5EF4-FFF2-40B4-BE49-F238E27FC236}">
                  <a16:creationId xmlns:a16="http://schemas.microsoft.com/office/drawing/2014/main" id="{A1EC6922-FA0E-00B9-4611-64B56FF8A6F3}"/>
                </a:ext>
              </a:extLst>
            </p:cNvPr>
            <p:cNvSpPr/>
            <p:nvPr/>
          </p:nvSpPr>
          <p:spPr>
            <a:xfrm>
              <a:off x="8132616" y="1914243"/>
              <a:ext cx="3414969" cy="4539093"/>
            </a:xfrm>
            <a:prstGeom prst="round2SameRect">
              <a:avLst>
                <a:gd name="adj1" fmla="val 2669"/>
                <a:gd name="adj2" fmla="val 0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</p:txBody>
        </p:sp>
        <p:sp>
          <p:nvSpPr>
            <p:cNvPr id="168" name="p101">
              <a:extLst>
                <a:ext uri="{FF2B5EF4-FFF2-40B4-BE49-F238E27FC236}">
                  <a16:creationId xmlns:a16="http://schemas.microsoft.com/office/drawing/2014/main" id="{5019372D-C04B-6788-504A-876BCC525FD4}"/>
                </a:ext>
              </a:extLst>
            </p:cNvPr>
            <p:cNvSpPr/>
            <p:nvPr/>
          </p:nvSpPr>
          <p:spPr>
            <a:xfrm>
              <a:off x="8340100" y="1764873"/>
              <a:ext cx="3000000" cy="318847"/>
            </a:xfrm>
            <a:prstGeom prst="roundRect">
              <a:avLst>
                <a:gd name="adj" fmla="val 50000"/>
              </a:avLst>
            </a:prstGeom>
            <a:solidFill>
              <a:srgbClr val="009F0F"/>
            </a:solidFill>
            <a:ln>
              <a:noFill/>
            </a:ln>
            <a:effectLst>
              <a:outerShdw blurRad="254000" dist="38100" dir="5400000" algn="t" rotWithShape="0">
                <a:schemeClr val="tx1">
                  <a:lumMod val="65000"/>
                  <a:lumOff val="3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en-US" altLang="ko-KR" sz="13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CSP</a:t>
              </a:r>
              <a:r>
                <a:rPr kumimoji="1" lang="ko-KR" altLang="en-US" sz="13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보안</a:t>
              </a:r>
            </a:p>
          </p:txBody>
        </p:sp>
        <p:sp>
          <p:nvSpPr>
            <p:cNvPr id="169" name="tx102">
              <a:extLst>
                <a:ext uri="{FF2B5EF4-FFF2-40B4-BE49-F238E27FC236}">
                  <a16:creationId xmlns:a16="http://schemas.microsoft.com/office/drawing/2014/main" id="{DC554E4B-B53E-9993-03DD-54EF853F9ECF}"/>
                </a:ext>
              </a:extLst>
            </p:cNvPr>
            <p:cNvSpPr txBox="1"/>
            <p:nvPr/>
          </p:nvSpPr>
          <p:spPr>
            <a:xfrm>
              <a:off x="8232616" y="2163096"/>
              <a:ext cx="32149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클라우드 환경 특성상 CSP 책임 영역</a:t>
              </a:r>
            </a:p>
          </p:txBody>
        </p:sp>
        <p:pic>
          <p:nvPicPr>
            <p:cNvPr id="170" name="Picture 9">
              <a:extLst>
                <a:ext uri="{FF2B5EF4-FFF2-40B4-BE49-F238E27FC236}">
                  <a16:creationId xmlns:a16="http://schemas.microsoft.com/office/drawing/2014/main" id="{C59F0A38-4F83-0909-0F29-554EA6E9F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8266896" y="3115806"/>
              <a:ext cx="3154280" cy="7885"/>
            </a:xfrm>
            <a:prstGeom prst="rect">
              <a:avLst/>
            </a:prstGeom>
          </p:spPr>
        </p:pic>
        <p:sp>
          <p:nvSpPr>
            <p:cNvPr id="171" name="TextBox 32">
              <a:extLst>
                <a:ext uri="{FF2B5EF4-FFF2-40B4-BE49-F238E27FC236}">
                  <a16:creationId xmlns:a16="http://schemas.microsoft.com/office/drawing/2014/main" id="{064F0E38-54B7-C3B4-069F-760F9EE604B0}"/>
                </a:ext>
              </a:extLst>
            </p:cNvPr>
            <p:cNvSpPr txBox="1"/>
            <p:nvPr/>
          </p:nvSpPr>
          <p:spPr>
            <a:xfrm>
              <a:off x="8659225" y="2501123"/>
              <a:ext cx="2667000" cy="317500"/>
            </a:xfrm>
            <a:prstGeom prst="rect">
              <a:avLst/>
            </a:prstGeom>
          </p:spPr>
          <p:txBody>
            <a:bodyPr lIns="0" tIns="33867" rIns="0" bIns="33867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200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가상화 보안</a:t>
              </a:r>
              <a:endParaRPr lang="en-US" sz="120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172" name="TextBox 33">
              <a:extLst>
                <a:ext uri="{FF2B5EF4-FFF2-40B4-BE49-F238E27FC236}">
                  <a16:creationId xmlns:a16="http://schemas.microsoft.com/office/drawing/2014/main" id="{9F61411C-F1EC-9A53-2F2C-C1664DE034E4}"/>
                </a:ext>
              </a:extLst>
            </p:cNvPr>
            <p:cNvSpPr txBox="1"/>
            <p:nvPr/>
          </p:nvSpPr>
          <p:spPr>
            <a:xfrm>
              <a:off x="8659225" y="2774642"/>
              <a:ext cx="2808360" cy="265246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100" b="0" i="0" u="none" strike="noStrike" dirty="0" err="1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하이퍼바이저</a:t>
              </a: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 보호</a:t>
              </a:r>
              <a:r>
                <a:rPr lang="en-US" altLang="ko-KR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, </a:t>
              </a: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가상 자원 분리</a:t>
              </a:r>
              <a:endParaRPr lang="en-US" sz="1100" b="0" i="0" u="none" strike="noStrike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Light"/>
              </a:endParaRPr>
            </a:p>
          </p:txBody>
        </p: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1E56F4C1-9B89-1789-AB91-E26A6095E789}"/>
                </a:ext>
              </a:extLst>
            </p:cNvPr>
            <p:cNvGrpSpPr/>
            <p:nvPr/>
          </p:nvGrpSpPr>
          <p:grpSpPr>
            <a:xfrm>
              <a:off x="8326860" y="2531793"/>
              <a:ext cx="216025" cy="266700"/>
              <a:chOff x="-888776" y="2535726"/>
              <a:chExt cx="216025" cy="266700"/>
            </a:xfrm>
          </p:grpSpPr>
          <p:sp>
            <p:nvSpPr>
              <p:cNvPr id="193" name="타원 192">
                <a:extLst>
                  <a:ext uri="{FF2B5EF4-FFF2-40B4-BE49-F238E27FC236}">
                    <a16:creationId xmlns:a16="http://schemas.microsoft.com/office/drawing/2014/main" id="{90DE68C7-AB7B-58BA-5C39-E457B46ED986}"/>
                  </a:ext>
                </a:extLst>
              </p:cNvPr>
              <p:cNvSpPr/>
              <p:nvPr/>
            </p:nvSpPr>
            <p:spPr>
              <a:xfrm>
                <a:off x="-888776" y="2561064"/>
                <a:ext cx="216024" cy="216024"/>
              </a:xfrm>
              <a:prstGeom prst="ellipse">
                <a:avLst/>
              </a:prstGeom>
              <a:solidFill>
                <a:srgbClr val="07C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4" name="TextBox 26">
                <a:extLst>
                  <a:ext uri="{FF2B5EF4-FFF2-40B4-BE49-F238E27FC236}">
                    <a16:creationId xmlns:a16="http://schemas.microsoft.com/office/drawing/2014/main" id="{D3709898-6B37-63BC-8535-DE2E19A34CF4}"/>
                  </a:ext>
                </a:extLst>
              </p:cNvPr>
              <p:cNvSpPr txBox="1"/>
              <p:nvPr/>
            </p:nvSpPr>
            <p:spPr>
              <a:xfrm>
                <a:off x="-888776" y="2535726"/>
                <a:ext cx="216025" cy="266700"/>
              </a:xfrm>
              <a:prstGeom prst="rect">
                <a:avLst/>
              </a:prstGeom>
            </p:spPr>
            <p:txBody>
              <a:bodyPr lIns="0" tIns="27093" rIns="0" bIns="27093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1100" b="0" i="0" u="none" strike="noStrike" cap="all" dirty="0">
                    <a:solidFill>
                      <a:srgbClr val="FFFFFF"/>
                    </a:solidFill>
                    <a:latin typeface="NanumSquare" panose="020B0600000101010101" pitchFamily="50" charset="-127"/>
                    <a:ea typeface="NanumSquare" panose="020B0600000101010101" pitchFamily="50" charset="-127"/>
                    <a:cs typeface="Pretendard Regular"/>
                  </a:rPr>
                  <a:t>1</a:t>
                </a:r>
              </a:p>
            </p:txBody>
          </p:sp>
        </p:grpSp>
        <p:pic>
          <p:nvPicPr>
            <p:cNvPr id="174" name="Picture 9">
              <a:extLst>
                <a:ext uri="{FF2B5EF4-FFF2-40B4-BE49-F238E27FC236}">
                  <a16:creationId xmlns:a16="http://schemas.microsoft.com/office/drawing/2014/main" id="{FF5C0B7E-FFF1-AB0F-04A6-7AEF5B9B63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8266896" y="3880428"/>
              <a:ext cx="3154280" cy="7885"/>
            </a:xfrm>
            <a:prstGeom prst="rect">
              <a:avLst/>
            </a:prstGeom>
          </p:spPr>
        </p:pic>
        <p:sp>
          <p:nvSpPr>
            <p:cNvPr id="175" name="TextBox 32">
              <a:extLst>
                <a:ext uri="{FF2B5EF4-FFF2-40B4-BE49-F238E27FC236}">
                  <a16:creationId xmlns:a16="http://schemas.microsoft.com/office/drawing/2014/main" id="{03462139-3B76-272C-0E64-E41756418DEB}"/>
                </a:ext>
              </a:extLst>
            </p:cNvPr>
            <p:cNvSpPr txBox="1"/>
            <p:nvPr/>
          </p:nvSpPr>
          <p:spPr>
            <a:xfrm>
              <a:off x="8659225" y="3265745"/>
              <a:ext cx="2667000" cy="317500"/>
            </a:xfrm>
            <a:prstGeom prst="rect">
              <a:avLst/>
            </a:prstGeom>
          </p:spPr>
          <p:txBody>
            <a:bodyPr lIns="0" tIns="33867" rIns="0" bIns="33867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200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물리 보안</a:t>
              </a:r>
              <a:endParaRPr lang="en-US" sz="120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176" name="TextBox 33">
              <a:extLst>
                <a:ext uri="{FF2B5EF4-FFF2-40B4-BE49-F238E27FC236}">
                  <a16:creationId xmlns:a16="http://schemas.microsoft.com/office/drawing/2014/main" id="{88B1E6A1-9EBB-EDF8-D6E6-4BE4F519BA11}"/>
                </a:ext>
              </a:extLst>
            </p:cNvPr>
            <p:cNvSpPr txBox="1"/>
            <p:nvPr/>
          </p:nvSpPr>
          <p:spPr>
            <a:xfrm>
              <a:off x="8659225" y="3539264"/>
              <a:ext cx="2808360" cy="265246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데이터 센터 출입 통제 및 시설 보호</a:t>
              </a:r>
              <a:endParaRPr lang="en-US" sz="1100" b="0" i="0" u="none" strike="noStrike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Light"/>
              </a:endParaRPr>
            </a:p>
          </p:txBody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0D273CF3-776E-B483-13B0-6E1BAD38A3D5}"/>
                </a:ext>
              </a:extLst>
            </p:cNvPr>
            <p:cNvGrpSpPr/>
            <p:nvPr/>
          </p:nvGrpSpPr>
          <p:grpSpPr>
            <a:xfrm>
              <a:off x="8326860" y="3296415"/>
              <a:ext cx="216025" cy="266700"/>
              <a:chOff x="-888776" y="2535726"/>
              <a:chExt cx="216025" cy="266700"/>
            </a:xfrm>
          </p:grpSpPr>
          <p:sp>
            <p:nvSpPr>
              <p:cNvPr id="191" name="타원 190">
                <a:extLst>
                  <a:ext uri="{FF2B5EF4-FFF2-40B4-BE49-F238E27FC236}">
                    <a16:creationId xmlns:a16="http://schemas.microsoft.com/office/drawing/2014/main" id="{803191B6-C405-7DD9-2A56-6906CC0F0566}"/>
                  </a:ext>
                </a:extLst>
              </p:cNvPr>
              <p:cNvSpPr/>
              <p:nvPr/>
            </p:nvSpPr>
            <p:spPr>
              <a:xfrm>
                <a:off x="-888776" y="2561064"/>
                <a:ext cx="216024" cy="216024"/>
              </a:xfrm>
              <a:prstGeom prst="ellipse">
                <a:avLst/>
              </a:prstGeom>
              <a:solidFill>
                <a:srgbClr val="07C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2" name="TextBox 26">
                <a:extLst>
                  <a:ext uri="{FF2B5EF4-FFF2-40B4-BE49-F238E27FC236}">
                    <a16:creationId xmlns:a16="http://schemas.microsoft.com/office/drawing/2014/main" id="{FF255FB6-FF92-B690-13C2-367B9CE330A5}"/>
                  </a:ext>
                </a:extLst>
              </p:cNvPr>
              <p:cNvSpPr txBox="1"/>
              <p:nvPr/>
            </p:nvSpPr>
            <p:spPr>
              <a:xfrm>
                <a:off x="-888776" y="2535726"/>
                <a:ext cx="216025" cy="266700"/>
              </a:xfrm>
              <a:prstGeom prst="rect">
                <a:avLst/>
              </a:prstGeom>
            </p:spPr>
            <p:txBody>
              <a:bodyPr lIns="0" tIns="27093" rIns="0" bIns="27093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1100" cap="all" dirty="0">
                    <a:solidFill>
                      <a:srgbClr val="FFFFFF"/>
                    </a:solidFill>
                    <a:latin typeface="NanumSquare" panose="020B0600000101010101" pitchFamily="50" charset="-127"/>
                    <a:ea typeface="NanumSquare" panose="020B0600000101010101" pitchFamily="50" charset="-127"/>
                    <a:cs typeface="Pretendard Regular"/>
                  </a:rPr>
                  <a:t>2</a:t>
                </a:r>
                <a:endParaRPr lang="en-US" sz="1100" b="0" i="0" u="none" strike="noStrike" cap="all" dirty="0">
                  <a:solidFill>
                    <a:srgbClr val="FFFFFF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endParaRPr>
              </a:p>
            </p:txBody>
          </p:sp>
        </p:grpSp>
        <p:sp>
          <p:nvSpPr>
            <p:cNvPr id="179" name="TextBox 32">
              <a:extLst>
                <a:ext uri="{FF2B5EF4-FFF2-40B4-BE49-F238E27FC236}">
                  <a16:creationId xmlns:a16="http://schemas.microsoft.com/office/drawing/2014/main" id="{1D150491-BEAF-59BD-F71B-255456F4DACF}"/>
                </a:ext>
              </a:extLst>
            </p:cNvPr>
            <p:cNvSpPr txBox="1"/>
            <p:nvPr/>
          </p:nvSpPr>
          <p:spPr>
            <a:xfrm>
              <a:off x="8659225" y="4034619"/>
              <a:ext cx="2667000" cy="317500"/>
            </a:xfrm>
            <a:prstGeom prst="rect">
              <a:avLst/>
            </a:prstGeom>
          </p:spPr>
          <p:txBody>
            <a:bodyPr lIns="0" tIns="33867" rIns="0" bIns="33867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200" b="0" i="0" u="none" strike="noStrike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계약 </a:t>
              </a:r>
              <a:r>
                <a:rPr lang="en-US" altLang="ko-KR" sz="1200" b="0" i="0" u="none" strike="noStrike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· </a:t>
              </a:r>
              <a:r>
                <a:rPr lang="ko-KR" altLang="en-US" sz="1200" b="0" i="0" u="none" strike="noStrike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인증</a:t>
              </a:r>
              <a:endParaRPr lang="en-US" sz="120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180" name="TextBox 33">
              <a:extLst>
                <a:ext uri="{FF2B5EF4-FFF2-40B4-BE49-F238E27FC236}">
                  <a16:creationId xmlns:a16="http://schemas.microsoft.com/office/drawing/2014/main" id="{2ECD8769-55D6-A10B-249E-653F416F2BD0}"/>
                </a:ext>
              </a:extLst>
            </p:cNvPr>
            <p:cNvSpPr txBox="1"/>
            <p:nvPr/>
          </p:nvSpPr>
          <p:spPr>
            <a:xfrm>
              <a:off x="8659225" y="4308138"/>
              <a:ext cx="2808360" cy="265246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l">
                <a:lnSpc>
                  <a:spcPct val="99600"/>
                </a:lnSpc>
              </a:pPr>
              <a:r>
                <a:rPr 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CSP </a:t>
              </a: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보안 수준 검증 및 계약 관리</a:t>
              </a:r>
              <a:endParaRPr lang="en-US" sz="1100" b="0" i="0" u="none" strike="noStrike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Light"/>
              </a:endParaRPr>
            </a:p>
          </p:txBody>
        </p:sp>
        <p:grpSp>
          <p:nvGrpSpPr>
            <p:cNvPr id="181" name="그룹 180">
              <a:extLst>
                <a:ext uri="{FF2B5EF4-FFF2-40B4-BE49-F238E27FC236}">
                  <a16:creationId xmlns:a16="http://schemas.microsoft.com/office/drawing/2014/main" id="{608FB426-74F2-FBDF-E15B-541046910B9D}"/>
                </a:ext>
              </a:extLst>
            </p:cNvPr>
            <p:cNvGrpSpPr/>
            <p:nvPr/>
          </p:nvGrpSpPr>
          <p:grpSpPr>
            <a:xfrm>
              <a:off x="8326860" y="4065289"/>
              <a:ext cx="216025" cy="266700"/>
              <a:chOff x="-888776" y="2535726"/>
              <a:chExt cx="216025" cy="266700"/>
            </a:xfrm>
          </p:grpSpPr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3DBA00A8-264F-0597-873D-0A6C30D4C01A}"/>
                  </a:ext>
                </a:extLst>
              </p:cNvPr>
              <p:cNvSpPr/>
              <p:nvPr/>
            </p:nvSpPr>
            <p:spPr>
              <a:xfrm>
                <a:off x="-888776" y="2561064"/>
                <a:ext cx="216024" cy="216024"/>
              </a:xfrm>
              <a:prstGeom prst="ellipse">
                <a:avLst/>
              </a:prstGeom>
              <a:solidFill>
                <a:srgbClr val="07C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" name="TextBox 26">
                <a:extLst>
                  <a:ext uri="{FF2B5EF4-FFF2-40B4-BE49-F238E27FC236}">
                    <a16:creationId xmlns:a16="http://schemas.microsoft.com/office/drawing/2014/main" id="{4E62E32A-AD49-B5DE-AEEF-1AB42D421E55}"/>
                  </a:ext>
                </a:extLst>
              </p:cNvPr>
              <p:cNvSpPr txBox="1"/>
              <p:nvPr/>
            </p:nvSpPr>
            <p:spPr>
              <a:xfrm>
                <a:off x="-888776" y="2535726"/>
                <a:ext cx="216025" cy="266700"/>
              </a:xfrm>
              <a:prstGeom prst="rect">
                <a:avLst/>
              </a:prstGeom>
            </p:spPr>
            <p:txBody>
              <a:bodyPr lIns="0" tIns="27093" rIns="0" bIns="27093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1100" cap="all" dirty="0">
                    <a:solidFill>
                      <a:srgbClr val="FFFFFF"/>
                    </a:solidFill>
                    <a:latin typeface="NanumSquare" panose="020B0600000101010101" pitchFamily="50" charset="-127"/>
                    <a:ea typeface="NanumSquare" panose="020B0600000101010101" pitchFamily="50" charset="-127"/>
                    <a:cs typeface="Pretendard Regular"/>
                  </a:rPr>
                  <a:t>3</a:t>
                </a:r>
                <a:endParaRPr lang="en-US" sz="1100" b="0" i="0" u="none" strike="noStrike" cap="all" dirty="0">
                  <a:solidFill>
                    <a:srgbClr val="FFFFFF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endParaRPr>
              </a:p>
            </p:txBody>
          </p:sp>
        </p:grpSp>
        <p:pic>
          <p:nvPicPr>
            <p:cNvPr id="185" name="Picture 4">
              <a:extLst>
                <a:ext uri="{FF2B5EF4-FFF2-40B4-BE49-F238E27FC236}">
                  <a16:creationId xmlns:a16="http://schemas.microsoft.com/office/drawing/2014/main" id="{F3DB2044-1AFF-EEA9-A487-261098587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55301" y="5595529"/>
              <a:ext cx="3169598" cy="708550"/>
            </a:xfrm>
            <a:prstGeom prst="rect">
              <a:avLst/>
            </a:prstGeom>
          </p:spPr>
        </p:pic>
        <p:sp>
          <p:nvSpPr>
            <p:cNvPr id="186" name="TextBox 34">
              <a:extLst>
                <a:ext uri="{FF2B5EF4-FFF2-40B4-BE49-F238E27FC236}">
                  <a16:creationId xmlns:a16="http://schemas.microsoft.com/office/drawing/2014/main" id="{2BFC8613-2F81-DAED-73CD-271BD2651198}"/>
                </a:ext>
              </a:extLst>
            </p:cNvPr>
            <p:cNvSpPr txBox="1"/>
            <p:nvPr/>
          </p:nvSpPr>
          <p:spPr>
            <a:xfrm>
              <a:off x="8365729" y="5637800"/>
              <a:ext cx="2948742" cy="587749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SLA 및 인증을 통한 지속적 검증 필요</a:t>
              </a:r>
              <a:endPara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  <a:p>
              <a:pPr algn="ctr">
                <a:lnSpc>
                  <a:spcPct val="107899"/>
                </a:lnSpc>
              </a:pPr>
              <a:r>
                <a:rPr lang="ko-KR" altLang="en-US" sz="1100" dirty="0">
                  <a:solidFill>
                    <a:srgbClr val="009F0F"/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" 클라우드 인프라 계층을 제공자가 책임지는 영역 "</a:t>
              </a:r>
            </a:p>
          </p:txBody>
        </p:sp>
      </p:grpSp>
      <p:grpSp>
        <p:nvGrpSpPr>
          <p:cNvPr id="228" name="그룹 227">
            <a:extLst>
              <a:ext uri="{FF2B5EF4-FFF2-40B4-BE49-F238E27FC236}">
                <a16:creationId xmlns:a16="http://schemas.microsoft.com/office/drawing/2014/main" id="{3F65F5B2-E151-BD5E-0F37-93F89BF3C75A}"/>
              </a:ext>
            </a:extLst>
          </p:cNvPr>
          <p:cNvGrpSpPr/>
          <p:nvPr/>
        </p:nvGrpSpPr>
        <p:grpSpPr>
          <a:xfrm>
            <a:off x="4379344" y="1764873"/>
            <a:ext cx="3414969" cy="4688463"/>
            <a:chOff x="4275602" y="1764873"/>
            <a:chExt cx="3414969" cy="4688463"/>
          </a:xfrm>
        </p:grpSpPr>
        <p:sp>
          <p:nvSpPr>
            <p:cNvPr id="196" name="cb100">
              <a:extLst>
                <a:ext uri="{FF2B5EF4-FFF2-40B4-BE49-F238E27FC236}">
                  <a16:creationId xmlns:a16="http://schemas.microsoft.com/office/drawing/2014/main" id="{2CAE0372-C19D-C0B1-FA98-821DA18A22EA}"/>
                </a:ext>
              </a:extLst>
            </p:cNvPr>
            <p:cNvSpPr/>
            <p:nvPr/>
          </p:nvSpPr>
          <p:spPr>
            <a:xfrm>
              <a:off x="4275602" y="1914244"/>
              <a:ext cx="3414969" cy="4539092"/>
            </a:xfrm>
            <a:prstGeom prst="round2SameRect">
              <a:avLst>
                <a:gd name="adj1" fmla="val 2669"/>
                <a:gd name="adj2" fmla="val 0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</p:txBody>
        </p:sp>
        <p:sp>
          <p:nvSpPr>
            <p:cNvPr id="197" name="p101">
              <a:extLst>
                <a:ext uri="{FF2B5EF4-FFF2-40B4-BE49-F238E27FC236}">
                  <a16:creationId xmlns:a16="http://schemas.microsoft.com/office/drawing/2014/main" id="{D6D5A9EB-0D95-6619-49ED-422AEF5FA677}"/>
                </a:ext>
              </a:extLst>
            </p:cNvPr>
            <p:cNvSpPr/>
            <p:nvPr/>
          </p:nvSpPr>
          <p:spPr>
            <a:xfrm>
              <a:off x="4483086" y="1764873"/>
              <a:ext cx="3000000" cy="318847"/>
            </a:xfrm>
            <a:prstGeom prst="roundRect">
              <a:avLst>
                <a:gd name="adj" fmla="val 50000"/>
              </a:avLst>
            </a:prstGeom>
            <a:solidFill>
              <a:srgbClr val="009F0F"/>
            </a:solidFill>
            <a:ln>
              <a:noFill/>
            </a:ln>
            <a:effectLst>
              <a:outerShdw blurRad="254000" dist="38100" dir="5400000" algn="t" rotWithShape="0">
                <a:schemeClr val="tx1">
                  <a:lumMod val="65000"/>
                  <a:lumOff val="35000"/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10000"/>
                </a:lnSpc>
              </a:pPr>
              <a:r>
                <a:rPr kumimoji="1" lang="ko-KR" altLang="en-US" sz="13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기술적 보안</a:t>
              </a:r>
            </a:p>
          </p:txBody>
        </p:sp>
        <p:sp>
          <p:nvSpPr>
            <p:cNvPr id="198" name="tx102">
              <a:extLst>
                <a:ext uri="{FF2B5EF4-FFF2-40B4-BE49-F238E27FC236}">
                  <a16:creationId xmlns:a16="http://schemas.microsoft.com/office/drawing/2014/main" id="{CB51AB1B-2D5B-E0E6-00CD-7CC212F4F66B}"/>
                </a:ext>
              </a:extLst>
            </p:cNvPr>
            <p:cNvSpPr txBox="1"/>
            <p:nvPr/>
          </p:nvSpPr>
          <p:spPr>
            <a:xfrm>
              <a:off x="4375602" y="2163096"/>
              <a:ext cx="3214969" cy="27699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200" i="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시스템·데이터</a:t>
              </a:r>
              <a:r>
                <a:rPr lang="ko-KR" altLang="en-US" sz="1200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보호를 위한 기술 통제</a:t>
              </a:r>
            </a:p>
          </p:txBody>
        </p:sp>
        <p:pic>
          <p:nvPicPr>
            <p:cNvPr id="199" name="Picture 9">
              <a:extLst>
                <a:ext uri="{FF2B5EF4-FFF2-40B4-BE49-F238E27FC236}">
                  <a16:creationId xmlns:a16="http://schemas.microsoft.com/office/drawing/2014/main" id="{1ACD91A1-F538-757D-B805-01268E7BB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4409882" y="3115806"/>
              <a:ext cx="3154280" cy="7885"/>
            </a:xfrm>
            <a:prstGeom prst="rect">
              <a:avLst/>
            </a:prstGeom>
          </p:spPr>
        </p:pic>
        <p:sp>
          <p:nvSpPr>
            <p:cNvPr id="200" name="TextBox 32">
              <a:extLst>
                <a:ext uri="{FF2B5EF4-FFF2-40B4-BE49-F238E27FC236}">
                  <a16:creationId xmlns:a16="http://schemas.microsoft.com/office/drawing/2014/main" id="{E1198FBB-D408-75BD-9C27-B3551FB2CE64}"/>
                </a:ext>
              </a:extLst>
            </p:cNvPr>
            <p:cNvSpPr txBox="1"/>
            <p:nvPr/>
          </p:nvSpPr>
          <p:spPr>
            <a:xfrm>
              <a:off x="4802211" y="2501123"/>
              <a:ext cx="2667000" cy="317500"/>
            </a:xfrm>
            <a:prstGeom prst="rect">
              <a:avLst/>
            </a:prstGeom>
          </p:spPr>
          <p:txBody>
            <a:bodyPr lIns="0" tIns="33867" rIns="0" bIns="33867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200" b="0" i="0" u="none" strike="noStrike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네트워크 보안</a:t>
              </a:r>
              <a:endParaRPr lang="en-US" sz="120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201" name="TextBox 33">
              <a:extLst>
                <a:ext uri="{FF2B5EF4-FFF2-40B4-BE49-F238E27FC236}">
                  <a16:creationId xmlns:a16="http://schemas.microsoft.com/office/drawing/2014/main" id="{86A3299A-C471-BC5B-1F2B-5D2AC7CC99B4}"/>
                </a:ext>
              </a:extLst>
            </p:cNvPr>
            <p:cNvSpPr txBox="1"/>
            <p:nvPr/>
          </p:nvSpPr>
          <p:spPr>
            <a:xfrm>
              <a:off x="4802211" y="2774642"/>
              <a:ext cx="2808360" cy="265246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방화벽</a:t>
              </a:r>
              <a:r>
                <a:rPr lang="en-US" altLang="ko-KR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, IPS, IP </a:t>
              </a: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관리</a:t>
              </a:r>
              <a:r>
                <a:rPr lang="en-US" altLang="ko-KR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, </a:t>
              </a: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접근 통제</a:t>
              </a:r>
              <a:endParaRPr lang="en-US" sz="1100" b="0" i="0" u="none" strike="noStrike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Light"/>
              </a:endParaRPr>
            </a:p>
          </p:txBody>
        </p:sp>
        <p:grpSp>
          <p:nvGrpSpPr>
            <p:cNvPr id="202" name="그룹 201">
              <a:extLst>
                <a:ext uri="{FF2B5EF4-FFF2-40B4-BE49-F238E27FC236}">
                  <a16:creationId xmlns:a16="http://schemas.microsoft.com/office/drawing/2014/main" id="{AEC0735B-6C8D-04DD-00C6-1051D769D589}"/>
                </a:ext>
              </a:extLst>
            </p:cNvPr>
            <p:cNvGrpSpPr/>
            <p:nvPr/>
          </p:nvGrpSpPr>
          <p:grpSpPr>
            <a:xfrm>
              <a:off x="4469846" y="2531793"/>
              <a:ext cx="216025" cy="266700"/>
              <a:chOff x="-888776" y="2535726"/>
              <a:chExt cx="216025" cy="266700"/>
            </a:xfrm>
          </p:grpSpPr>
          <p:sp>
            <p:nvSpPr>
              <p:cNvPr id="222" name="타원 221">
                <a:extLst>
                  <a:ext uri="{FF2B5EF4-FFF2-40B4-BE49-F238E27FC236}">
                    <a16:creationId xmlns:a16="http://schemas.microsoft.com/office/drawing/2014/main" id="{05120DF5-7BFB-49A3-3893-C79E626689E2}"/>
                  </a:ext>
                </a:extLst>
              </p:cNvPr>
              <p:cNvSpPr/>
              <p:nvPr/>
            </p:nvSpPr>
            <p:spPr>
              <a:xfrm>
                <a:off x="-888776" y="2561064"/>
                <a:ext cx="216024" cy="216024"/>
              </a:xfrm>
              <a:prstGeom prst="ellipse">
                <a:avLst/>
              </a:prstGeom>
              <a:solidFill>
                <a:srgbClr val="07C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3" name="TextBox 26">
                <a:extLst>
                  <a:ext uri="{FF2B5EF4-FFF2-40B4-BE49-F238E27FC236}">
                    <a16:creationId xmlns:a16="http://schemas.microsoft.com/office/drawing/2014/main" id="{96631019-546E-69E7-339B-F9A092C8E228}"/>
                  </a:ext>
                </a:extLst>
              </p:cNvPr>
              <p:cNvSpPr txBox="1"/>
              <p:nvPr/>
            </p:nvSpPr>
            <p:spPr>
              <a:xfrm>
                <a:off x="-888776" y="2535726"/>
                <a:ext cx="216025" cy="266700"/>
              </a:xfrm>
              <a:prstGeom prst="rect">
                <a:avLst/>
              </a:prstGeom>
            </p:spPr>
            <p:txBody>
              <a:bodyPr lIns="0" tIns="27093" rIns="0" bIns="27093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1100" b="0" i="0" u="none" strike="noStrike" cap="all" dirty="0">
                    <a:solidFill>
                      <a:srgbClr val="FFFFFF"/>
                    </a:solidFill>
                    <a:latin typeface="NanumSquare" panose="020B0600000101010101" pitchFamily="50" charset="-127"/>
                    <a:ea typeface="NanumSquare" panose="020B0600000101010101" pitchFamily="50" charset="-127"/>
                    <a:cs typeface="Pretendard Regular"/>
                  </a:rPr>
                  <a:t>1</a:t>
                </a:r>
              </a:p>
            </p:txBody>
          </p:sp>
        </p:grpSp>
        <p:pic>
          <p:nvPicPr>
            <p:cNvPr id="203" name="Picture 9">
              <a:extLst>
                <a:ext uri="{FF2B5EF4-FFF2-40B4-BE49-F238E27FC236}">
                  <a16:creationId xmlns:a16="http://schemas.microsoft.com/office/drawing/2014/main" id="{DF63CCA6-3FC2-5B65-2CD0-B71CE0550B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4409882" y="3880428"/>
              <a:ext cx="3154280" cy="7885"/>
            </a:xfrm>
            <a:prstGeom prst="rect">
              <a:avLst/>
            </a:prstGeom>
          </p:spPr>
        </p:pic>
        <p:sp>
          <p:nvSpPr>
            <p:cNvPr id="204" name="TextBox 32">
              <a:extLst>
                <a:ext uri="{FF2B5EF4-FFF2-40B4-BE49-F238E27FC236}">
                  <a16:creationId xmlns:a16="http://schemas.microsoft.com/office/drawing/2014/main" id="{CC6432C8-23E4-15F0-BB6F-1367F4F14C2A}"/>
                </a:ext>
              </a:extLst>
            </p:cNvPr>
            <p:cNvSpPr txBox="1"/>
            <p:nvPr/>
          </p:nvSpPr>
          <p:spPr>
            <a:xfrm>
              <a:off x="4802211" y="3265745"/>
              <a:ext cx="2667000" cy="317500"/>
            </a:xfrm>
            <a:prstGeom prst="rect">
              <a:avLst/>
            </a:prstGeom>
          </p:spPr>
          <p:txBody>
            <a:bodyPr lIns="0" tIns="33867" rIns="0" bIns="33867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200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서버 보안</a:t>
              </a:r>
              <a:endParaRPr lang="en-US" sz="120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205" name="TextBox 33">
              <a:extLst>
                <a:ext uri="{FF2B5EF4-FFF2-40B4-BE49-F238E27FC236}">
                  <a16:creationId xmlns:a16="http://schemas.microsoft.com/office/drawing/2014/main" id="{EDF91097-762F-3CD7-75D2-EDB9DC9D215A}"/>
                </a:ext>
              </a:extLst>
            </p:cNvPr>
            <p:cNvSpPr txBox="1"/>
            <p:nvPr/>
          </p:nvSpPr>
          <p:spPr>
            <a:xfrm>
              <a:off x="4802211" y="3539264"/>
              <a:ext cx="2808360" cy="265246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접근 제어</a:t>
              </a:r>
              <a:r>
                <a:rPr lang="en-US" altLang="ko-KR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, </a:t>
              </a: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계정</a:t>
              </a:r>
              <a:r>
                <a:rPr lang="en-US" altLang="ko-KR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, </a:t>
              </a: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패치</a:t>
              </a:r>
              <a:r>
                <a:rPr lang="en-US" altLang="ko-KR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, </a:t>
              </a:r>
              <a:r>
                <a:rPr lang="ko-KR" altLang="en-US" sz="1100" b="0" i="0" u="none" strike="noStrike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형상 관리</a:t>
              </a:r>
              <a:endParaRPr lang="en-US" sz="1100" b="0" i="0" u="none" strike="noStrike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Light"/>
              </a:endParaRPr>
            </a:p>
          </p:txBody>
        </p: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D242CDBB-61E2-B0A7-0394-10548286B0EC}"/>
                </a:ext>
              </a:extLst>
            </p:cNvPr>
            <p:cNvGrpSpPr/>
            <p:nvPr/>
          </p:nvGrpSpPr>
          <p:grpSpPr>
            <a:xfrm>
              <a:off x="4469846" y="3296415"/>
              <a:ext cx="216025" cy="266700"/>
              <a:chOff x="-888776" y="2535726"/>
              <a:chExt cx="216025" cy="266700"/>
            </a:xfrm>
          </p:grpSpPr>
          <p:sp>
            <p:nvSpPr>
              <p:cNvPr id="220" name="타원 219">
                <a:extLst>
                  <a:ext uri="{FF2B5EF4-FFF2-40B4-BE49-F238E27FC236}">
                    <a16:creationId xmlns:a16="http://schemas.microsoft.com/office/drawing/2014/main" id="{2FABF97F-F99A-075C-E994-44083C68E820}"/>
                  </a:ext>
                </a:extLst>
              </p:cNvPr>
              <p:cNvSpPr/>
              <p:nvPr/>
            </p:nvSpPr>
            <p:spPr>
              <a:xfrm>
                <a:off x="-888776" y="2561064"/>
                <a:ext cx="216024" cy="216024"/>
              </a:xfrm>
              <a:prstGeom prst="ellipse">
                <a:avLst/>
              </a:prstGeom>
              <a:solidFill>
                <a:srgbClr val="07C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21" name="TextBox 26">
                <a:extLst>
                  <a:ext uri="{FF2B5EF4-FFF2-40B4-BE49-F238E27FC236}">
                    <a16:creationId xmlns:a16="http://schemas.microsoft.com/office/drawing/2014/main" id="{7AEB52B6-66A1-D098-7EA4-9D3EA8360BBB}"/>
                  </a:ext>
                </a:extLst>
              </p:cNvPr>
              <p:cNvSpPr txBox="1"/>
              <p:nvPr/>
            </p:nvSpPr>
            <p:spPr>
              <a:xfrm>
                <a:off x="-888776" y="2535726"/>
                <a:ext cx="216025" cy="266700"/>
              </a:xfrm>
              <a:prstGeom prst="rect">
                <a:avLst/>
              </a:prstGeom>
            </p:spPr>
            <p:txBody>
              <a:bodyPr lIns="0" tIns="27093" rIns="0" bIns="27093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1100" cap="all" dirty="0">
                    <a:solidFill>
                      <a:srgbClr val="FFFFFF"/>
                    </a:solidFill>
                    <a:latin typeface="NanumSquare" panose="020B0600000101010101" pitchFamily="50" charset="-127"/>
                    <a:ea typeface="NanumSquare" panose="020B0600000101010101" pitchFamily="50" charset="-127"/>
                    <a:cs typeface="Pretendard Regular"/>
                  </a:rPr>
                  <a:t>2</a:t>
                </a:r>
                <a:endParaRPr lang="en-US" sz="1100" b="0" i="0" u="none" strike="noStrike" cap="all" dirty="0">
                  <a:solidFill>
                    <a:srgbClr val="FFFFFF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endParaRPr>
              </a:p>
            </p:txBody>
          </p:sp>
        </p:grpSp>
        <p:pic>
          <p:nvPicPr>
            <p:cNvPr id="207" name="Picture 9">
              <a:extLst>
                <a:ext uri="{FF2B5EF4-FFF2-40B4-BE49-F238E27FC236}">
                  <a16:creationId xmlns:a16="http://schemas.microsoft.com/office/drawing/2014/main" id="{934943F0-9333-3243-00E4-AEF41C0259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4409882" y="4649302"/>
              <a:ext cx="3154280" cy="7885"/>
            </a:xfrm>
            <a:prstGeom prst="rect">
              <a:avLst/>
            </a:prstGeom>
          </p:spPr>
        </p:pic>
        <p:sp>
          <p:nvSpPr>
            <p:cNvPr id="208" name="TextBox 32">
              <a:extLst>
                <a:ext uri="{FF2B5EF4-FFF2-40B4-BE49-F238E27FC236}">
                  <a16:creationId xmlns:a16="http://schemas.microsoft.com/office/drawing/2014/main" id="{853EE1F9-ABC8-D351-7407-1A3FACD9A211}"/>
                </a:ext>
              </a:extLst>
            </p:cNvPr>
            <p:cNvSpPr txBox="1"/>
            <p:nvPr/>
          </p:nvSpPr>
          <p:spPr>
            <a:xfrm>
              <a:off x="4802211" y="4034619"/>
              <a:ext cx="2667000" cy="317500"/>
            </a:xfrm>
            <a:prstGeom prst="rect">
              <a:avLst/>
            </a:prstGeom>
          </p:spPr>
          <p:txBody>
            <a:bodyPr lIns="0" tIns="33867" rIns="0" bIns="33867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200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콘텐츠 보안</a:t>
              </a:r>
              <a:endParaRPr lang="en-US" sz="120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209" name="TextBox 33">
              <a:extLst>
                <a:ext uri="{FF2B5EF4-FFF2-40B4-BE49-F238E27FC236}">
                  <a16:creationId xmlns:a16="http://schemas.microsoft.com/office/drawing/2014/main" id="{94A3001B-8F3F-563C-1C85-2F342546D7F5}"/>
                </a:ext>
              </a:extLst>
            </p:cNvPr>
            <p:cNvSpPr txBox="1"/>
            <p:nvPr/>
          </p:nvSpPr>
          <p:spPr>
            <a:xfrm>
              <a:off x="4802211" y="4308138"/>
              <a:ext cx="2808360" cy="265246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100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개인정보 암호화</a:t>
              </a:r>
              <a:r>
                <a:rPr lang="en-US" altLang="ko-KR" sz="1100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, </a:t>
              </a:r>
              <a:r>
                <a:rPr lang="ko-KR" altLang="en-US" sz="1100" dirty="0">
                  <a:solidFill>
                    <a:srgbClr val="000000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Light"/>
                </a:rPr>
                <a:t>접근 로그 관리</a:t>
              </a:r>
              <a:endParaRPr lang="en-US" sz="1100" b="0" i="0" u="none" strike="noStrike" dirty="0">
                <a:solidFill>
                  <a:srgbClr val="000000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Light"/>
              </a:endParaRPr>
            </a:p>
          </p:txBody>
        </p:sp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36372897-E361-83B8-7C7E-22F757BD0074}"/>
                </a:ext>
              </a:extLst>
            </p:cNvPr>
            <p:cNvGrpSpPr/>
            <p:nvPr/>
          </p:nvGrpSpPr>
          <p:grpSpPr>
            <a:xfrm>
              <a:off x="4469846" y="4065289"/>
              <a:ext cx="216025" cy="266700"/>
              <a:chOff x="-888776" y="2535726"/>
              <a:chExt cx="216025" cy="266700"/>
            </a:xfrm>
          </p:grpSpPr>
          <p:sp>
            <p:nvSpPr>
              <p:cNvPr id="218" name="타원 217">
                <a:extLst>
                  <a:ext uri="{FF2B5EF4-FFF2-40B4-BE49-F238E27FC236}">
                    <a16:creationId xmlns:a16="http://schemas.microsoft.com/office/drawing/2014/main" id="{9556B39F-2CDA-98BF-3C7C-F6926D295EA9}"/>
                  </a:ext>
                </a:extLst>
              </p:cNvPr>
              <p:cNvSpPr/>
              <p:nvPr/>
            </p:nvSpPr>
            <p:spPr>
              <a:xfrm>
                <a:off x="-888776" y="2561064"/>
                <a:ext cx="216024" cy="216024"/>
              </a:xfrm>
              <a:prstGeom prst="ellipse">
                <a:avLst/>
              </a:prstGeom>
              <a:solidFill>
                <a:srgbClr val="07C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9" name="TextBox 26">
                <a:extLst>
                  <a:ext uri="{FF2B5EF4-FFF2-40B4-BE49-F238E27FC236}">
                    <a16:creationId xmlns:a16="http://schemas.microsoft.com/office/drawing/2014/main" id="{6F7C8737-9F0F-ADCC-6171-7A503AAD4941}"/>
                  </a:ext>
                </a:extLst>
              </p:cNvPr>
              <p:cNvSpPr txBox="1"/>
              <p:nvPr/>
            </p:nvSpPr>
            <p:spPr>
              <a:xfrm>
                <a:off x="-888776" y="2535726"/>
                <a:ext cx="216025" cy="266700"/>
              </a:xfrm>
              <a:prstGeom prst="rect">
                <a:avLst/>
              </a:prstGeom>
            </p:spPr>
            <p:txBody>
              <a:bodyPr lIns="0" tIns="27093" rIns="0" bIns="27093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1100" cap="all" dirty="0">
                    <a:solidFill>
                      <a:srgbClr val="FFFFFF"/>
                    </a:solidFill>
                    <a:latin typeface="NanumSquare" panose="020B0600000101010101" pitchFamily="50" charset="-127"/>
                    <a:ea typeface="NanumSquare" panose="020B0600000101010101" pitchFamily="50" charset="-127"/>
                    <a:cs typeface="Pretendard Regular"/>
                  </a:rPr>
                  <a:t>3</a:t>
                </a:r>
                <a:endParaRPr lang="en-US" sz="1100" b="0" i="0" u="none" strike="noStrike" cap="all" dirty="0">
                  <a:solidFill>
                    <a:srgbClr val="FFFFFF"/>
                  </a:solidFill>
                  <a:latin typeface="NanumSquare" panose="020B0600000101010101" pitchFamily="50" charset="-127"/>
                  <a:ea typeface="NanumSquare" panose="020B0600000101010101" pitchFamily="50" charset="-127"/>
                  <a:cs typeface="Pretendard Regular"/>
                </a:endParaRPr>
              </a:p>
            </p:txBody>
          </p:sp>
        </p:grpSp>
        <p:sp>
          <p:nvSpPr>
            <p:cNvPr id="211" name="TextBox 32">
              <a:extLst>
                <a:ext uri="{FF2B5EF4-FFF2-40B4-BE49-F238E27FC236}">
                  <a16:creationId xmlns:a16="http://schemas.microsoft.com/office/drawing/2014/main" id="{B5891D5D-52EB-E5C6-0332-EB7153A3CC71}"/>
                </a:ext>
              </a:extLst>
            </p:cNvPr>
            <p:cNvSpPr txBox="1"/>
            <p:nvPr/>
          </p:nvSpPr>
          <p:spPr>
            <a:xfrm>
              <a:off x="4802211" y="4799241"/>
              <a:ext cx="2667000" cy="317500"/>
            </a:xfrm>
            <a:prstGeom prst="rect">
              <a:avLst/>
            </a:prstGeom>
          </p:spPr>
          <p:txBody>
            <a:bodyPr lIns="0" tIns="33867" rIns="0" bIns="33867" rtlCol="0" anchor="ctr"/>
            <a:lstStyle/>
            <a:p>
              <a:pPr lvl="0" algn="l">
                <a:lnSpc>
                  <a:spcPct val="99600"/>
                </a:lnSpc>
              </a:pPr>
              <a:r>
                <a:rPr lang="ko-KR" altLang="en-US" sz="1200" b="0" i="0" u="none" strike="noStrike" cap="all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애플리케이션</a:t>
              </a:r>
              <a:endParaRPr lang="en-US" sz="120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  <p:sp>
          <p:nvSpPr>
            <p:cNvPr id="212" name="TextBox 33">
              <a:extLst>
                <a:ext uri="{FF2B5EF4-FFF2-40B4-BE49-F238E27FC236}">
                  <a16:creationId xmlns:a16="http://schemas.microsoft.com/office/drawing/2014/main" id="{CBB4EE94-D3FA-0F22-0AA4-9C577C5CDED9}"/>
                </a:ext>
              </a:extLst>
            </p:cNvPr>
            <p:cNvSpPr txBox="1"/>
            <p:nvPr/>
          </p:nvSpPr>
          <p:spPr>
            <a:xfrm>
              <a:off x="4802211" y="5072760"/>
              <a:ext cx="2808360" cy="265246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r>
                <a:rPr lang="ko-KR" altLang="en-US" sz="11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취약점</a:t>
              </a:r>
              <a:r>
                <a:rPr lang="en-US" altLang="ko-KR" sz="11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, </a:t>
              </a:r>
              <a:r>
                <a:rPr lang="ko-KR" altLang="en-US" sz="11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API 인증</a:t>
              </a:r>
              <a:r>
                <a:rPr lang="en-US" altLang="ko-KR" sz="11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, </a:t>
              </a:r>
              <a:r>
                <a:rPr lang="ko-KR" altLang="en-US" sz="11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해킹</a:t>
              </a:r>
              <a:r>
                <a:rPr lang="en-US" altLang="ko-KR" sz="11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, </a:t>
              </a:r>
              <a:r>
                <a:rPr lang="ko-KR" altLang="en-US" sz="1100" spc="-3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위변조</a:t>
              </a:r>
              <a:r>
                <a:rPr lang="ko-KR" altLang="en-US" sz="1100" spc="-3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 방지</a:t>
              </a:r>
            </a:p>
          </p:txBody>
        </p: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5F02C801-C9FD-2EA6-6CD6-25E7D167FC30}"/>
                </a:ext>
              </a:extLst>
            </p:cNvPr>
            <p:cNvGrpSpPr/>
            <p:nvPr/>
          </p:nvGrpSpPr>
          <p:grpSpPr>
            <a:xfrm>
              <a:off x="4469846" y="4829911"/>
              <a:ext cx="216025" cy="266700"/>
              <a:chOff x="-888776" y="2535726"/>
              <a:chExt cx="216025" cy="266700"/>
            </a:xfrm>
          </p:grpSpPr>
          <p:sp>
            <p:nvSpPr>
              <p:cNvPr id="216" name="타원 215">
                <a:extLst>
                  <a:ext uri="{FF2B5EF4-FFF2-40B4-BE49-F238E27FC236}">
                    <a16:creationId xmlns:a16="http://schemas.microsoft.com/office/drawing/2014/main" id="{00046477-DD10-2157-0E9F-4A52FDBE4B83}"/>
                  </a:ext>
                </a:extLst>
              </p:cNvPr>
              <p:cNvSpPr/>
              <p:nvPr/>
            </p:nvSpPr>
            <p:spPr>
              <a:xfrm>
                <a:off x="-888776" y="2561064"/>
                <a:ext cx="216024" cy="216024"/>
              </a:xfrm>
              <a:prstGeom prst="ellipse">
                <a:avLst/>
              </a:prstGeom>
              <a:solidFill>
                <a:srgbClr val="07C6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7" name="TextBox 26">
                <a:extLst>
                  <a:ext uri="{FF2B5EF4-FFF2-40B4-BE49-F238E27FC236}">
                    <a16:creationId xmlns:a16="http://schemas.microsoft.com/office/drawing/2014/main" id="{7CF4E3CE-3D44-ECFC-8E82-53FA118DEC85}"/>
                  </a:ext>
                </a:extLst>
              </p:cNvPr>
              <p:cNvSpPr txBox="1"/>
              <p:nvPr/>
            </p:nvSpPr>
            <p:spPr>
              <a:xfrm>
                <a:off x="-888776" y="2535726"/>
                <a:ext cx="216025" cy="266700"/>
              </a:xfrm>
              <a:prstGeom prst="rect">
                <a:avLst/>
              </a:prstGeom>
            </p:spPr>
            <p:txBody>
              <a:bodyPr lIns="0" tIns="27093" rIns="0" bIns="27093" rtlCol="0" anchor="ctr"/>
              <a:lstStyle/>
              <a:p>
                <a:pPr lvl="0" algn="ctr">
                  <a:lnSpc>
                    <a:spcPct val="99600"/>
                  </a:lnSpc>
                </a:pPr>
                <a:r>
                  <a:rPr lang="en-US" sz="1100" b="0" i="0" u="none" strike="noStrike" cap="all" dirty="0">
                    <a:solidFill>
                      <a:srgbClr val="FFFFFF"/>
                    </a:solidFill>
                    <a:latin typeface="NanumSquare" panose="020B0600000101010101" pitchFamily="50" charset="-127"/>
                    <a:ea typeface="NanumSquare" panose="020B0600000101010101" pitchFamily="50" charset="-127"/>
                    <a:cs typeface="Pretendard Regular"/>
                  </a:rPr>
                  <a:t>4</a:t>
                </a:r>
              </a:p>
            </p:txBody>
          </p:sp>
        </p:grpSp>
        <p:pic>
          <p:nvPicPr>
            <p:cNvPr id="214" name="Picture 4">
              <a:extLst>
                <a:ext uri="{FF2B5EF4-FFF2-40B4-BE49-F238E27FC236}">
                  <a16:creationId xmlns:a16="http://schemas.microsoft.com/office/drawing/2014/main" id="{FE56EDB2-74EE-7FC6-D7E5-057F52821E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8287" y="5595529"/>
              <a:ext cx="3169598" cy="708550"/>
            </a:xfrm>
            <a:prstGeom prst="rect">
              <a:avLst/>
            </a:prstGeom>
          </p:spPr>
        </p:pic>
        <p:sp>
          <p:nvSpPr>
            <p:cNvPr id="215" name="TextBox 34">
              <a:extLst>
                <a:ext uri="{FF2B5EF4-FFF2-40B4-BE49-F238E27FC236}">
                  <a16:creationId xmlns:a16="http://schemas.microsoft.com/office/drawing/2014/main" id="{34DC104F-347D-5A8F-05A3-3AC3D2DF1C53}"/>
                </a:ext>
              </a:extLst>
            </p:cNvPr>
            <p:cNvSpPr txBox="1"/>
            <p:nvPr/>
          </p:nvSpPr>
          <p:spPr>
            <a:xfrm>
              <a:off x="4508715" y="5637800"/>
              <a:ext cx="2948742" cy="587749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algn="ctr">
                <a:lnSpc>
                  <a:spcPct val="107899"/>
                </a:lnSpc>
              </a:pPr>
              <a:r>
                <a:rPr lang="en-US" altLang="ko-KR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Application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·</a:t>
              </a:r>
              <a:r>
                <a:rPr lang="ko-KR" altLang="en-US" sz="11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통신·서버·스토리지</a:t>
              </a: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 전 구간 보호</a:t>
              </a:r>
              <a:endPara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  <a:p>
              <a:pPr algn="ctr">
                <a:lnSpc>
                  <a:spcPct val="107899"/>
                </a:lnSpc>
              </a:pPr>
              <a:r>
                <a:rPr lang="ko-KR" altLang="en-US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 </a:t>
              </a:r>
              <a:r>
                <a:rPr lang="ko-KR" altLang="en-US" sz="1100" dirty="0">
                  <a:solidFill>
                    <a:srgbClr val="009F0F"/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" 실제 공격을 탐지</a:t>
              </a:r>
              <a:r>
                <a:rPr lang="en-US" altLang="ko-KR" sz="1100" dirty="0">
                  <a:solidFill>
                    <a:srgbClr val="009F0F"/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·</a:t>
              </a:r>
              <a:r>
                <a:rPr lang="ko-KR" altLang="en-US" sz="1100" dirty="0">
                  <a:solidFill>
                    <a:srgbClr val="009F0F"/>
                  </a:solidFill>
                  <a:latin typeface="NanumSquare" panose="020B0600000101010101" pitchFamily="50" charset="-127"/>
                  <a:ea typeface="NanumSquare" panose="020B0600000101010101" pitchFamily="50" charset="-127"/>
                </a:rPr>
                <a:t>차단하는 핵심 방어 영역 "</a:t>
              </a:r>
            </a:p>
          </p:txBody>
        </p:sp>
      </p:grpSp>
      <p:sp>
        <p:nvSpPr>
          <p:cNvPr id="226" name="TextBox 225">
            <a:extLst>
              <a:ext uri="{FF2B5EF4-FFF2-40B4-BE49-F238E27FC236}">
                <a16:creationId xmlns:a16="http://schemas.microsoft.com/office/drawing/2014/main" id="{7EC65515-8281-3C41-348A-7DF274EB0DC0}"/>
              </a:ext>
            </a:extLst>
          </p:cNvPr>
          <p:cNvSpPr txBox="1"/>
          <p:nvPr/>
        </p:nvSpPr>
        <p:spPr>
          <a:xfrm>
            <a:off x="651532" y="1155340"/>
            <a:ext cx="10888936" cy="352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보안은 특정 영역이 아닌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관리적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기술적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·CSP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영역을 포함한 </a:t>
            </a:r>
            <a:r>
              <a:rPr lang="ko-KR" altLang="en-US" sz="1600" dirty="0">
                <a:solidFill>
                  <a:srgbClr val="07C63C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전체 아키텍처 관점에서 통합 관리 </a:t>
            </a: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필요</a:t>
            </a:r>
            <a:endParaRPr kumimoji="1" lang="en-US" altLang="ko-KR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64178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b100">
            <a:extLst>
              <a:ext uri="{FF2B5EF4-FFF2-40B4-BE49-F238E27FC236}">
                <a16:creationId xmlns:a16="http://schemas.microsoft.com/office/drawing/2014/main" id="{6195F153-52DA-2FC4-2497-E53B01824CBC}"/>
              </a:ext>
            </a:extLst>
          </p:cNvPr>
          <p:cNvSpPr/>
          <p:nvPr/>
        </p:nvSpPr>
        <p:spPr>
          <a:xfrm>
            <a:off x="5763679" y="1061445"/>
            <a:ext cx="6020333" cy="2660078"/>
          </a:xfrm>
          <a:prstGeom prst="round2SameRect">
            <a:avLst>
              <a:gd name="adj1" fmla="val 5264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4.2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구성도</a:t>
            </a:r>
          </a:p>
        </p:txBody>
      </p:sp>
      <p:pic>
        <p:nvPicPr>
          <p:cNvPr id="121" name="Picture 5">
            <a:extLst>
              <a:ext uri="{FF2B5EF4-FFF2-40B4-BE49-F238E27FC236}">
                <a16:creationId xmlns:a16="http://schemas.microsoft.com/office/drawing/2014/main" id="{D63FB261-FCA7-FDE2-6BA5-F69C494648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842427" y="1364910"/>
            <a:ext cx="5118100" cy="12700"/>
          </a:xfrm>
          <a:prstGeom prst="rect">
            <a:avLst/>
          </a:prstGeom>
        </p:spPr>
      </p:pic>
      <p:pic>
        <p:nvPicPr>
          <p:cNvPr id="122" name="Picture 6">
            <a:extLst>
              <a:ext uri="{FF2B5EF4-FFF2-40B4-BE49-F238E27FC236}">
                <a16:creationId xmlns:a16="http://schemas.microsoft.com/office/drawing/2014/main" id="{D6261CA0-FD30-D00C-7364-2E145DDCF6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7" y="1487918"/>
            <a:ext cx="710501" cy="210251"/>
          </a:xfrm>
          <a:prstGeom prst="rect">
            <a:avLst/>
          </a:prstGeom>
        </p:spPr>
      </p:pic>
      <p:sp>
        <p:nvSpPr>
          <p:cNvPr id="124" name="TextBox 18">
            <a:extLst>
              <a:ext uri="{FF2B5EF4-FFF2-40B4-BE49-F238E27FC236}">
                <a16:creationId xmlns:a16="http://schemas.microsoft.com/office/drawing/2014/main" id="{683474B5-4ED1-D79C-448C-EC1168E48256}"/>
              </a:ext>
            </a:extLst>
          </p:cNvPr>
          <p:cNvSpPr txBox="1"/>
          <p:nvPr/>
        </p:nvSpPr>
        <p:spPr>
          <a:xfrm>
            <a:off x="5869418" y="1093249"/>
            <a:ext cx="1995083" cy="257625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200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트래픽 흐름</a:t>
            </a:r>
            <a:endParaRPr lang="en-US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sp>
        <p:nvSpPr>
          <p:cNvPr id="125" name="TextBox 19">
            <a:extLst>
              <a:ext uri="{FF2B5EF4-FFF2-40B4-BE49-F238E27FC236}">
                <a16:creationId xmlns:a16="http://schemas.microsoft.com/office/drawing/2014/main" id="{80360516-FC5D-908B-9DC7-69B503559E2B}"/>
              </a:ext>
            </a:extLst>
          </p:cNvPr>
          <p:cNvSpPr txBox="1"/>
          <p:nvPr/>
        </p:nvSpPr>
        <p:spPr>
          <a:xfrm>
            <a:off x="5850317" y="1500060"/>
            <a:ext cx="589840" cy="19811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900" b="0" i="0" u="none" strike="noStrike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Inbound</a:t>
            </a:r>
          </a:p>
        </p:txBody>
      </p:sp>
      <p:sp>
        <p:nvSpPr>
          <p:cNvPr id="129" name="TextBox 33">
            <a:extLst>
              <a:ext uri="{FF2B5EF4-FFF2-40B4-BE49-F238E27FC236}">
                <a16:creationId xmlns:a16="http://schemas.microsoft.com/office/drawing/2014/main" id="{A77D0BCF-6A1B-6AC9-242C-59FA2274D908}"/>
              </a:ext>
            </a:extLst>
          </p:cNvPr>
          <p:cNvSpPr txBox="1"/>
          <p:nvPr/>
        </p:nvSpPr>
        <p:spPr>
          <a:xfrm>
            <a:off x="6538456" y="1421094"/>
            <a:ext cx="5102160" cy="46166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ISP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BR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CS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en-US" altLang="ko-KR" sz="1000" dirty="0">
                <a:solidFill>
                  <a:srgbClr val="07C6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①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IDS tap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ko-KR" altLang="en-US" sz="1000" dirty="0">
                <a:solidFill>
                  <a:srgbClr val="07C6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②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Gigamon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ko-KR" altLang="en-US" sz="1000" dirty="0">
                <a:solidFill>
                  <a:srgbClr val="07C6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③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NAT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IPS/WAF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Gigamon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→ 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7C6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④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IDS tap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CS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DS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ko-KR" altLang="en-US" sz="1000" dirty="0">
                <a:solidFill>
                  <a:srgbClr val="07C6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⑤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CNC Block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284E0D48-0A22-51F7-7474-2E116AC7A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987" y="2009241"/>
            <a:ext cx="710501" cy="210251"/>
          </a:xfrm>
          <a:prstGeom prst="rect">
            <a:avLst/>
          </a:prstGeom>
        </p:spPr>
      </p:pic>
      <p:sp>
        <p:nvSpPr>
          <p:cNvPr id="7" name="TextBox 19">
            <a:extLst>
              <a:ext uri="{FF2B5EF4-FFF2-40B4-BE49-F238E27FC236}">
                <a16:creationId xmlns:a16="http://schemas.microsoft.com/office/drawing/2014/main" id="{B2B03CD3-29C6-8483-5E8F-1312D2AF5CA6}"/>
              </a:ext>
            </a:extLst>
          </p:cNvPr>
          <p:cNvSpPr txBox="1"/>
          <p:nvPr/>
        </p:nvSpPr>
        <p:spPr>
          <a:xfrm>
            <a:off x="5850317" y="2021383"/>
            <a:ext cx="589841" cy="19811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9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Outbound</a:t>
            </a:r>
            <a:endParaRPr lang="en-US" sz="900" b="0" i="0" u="none" strike="noStrike" dirty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8" name="TextBox 33">
            <a:extLst>
              <a:ext uri="{FF2B5EF4-FFF2-40B4-BE49-F238E27FC236}">
                <a16:creationId xmlns:a16="http://schemas.microsoft.com/office/drawing/2014/main" id="{155C8005-F43D-8690-1553-9B93166EBEBC}"/>
              </a:ext>
            </a:extLst>
          </p:cNvPr>
          <p:cNvSpPr txBox="1"/>
          <p:nvPr/>
        </p:nvSpPr>
        <p:spPr>
          <a:xfrm>
            <a:off x="6538456" y="1942417"/>
            <a:ext cx="5030991" cy="46166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CNC Block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DS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CS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en-US" altLang="ko-KR" sz="1000" dirty="0">
                <a:solidFill>
                  <a:srgbClr val="07C6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④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IDS tap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Gigamon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IPS/ WAF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 </a:t>
            </a:r>
            <a:r>
              <a:rPr lang="ko-KR" altLang="en-US" sz="1000" dirty="0">
                <a:solidFill>
                  <a:srgbClr val="07C6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③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NAT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→ </a:t>
            </a:r>
            <a:r>
              <a:rPr lang="ko-KR" altLang="en-US" sz="1000" dirty="0">
                <a:solidFill>
                  <a:srgbClr val="07C6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②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Gigamon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→ </a:t>
            </a:r>
            <a:r>
              <a:rPr lang="en-US" altLang="ko-KR" sz="1000" dirty="0">
                <a:solidFill>
                  <a:srgbClr val="07C63C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①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IDS tap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CS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BR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ISP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8C0DD646-763B-F9A2-B8B9-E8B3FB7FF703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5951984" y="2785220"/>
            <a:ext cx="5588000" cy="13970"/>
          </a:xfrm>
          <a:prstGeom prst="rect">
            <a:avLst/>
          </a:prstGeom>
        </p:spPr>
      </p:pic>
      <p:sp>
        <p:nvSpPr>
          <p:cNvPr id="14" name="TextBox 32">
            <a:extLst>
              <a:ext uri="{FF2B5EF4-FFF2-40B4-BE49-F238E27FC236}">
                <a16:creationId xmlns:a16="http://schemas.microsoft.com/office/drawing/2014/main" id="{66D0C45E-4A80-6FEE-11C8-E52C919E7CDB}"/>
              </a:ext>
            </a:extLst>
          </p:cNvPr>
          <p:cNvSpPr txBox="1"/>
          <p:nvPr/>
        </p:nvSpPr>
        <p:spPr>
          <a:xfrm>
            <a:off x="6096840" y="2375824"/>
            <a:ext cx="729420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IDS Tap</a:t>
            </a:r>
          </a:p>
        </p:txBody>
      </p:sp>
      <p:sp>
        <p:nvSpPr>
          <p:cNvPr id="15" name="TextBox 33">
            <a:extLst>
              <a:ext uri="{FF2B5EF4-FFF2-40B4-BE49-F238E27FC236}">
                <a16:creationId xmlns:a16="http://schemas.microsoft.com/office/drawing/2014/main" id="{AACCEDE5-546D-E600-4367-889D961D39AD}"/>
              </a:ext>
            </a:extLst>
          </p:cNvPr>
          <p:cNvSpPr txBox="1"/>
          <p:nvPr/>
        </p:nvSpPr>
        <p:spPr>
          <a:xfrm>
            <a:off x="6096000" y="2581762"/>
            <a:ext cx="2436428" cy="225326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NAT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변환을 거치기 이전으로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공인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IP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로 탐지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A6B0F289-92B8-8F73-82BE-EC7C38815C2D}"/>
              </a:ext>
            </a:extLst>
          </p:cNvPr>
          <p:cNvSpPr/>
          <p:nvPr/>
        </p:nvSpPr>
        <p:spPr>
          <a:xfrm>
            <a:off x="5879474" y="2412078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7" name="TextBox 26">
            <a:extLst>
              <a:ext uri="{FF2B5EF4-FFF2-40B4-BE49-F238E27FC236}">
                <a16:creationId xmlns:a16="http://schemas.microsoft.com/office/drawing/2014/main" id="{FD6782C3-1597-6ECC-D279-E3ED6F084FBC}"/>
              </a:ext>
            </a:extLst>
          </p:cNvPr>
          <p:cNvSpPr txBox="1"/>
          <p:nvPr/>
        </p:nvSpPr>
        <p:spPr>
          <a:xfrm>
            <a:off x="5860728" y="2367994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1</a:t>
            </a: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F3912E2F-1472-2E82-80B0-D7EC17E8F0C6}"/>
              </a:ext>
            </a:extLst>
          </p:cNvPr>
          <p:cNvSpPr txBox="1"/>
          <p:nvPr/>
        </p:nvSpPr>
        <p:spPr>
          <a:xfrm>
            <a:off x="6080954" y="2816763"/>
            <a:ext cx="648424" cy="210648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Gigamon</a:t>
            </a:r>
          </a:p>
        </p:txBody>
      </p:sp>
      <p:sp>
        <p:nvSpPr>
          <p:cNvPr id="20" name="TextBox 33">
            <a:extLst>
              <a:ext uri="{FF2B5EF4-FFF2-40B4-BE49-F238E27FC236}">
                <a16:creationId xmlns:a16="http://schemas.microsoft.com/office/drawing/2014/main" id="{098A6308-559B-B15C-67E4-2F6FDDF0B681}"/>
              </a:ext>
            </a:extLst>
          </p:cNvPr>
          <p:cNvSpPr txBox="1"/>
          <p:nvPr/>
        </p:nvSpPr>
        <p:spPr>
          <a:xfrm>
            <a:off x="6080114" y="3022701"/>
            <a:ext cx="4342586" cy="200617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등록된 고객정보를 확인하여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IPS / WAF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전달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85AD104F-AD06-EC36-4370-B6898C056AE8}"/>
              </a:ext>
            </a:extLst>
          </p:cNvPr>
          <p:cNvSpPr/>
          <p:nvPr/>
        </p:nvSpPr>
        <p:spPr>
          <a:xfrm>
            <a:off x="5863588" y="2853017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2" name="TextBox 26">
            <a:extLst>
              <a:ext uri="{FF2B5EF4-FFF2-40B4-BE49-F238E27FC236}">
                <a16:creationId xmlns:a16="http://schemas.microsoft.com/office/drawing/2014/main" id="{2993D8DB-242B-E59A-8CA9-384DA66C0563}"/>
              </a:ext>
            </a:extLst>
          </p:cNvPr>
          <p:cNvSpPr txBox="1"/>
          <p:nvPr/>
        </p:nvSpPr>
        <p:spPr>
          <a:xfrm>
            <a:off x="5844842" y="2808933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2</a:t>
            </a:r>
          </a:p>
        </p:txBody>
      </p:sp>
      <p:sp>
        <p:nvSpPr>
          <p:cNvPr id="24" name="TextBox 32">
            <a:extLst>
              <a:ext uri="{FF2B5EF4-FFF2-40B4-BE49-F238E27FC236}">
                <a16:creationId xmlns:a16="http://schemas.microsoft.com/office/drawing/2014/main" id="{F76AE697-FCDB-13A7-8715-E0820D4AD2F0}"/>
              </a:ext>
            </a:extLst>
          </p:cNvPr>
          <p:cNvSpPr txBox="1"/>
          <p:nvPr/>
        </p:nvSpPr>
        <p:spPr>
          <a:xfrm>
            <a:off x="9321612" y="2356710"/>
            <a:ext cx="451993" cy="234828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NAT</a:t>
            </a:r>
          </a:p>
        </p:txBody>
      </p:sp>
      <p:sp>
        <p:nvSpPr>
          <p:cNvPr id="25" name="TextBox 33">
            <a:extLst>
              <a:ext uri="{FF2B5EF4-FFF2-40B4-BE49-F238E27FC236}">
                <a16:creationId xmlns:a16="http://schemas.microsoft.com/office/drawing/2014/main" id="{5C54B0FB-94F9-8043-0D30-767655EE7D82}"/>
              </a:ext>
            </a:extLst>
          </p:cNvPr>
          <p:cNvSpPr txBox="1"/>
          <p:nvPr/>
        </p:nvSpPr>
        <p:spPr>
          <a:xfrm>
            <a:off x="9320772" y="2562649"/>
            <a:ext cx="1911492" cy="179416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공인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IP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사설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IP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변환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3F3556D-0AC1-0AA0-04D4-623B1BA1BFEE}"/>
              </a:ext>
            </a:extLst>
          </p:cNvPr>
          <p:cNvSpPr/>
          <p:nvPr/>
        </p:nvSpPr>
        <p:spPr>
          <a:xfrm>
            <a:off x="9104246" y="2392964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300A073C-DB44-8956-E535-EBC8DF4A6E9D}"/>
              </a:ext>
            </a:extLst>
          </p:cNvPr>
          <p:cNvSpPr txBox="1"/>
          <p:nvPr/>
        </p:nvSpPr>
        <p:spPr>
          <a:xfrm>
            <a:off x="9085500" y="2348880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3</a:t>
            </a:r>
            <a:endParaRPr lang="en-US" sz="1000" b="0" i="0" u="none" strike="noStrike" dirty="0">
              <a:solidFill>
                <a:srgbClr val="FFFFFF"/>
              </a:solidFill>
              <a:latin typeface="NanumSquare" panose="020B0600000101010101" pitchFamily="50" charset="-127"/>
              <a:ea typeface="NanumSquare" panose="020B0600000101010101" pitchFamily="50" charset="-127"/>
              <a:cs typeface="Pretendard Regular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57B49C-F3B1-78C3-6543-7E4A7A0D2C91}"/>
              </a:ext>
            </a:extLst>
          </p:cNvPr>
          <p:cNvSpPr txBox="1"/>
          <p:nvPr/>
        </p:nvSpPr>
        <p:spPr>
          <a:xfrm>
            <a:off x="9316770" y="2807088"/>
            <a:ext cx="681563" cy="219494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IDS</a:t>
            </a:r>
            <a:r>
              <a:rPr lang="ko-KR" alt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 </a:t>
            </a:r>
            <a:r>
              <a:rPr lang="en-US" altLang="ko-KR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Tap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C3FB7B-E1E6-10B3-B1FD-0911D20CF117}"/>
              </a:ext>
            </a:extLst>
          </p:cNvPr>
          <p:cNvSpPr txBox="1"/>
          <p:nvPr/>
        </p:nvSpPr>
        <p:spPr>
          <a:xfrm>
            <a:off x="9315930" y="3013027"/>
            <a:ext cx="2396693" cy="167476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NAT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변환을 거친 이후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변환된 사설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IP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 탐지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03ED216-12E2-5358-5E34-E43EA9A4E8F7}"/>
              </a:ext>
            </a:extLst>
          </p:cNvPr>
          <p:cNvSpPr/>
          <p:nvPr/>
        </p:nvSpPr>
        <p:spPr>
          <a:xfrm>
            <a:off x="9099404" y="2843342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84096CCE-7FFF-413F-1AE2-EB90016770F6}"/>
              </a:ext>
            </a:extLst>
          </p:cNvPr>
          <p:cNvSpPr txBox="1"/>
          <p:nvPr/>
        </p:nvSpPr>
        <p:spPr>
          <a:xfrm>
            <a:off x="9080658" y="2799258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4</a:t>
            </a:r>
            <a:endParaRPr lang="en-US" sz="1000" b="0" i="0" u="none" strike="noStrike" dirty="0">
              <a:solidFill>
                <a:srgbClr val="FFFFFF"/>
              </a:solidFill>
              <a:latin typeface="NanumSquare" panose="020B0600000101010101" pitchFamily="50" charset="-127"/>
              <a:ea typeface="NanumSquare" panose="020B0600000101010101" pitchFamily="50" charset="-127"/>
              <a:cs typeface="Pretendard Regular"/>
            </a:endParaRPr>
          </a:p>
        </p:txBody>
      </p:sp>
      <p:sp>
        <p:nvSpPr>
          <p:cNvPr id="76" name="TextBox 32">
            <a:extLst>
              <a:ext uri="{FF2B5EF4-FFF2-40B4-BE49-F238E27FC236}">
                <a16:creationId xmlns:a16="http://schemas.microsoft.com/office/drawing/2014/main" id="{8544BF50-DE7B-E3BE-1741-01AB2874603B}"/>
              </a:ext>
            </a:extLst>
          </p:cNvPr>
          <p:cNvSpPr txBox="1"/>
          <p:nvPr/>
        </p:nvSpPr>
        <p:spPr>
          <a:xfrm>
            <a:off x="6074734" y="3273871"/>
            <a:ext cx="707876" cy="179714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CNC Block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79" name="TextBox 33">
            <a:extLst>
              <a:ext uri="{FF2B5EF4-FFF2-40B4-BE49-F238E27FC236}">
                <a16:creationId xmlns:a16="http://schemas.microsoft.com/office/drawing/2014/main" id="{009E54A0-E0D9-C52D-4578-9F54D5D07B82}"/>
              </a:ext>
            </a:extLst>
          </p:cNvPr>
          <p:cNvSpPr txBox="1"/>
          <p:nvPr/>
        </p:nvSpPr>
        <p:spPr>
          <a:xfrm>
            <a:off x="6073894" y="3472314"/>
            <a:ext cx="4342586" cy="18603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고객의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VM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존재하는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XEN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기반의 서버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(PM)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묶음으로 전달</a:t>
            </a: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BF0BD988-AB41-5D47-5113-F9446A3AAAB1}"/>
              </a:ext>
            </a:extLst>
          </p:cNvPr>
          <p:cNvSpPr/>
          <p:nvPr/>
        </p:nvSpPr>
        <p:spPr>
          <a:xfrm>
            <a:off x="5857368" y="3302630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81" name="TextBox 26">
            <a:extLst>
              <a:ext uri="{FF2B5EF4-FFF2-40B4-BE49-F238E27FC236}">
                <a16:creationId xmlns:a16="http://schemas.microsoft.com/office/drawing/2014/main" id="{13BD2B38-C931-200E-C4D9-7CB6E2DC475C}"/>
              </a:ext>
            </a:extLst>
          </p:cNvPr>
          <p:cNvSpPr txBox="1"/>
          <p:nvPr/>
        </p:nvSpPr>
        <p:spPr>
          <a:xfrm>
            <a:off x="5838622" y="3241128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5</a:t>
            </a:r>
          </a:p>
        </p:txBody>
      </p:sp>
      <p:sp>
        <p:nvSpPr>
          <p:cNvPr id="5" name="cb100">
            <a:extLst>
              <a:ext uri="{FF2B5EF4-FFF2-40B4-BE49-F238E27FC236}">
                <a16:creationId xmlns:a16="http://schemas.microsoft.com/office/drawing/2014/main" id="{2F1CBC76-79C4-8406-7E6D-C25DB5FB6D67}"/>
              </a:ext>
            </a:extLst>
          </p:cNvPr>
          <p:cNvSpPr/>
          <p:nvPr/>
        </p:nvSpPr>
        <p:spPr>
          <a:xfrm>
            <a:off x="407988" y="1052736"/>
            <a:ext cx="5241140" cy="5688632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8BF222B-3073-344D-8E18-03B55727849B}"/>
              </a:ext>
            </a:extLst>
          </p:cNvPr>
          <p:cNvGrpSpPr/>
          <p:nvPr/>
        </p:nvGrpSpPr>
        <p:grpSpPr>
          <a:xfrm>
            <a:off x="479377" y="1391921"/>
            <a:ext cx="5078181" cy="5061415"/>
            <a:chOff x="479377" y="1391921"/>
            <a:chExt cx="5078181" cy="5061415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B4F7C99E-B51A-C507-8DD5-0B0A8891AB52}"/>
                </a:ext>
              </a:extLst>
            </p:cNvPr>
            <p:cNvSpPr/>
            <p:nvPr/>
          </p:nvSpPr>
          <p:spPr>
            <a:xfrm>
              <a:off x="480216" y="1391921"/>
              <a:ext cx="5077342" cy="1278096"/>
            </a:xfrm>
            <a:prstGeom prst="roundRect">
              <a:avLst/>
            </a:prstGeom>
            <a:solidFill>
              <a:srgbClr val="F2F2F2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구름 10">
              <a:extLst>
                <a:ext uri="{FF2B5EF4-FFF2-40B4-BE49-F238E27FC236}">
                  <a16:creationId xmlns:a16="http://schemas.microsoft.com/office/drawing/2014/main" id="{821AC86C-38BF-4B52-D183-BDE9AD0375E5}"/>
                </a:ext>
              </a:extLst>
            </p:cNvPr>
            <p:cNvSpPr/>
            <p:nvPr/>
          </p:nvSpPr>
          <p:spPr>
            <a:xfrm>
              <a:off x="2087299" y="1442160"/>
              <a:ext cx="730800" cy="414519"/>
            </a:xfrm>
            <a:prstGeom prst="clou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 dirty="0">
                  <a:ln w="0"/>
                  <a:solidFill>
                    <a:prstClr val="black"/>
                  </a:solidFill>
                  <a:uLnTx/>
                  <a:uFillTx/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ISP</a:t>
              </a:r>
              <a:endParaRPr kumimoji="0" lang="ko-KR" altLang="en-US" sz="900" b="0" i="0" u="none" strike="noStrike" kern="1200" cap="none" spc="0" normalizeH="0" baseline="0" noProof="0" dirty="0">
                <a:ln w="0"/>
                <a:solidFill>
                  <a:prstClr val="black"/>
                </a:solidFill>
                <a:uLnTx/>
                <a:uFillTx/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D4449E82-4B9E-5643-A0A3-F98908A964BC}"/>
                </a:ext>
              </a:extLst>
            </p:cNvPr>
            <p:cNvCxnSpPr>
              <a:cxnSpLocks/>
              <a:stCxn id="11" idx="1"/>
              <a:endCxn id="38" idx="0"/>
            </p:cNvCxnSpPr>
            <p:nvPr/>
          </p:nvCxnSpPr>
          <p:spPr>
            <a:xfrm>
              <a:off x="2452699" y="1856238"/>
              <a:ext cx="3012" cy="3946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사각형: 둥근 모서리 36">
              <a:extLst>
                <a:ext uri="{FF2B5EF4-FFF2-40B4-BE49-F238E27FC236}">
                  <a16:creationId xmlns:a16="http://schemas.microsoft.com/office/drawing/2014/main" id="{7BB7FC9E-5056-82D6-0DCE-5C12DF9610EE}"/>
                </a:ext>
              </a:extLst>
            </p:cNvPr>
            <p:cNvSpPr/>
            <p:nvPr/>
          </p:nvSpPr>
          <p:spPr>
            <a:xfrm>
              <a:off x="479377" y="2813968"/>
              <a:ext cx="5078180" cy="3639368"/>
            </a:xfrm>
            <a:prstGeom prst="roundRect">
              <a:avLst>
                <a:gd name="adj" fmla="val 9688"/>
              </a:avLst>
            </a:prstGeom>
            <a:solidFill>
              <a:schemeClr val="accent3">
                <a:lumMod val="20000"/>
                <a:lumOff val="80000"/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38" name="Picture 19" descr="Catalyst6500SR">
              <a:extLst>
                <a:ext uri="{FF2B5EF4-FFF2-40B4-BE49-F238E27FC236}">
                  <a16:creationId xmlns:a16="http://schemas.microsoft.com/office/drawing/2014/main" id="{D037DAC1-BE9C-0943-F93B-CF6028BB78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60256" y1="48148" x2="65385" y2="57407"/>
                          <a14:foregroundMark x1="51282" y1="33333" x2="42308" y2="48148"/>
                          <a14:foregroundMark x1="44872" y1="25926" x2="39744" y2="9259"/>
                          <a14:foregroundMark x1="43590" y1="9259" x2="11538" y2="38889"/>
                          <a14:foregroundMark x1="34615" y1="85185" x2="47436" y2="87037"/>
                          <a14:foregroundMark x1="56410" y1="87037" x2="69231" y2="85185"/>
                          <a14:foregroundMark x1="74359" y1="81481" x2="80769" y2="74074"/>
                          <a14:foregroundMark x1="83333" y1="72222" x2="76923" y2="53704"/>
                          <a14:backgroundMark x1="93590" y1="16667" x2="85897" y2="1852"/>
                          <a14:backgroundMark x1="86634" y1="91266" x2="83333" y2="94444"/>
                          <a14:backgroundMark x1="94872" y1="83333" x2="87933" y2="90015"/>
                        </a14:backgroundRemoval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5665" y="2250875"/>
              <a:ext cx="360091" cy="3776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58FC38F-E7DA-97FA-C657-9D8D1CD52222}"/>
                </a:ext>
              </a:extLst>
            </p:cNvPr>
            <p:cNvSpPr txBox="1"/>
            <p:nvPr/>
          </p:nvSpPr>
          <p:spPr>
            <a:xfrm>
              <a:off x="2052629" y="2000629"/>
              <a:ext cx="3896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BR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E10B76DD-BB3C-C95D-5FB1-43E00C101B53}"/>
                </a:ext>
              </a:extLst>
            </p:cNvPr>
            <p:cNvCxnSpPr>
              <a:cxnSpLocks/>
              <a:stCxn id="38" idx="3"/>
              <a:endCxn id="147" idx="1"/>
            </p:cNvCxnSpPr>
            <p:nvPr/>
          </p:nvCxnSpPr>
          <p:spPr>
            <a:xfrm>
              <a:off x="2635756" y="2439682"/>
              <a:ext cx="712943" cy="4376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F979BD3F-0905-54DA-131A-D8DF2AC9FEEB}"/>
                </a:ext>
              </a:extLst>
            </p:cNvPr>
            <p:cNvCxnSpPr>
              <a:cxnSpLocks/>
              <a:stCxn id="105" idx="1"/>
              <a:endCxn id="104" idx="3"/>
            </p:cNvCxnSpPr>
            <p:nvPr/>
          </p:nvCxnSpPr>
          <p:spPr>
            <a:xfrm flipH="1" flipV="1">
              <a:off x="2969790" y="3838854"/>
              <a:ext cx="383328" cy="204220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7035B16-98A9-5913-CA6E-F06FE1C02483}"/>
                </a:ext>
              </a:extLst>
            </p:cNvPr>
            <p:cNvSpPr txBox="1"/>
            <p:nvPr/>
          </p:nvSpPr>
          <p:spPr>
            <a:xfrm>
              <a:off x="3191096" y="3529465"/>
              <a:ext cx="1027825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Gigamon</a:t>
              </a:r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스위치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B8D9D4C-71D1-F359-C963-C74602203CF9}"/>
                </a:ext>
              </a:extLst>
            </p:cNvPr>
            <p:cNvSpPr txBox="1"/>
            <p:nvPr/>
          </p:nvSpPr>
          <p:spPr>
            <a:xfrm>
              <a:off x="4516074" y="4065140"/>
              <a:ext cx="637803" cy="234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L4 -NAT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65E75D24-1491-C21B-C464-744A13987F2A}"/>
                </a:ext>
              </a:extLst>
            </p:cNvPr>
            <p:cNvCxnSpPr>
              <a:cxnSpLocks/>
              <a:stCxn id="104" idx="0"/>
            </p:cNvCxnSpPr>
            <p:nvPr/>
          </p:nvCxnSpPr>
          <p:spPr>
            <a:xfrm flipH="1" flipV="1">
              <a:off x="2617519" y="3261432"/>
              <a:ext cx="299837" cy="50472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E65BF74-FBCA-BB8F-C8DC-2A975D029CDF}"/>
                </a:ext>
              </a:extLst>
            </p:cNvPr>
            <p:cNvSpPr txBox="1"/>
            <p:nvPr/>
          </p:nvSpPr>
          <p:spPr>
            <a:xfrm>
              <a:off x="3948373" y="4739256"/>
              <a:ext cx="359962" cy="234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IPS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47" name="Picture 1053">
              <a:extLst>
                <a:ext uri="{FF2B5EF4-FFF2-40B4-BE49-F238E27FC236}">
                  <a16:creationId xmlns:a16="http://schemas.microsoft.com/office/drawing/2014/main" id="{67E9FD0D-D33A-0830-19C2-83546BE2775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267375" y="4540872"/>
              <a:ext cx="380494" cy="232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8" name="Picture 41">
              <a:extLst>
                <a:ext uri="{FF2B5EF4-FFF2-40B4-BE49-F238E27FC236}">
                  <a16:creationId xmlns:a16="http://schemas.microsoft.com/office/drawing/2014/main" id="{FF8FC336-F101-A175-D892-2758A4095E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3536604" y="3744073"/>
              <a:ext cx="491567" cy="232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207C6F41-8A62-6D55-0DBB-82AB5BCBE3B3}"/>
                </a:ext>
              </a:extLst>
            </p:cNvPr>
            <p:cNvCxnSpPr>
              <a:stCxn id="48" idx="2"/>
              <a:endCxn id="47" idx="0"/>
            </p:cNvCxnSpPr>
            <p:nvPr/>
          </p:nvCxnSpPr>
          <p:spPr>
            <a:xfrm flipH="1">
              <a:off x="3457622" y="3976284"/>
              <a:ext cx="324766" cy="564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74A9EF4E-F200-9437-5749-436B8DCA3FFC}"/>
                </a:ext>
              </a:extLst>
            </p:cNvPr>
            <p:cNvCxnSpPr>
              <a:stCxn id="48" idx="2"/>
              <a:endCxn id="83" idx="0"/>
            </p:cNvCxnSpPr>
            <p:nvPr/>
          </p:nvCxnSpPr>
          <p:spPr>
            <a:xfrm>
              <a:off x="3782388" y="3976284"/>
              <a:ext cx="345966" cy="5553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3" name="Picture 1053">
              <a:extLst>
                <a:ext uri="{FF2B5EF4-FFF2-40B4-BE49-F238E27FC236}">
                  <a16:creationId xmlns:a16="http://schemas.microsoft.com/office/drawing/2014/main" id="{6701643E-61C4-BE75-8384-5C91D9CCF69D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3938107" y="4531609"/>
              <a:ext cx="380494" cy="232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D9B1B9B3-85AD-2F08-4AFF-06A6DC2AADC2}"/>
                </a:ext>
              </a:extLst>
            </p:cNvPr>
            <p:cNvSpPr txBox="1"/>
            <p:nvPr/>
          </p:nvSpPr>
          <p:spPr>
            <a:xfrm>
              <a:off x="3602183" y="4717931"/>
              <a:ext cx="514627" cy="234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WAF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A6DA04AD-B3A7-70BA-1991-F8E7A983BF0E}"/>
                </a:ext>
              </a:extLst>
            </p:cNvPr>
            <p:cNvCxnSpPr>
              <a:stCxn id="88" idx="1"/>
              <a:endCxn id="86" idx="3"/>
            </p:cNvCxnSpPr>
            <p:nvPr/>
          </p:nvCxnSpPr>
          <p:spPr>
            <a:xfrm flipH="1">
              <a:off x="4661912" y="3387284"/>
              <a:ext cx="280177" cy="19568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6" name="Picture 41">
              <a:extLst>
                <a:ext uri="{FF2B5EF4-FFF2-40B4-BE49-F238E27FC236}">
                  <a16:creationId xmlns:a16="http://schemas.microsoft.com/office/drawing/2014/main" id="{26AD444E-EEC4-224E-4208-45234D1CF6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4170345" y="3466862"/>
              <a:ext cx="491567" cy="2322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CD934C25-ABC9-FAC9-90EE-43B601071A35}"/>
                </a:ext>
              </a:extLst>
            </p:cNvPr>
            <p:cNvSpPr txBox="1"/>
            <p:nvPr/>
          </p:nvSpPr>
          <p:spPr>
            <a:xfrm>
              <a:off x="4251368" y="3280784"/>
              <a:ext cx="389632" cy="234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AS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B31C678D-386A-2F41-3AA1-1E6FD782F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2089" y="3324879"/>
              <a:ext cx="369269" cy="1248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5989C326-CCF4-A3C6-76EF-739501529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2089" y="3514948"/>
              <a:ext cx="369269" cy="124809"/>
            </a:xfrm>
            <a:prstGeom prst="rect">
              <a:avLst/>
            </a:prstGeom>
            <a:ln>
              <a:noFill/>
            </a:ln>
          </p:spPr>
        </p:pic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B6CC85E8-FCE5-1CB3-5C46-289A5175C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2089" y="3707873"/>
              <a:ext cx="369269" cy="124809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6CB7C9DE-F08C-73EE-B887-87DC710BE40B}"/>
                </a:ext>
              </a:extLst>
            </p:cNvPr>
            <p:cNvCxnSpPr>
              <a:stCxn id="89" idx="1"/>
              <a:endCxn id="86" idx="3"/>
            </p:cNvCxnSpPr>
            <p:nvPr/>
          </p:nvCxnSpPr>
          <p:spPr>
            <a:xfrm flipH="1">
              <a:off x="4661912" y="3577353"/>
              <a:ext cx="280177" cy="561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직선 연결선 91">
              <a:extLst>
                <a:ext uri="{FF2B5EF4-FFF2-40B4-BE49-F238E27FC236}">
                  <a16:creationId xmlns:a16="http://schemas.microsoft.com/office/drawing/2014/main" id="{7D077338-8B92-B418-4406-8B52DA428DD0}"/>
                </a:ext>
              </a:extLst>
            </p:cNvPr>
            <p:cNvCxnSpPr>
              <a:stCxn id="90" idx="1"/>
              <a:endCxn id="86" idx="3"/>
            </p:cNvCxnSpPr>
            <p:nvPr/>
          </p:nvCxnSpPr>
          <p:spPr>
            <a:xfrm flipH="1" flipV="1">
              <a:off x="4661912" y="3582968"/>
              <a:ext cx="280177" cy="18731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직선 연결선 93">
              <a:extLst>
                <a:ext uri="{FF2B5EF4-FFF2-40B4-BE49-F238E27FC236}">
                  <a16:creationId xmlns:a16="http://schemas.microsoft.com/office/drawing/2014/main" id="{A6294283-FDD4-85A9-7C67-5C01DF0F88E8}"/>
                </a:ext>
              </a:extLst>
            </p:cNvPr>
            <p:cNvCxnSpPr>
              <a:stCxn id="48" idx="3"/>
              <a:endCxn id="86" idx="1"/>
            </p:cNvCxnSpPr>
            <p:nvPr/>
          </p:nvCxnSpPr>
          <p:spPr>
            <a:xfrm flipV="1">
              <a:off x="4028171" y="3582968"/>
              <a:ext cx="142174" cy="27721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3724DA63-3FDA-24E0-E79A-D1D94D7E755A}"/>
                </a:ext>
              </a:extLst>
            </p:cNvPr>
            <p:cNvCxnSpPr>
              <a:cxnSpLocks/>
              <a:endCxn id="48" idx="3"/>
            </p:cNvCxnSpPr>
            <p:nvPr/>
          </p:nvCxnSpPr>
          <p:spPr>
            <a:xfrm flipH="1" flipV="1">
              <a:off x="4028171" y="3860179"/>
              <a:ext cx="364859" cy="20104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FA921307-988F-2A25-9167-9F69F3075C3A}"/>
                </a:ext>
              </a:extLst>
            </p:cNvPr>
            <p:cNvCxnSpPr>
              <a:cxnSpLocks/>
              <a:endCxn id="149" idx="0"/>
            </p:cNvCxnSpPr>
            <p:nvPr/>
          </p:nvCxnSpPr>
          <p:spPr>
            <a:xfrm>
              <a:off x="2445551" y="2618329"/>
              <a:ext cx="10160" cy="47854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72A10369-6BB1-D1A7-BE09-994D5ED7BC0A}"/>
                </a:ext>
              </a:extLst>
            </p:cNvPr>
            <p:cNvCxnSpPr>
              <a:cxnSpLocks/>
            </p:cNvCxnSpPr>
            <p:nvPr/>
          </p:nvCxnSpPr>
          <p:spPr>
            <a:xfrm>
              <a:off x="2438300" y="3466862"/>
              <a:ext cx="3961" cy="11907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22E059CF-C0F1-9D4C-DE8C-49B9282DFAA0}"/>
                </a:ext>
              </a:extLst>
            </p:cNvPr>
            <p:cNvSpPr txBox="1"/>
            <p:nvPr/>
          </p:nvSpPr>
          <p:spPr>
            <a:xfrm>
              <a:off x="1800892" y="4553953"/>
              <a:ext cx="663723" cy="234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DS-</a:t>
              </a:r>
              <a:r>
                <a:rPr lang="en-US" altLang="ko-KR" sz="9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Gov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99" name="꺾인 연결선 101">
              <a:extLst>
                <a:ext uri="{FF2B5EF4-FFF2-40B4-BE49-F238E27FC236}">
                  <a16:creationId xmlns:a16="http://schemas.microsoft.com/office/drawing/2014/main" id="{5A9F5A36-3F99-6C30-25FB-3121A70A6C8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466991" y="5306718"/>
              <a:ext cx="9493" cy="733039"/>
            </a:xfrm>
            <a:prstGeom prst="bentConnector3">
              <a:avLst>
                <a:gd name="adj1" fmla="val 141303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0" name="Picture 41">
              <a:extLst>
                <a:ext uri="{FF2B5EF4-FFF2-40B4-BE49-F238E27FC236}">
                  <a16:creationId xmlns:a16="http://schemas.microsoft.com/office/drawing/2014/main" id="{EE13A3E7-6E05-D97A-41DE-B39447797A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882581" y="5692362"/>
              <a:ext cx="441476" cy="202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1" name="Picture 41">
              <a:extLst>
                <a:ext uri="{FF2B5EF4-FFF2-40B4-BE49-F238E27FC236}">
                  <a16:creationId xmlns:a16="http://schemas.microsoft.com/office/drawing/2014/main" id="{4F07CFE3-FF08-A86A-A08C-710A20AAA9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08494" y="5678919"/>
              <a:ext cx="441476" cy="202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EA5A8D84-9F14-82FE-1ADF-19CE8AFA0778}"/>
                </a:ext>
              </a:extLst>
            </p:cNvPr>
            <p:cNvSpPr txBox="1"/>
            <p:nvPr/>
          </p:nvSpPr>
          <p:spPr>
            <a:xfrm>
              <a:off x="2060136" y="5920409"/>
              <a:ext cx="770830" cy="23416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MGT Block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5A354AA4-A5AA-5014-D534-8352E7782363}"/>
                </a:ext>
              </a:extLst>
            </p:cNvPr>
            <p:cNvCxnSpPr>
              <a:cxnSpLocks/>
            </p:cNvCxnSpPr>
            <p:nvPr/>
          </p:nvCxnSpPr>
          <p:spPr>
            <a:xfrm>
              <a:off x="2442260" y="5002800"/>
              <a:ext cx="0" cy="34830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CCB5EC77-9C26-4DF7-0F3E-0E26D1D309EC}"/>
                </a:ext>
              </a:extLst>
            </p:cNvPr>
            <p:cNvSpPr/>
            <p:nvPr/>
          </p:nvSpPr>
          <p:spPr>
            <a:xfrm>
              <a:off x="2864921" y="3766158"/>
              <a:ext cx="104869" cy="145392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90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05" name="Picture 2">
              <a:extLst>
                <a:ext uri="{FF2B5EF4-FFF2-40B4-BE49-F238E27FC236}">
                  <a16:creationId xmlns:a16="http://schemas.microsoft.com/office/drawing/2014/main" id="{A81CF072-1165-EFD9-EADE-C7E3434D49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3118" y="5438036"/>
              <a:ext cx="357297" cy="886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chemeClr val="bg1"/>
              </a:prstShdw>
            </a:effectLst>
          </p:spPr>
        </p:pic>
        <p:pic>
          <p:nvPicPr>
            <p:cNvPr id="107" name="Picture 1053">
              <a:extLst>
                <a:ext uri="{FF2B5EF4-FFF2-40B4-BE49-F238E27FC236}">
                  <a16:creationId xmlns:a16="http://schemas.microsoft.com/office/drawing/2014/main" id="{983A1486-2404-571A-2F7E-A1B444FB4D8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2237620" y="5372804"/>
              <a:ext cx="380494" cy="232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E67B1CE-62C1-0B2E-B80F-325EEAF83B45}"/>
                </a:ext>
              </a:extLst>
            </p:cNvPr>
            <p:cNvSpPr txBox="1"/>
            <p:nvPr/>
          </p:nvSpPr>
          <p:spPr>
            <a:xfrm>
              <a:off x="1968241" y="5254996"/>
              <a:ext cx="374655" cy="234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FW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6E2650E-77C6-8AC8-01B7-7DBE6446508B}"/>
                </a:ext>
              </a:extLst>
            </p:cNvPr>
            <p:cNvSpPr txBox="1"/>
            <p:nvPr/>
          </p:nvSpPr>
          <p:spPr>
            <a:xfrm>
              <a:off x="2052629" y="2951033"/>
              <a:ext cx="38963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CS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110" name="꺾인 연결선 91">
              <a:extLst>
                <a:ext uri="{FF2B5EF4-FFF2-40B4-BE49-F238E27FC236}">
                  <a16:creationId xmlns:a16="http://schemas.microsoft.com/office/drawing/2014/main" id="{5CA2CB56-9EA9-68EA-EBA2-33F68C4F47B4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152102" y="5312620"/>
              <a:ext cx="9493" cy="733039"/>
            </a:xfrm>
            <a:prstGeom prst="bentConnector3">
              <a:avLst>
                <a:gd name="adj1" fmla="val 141303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11" name="Picture 41">
              <a:extLst>
                <a:ext uri="{FF2B5EF4-FFF2-40B4-BE49-F238E27FC236}">
                  <a16:creationId xmlns:a16="http://schemas.microsoft.com/office/drawing/2014/main" id="{D9B4A39C-E1BC-327D-AF29-010A61F3A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564204" y="5692362"/>
              <a:ext cx="441476" cy="202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DE34CBB1-3813-B5D5-0AED-F361B517753E}"/>
                </a:ext>
              </a:extLst>
            </p:cNvPr>
            <p:cNvSpPr txBox="1"/>
            <p:nvPr/>
          </p:nvSpPr>
          <p:spPr>
            <a:xfrm>
              <a:off x="800941" y="5909656"/>
              <a:ext cx="738799" cy="23416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CNC Block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19FAF5BA-37C3-E44E-B29D-C74AA36ED48A}"/>
                </a:ext>
              </a:extLst>
            </p:cNvPr>
            <p:cNvCxnSpPr>
              <a:cxnSpLocks/>
            </p:cNvCxnSpPr>
            <p:nvPr/>
          </p:nvCxnSpPr>
          <p:spPr>
            <a:xfrm>
              <a:off x="1200799" y="5002799"/>
              <a:ext cx="0" cy="5330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19" name="Picture 41">
              <a:extLst>
                <a:ext uri="{FF2B5EF4-FFF2-40B4-BE49-F238E27FC236}">
                  <a16:creationId xmlns:a16="http://schemas.microsoft.com/office/drawing/2014/main" id="{AAFDE652-081A-2C43-9877-57309915E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1302630" y="5692362"/>
              <a:ext cx="441476" cy="202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04D1F515-1779-4DDB-D49C-D36649A95698}"/>
                </a:ext>
              </a:extLst>
            </p:cNvPr>
            <p:cNvSpPr txBox="1"/>
            <p:nvPr/>
          </p:nvSpPr>
          <p:spPr>
            <a:xfrm>
              <a:off x="559430" y="4553953"/>
              <a:ext cx="663723" cy="234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DS-</a:t>
              </a:r>
              <a:r>
                <a:rPr lang="en-US" altLang="ko-KR" sz="9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Gov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954F6762-E194-7EE1-0FAB-7F44F9A32F8D}"/>
                </a:ext>
              </a:extLst>
            </p:cNvPr>
            <p:cNvCxnSpPr>
              <a:cxnSpLocks/>
              <a:endCxn id="126" idx="3"/>
            </p:cNvCxnSpPr>
            <p:nvPr/>
          </p:nvCxnSpPr>
          <p:spPr>
            <a:xfrm flipH="1">
              <a:off x="1223153" y="3360700"/>
              <a:ext cx="1211186" cy="13103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직선 연결선 130">
              <a:extLst>
                <a:ext uri="{FF2B5EF4-FFF2-40B4-BE49-F238E27FC236}">
                  <a16:creationId xmlns:a16="http://schemas.microsoft.com/office/drawing/2014/main" id="{6B0B4A66-C27B-0077-7575-B1FF3F4ED48F}"/>
                </a:ext>
              </a:extLst>
            </p:cNvPr>
            <p:cNvCxnSpPr>
              <a:cxnSpLocks/>
              <a:stCxn id="48" idx="1"/>
              <a:endCxn id="104" idx="3"/>
            </p:cNvCxnSpPr>
            <p:nvPr/>
          </p:nvCxnSpPr>
          <p:spPr>
            <a:xfrm flipH="1" flipV="1">
              <a:off x="2969790" y="3838854"/>
              <a:ext cx="566814" cy="213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5C0D6A68-2EBC-D96F-207E-85C3E6F670F5}"/>
                </a:ext>
              </a:extLst>
            </p:cNvPr>
            <p:cNvGrpSpPr/>
            <p:nvPr/>
          </p:nvGrpSpPr>
          <p:grpSpPr>
            <a:xfrm>
              <a:off x="3869670" y="5676528"/>
              <a:ext cx="494280" cy="435951"/>
              <a:chOff x="6726588" y="1325082"/>
              <a:chExt cx="1150942" cy="618049"/>
            </a:xfrm>
          </p:grpSpPr>
          <p:sp>
            <p:nvSpPr>
              <p:cNvPr id="133" name="모서리가 둥근 직사각형 124">
                <a:extLst>
                  <a:ext uri="{FF2B5EF4-FFF2-40B4-BE49-F238E27FC236}">
                    <a16:creationId xmlns:a16="http://schemas.microsoft.com/office/drawing/2014/main" id="{375A0EAA-58B7-4144-7EFE-3697CCE78EE2}"/>
                  </a:ext>
                </a:extLst>
              </p:cNvPr>
              <p:cNvSpPr/>
              <p:nvPr/>
            </p:nvSpPr>
            <p:spPr>
              <a:xfrm>
                <a:off x="6726588" y="1325082"/>
                <a:ext cx="1150942" cy="618049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pic>
            <p:nvPicPr>
              <p:cNvPr id="134" name="Picture 2">
                <a:extLst>
                  <a:ext uri="{FF2B5EF4-FFF2-40B4-BE49-F238E27FC236}">
                    <a16:creationId xmlns:a16="http://schemas.microsoft.com/office/drawing/2014/main" id="{9DF299BE-0AE3-E2CB-0446-04F3273AD9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6798522" y="1390903"/>
                <a:ext cx="699346" cy="20254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</p:pic>
          <p:pic>
            <p:nvPicPr>
              <p:cNvPr id="137" name="Picture 2">
                <a:extLst>
                  <a:ext uri="{FF2B5EF4-FFF2-40B4-BE49-F238E27FC236}">
                    <a16:creationId xmlns:a16="http://schemas.microsoft.com/office/drawing/2014/main" id="{FD0AD138-846B-CE57-E398-BCD3DF9CFB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6951980" y="1531321"/>
                <a:ext cx="699346" cy="20254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</p:pic>
          <p:pic>
            <p:nvPicPr>
              <p:cNvPr id="138" name="Picture 2">
                <a:extLst>
                  <a:ext uri="{FF2B5EF4-FFF2-40B4-BE49-F238E27FC236}">
                    <a16:creationId xmlns:a16="http://schemas.microsoft.com/office/drawing/2014/main" id="{A0627258-840D-7D2E-5D1D-38BD309E65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/>
              <a:srcRect/>
              <a:stretch>
                <a:fillRect/>
              </a:stretch>
            </p:blipFill>
            <p:spPr bwMode="auto">
              <a:xfrm>
                <a:off x="7105438" y="1671740"/>
                <a:ext cx="699346" cy="20254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</p:pic>
        </p:grpSp>
        <p:cxnSp>
          <p:nvCxnSpPr>
            <p:cNvPr id="139" name="직선 화살표 연결선 138">
              <a:extLst>
                <a:ext uri="{FF2B5EF4-FFF2-40B4-BE49-F238E27FC236}">
                  <a16:creationId xmlns:a16="http://schemas.microsoft.com/office/drawing/2014/main" id="{5CA0FA52-4438-D960-D984-191255430D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3324" y="5879058"/>
              <a:ext cx="199899" cy="200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91ECEF94-0BD0-A3B2-F490-4FEEA90B3972}"/>
                </a:ext>
              </a:extLst>
            </p:cNvPr>
            <p:cNvSpPr txBox="1"/>
            <p:nvPr/>
          </p:nvSpPr>
          <p:spPr>
            <a:xfrm>
              <a:off x="4729046" y="3098443"/>
              <a:ext cx="644807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Haproxy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0D6C90FE-EA9C-1D84-62E8-7EAD378080C8}"/>
                </a:ext>
              </a:extLst>
            </p:cNvPr>
            <p:cNvGrpSpPr/>
            <p:nvPr/>
          </p:nvGrpSpPr>
          <p:grpSpPr>
            <a:xfrm>
              <a:off x="3004847" y="3738972"/>
              <a:ext cx="341761" cy="216956"/>
              <a:chOff x="1598739" y="2551218"/>
              <a:chExt cx="341761" cy="216956"/>
            </a:xfrm>
          </p:grpSpPr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ED24A7F8-FA98-19CD-A6D7-6AB07B3B7C04}"/>
                  </a:ext>
                </a:extLst>
              </p:cNvPr>
              <p:cNvSpPr/>
              <p:nvPr/>
            </p:nvSpPr>
            <p:spPr>
              <a:xfrm>
                <a:off x="1609759" y="2551218"/>
                <a:ext cx="330741" cy="216956"/>
              </a:xfrm>
              <a:prstGeom prst="ellipse">
                <a:avLst/>
              </a:prstGeom>
              <a:ln w="12700"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E0C8C29F-74FF-EA1D-3B55-4C547CE0B5F4}"/>
                  </a:ext>
                </a:extLst>
              </p:cNvPr>
              <p:cNvSpPr txBox="1"/>
              <p:nvPr/>
            </p:nvSpPr>
            <p:spPr>
              <a:xfrm>
                <a:off x="1598739" y="2551974"/>
                <a:ext cx="341761" cy="21544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IDS</a:t>
                </a:r>
                <a:endPara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44" name="그룹 143">
              <a:extLst>
                <a:ext uri="{FF2B5EF4-FFF2-40B4-BE49-F238E27FC236}">
                  <a16:creationId xmlns:a16="http://schemas.microsoft.com/office/drawing/2014/main" id="{5157C162-74D8-A96E-8F71-1FD2EB3D2152}"/>
                </a:ext>
              </a:extLst>
            </p:cNvPr>
            <p:cNvGrpSpPr/>
            <p:nvPr/>
          </p:nvGrpSpPr>
          <p:grpSpPr>
            <a:xfrm>
              <a:off x="2916583" y="3850968"/>
              <a:ext cx="452766" cy="308991"/>
              <a:chOff x="1598739" y="2490419"/>
              <a:chExt cx="341761" cy="338554"/>
            </a:xfrm>
          </p:grpSpPr>
          <p:sp>
            <p:nvSpPr>
              <p:cNvPr id="145" name="타원 144">
                <a:extLst>
                  <a:ext uri="{FF2B5EF4-FFF2-40B4-BE49-F238E27FC236}">
                    <a16:creationId xmlns:a16="http://schemas.microsoft.com/office/drawing/2014/main" id="{16EBA32B-9797-C332-C7C4-9A869509509E}"/>
                  </a:ext>
                </a:extLst>
              </p:cNvPr>
              <p:cNvSpPr/>
              <p:nvPr/>
            </p:nvSpPr>
            <p:spPr>
              <a:xfrm>
                <a:off x="1609759" y="2551218"/>
                <a:ext cx="330741" cy="216956"/>
              </a:xfrm>
              <a:prstGeom prst="ellipse">
                <a:avLst/>
              </a:prstGeom>
              <a:ln w="12700"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4ED165F6-8889-48D6-6151-4B1CE10E2A73}"/>
                  </a:ext>
                </a:extLst>
              </p:cNvPr>
              <p:cNvSpPr txBox="1"/>
              <p:nvPr/>
            </p:nvSpPr>
            <p:spPr>
              <a:xfrm>
                <a:off x="1598739" y="2490419"/>
                <a:ext cx="341761" cy="338554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 anchor="ctr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800" dirty="0">
                    <a:solidFill>
                      <a:prstClr val="black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DDoS</a:t>
                </a:r>
                <a:endPara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pic>
          <p:nvPicPr>
            <p:cNvPr id="147" name="그림 146">
              <a:extLst>
                <a:ext uri="{FF2B5EF4-FFF2-40B4-BE49-F238E27FC236}">
                  <a16:creationId xmlns:a16="http://schemas.microsoft.com/office/drawing/2014/main" id="{8DA27C27-6A3D-99E5-5020-26A859EA24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348699" y="2694273"/>
              <a:ext cx="366136" cy="366136"/>
            </a:xfrm>
            <a:prstGeom prst="rect">
              <a:avLst/>
            </a:prstGeom>
          </p:spPr>
        </p:pic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DDB33A2E-4963-95BC-F41E-16A4228490F1}"/>
                </a:ext>
              </a:extLst>
            </p:cNvPr>
            <p:cNvSpPr txBox="1"/>
            <p:nvPr/>
          </p:nvSpPr>
          <p:spPr>
            <a:xfrm>
              <a:off x="3269067" y="3021291"/>
              <a:ext cx="525400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Guard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49" name="Picture 19" descr="Catalyst6500SR">
              <a:extLst>
                <a:ext uri="{FF2B5EF4-FFF2-40B4-BE49-F238E27FC236}">
                  <a16:creationId xmlns:a16="http://schemas.microsoft.com/office/drawing/2014/main" id="{EF20438C-860A-BAA0-36FA-A3EFF710E6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60256" y1="48148" x2="65385" y2="57407"/>
                          <a14:foregroundMark x1="51282" y1="33333" x2="42308" y2="48148"/>
                          <a14:foregroundMark x1="44872" y1="25926" x2="39744" y2="9259"/>
                          <a14:foregroundMark x1="43590" y1="9259" x2="11538" y2="38889"/>
                          <a14:foregroundMark x1="34615" y1="85185" x2="47436" y2="87037"/>
                          <a14:foregroundMark x1="56410" y1="87037" x2="69231" y2="85185"/>
                          <a14:foregroundMark x1="74359" y1="81481" x2="80769" y2="74074"/>
                          <a14:foregroundMark x1="83333" y1="72222" x2="76923" y2="53704"/>
                          <a14:backgroundMark x1="93590" y1="16667" x2="85897" y2="1852"/>
                          <a14:backgroundMark x1="86634" y1="91266" x2="83333" y2="94444"/>
                          <a14:backgroundMark x1="94872" y1="83333" x2="87933" y2="90015"/>
                        </a14:backgroundRemoval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5665" y="3096872"/>
              <a:ext cx="360091" cy="3776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0" name="Picture 19" descr="Catalyst6500SR">
              <a:extLst>
                <a:ext uri="{FF2B5EF4-FFF2-40B4-BE49-F238E27FC236}">
                  <a16:creationId xmlns:a16="http://schemas.microsoft.com/office/drawing/2014/main" id="{E957CB45-E9C2-D455-8E90-7B0C334988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60256" y1="48148" x2="65385" y2="57407"/>
                          <a14:foregroundMark x1="51282" y1="33333" x2="42308" y2="48148"/>
                          <a14:foregroundMark x1="44872" y1="25926" x2="39744" y2="9259"/>
                          <a14:foregroundMark x1="43590" y1="9259" x2="11538" y2="38889"/>
                          <a14:foregroundMark x1="34615" y1="85185" x2="47436" y2="87037"/>
                          <a14:foregroundMark x1="56410" y1="87037" x2="69231" y2="85185"/>
                          <a14:foregroundMark x1="74359" y1="81481" x2="80769" y2="74074"/>
                          <a14:foregroundMark x1="83333" y1="72222" x2="76923" y2="53704"/>
                          <a14:backgroundMark x1="93590" y1="16667" x2="85897" y2="1852"/>
                          <a14:backgroundMark x1="86634" y1="91266" x2="83333" y2="94444"/>
                          <a14:backgroundMark x1="94872" y1="83333" x2="87933" y2="90015"/>
                        </a14:backgroundRemoval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75665" y="4638249"/>
              <a:ext cx="360091" cy="3776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1" name="Picture 19" descr="Catalyst6500SR">
              <a:extLst>
                <a:ext uri="{FF2B5EF4-FFF2-40B4-BE49-F238E27FC236}">
                  <a16:creationId xmlns:a16="http://schemas.microsoft.com/office/drawing/2014/main" id="{6096D07C-2BE6-7F59-2BB7-D4964694D0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60256" y1="48148" x2="65385" y2="57407"/>
                          <a14:foregroundMark x1="51282" y1="33333" x2="42308" y2="48148"/>
                          <a14:foregroundMark x1="44872" y1="25926" x2="39744" y2="9259"/>
                          <a14:foregroundMark x1="43590" y1="9259" x2="11538" y2="38889"/>
                          <a14:foregroundMark x1="34615" y1="85185" x2="47436" y2="87037"/>
                          <a14:foregroundMark x1="56410" y1="87037" x2="69231" y2="85185"/>
                          <a14:foregroundMark x1="74359" y1="81481" x2="80769" y2="74074"/>
                          <a14:foregroundMark x1="83333" y1="72222" x2="76923" y2="53704"/>
                          <a14:backgroundMark x1="93590" y1="16667" x2="85897" y2="1852"/>
                          <a14:backgroundMark x1="86634" y1="91266" x2="83333" y2="94444"/>
                          <a14:backgroundMark x1="94872" y1="83333" x2="87933" y2="90015"/>
                        </a14:backgroundRemoval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4788" y="4638249"/>
              <a:ext cx="360091" cy="3776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2" name="Picture 19" descr="Catalyst6500SR">
              <a:extLst>
                <a:ext uri="{FF2B5EF4-FFF2-40B4-BE49-F238E27FC236}">
                  <a16:creationId xmlns:a16="http://schemas.microsoft.com/office/drawing/2014/main" id="{A9BBF137-F4C3-AFAA-A98B-B4154A369E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60256" y1="48148" x2="65385" y2="57407"/>
                          <a14:foregroundMark x1="51282" y1="33333" x2="42308" y2="48148"/>
                          <a14:foregroundMark x1="44872" y1="25926" x2="39744" y2="9259"/>
                          <a14:foregroundMark x1="43590" y1="9259" x2="11538" y2="38889"/>
                          <a14:foregroundMark x1="34615" y1="85185" x2="47436" y2="87037"/>
                          <a14:foregroundMark x1="56410" y1="87037" x2="69231" y2="85185"/>
                          <a14:foregroundMark x1="74359" y1="81481" x2="80769" y2="74074"/>
                          <a14:foregroundMark x1="83333" y1="72222" x2="76923" y2="53704"/>
                          <a14:backgroundMark x1="93590" y1="16667" x2="85897" y2="1852"/>
                          <a14:backgroundMark x1="86634" y1="91266" x2="83333" y2="94444"/>
                          <a14:backgroundMark x1="94872" y1="83333" x2="87933" y2="90015"/>
                        </a14:backgroundRemoval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27841" y="3933144"/>
              <a:ext cx="360091" cy="3776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3" name="desc104">
              <a:extLst>
                <a:ext uri="{FF2B5EF4-FFF2-40B4-BE49-F238E27FC236}">
                  <a16:creationId xmlns:a16="http://schemas.microsoft.com/office/drawing/2014/main" id="{43A85706-CA4E-F0AB-5CE4-323F2C7CDB94}"/>
                </a:ext>
              </a:extLst>
            </p:cNvPr>
            <p:cNvSpPr txBox="1"/>
            <p:nvPr/>
          </p:nvSpPr>
          <p:spPr>
            <a:xfrm>
              <a:off x="615677" y="1488830"/>
              <a:ext cx="76920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평촌 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IDC</a:t>
              </a:r>
            </a:p>
            <a:p>
              <a:pPr algn="ctr"/>
              <a:r>
                <a:rPr lang="ko-KR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민간 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NCP</a:t>
              </a:r>
            </a:p>
          </p:txBody>
        </p:sp>
        <p:sp>
          <p:nvSpPr>
            <p:cNvPr id="154" name="desc104">
              <a:extLst>
                <a:ext uri="{FF2B5EF4-FFF2-40B4-BE49-F238E27FC236}">
                  <a16:creationId xmlns:a16="http://schemas.microsoft.com/office/drawing/2014/main" id="{CA0403B6-1D97-9617-83C8-8AEDCAFE556B}"/>
                </a:ext>
              </a:extLst>
            </p:cNvPr>
            <p:cNvSpPr txBox="1"/>
            <p:nvPr/>
          </p:nvSpPr>
          <p:spPr>
            <a:xfrm>
              <a:off x="615677" y="3009216"/>
              <a:ext cx="769202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평촌 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IDC</a:t>
              </a:r>
            </a:p>
            <a:p>
              <a:pPr algn="ctr"/>
              <a:r>
                <a:rPr lang="ko-KR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공공 </a:t>
              </a:r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NCP</a:t>
              </a:r>
            </a:p>
          </p:txBody>
        </p:sp>
      </p:grpSp>
      <p:pic>
        <p:nvPicPr>
          <p:cNvPr id="156" name="Picture 9">
            <a:extLst>
              <a:ext uri="{FF2B5EF4-FFF2-40B4-BE49-F238E27FC236}">
                <a16:creationId xmlns:a16="http://schemas.microsoft.com/office/drawing/2014/main" id="{E3E95DFD-21B1-65A4-A030-7AB35D9F8DA4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5879976" y="3249162"/>
            <a:ext cx="5588000" cy="13970"/>
          </a:xfrm>
          <a:prstGeom prst="rect">
            <a:avLst/>
          </a:prstGeom>
        </p:spPr>
      </p:pic>
      <p:sp>
        <p:nvSpPr>
          <p:cNvPr id="157" name="cb100">
            <a:extLst>
              <a:ext uri="{FF2B5EF4-FFF2-40B4-BE49-F238E27FC236}">
                <a16:creationId xmlns:a16="http://schemas.microsoft.com/office/drawing/2014/main" id="{D79F72F5-E3DC-AC13-7EFE-65D6E8C3A793}"/>
              </a:ext>
            </a:extLst>
          </p:cNvPr>
          <p:cNvSpPr/>
          <p:nvPr/>
        </p:nvSpPr>
        <p:spPr>
          <a:xfrm>
            <a:off x="5763679" y="3789040"/>
            <a:ext cx="6020333" cy="2952328"/>
          </a:xfrm>
          <a:prstGeom prst="round2SameRect">
            <a:avLst>
              <a:gd name="adj1" fmla="val 2669"/>
              <a:gd name="adj2" fmla="val 2693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pic>
        <p:nvPicPr>
          <p:cNvPr id="158" name="Picture 9">
            <a:extLst>
              <a:ext uri="{FF2B5EF4-FFF2-40B4-BE49-F238E27FC236}">
                <a16:creationId xmlns:a16="http://schemas.microsoft.com/office/drawing/2014/main" id="{9FBDA151-FBCC-4860-AD9B-9479CC7B712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5928626" y="4305614"/>
            <a:ext cx="4618182" cy="11545"/>
          </a:xfrm>
          <a:prstGeom prst="rect">
            <a:avLst/>
          </a:prstGeom>
        </p:spPr>
      </p:pic>
      <p:sp>
        <p:nvSpPr>
          <p:cNvPr id="159" name="TextBox 32">
            <a:extLst>
              <a:ext uri="{FF2B5EF4-FFF2-40B4-BE49-F238E27FC236}">
                <a16:creationId xmlns:a16="http://schemas.microsoft.com/office/drawing/2014/main" id="{4BA8D626-34D7-3FD9-0E19-5E86EE3EF1F1}"/>
              </a:ext>
            </a:extLst>
          </p:cNvPr>
          <p:cNvSpPr txBox="1"/>
          <p:nvPr/>
        </p:nvSpPr>
        <p:spPr>
          <a:xfrm>
            <a:off x="6113147" y="3868878"/>
            <a:ext cx="451993" cy="234828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isp</a:t>
            </a:r>
          </a:p>
        </p:txBody>
      </p:sp>
      <p:sp>
        <p:nvSpPr>
          <p:cNvPr id="160" name="TextBox 33">
            <a:extLst>
              <a:ext uri="{FF2B5EF4-FFF2-40B4-BE49-F238E27FC236}">
                <a16:creationId xmlns:a16="http://schemas.microsoft.com/office/drawing/2014/main" id="{3738D12E-3F55-C3D8-C127-EA62540192F2}"/>
              </a:ext>
            </a:extLst>
          </p:cNvPr>
          <p:cNvSpPr txBox="1"/>
          <p:nvPr/>
        </p:nvSpPr>
        <p:spPr>
          <a:xfrm>
            <a:off x="6112307" y="4074816"/>
            <a:ext cx="4342586" cy="18603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인터넷 통신 사업자 (SK, KT, LG 등)외부 인터넷과 내부 네트워크의 연결 시작점</a:t>
            </a:r>
          </a:p>
        </p:txBody>
      </p:sp>
      <p:pic>
        <p:nvPicPr>
          <p:cNvPr id="164" name="Picture 9">
            <a:extLst>
              <a:ext uri="{FF2B5EF4-FFF2-40B4-BE49-F238E27FC236}">
                <a16:creationId xmlns:a16="http://schemas.microsoft.com/office/drawing/2014/main" id="{D722AF60-6F1D-1794-43CE-D007CD4A360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5928626" y="4790432"/>
            <a:ext cx="4618182" cy="11545"/>
          </a:xfrm>
          <a:prstGeom prst="rect">
            <a:avLst/>
          </a:prstGeom>
        </p:spPr>
      </p:pic>
      <p:sp>
        <p:nvSpPr>
          <p:cNvPr id="165" name="TextBox 32">
            <a:extLst>
              <a:ext uri="{FF2B5EF4-FFF2-40B4-BE49-F238E27FC236}">
                <a16:creationId xmlns:a16="http://schemas.microsoft.com/office/drawing/2014/main" id="{124CF0A0-1212-141B-43BF-A4DC11BCB69F}"/>
              </a:ext>
            </a:extLst>
          </p:cNvPr>
          <p:cNvSpPr txBox="1"/>
          <p:nvPr/>
        </p:nvSpPr>
        <p:spPr>
          <a:xfrm>
            <a:off x="6113147" y="4353696"/>
            <a:ext cx="451993" cy="234828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cap="all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br</a:t>
            </a:r>
            <a:endParaRPr lang="en-US" sz="1050" b="0" i="0" u="none" strike="noStrike" cap="all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66" name="TextBox 33">
            <a:extLst>
              <a:ext uri="{FF2B5EF4-FFF2-40B4-BE49-F238E27FC236}">
                <a16:creationId xmlns:a16="http://schemas.microsoft.com/office/drawing/2014/main" id="{0EF40116-CBED-B7E5-E976-A7E04069691E}"/>
              </a:ext>
            </a:extLst>
          </p:cNvPr>
          <p:cNvSpPr txBox="1"/>
          <p:nvPr/>
        </p:nvSpPr>
        <p:spPr>
          <a:xfrm>
            <a:off x="6112307" y="4559634"/>
            <a:ext cx="4342586" cy="18603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클래식 공인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집선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장비 민간/공공 트래픽 분기점 역할</a:t>
            </a:r>
          </a:p>
        </p:txBody>
      </p:sp>
      <p:pic>
        <p:nvPicPr>
          <p:cNvPr id="169" name="Picture 9">
            <a:extLst>
              <a:ext uri="{FF2B5EF4-FFF2-40B4-BE49-F238E27FC236}">
                <a16:creationId xmlns:a16="http://schemas.microsoft.com/office/drawing/2014/main" id="{692E1054-45D2-7EDF-A258-F7F8009298A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5928626" y="5272440"/>
            <a:ext cx="4618182" cy="11545"/>
          </a:xfrm>
          <a:prstGeom prst="rect">
            <a:avLst/>
          </a:prstGeom>
        </p:spPr>
      </p:pic>
      <p:sp>
        <p:nvSpPr>
          <p:cNvPr id="175" name="TextBox 32">
            <a:extLst>
              <a:ext uri="{FF2B5EF4-FFF2-40B4-BE49-F238E27FC236}">
                <a16:creationId xmlns:a16="http://schemas.microsoft.com/office/drawing/2014/main" id="{EFBC2555-B1D9-8B07-15ED-48CC86D032C4}"/>
              </a:ext>
            </a:extLst>
          </p:cNvPr>
          <p:cNvSpPr txBox="1"/>
          <p:nvPr/>
        </p:nvSpPr>
        <p:spPr>
          <a:xfrm>
            <a:off x="6113147" y="4835704"/>
            <a:ext cx="451993" cy="234828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cs</a:t>
            </a:r>
            <a:endParaRPr lang="en-US" sz="1050" b="0" i="0" u="none" strike="noStrike" cap="all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76" name="TextBox 33">
            <a:extLst>
              <a:ext uri="{FF2B5EF4-FFF2-40B4-BE49-F238E27FC236}">
                <a16:creationId xmlns:a16="http://schemas.microsoft.com/office/drawing/2014/main" id="{70933B62-F0D8-9A20-2B26-8A2209F096C2}"/>
              </a:ext>
            </a:extLst>
          </p:cNvPr>
          <p:cNvSpPr txBox="1"/>
          <p:nvPr/>
        </p:nvSpPr>
        <p:spPr>
          <a:xfrm>
            <a:off x="6112307" y="5041642"/>
            <a:ext cx="4342586" cy="18603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최상단에 위치한 스위치 N-S(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North-South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 트래픽 처리 담당</a:t>
            </a:r>
          </a:p>
        </p:txBody>
      </p:sp>
      <p:pic>
        <p:nvPicPr>
          <p:cNvPr id="179" name="Picture 9">
            <a:extLst>
              <a:ext uri="{FF2B5EF4-FFF2-40B4-BE49-F238E27FC236}">
                <a16:creationId xmlns:a16="http://schemas.microsoft.com/office/drawing/2014/main" id="{1483C1D4-A277-B842-25C0-B95EB5ABE74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5928626" y="5757258"/>
            <a:ext cx="4618182" cy="11545"/>
          </a:xfrm>
          <a:prstGeom prst="rect">
            <a:avLst/>
          </a:prstGeom>
        </p:spPr>
      </p:pic>
      <p:sp>
        <p:nvSpPr>
          <p:cNvPr id="180" name="TextBox 32">
            <a:extLst>
              <a:ext uri="{FF2B5EF4-FFF2-40B4-BE49-F238E27FC236}">
                <a16:creationId xmlns:a16="http://schemas.microsoft.com/office/drawing/2014/main" id="{D88CAA5A-F969-C4C8-C2F3-D3281AF7FDAB}"/>
              </a:ext>
            </a:extLst>
          </p:cNvPr>
          <p:cNvSpPr txBox="1"/>
          <p:nvPr/>
        </p:nvSpPr>
        <p:spPr>
          <a:xfrm>
            <a:off x="6113147" y="5320522"/>
            <a:ext cx="451993" cy="234828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ds</a:t>
            </a:r>
            <a:endParaRPr lang="en-US" sz="1050" b="0" i="0" u="none" strike="noStrike" cap="all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81" name="TextBox 33">
            <a:extLst>
              <a:ext uri="{FF2B5EF4-FFF2-40B4-BE49-F238E27FC236}">
                <a16:creationId xmlns:a16="http://schemas.microsoft.com/office/drawing/2014/main" id="{F3DD5477-2066-9BE3-7100-3D7F6E64416A}"/>
              </a:ext>
            </a:extLst>
          </p:cNvPr>
          <p:cNvSpPr txBox="1"/>
          <p:nvPr/>
        </p:nvSpPr>
        <p:spPr>
          <a:xfrm>
            <a:off x="6112307" y="5526460"/>
            <a:ext cx="4342586" cy="18603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N-S 및 E-W 트래픽 분기점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Default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Gateway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역할 수행</a:t>
            </a:r>
          </a:p>
        </p:txBody>
      </p:sp>
      <p:pic>
        <p:nvPicPr>
          <p:cNvPr id="184" name="Picture 9">
            <a:extLst>
              <a:ext uri="{FF2B5EF4-FFF2-40B4-BE49-F238E27FC236}">
                <a16:creationId xmlns:a16="http://schemas.microsoft.com/office/drawing/2014/main" id="{D21EECA1-E132-76B8-0258-2FC4417F696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5928626" y="6245653"/>
            <a:ext cx="4618182" cy="11545"/>
          </a:xfrm>
          <a:prstGeom prst="rect">
            <a:avLst/>
          </a:prstGeom>
        </p:spPr>
      </p:pic>
      <p:sp>
        <p:nvSpPr>
          <p:cNvPr id="185" name="TextBox 32">
            <a:extLst>
              <a:ext uri="{FF2B5EF4-FFF2-40B4-BE49-F238E27FC236}">
                <a16:creationId xmlns:a16="http://schemas.microsoft.com/office/drawing/2014/main" id="{6363634C-1D29-7D37-BAB2-12657DE2355F}"/>
              </a:ext>
            </a:extLst>
          </p:cNvPr>
          <p:cNvSpPr txBox="1"/>
          <p:nvPr/>
        </p:nvSpPr>
        <p:spPr>
          <a:xfrm>
            <a:off x="6113147" y="5808917"/>
            <a:ext cx="451993" cy="234828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cap="all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as</a:t>
            </a:r>
          </a:p>
        </p:txBody>
      </p:sp>
      <p:sp>
        <p:nvSpPr>
          <p:cNvPr id="186" name="TextBox 33">
            <a:extLst>
              <a:ext uri="{FF2B5EF4-FFF2-40B4-BE49-F238E27FC236}">
                <a16:creationId xmlns:a16="http://schemas.microsoft.com/office/drawing/2014/main" id="{33C6739C-C6AD-9003-EC11-C9B8E1960859}"/>
              </a:ext>
            </a:extLst>
          </p:cNvPr>
          <p:cNvSpPr txBox="1"/>
          <p:nvPr/>
        </p:nvSpPr>
        <p:spPr>
          <a:xfrm>
            <a:off x="6112307" y="6014855"/>
            <a:ext cx="4342586" cy="18603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서버 간 트래픽 처리 CNC Block 내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VM과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직접 연결</a:t>
            </a:r>
          </a:p>
        </p:txBody>
      </p:sp>
      <p:sp>
        <p:nvSpPr>
          <p:cNvPr id="198" name="TextBox 32">
            <a:extLst>
              <a:ext uri="{FF2B5EF4-FFF2-40B4-BE49-F238E27FC236}">
                <a16:creationId xmlns:a16="http://schemas.microsoft.com/office/drawing/2014/main" id="{4FE0CEB6-F2C0-A344-B2F4-2FCC72B5D238}"/>
              </a:ext>
            </a:extLst>
          </p:cNvPr>
          <p:cNvSpPr txBox="1"/>
          <p:nvPr/>
        </p:nvSpPr>
        <p:spPr>
          <a:xfrm>
            <a:off x="6113147" y="6293735"/>
            <a:ext cx="667443" cy="203708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Gigamon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99" name="TextBox 33">
            <a:extLst>
              <a:ext uri="{FF2B5EF4-FFF2-40B4-BE49-F238E27FC236}">
                <a16:creationId xmlns:a16="http://schemas.microsoft.com/office/drawing/2014/main" id="{E179CBE5-DBA1-5F70-8220-C0B96F7C3558}"/>
              </a:ext>
            </a:extLst>
          </p:cNvPr>
          <p:cNvSpPr txBox="1"/>
          <p:nvPr/>
        </p:nvSpPr>
        <p:spPr>
          <a:xfrm>
            <a:off x="6112307" y="6499673"/>
            <a:ext cx="4751408" cy="220583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스위치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미러링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포트에서 오는 여러 데이터를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Filtering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해서 모니터링 장비로 보내주는 장비</a:t>
            </a:r>
          </a:p>
        </p:txBody>
      </p: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91F7AFBF-E716-D8C4-F6B6-39D38C97F2E1}"/>
              </a:ext>
            </a:extLst>
          </p:cNvPr>
          <p:cNvGrpSpPr/>
          <p:nvPr/>
        </p:nvGrpSpPr>
        <p:grpSpPr>
          <a:xfrm>
            <a:off x="5833099" y="3858845"/>
            <a:ext cx="216025" cy="266700"/>
            <a:chOff x="5169872" y="1519136"/>
            <a:chExt cx="216025" cy="266700"/>
          </a:xfrm>
        </p:grpSpPr>
        <p:sp>
          <p:nvSpPr>
            <p:cNvPr id="212" name="타원 211">
              <a:extLst>
                <a:ext uri="{FF2B5EF4-FFF2-40B4-BE49-F238E27FC236}">
                  <a16:creationId xmlns:a16="http://schemas.microsoft.com/office/drawing/2014/main" id="{192015E0-58EA-BC75-64A0-C89146CCB6B5}"/>
                </a:ext>
              </a:extLst>
            </p:cNvPr>
            <p:cNvSpPr/>
            <p:nvPr/>
          </p:nvSpPr>
          <p:spPr>
            <a:xfrm>
              <a:off x="5196733" y="1563220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13" name="TextBox 26">
              <a:extLst>
                <a:ext uri="{FF2B5EF4-FFF2-40B4-BE49-F238E27FC236}">
                  <a16:creationId xmlns:a16="http://schemas.microsoft.com/office/drawing/2014/main" id="{F51782CA-D716-72BE-8D27-56A15C1566EF}"/>
                </a:ext>
              </a:extLst>
            </p:cNvPr>
            <p:cNvSpPr txBox="1"/>
            <p:nvPr/>
          </p:nvSpPr>
          <p:spPr>
            <a:xfrm>
              <a:off x="5169872" y="1519136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14" name="그래픽 213" descr="확인 표시 단색으로 채워진">
              <a:extLst>
                <a:ext uri="{FF2B5EF4-FFF2-40B4-BE49-F238E27FC236}">
                  <a16:creationId xmlns:a16="http://schemas.microsoft.com/office/drawing/2014/main" id="{C89BBC09-AE4E-70AC-9587-F0D2B30FEE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217764" y="1592366"/>
              <a:ext cx="120241" cy="120241"/>
            </a:xfrm>
            <a:prstGeom prst="rect">
              <a:avLst/>
            </a:prstGeom>
          </p:spPr>
        </p:pic>
      </p:grpSp>
      <p:grpSp>
        <p:nvGrpSpPr>
          <p:cNvPr id="227" name="그룹 226">
            <a:extLst>
              <a:ext uri="{FF2B5EF4-FFF2-40B4-BE49-F238E27FC236}">
                <a16:creationId xmlns:a16="http://schemas.microsoft.com/office/drawing/2014/main" id="{4BC0C486-BBFB-3249-4576-6D8E943E356E}"/>
              </a:ext>
            </a:extLst>
          </p:cNvPr>
          <p:cNvGrpSpPr/>
          <p:nvPr/>
        </p:nvGrpSpPr>
        <p:grpSpPr>
          <a:xfrm>
            <a:off x="5833099" y="4347658"/>
            <a:ext cx="216025" cy="266700"/>
            <a:chOff x="5169872" y="1519136"/>
            <a:chExt cx="216025" cy="266700"/>
          </a:xfrm>
        </p:grpSpPr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C029CA36-7387-8A58-3839-F2F76A23F5C1}"/>
                </a:ext>
              </a:extLst>
            </p:cNvPr>
            <p:cNvSpPr/>
            <p:nvPr/>
          </p:nvSpPr>
          <p:spPr>
            <a:xfrm>
              <a:off x="5196733" y="1563220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29" name="TextBox 26">
              <a:extLst>
                <a:ext uri="{FF2B5EF4-FFF2-40B4-BE49-F238E27FC236}">
                  <a16:creationId xmlns:a16="http://schemas.microsoft.com/office/drawing/2014/main" id="{9D679144-6E5B-B173-4C94-50AE04B115A6}"/>
                </a:ext>
              </a:extLst>
            </p:cNvPr>
            <p:cNvSpPr txBox="1"/>
            <p:nvPr/>
          </p:nvSpPr>
          <p:spPr>
            <a:xfrm>
              <a:off x="5169872" y="1519136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30" name="그래픽 229" descr="확인 표시 단색으로 채워진">
              <a:extLst>
                <a:ext uri="{FF2B5EF4-FFF2-40B4-BE49-F238E27FC236}">
                  <a16:creationId xmlns:a16="http://schemas.microsoft.com/office/drawing/2014/main" id="{4C50AC20-E6CA-F1F8-C50E-DD89196ACB3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217764" y="1592366"/>
              <a:ext cx="120241" cy="120241"/>
            </a:xfrm>
            <a:prstGeom prst="rect">
              <a:avLst/>
            </a:prstGeom>
          </p:spPr>
        </p:pic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D64A1287-9F9F-BEF3-A64A-EE1B842D9D85}"/>
              </a:ext>
            </a:extLst>
          </p:cNvPr>
          <p:cNvGrpSpPr/>
          <p:nvPr/>
        </p:nvGrpSpPr>
        <p:grpSpPr>
          <a:xfrm>
            <a:off x="5833099" y="4853577"/>
            <a:ext cx="216025" cy="266700"/>
            <a:chOff x="5169872" y="1519136"/>
            <a:chExt cx="216025" cy="266700"/>
          </a:xfrm>
        </p:grpSpPr>
        <p:sp>
          <p:nvSpPr>
            <p:cNvPr id="232" name="타원 231">
              <a:extLst>
                <a:ext uri="{FF2B5EF4-FFF2-40B4-BE49-F238E27FC236}">
                  <a16:creationId xmlns:a16="http://schemas.microsoft.com/office/drawing/2014/main" id="{BE6CDA19-89B3-4272-5F1C-5C3EB5E55D81}"/>
                </a:ext>
              </a:extLst>
            </p:cNvPr>
            <p:cNvSpPr/>
            <p:nvPr/>
          </p:nvSpPr>
          <p:spPr>
            <a:xfrm>
              <a:off x="5196733" y="1563220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33" name="TextBox 26">
              <a:extLst>
                <a:ext uri="{FF2B5EF4-FFF2-40B4-BE49-F238E27FC236}">
                  <a16:creationId xmlns:a16="http://schemas.microsoft.com/office/drawing/2014/main" id="{8ADB03B5-423C-F3F6-F8B2-506C9FE70F13}"/>
                </a:ext>
              </a:extLst>
            </p:cNvPr>
            <p:cNvSpPr txBox="1"/>
            <p:nvPr/>
          </p:nvSpPr>
          <p:spPr>
            <a:xfrm>
              <a:off x="5169872" y="1519136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34" name="그래픽 233" descr="확인 표시 단색으로 채워진">
              <a:extLst>
                <a:ext uri="{FF2B5EF4-FFF2-40B4-BE49-F238E27FC236}">
                  <a16:creationId xmlns:a16="http://schemas.microsoft.com/office/drawing/2014/main" id="{855D7314-7205-8A6F-E374-0B475EE65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217764" y="1592366"/>
              <a:ext cx="120241" cy="120241"/>
            </a:xfrm>
            <a:prstGeom prst="rect">
              <a:avLst/>
            </a:prstGeom>
          </p:spPr>
        </p:pic>
      </p:grpSp>
      <p:grpSp>
        <p:nvGrpSpPr>
          <p:cNvPr id="235" name="그룹 234">
            <a:extLst>
              <a:ext uri="{FF2B5EF4-FFF2-40B4-BE49-F238E27FC236}">
                <a16:creationId xmlns:a16="http://schemas.microsoft.com/office/drawing/2014/main" id="{CC143E62-045D-A65C-6697-A689BBF4EAC5}"/>
              </a:ext>
            </a:extLst>
          </p:cNvPr>
          <p:cNvGrpSpPr/>
          <p:nvPr/>
        </p:nvGrpSpPr>
        <p:grpSpPr>
          <a:xfrm>
            <a:off x="5833099" y="5282140"/>
            <a:ext cx="216025" cy="266700"/>
            <a:chOff x="5169872" y="1519136"/>
            <a:chExt cx="216025" cy="266700"/>
          </a:xfrm>
        </p:grpSpPr>
        <p:sp>
          <p:nvSpPr>
            <p:cNvPr id="236" name="타원 235">
              <a:extLst>
                <a:ext uri="{FF2B5EF4-FFF2-40B4-BE49-F238E27FC236}">
                  <a16:creationId xmlns:a16="http://schemas.microsoft.com/office/drawing/2014/main" id="{7604D565-EC1D-E859-1DD8-3CEAC63EEC59}"/>
                </a:ext>
              </a:extLst>
            </p:cNvPr>
            <p:cNvSpPr/>
            <p:nvPr/>
          </p:nvSpPr>
          <p:spPr>
            <a:xfrm>
              <a:off x="5196733" y="1563220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37" name="TextBox 26">
              <a:extLst>
                <a:ext uri="{FF2B5EF4-FFF2-40B4-BE49-F238E27FC236}">
                  <a16:creationId xmlns:a16="http://schemas.microsoft.com/office/drawing/2014/main" id="{CC2EEA6A-6BFD-6E66-5724-0FD1E0C80AC2}"/>
                </a:ext>
              </a:extLst>
            </p:cNvPr>
            <p:cNvSpPr txBox="1"/>
            <p:nvPr/>
          </p:nvSpPr>
          <p:spPr>
            <a:xfrm>
              <a:off x="5169872" y="1519136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38" name="그래픽 237" descr="확인 표시 단색으로 채워진">
              <a:extLst>
                <a:ext uri="{FF2B5EF4-FFF2-40B4-BE49-F238E27FC236}">
                  <a16:creationId xmlns:a16="http://schemas.microsoft.com/office/drawing/2014/main" id="{35383614-D6BE-C4EF-3D66-F73909B00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217764" y="1592366"/>
              <a:ext cx="120241" cy="120241"/>
            </a:xfrm>
            <a:prstGeom prst="rect">
              <a:avLst/>
            </a:prstGeom>
          </p:spPr>
        </p:pic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4F24403A-3CF9-ED74-E1BC-8280162604A9}"/>
              </a:ext>
            </a:extLst>
          </p:cNvPr>
          <p:cNvGrpSpPr/>
          <p:nvPr/>
        </p:nvGrpSpPr>
        <p:grpSpPr>
          <a:xfrm>
            <a:off x="5833099" y="5796555"/>
            <a:ext cx="216025" cy="266700"/>
            <a:chOff x="5169872" y="1519136"/>
            <a:chExt cx="216025" cy="266700"/>
          </a:xfrm>
        </p:grpSpPr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F398A916-FD34-934B-77D1-CF606CDBC4BE}"/>
                </a:ext>
              </a:extLst>
            </p:cNvPr>
            <p:cNvSpPr/>
            <p:nvPr/>
          </p:nvSpPr>
          <p:spPr>
            <a:xfrm>
              <a:off x="5196733" y="1563220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41" name="TextBox 26">
              <a:extLst>
                <a:ext uri="{FF2B5EF4-FFF2-40B4-BE49-F238E27FC236}">
                  <a16:creationId xmlns:a16="http://schemas.microsoft.com/office/drawing/2014/main" id="{331A6C49-F9D8-F9F5-DFC2-C11099DC7FC1}"/>
                </a:ext>
              </a:extLst>
            </p:cNvPr>
            <p:cNvSpPr txBox="1"/>
            <p:nvPr/>
          </p:nvSpPr>
          <p:spPr>
            <a:xfrm>
              <a:off x="5169872" y="1519136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42" name="그래픽 241" descr="확인 표시 단색으로 채워진">
              <a:extLst>
                <a:ext uri="{FF2B5EF4-FFF2-40B4-BE49-F238E27FC236}">
                  <a16:creationId xmlns:a16="http://schemas.microsoft.com/office/drawing/2014/main" id="{8B766EB6-235D-B6BE-56BD-EF1849DBF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217764" y="1592366"/>
              <a:ext cx="120241" cy="120241"/>
            </a:xfrm>
            <a:prstGeom prst="rect">
              <a:avLst/>
            </a:prstGeom>
          </p:spPr>
        </p:pic>
      </p:grpSp>
      <p:grpSp>
        <p:nvGrpSpPr>
          <p:cNvPr id="243" name="그룹 242">
            <a:extLst>
              <a:ext uri="{FF2B5EF4-FFF2-40B4-BE49-F238E27FC236}">
                <a16:creationId xmlns:a16="http://schemas.microsoft.com/office/drawing/2014/main" id="{9B85248B-B49B-E37E-87A4-09F23163EEA2}"/>
              </a:ext>
            </a:extLst>
          </p:cNvPr>
          <p:cNvGrpSpPr/>
          <p:nvPr/>
        </p:nvGrpSpPr>
        <p:grpSpPr>
          <a:xfrm>
            <a:off x="5833099" y="6263309"/>
            <a:ext cx="216025" cy="266700"/>
            <a:chOff x="5169872" y="1519136"/>
            <a:chExt cx="216025" cy="266700"/>
          </a:xfrm>
        </p:grpSpPr>
        <p:sp>
          <p:nvSpPr>
            <p:cNvPr id="244" name="타원 243">
              <a:extLst>
                <a:ext uri="{FF2B5EF4-FFF2-40B4-BE49-F238E27FC236}">
                  <a16:creationId xmlns:a16="http://schemas.microsoft.com/office/drawing/2014/main" id="{B82366F8-9F03-3237-CCE9-8E2048623D05}"/>
                </a:ext>
              </a:extLst>
            </p:cNvPr>
            <p:cNvSpPr/>
            <p:nvPr/>
          </p:nvSpPr>
          <p:spPr>
            <a:xfrm>
              <a:off x="5196733" y="1563220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45" name="TextBox 26">
              <a:extLst>
                <a:ext uri="{FF2B5EF4-FFF2-40B4-BE49-F238E27FC236}">
                  <a16:creationId xmlns:a16="http://schemas.microsoft.com/office/drawing/2014/main" id="{5A893C61-8EA6-9114-9D92-548B01458AF2}"/>
                </a:ext>
              </a:extLst>
            </p:cNvPr>
            <p:cNvSpPr txBox="1"/>
            <p:nvPr/>
          </p:nvSpPr>
          <p:spPr>
            <a:xfrm>
              <a:off x="5169872" y="1519136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46" name="그래픽 245" descr="확인 표시 단색으로 채워진">
              <a:extLst>
                <a:ext uri="{FF2B5EF4-FFF2-40B4-BE49-F238E27FC236}">
                  <a16:creationId xmlns:a16="http://schemas.microsoft.com/office/drawing/2014/main" id="{DE7AEDFF-8BE0-C489-4EFB-CD084B36E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217764" y="1592366"/>
              <a:ext cx="120241" cy="120241"/>
            </a:xfrm>
            <a:prstGeom prst="rect">
              <a:avLst/>
            </a:prstGeom>
          </p:spPr>
        </p:pic>
      </p:grpSp>
      <p:pic>
        <p:nvPicPr>
          <p:cNvPr id="247" name="Picture 9">
            <a:extLst>
              <a:ext uri="{FF2B5EF4-FFF2-40B4-BE49-F238E27FC236}">
                <a16:creationId xmlns:a16="http://schemas.microsoft.com/office/drawing/2014/main" id="{429071A8-71EC-1FE6-277D-167217BAD1C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5951984" y="3247403"/>
            <a:ext cx="5588000" cy="1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2486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b100">
            <a:extLst>
              <a:ext uri="{FF2B5EF4-FFF2-40B4-BE49-F238E27FC236}">
                <a16:creationId xmlns:a16="http://schemas.microsoft.com/office/drawing/2014/main" id="{49697924-99CD-2AFC-980B-42254BD4945D}"/>
              </a:ext>
            </a:extLst>
          </p:cNvPr>
          <p:cNvSpPr/>
          <p:nvPr/>
        </p:nvSpPr>
        <p:spPr>
          <a:xfrm>
            <a:off x="424786" y="1083734"/>
            <a:ext cx="4447078" cy="5472609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4.2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구성도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BBEA48D-6C5C-4E4F-C875-DC58F48B2A35}"/>
              </a:ext>
            </a:extLst>
          </p:cNvPr>
          <p:cNvGrpSpPr/>
          <p:nvPr/>
        </p:nvGrpSpPr>
        <p:grpSpPr>
          <a:xfrm>
            <a:off x="564994" y="1262810"/>
            <a:ext cx="4139392" cy="5109978"/>
            <a:chOff x="551384" y="1380530"/>
            <a:chExt cx="4139392" cy="5109978"/>
          </a:xfrm>
        </p:grpSpPr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CD5DBFC6-D999-75D6-C3B8-B65CDC984E5F}"/>
                </a:ext>
              </a:extLst>
            </p:cNvPr>
            <p:cNvSpPr/>
            <p:nvPr/>
          </p:nvSpPr>
          <p:spPr>
            <a:xfrm>
              <a:off x="551384" y="4723871"/>
              <a:ext cx="4139392" cy="1766637"/>
            </a:xfrm>
            <a:prstGeom prst="roundRect">
              <a:avLst>
                <a:gd name="adj" fmla="val 8742"/>
              </a:avLst>
            </a:prstGeom>
            <a:solidFill>
              <a:schemeClr val="accent3">
                <a:lumMod val="20000"/>
                <a:lumOff val="80000"/>
                <a:alpha val="50196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44FD0178-1EEC-EAFF-4D92-C7E73D7D3DE4}"/>
                </a:ext>
              </a:extLst>
            </p:cNvPr>
            <p:cNvSpPr/>
            <p:nvPr/>
          </p:nvSpPr>
          <p:spPr>
            <a:xfrm>
              <a:off x="551384" y="1380530"/>
              <a:ext cx="4139392" cy="3186739"/>
            </a:xfrm>
            <a:prstGeom prst="roundRect">
              <a:avLst>
                <a:gd name="adj" fmla="val 8742"/>
              </a:avLst>
            </a:prstGeom>
            <a:solidFill>
              <a:srgbClr val="F2F2F2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" name="꺾인 연결선 91">
              <a:extLst>
                <a:ext uri="{FF2B5EF4-FFF2-40B4-BE49-F238E27FC236}">
                  <a16:creationId xmlns:a16="http://schemas.microsoft.com/office/drawing/2014/main" id="{3ED7894E-11DF-AF6D-F820-25E09EFA79C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2493458" y="2150940"/>
              <a:ext cx="9493" cy="733039"/>
            </a:xfrm>
            <a:prstGeom prst="bentConnector3">
              <a:avLst>
                <a:gd name="adj1" fmla="val 1413031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" name="Picture 41">
              <a:extLst>
                <a:ext uri="{FF2B5EF4-FFF2-40B4-BE49-F238E27FC236}">
                  <a16:creationId xmlns:a16="http://schemas.microsoft.com/office/drawing/2014/main" id="{8EF331BA-226D-E425-0AB8-D8CEF28612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05560" y="2530682"/>
              <a:ext cx="441476" cy="202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0C1C68-B7B5-A921-D969-42F1C09ADF7A}"/>
                </a:ext>
              </a:extLst>
            </p:cNvPr>
            <p:cNvSpPr txBox="1"/>
            <p:nvPr/>
          </p:nvSpPr>
          <p:spPr>
            <a:xfrm>
              <a:off x="1054510" y="2337419"/>
              <a:ext cx="1140222" cy="230832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Access Switch(L2)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06488079-7A99-7DDA-7C5F-B1621B6C1552}"/>
                </a:ext>
              </a:extLst>
            </p:cNvPr>
            <p:cNvCxnSpPr>
              <a:cxnSpLocks/>
            </p:cNvCxnSpPr>
            <p:nvPr/>
          </p:nvCxnSpPr>
          <p:spPr>
            <a:xfrm>
              <a:off x="2542155" y="1841119"/>
              <a:ext cx="0" cy="5330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37" name="Picture 41">
              <a:extLst>
                <a:ext uri="{FF2B5EF4-FFF2-40B4-BE49-F238E27FC236}">
                  <a16:creationId xmlns:a16="http://schemas.microsoft.com/office/drawing/2014/main" id="{40AE9C35-2EAB-647C-B179-08E4E218F6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643986" y="2530682"/>
              <a:ext cx="441476" cy="2021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0902B6B9-0222-9022-22CB-97F14D343F39}"/>
                </a:ext>
              </a:extLst>
            </p:cNvPr>
            <p:cNvSpPr txBox="1"/>
            <p:nvPr/>
          </p:nvSpPr>
          <p:spPr>
            <a:xfrm>
              <a:off x="2137300" y="1392273"/>
              <a:ext cx="340595" cy="23416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DS</a:t>
              </a:r>
              <a:endPara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40" name="Picture 19" descr="Catalyst6500SR">
              <a:extLst>
                <a:ext uri="{FF2B5EF4-FFF2-40B4-BE49-F238E27FC236}">
                  <a16:creationId xmlns:a16="http://schemas.microsoft.com/office/drawing/2014/main" id="{7FD4CFC6-7C1A-3223-EA3F-60B4BDAB46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>
                          <a14:foregroundMark x1="60256" y1="48148" x2="65385" y2="57407"/>
                          <a14:foregroundMark x1="51282" y1="33333" x2="42308" y2="48148"/>
                          <a14:foregroundMark x1="44872" y1="25926" x2="39744" y2="9259"/>
                          <a14:foregroundMark x1="43590" y1="9259" x2="11538" y2="38889"/>
                          <a14:foregroundMark x1="34615" y1="85185" x2="47436" y2="87037"/>
                          <a14:foregroundMark x1="56410" y1="87037" x2="69231" y2="85185"/>
                          <a14:foregroundMark x1="74359" y1="81481" x2="80769" y2="74074"/>
                          <a14:foregroundMark x1="83333" y1="72222" x2="76923" y2="53704"/>
                          <a14:backgroundMark x1="93590" y1="16667" x2="85897" y2="1852"/>
                          <a14:backgroundMark x1="86634" y1="91266" x2="83333" y2="94444"/>
                          <a14:backgroundMark x1="94872" y1="83333" x2="87933" y2="90015"/>
                        </a14:backgroundRemoval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6144" y="1476569"/>
              <a:ext cx="360091" cy="3776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200300B-1C93-81C3-D36D-645856B923DF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>
              <a:off x="2864724" y="2732824"/>
              <a:ext cx="0" cy="4301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4A6C93EB-578C-7394-4C2D-477DD377AE60}"/>
                </a:ext>
              </a:extLst>
            </p:cNvPr>
            <p:cNvGrpSpPr/>
            <p:nvPr/>
          </p:nvGrpSpPr>
          <p:grpSpPr>
            <a:xfrm>
              <a:off x="2084848" y="2889426"/>
              <a:ext cx="1560563" cy="1560563"/>
              <a:chOff x="2452279" y="2661145"/>
              <a:chExt cx="1560563" cy="1560563"/>
            </a:xfrm>
          </p:grpSpPr>
          <p:sp>
            <p:nvSpPr>
              <p:cNvPr id="68" name="타원 67">
                <a:extLst>
                  <a:ext uri="{FF2B5EF4-FFF2-40B4-BE49-F238E27FC236}">
                    <a16:creationId xmlns:a16="http://schemas.microsoft.com/office/drawing/2014/main" id="{4E7E86E4-C9D2-A9F6-B8E2-483BEEFCBC03}"/>
                  </a:ext>
                </a:extLst>
              </p:cNvPr>
              <p:cNvSpPr/>
              <p:nvPr/>
            </p:nvSpPr>
            <p:spPr>
              <a:xfrm>
                <a:off x="2452279" y="2661145"/>
                <a:ext cx="1560563" cy="1560563"/>
              </a:xfrm>
              <a:prstGeom prst="ellipse">
                <a:avLst/>
              </a:prstGeom>
              <a:solidFill>
                <a:schemeClr val="bg1">
                  <a:lumMod val="85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37E2D09D-1640-E3CD-6029-A2855A074BFC}"/>
                  </a:ext>
                </a:extLst>
              </p:cNvPr>
              <p:cNvGrpSpPr/>
              <p:nvPr/>
            </p:nvGrpSpPr>
            <p:grpSpPr>
              <a:xfrm>
                <a:off x="2747360" y="2950818"/>
                <a:ext cx="984185" cy="981216"/>
                <a:chOff x="3091029" y="2879219"/>
                <a:chExt cx="984185" cy="981216"/>
              </a:xfrm>
            </p:grpSpPr>
            <p:sp>
              <p:nvSpPr>
                <p:cNvPr id="41" name="사각형: 둥근 모서리 40">
                  <a:extLst>
                    <a:ext uri="{FF2B5EF4-FFF2-40B4-BE49-F238E27FC236}">
                      <a16:creationId xmlns:a16="http://schemas.microsoft.com/office/drawing/2014/main" id="{43EF4F62-4FC0-861D-BEF2-52A7F615B89E}"/>
                    </a:ext>
                  </a:extLst>
                </p:cNvPr>
                <p:cNvSpPr/>
                <p:nvPr/>
              </p:nvSpPr>
              <p:spPr>
                <a:xfrm>
                  <a:off x="3091029" y="2879219"/>
                  <a:ext cx="970401" cy="181339"/>
                </a:xfrm>
                <a:prstGeom prst="roundRect">
                  <a:avLst>
                    <a:gd name="adj" fmla="val 25415"/>
                  </a:avLst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chemeClr val="tx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Master PM</a:t>
                  </a:r>
                  <a:endParaRPr lang="ko-KR" altLang="en-US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E7C10027-4D04-D3A5-65E2-81D25D9A4F6B}"/>
                    </a:ext>
                  </a:extLst>
                </p:cNvPr>
                <p:cNvSpPr/>
                <p:nvPr/>
              </p:nvSpPr>
              <p:spPr>
                <a:xfrm>
                  <a:off x="3091029" y="3082504"/>
                  <a:ext cx="970401" cy="181339"/>
                </a:xfrm>
                <a:prstGeom prst="roundRect">
                  <a:avLst>
                    <a:gd name="adj" fmla="val 25415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chemeClr val="tx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PM</a:t>
                  </a:r>
                  <a:endParaRPr lang="ko-KR" altLang="en-US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  <p:sp>
              <p:nvSpPr>
                <p:cNvPr id="43" name="사각형: 둥근 모서리 42">
                  <a:extLst>
                    <a:ext uri="{FF2B5EF4-FFF2-40B4-BE49-F238E27FC236}">
                      <a16:creationId xmlns:a16="http://schemas.microsoft.com/office/drawing/2014/main" id="{47602941-069B-77E5-93B8-80E24C60E382}"/>
                    </a:ext>
                  </a:extLst>
                </p:cNvPr>
                <p:cNvSpPr/>
                <p:nvPr/>
              </p:nvSpPr>
              <p:spPr>
                <a:xfrm>
                  <a:off x="3091029" y="3284000"/>
                  <a:ext cx="970401" cy="181339"/>
                </a:xfrm>
                <a:prstGeom prst="roundRect">
                  <a:avLst>
                    <a:gd name="adj" fmla="val 25415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chemeClr val="tx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PM</a:t>
                  </a:r>
                  <a:endParaRPr lang="ko-KR" altLang="en-US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  <p:sp>
              <p:nvSpPr>
                <p:cNvPr id="45" name="사각형: 둥근 모서리 44">
                  <a:extLst>
                    <a:ext uri="{FF2B5EF4-FFF2-40B4-BE49-F238E27FC236}">
                      <a16:creationId xmlns:a16="http://schemas.microsoft.com/office/drawing/2014/main" id="{C78094EB-1583-5DF0-5CFD-6C2EBC667806}"/>
                    </a:ext>
                  </a:extLst>
                </p:cNvPr>
                <p:cNvSpPr/>
                <p:nvPr/>
              </p:nvSpPr>
              <p:spPr>
                <a:xfrm>
                  <a:off x="3091029" y="3476939"/>
                  <a:ext cx="984185" cy="181339"/>
                </a:xfrm>
                <a:prstGeom prst="roundRect">
                  <a:avLst>
                    <a:gd name="adj" fmla="val 25415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altLang="ko-KR" sz="800" dirty="0">
                      <a:solidFill>
                        <a:schemeClr val="tx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  PM</a:t>
                  </a:r>
                  <a:endParaRPr lang="ko-KR" altLang="en-US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  <p:sp>
              <p:nvSpPr>
                <p:cNvPr id="46" name="사각형: 둥근 모서리 45">
                  <a:extLst>
                    <a:ext uri="{FF2B5EF4-FFF2-40B4-BE49-F238E27FC236}">
                      <a16:creationId xmlns:a16="http://schemas.microsoft.com/office/drawing/2014/main" id="{E4709FE1-6886-64A5-FE89-B02CD9C3F167}"/>
                    </a:ext>
                  </a:extLst>
                </p:cNvPr>
                <p:cNvSpPr/>
                <p:nvPr/>
              </p:nvSpPr>
              <p:spPr>
                <a:xfrm>
                  <a:off x="3117639" y="3501863"/>
                  <a:ext cx="319695" cy="131485"/>
                </a:xfrm>
                <a:prstGeom prst="roundRect">
                  <a:avLst>
                    <a:gd name="adj" fmla="val 25415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600" dirty="0">
                      <a:solidFill>
                        <a:schemeClr val="tx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VM</a:t>
                  </a:r>
                  <a:endParaRPr lang="ko-KR" altLang="en-US" sz="6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  <p:sp>
              <p:nvSpPr>
                <p:cNvPr id="47" name="사각형: 둥근 모서리 46">
                  <a:extLst>
                    <a:ext uri="{FF2B5EF4-FFF2-40B4-BE49-F238E27FC236}">
                      <a16:creationId xmlns:a16="http://schemas.microsoft.com/office/drawing/2014/main" id="{B2681D4E-839C-76BE-A94F-AB28E0B7FAF7}"/>
                    </a:ext>
                  </a:extLst>
                </p:cNvPr>
                <p:cNvSpPr/>
                <p:nvPr/>
              </p:nvSpPr>
              <p:spPr>
                <a:xfrm>
                  <a:off x="3336007" y="3501864"/>
                  <a:ext cx="319695" cy="131485"/>
                </a:xfrm>
                <a:prstGeom prst="roundRect">
                  <a:avLst>
                    <a:gd name="adj" fmla="val 25415"/>
                  </a:avLst>
                </a:prstGeom>
                <a:solidFill>
                  <a:schemeClr val="accent6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600" dirty="0">
                      <a:solidFill>
                        <a:schemeClr val="tx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VM</a:t>
                  </a:r>
                  <a:endParaRPr lang="ko-KR" altLang="en-US" sz="6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  <p:sp>
              <p:nvSpPr>
                <p:cNvPr id="49" name="사각형: 둥근 모서리 48">
                  <a:extLst>
                    <a:ext uri="{FF2B5EF4-FFF2-40B4-BE49-F238E27FC236}">
                      <a16:creationId xmlns:a16="http://schemas.microsoft.com/office/drawing/2014/main" id="{FC8C4120-0F6C-63AC-2760-4029049599F1}"/>
                    </a:ext>
                  </a:extLst>
                </p:cNvPr>
                <p:cNvSpPr/>
                <p:nvPr/>
              </p:nvSpPr>
              <p:spPr>
                <a:xfrm>
                  <a:off x="3091029" y="3679096"/>
                  <a:ext cx="970401" cy="181339"/>
                </a:xfrm>
                <a:prstGeom prst="roundRect">
                  <a:avLst>
                    <a:gd name="adj" fmla="val 25415"/>
                  </a:avLst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800" dirty="0">
                      <a:solidFill>
                        <a:schemeClr val="tx1"/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PM</a:t>
                  </a:r>
                  <a:endParaRPr lang="ko-KR" altLang="en-US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</p:grpSp>
        </p:grpSp>
        <p:sp>
          <p:nvSpPr>
            <p:cNvPr id="140" name="desc104">
              <a:extLst>
                <a:ext uri="{FF2B5EF4-FFF2-40B4-BE49-F238E27FC236}">
                  <a16:creationId xmlns:a16="http://schemas.microsoft.com/office/drawing/2014/main" id="{39C907B6-D2F5-A998-5B90-8EE4B34D949E}"/>
                </a:ext>
              </a:extLst>
            </p:cNvPr>
            <p:cNvSpPr txBox="1"/>
            <p:nvPr/>
          </p:nvSpPr>
          <p:spPr>
            <a:xfrm>
              <a:off x="669908" y="1495616"/>
              <a:ext cx="96415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CNC Block</a:t>
              </a:r>
            </a:p>
          </p:txBody>
        </p:sp>
        <p:sp>
          <p:nvSpPr>
            <p:cNvPr id="142" name="desc104">
              <a:extLst>
                <a:ext uri="{FF2B5EF4-FFF2-40B4-BE49-F238E27FC236}">
                  <a16:creationId xmlns:a16="http://schemas.microsoft.com/office/drawing/2014/main" id="{992D888A-C188-09BF-E3F5-E49192E9831C}"/>
                </a:ext>
              </a:extLst>
            </p:cNvPr>
            <p:cNvSpPr txBox="1"/>
            <p:nvPr/>
          </p:nvSpPr>
          <p:spPr>
            <a:xfrm>
              <a:off x="669908" y="4798172"/>
              <a:ext cx="96415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NanumSquare ExtraBold" panose="020B0600000101010101" pitchFamily="50" charset="-127"/>
                  <a:ea typeface="NanumSquare ExtraBold" panose="020B0600000101010101" pitchFamily="50" charset="-127"/>
                </a:rPr>
                <a:t>PM</a:t>
              </a:r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63898BDA-6669-0833-4402-DDDFB6000A17}"/>
                </a:ext>
              </a:extLst>
            </p:cNvPr>
            <p:cNvGrpSpPr/>
            <p:nvPr/>
          </p:nvGrpSpPr>
          <p:grpSpPr>
            <a:xfrm>
              <a:off x="1634070" y="4449990"/>
              <a:ext cx="2462118" cy="1968510"/>
              <a:chOff x="2247204" y="4196795"/>
              <a:chExt cx="2462118" cy="1968510"/>
            </a:xfrm>
          </p:grpSpPr>
          <p:sp>
            <p:nvSpPr>
              <p:cNvPr id="89" name="화살표: 줄무늬가 있는 오른쪽 88">
                <a:extLst>
                  <a:ext uri="{FF2B5EF4-FFF2-40B4-BE49-F238E27FC236}">
                    <a16:creationId xmlns:a16="http://schemas.microsoft.com/office/drawing/2014/main" id="{732BA550-7E8E-687B-5BB5-D1CB6AE0645F}"/>
                  </a:ext>
                </a:extLst>
              </p:cNvPr>
              <p:cNvSpPr/>
              <p:nvPr/>
            </p:nvSpPr>
            <p:spPr>
              <a:xfrm rot="5400000">
                <a:off x="3316653" y="4154217"/>
                <a:ext cx="323219" cy="408375"/>
              </a:xfrm>
              <a:prstGeom prst="stripedRightArrow">
                <a:avLst>
                  <a:gd name="adj1" fmla="val 50000"/>
                  <a:gd name="adj2" fmla="val 49221"/>
                </a:avLst>
              </a:prstGeom>
              <a:solidFill>
                <a:schemeClr val="bg1">
                  <a:lumMod val="85000"/>
                  <a:alpha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A78DA7C5-7552-09BD-5D29-A7EEB705EF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85075" y="4750811"/>
                <a:ext cx="0" cy="2219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A2A3FFE5-EE00-4631-C68E-F0B97C710C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85075" y="5193949"/>
                <a:ext cx="0" cy="22195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DC4EF0EB-D3F2-74B6-4450-2F5449697E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3241" y="5626010"/>
                <a:ext cx="0" cy="1667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직선 연결선 107">
                <a:extLst>
                  <a:ext uri="{FF2B5EF4-FFF2-40B4-BE49-F238E27FC236}">
                    <a16:creationId xmlns:a16="http://schemas.microsoft.com/office/drawing/2014/main" id="{69097C7B-6E35-8C2E-E4C2-453CAA911B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85075" y="5573756"/>
                <a:ext cx="0" cy="1667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84A836D7-4D5D-38CF-4F49-91E4AD57D3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43285" y="5643428"/>
                <a:ext cx="0" cy="1667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사각형: 둥근 모서리 89">
                <a:extLst>
                  <a:ext uri="{FF2B5EF4-FFF2-40B4-BE49-F238E27FC236}">
                    <a16:creationId xmlns:a16="http://schemas.microsoft.com/office/drawing/2014/main" id="{551244BD-B6BC-36C6-5B03-0A5E23499416}"/>
                  </a:ext>
                </a:extLst>
              </p:cNvPr>
              <p:cNvSpPr/>
              <p:nvPr/>
            </p:nvSpPr>
            <p:spPr>
              <a:xfrm>
                <a:off x="2819442" y="4576642"/>
                <a:ext cx="1331267" cy="267692"/>
              </a:xfrm>
              <a:prstGeom prst="roundRect">
                <a:avLst/>
              </a:prstGeom>
              <a:solidFill>
                <a:srgbClr val="15497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Physical NIC(</a:t>
                </a:r>
                <a:r>
                  <a:rPr lang="en-US" altLang="ko-KR" sz="900" dirty="0" err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pNIC</a:t>
                </a:r>
                <a:r>
                  <a:rPr lang="en-US" altLang="ko-KR" sz="9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)</a:t>
                </a:r>
                <a:endParaRPr lang="ko-KR" altLang="en-US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91" name="사각형: 둥근 모서리 90">
                <a:extLst>
                  <a:ext uri="{FF2B5EF4-FFF2-40B4-BE49-F238E27FC236}">
                    <a16:creationId xmlns:a16="http://schemas.microsoft.com/office/drawing/2014/main" id="{BB060E95-D2D1-BF48-D8BE-9FD3B27EB11B}"/>
                  </a:ext>
                </a:extLst>
              </p:cNvPr>
              <p:cNvSpPr/>
              <p:nvPr/>
            </p:nvSpPr>
            <p:spPr>
              <a:xfrm>
                <a:off x="2819442" y="4934484"/>
                <a:ext cx="1331267" cy="267692"/>
              </a:xfrm>
              <a:prstGeom prst="roundRect">
                <a:avLst/>
              </a:prstGeom>
              <a:solidFill>
                <a:srgbClr val="15497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Hypervisor</a:t>
                </a:r>
                <a:endParaRPr lang="ko-KR" altLang="en-US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92" name="사각형: 둥근 모서리 91">
                <a:extLst>
                  <a:ext uri="{FF2B5EF4-FFF2-40B4-BE49-F238E27FC236}">
                    <a16:creationId xmlns:a16="http://schemas.microsoft.com/office/drawing/2014/main" id="{D9C5BAB5-1B3E-16C8-5F84-926B8B97BBE6}"/>
                  </a:ext>
                </a:extLst>
              </p:cNvPr>
              <p:cNvSpPr/>
              <p:nvPr/>
            </p:nvSpPr>
            <p:spPr>
              <a:xfrm>
                <a:off x="2819442" y="5315973"/>
                <a:ext cx="1331267" cy="267692"/>
              </a:xfrm>
              <a:prstGeom prst="roundRect">
                <a:avLst/>
              </a:prstGeom>
              <a:solidFill>
                <a:srgbClr val="15497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dirty="0" err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Virutal</a:t>
                </a:r>
                <a:r>
                  <a:rPr lang="en-US" altLang="ko-KR" sz="9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Switch</a:t>
                </a:r>
                <a:endParaRPr lang="ko-KR" altLang="en-US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94" name="사각형: 둥근 모서리 93">
                <a:extLst>
                  <a:ext uri="{FF2B5EF4-FFF2-40B4-BE49-F238E27FC236}">
                    <a16:creationId xmlns:a16="http://schemas.microsoft.com/office/drawing/2014/main" id="{7B727D40-9C98-51CA-14F1-53C9676F711E}"/>
                  </a:ext>
                </a:extLst>
              </p:cNvPr>
              <p:cNvSpPr/>
              <p:nvPr/>
            </p:nvSpPr>
            <p:spPr>
              <a:xfrm>
                <a:off x="2247204" y="5694185"/>
                <a:ext cx="732074" cy="47112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VM 1</a:t>
                </a:r>
                <a:b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</a:b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</a:t>
                </a:r>
                <a:r>
                  <a:rPr lang="en-US" altLang="ko-KR" sz="800" dirty="0" err="1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gurest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A)</a:t>
                </a:r>
                <a:b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</a:b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[</a:t>
                </a:r>
                <a:r>
                  <a:rPr lang="en-US" altLang="ko-KR" sz="800" dirty="0" err="1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vMIC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]</a:t>
                </a:r>
                <a:endParaRPr lang="ko-KR" altLang="en-US" sz="8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96" name="사각형: 둥근 모서리 95">
                <a:extLst>
                  <a:ext uri="{FF2B5EF4-FFF2-40B4-BE49-F238E27FC236}">
                    <a16:creationId xmlns:a16="http://schemas.microsoft.com/office/drawing/2014/main" id="{BACA04E2-22D5-040C-45E7-D8AA1CFF1640}"/>
                  </a:ext>
                </a:extLst>
              </p:cNvPr>
              <p:cNvSpPr/>
              <p:nvPr/>
            </p:nvSpPr>
            <p:spPr>
              <a:xfrm>
                <a:off x="3977248" y="5694185"/>
                <a:ext cx="732074" cy="47112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VM 3</a:t>
                </a:r>
                <a:b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</a:b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</a:t>
                </a:r>
                <a:r>
                  <a:rPr lang="en-US" altLang="ko-KR" sz="800" dirty="0" err="1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gurest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C)</a:t>
                </a:r>
                <a:b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</a:b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[</a:t>
                </a:r>
                <a:r>
                  <a:rPr lang="en-US" altLang="ko-KR" sz="800" dirty="0" err="1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vMIC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]</a:t>
                </a:r>
                <a:endParaRPr lang="ko-KR" altLang="en-US" sz="8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95" name="사각형: 둥근 모서리 94">
                <a:extLst>
                  <a:ext uri="{FF2B5EF4-FFF2-40B4-BE49-F238E27FC236}">
                    <a16:creationId xmlns:a16="http://schemas.microsoft.com/office/drawing/2014/main" id="{A6CDE1F2-6C5D-2D85-141E-476DB0F5A5EA}"/>
                  </a:ext>
                </a:extLst>
              </p:cNvPr>
              <p:cNvSpPr/>
              <p:nvPr/>
            </p:nvSpPr>
            <p:spPr>
              <a:xfrm>
                <a:off x="3119038" y="5694185"/>
                <a:ext cx="732074" cy="47112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VM 2</a:t>
                </a:r>
                <a:b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</a:b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</a:t>
                </a:r>
                <a:r>
                  <a:rPr lang="en-US" altLang="ko-KR" sz="800" dirty="0" err="1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gurest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B)</a:t>
                </a:r>
                <a:b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</a:b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[</a:t>
                </a:r>
                <a:r>
                  <a:rPr lang="en-US" altLang="ko-KR" sz="800" dirty="0" err="1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vMIC</a:t>
                </a:r>
                <a:r>
                  <a:rPr lang="en-US" altLang="ko-KR" sz="8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]</a:t>
                </a:r>
                <a:endParaRPr lang="ko-KR" altLang="en-US" sz="8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C53F543D-765B-0CE8-7E38-80FB2EC304F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07312" y="5631007"/>
                <a:ext cx="173597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43" name="cb100">
            <a:extLst>
              <a:ext uri="{FF2B5EF4-FFF2-40B4-BE49-F238E27FC236}">
                <a16:creationId xmlns:a16="http://schemas.microsoft.com/office/drawing/2014/main" id="{218347D8-2773-7178-EEA9-2EE7AA6586F6}"/>
              </a:ext>
            </a:extLst>
          </p:cNvPr>
          <p:cNvSpPr/>
          <p:nvPr/>
        </p:nvSpPr>
        <p:spPr>
          <a:xfrm>
            <a:off x="4999110" y="1086203"/>
            <a:ext cx="6768104" cy="2298968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pic>
        <p:nvPicPr>
          <p:cNvPr id="144" name="Picture 5">
            <a:extLst>
              <a:ext uri="{FF2B5EF4-FFF2-40B4-BE49-F238E27FC236}">
                <a16:creationId xmlns:a16="http://schemas.microsoft.com/office/drawing/2014/main" id="{C0ABFAA1-EEE2-3B77-A1D3-4C6CC6BED76A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5144693" y="1483186"/>
            <a:ext cx="6192901" cy="15367"/>
          </a:xfrm>
          <a:prstGeom prst="rect">
            <a:avLst/>
          </a:prstGeom>
        </p:spPr>
      </p:pic>
      <p:sp>
        <p:nvSpPr>
          <p:cNvPr id="145" name="TextBox 18">
            <a:extLst>
              <a:ext uri="{FF2B5EF4-FFF2-40B4-BE49-F238E27FC236}">
                <a16:creationId xmlns:a16="http://schemas.microsoft.com/office/drawing/2014/main" id="{C5CBC61F-0524-FE20-6F14-C74C7F317DD3}"/>
              </a:ext>
            </a:extLst>
          </p:cNvPr>
          <p:cNvSpPr txBox="1"/>
          <p:nvPr/>
        </p:nvSpPr>
        <p:spPr>
          <a:xfrm>
            <a:off x="5155251" y="1181054"/>
            <a:ext cx="1995083" cy="257625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2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구성</a:t>
            </a:r>
            <a:endParaRPr lang="en-US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sp>
        <p:nvSpPr>
          <p:cNvPr id="146" name="TextBox 32">
            <a:extLst>
              <a:ext uri="{FF2B5EF4-FFF2-40B4-BE49-F238E27FC236}">
                <a16:creationId xmlns:a16="http://schemas.microsoft.com/office/drawing/2014/main" id="{DA6237A4-3014-8029-37B6-FA7168AA73E3}"/>
              </a:ext>
            </a:extLst>
          </p:cNvPr>
          <p:cNvSpPr txBox="1"/>
          <p:nvPr/>
        </p:nvSpPr>
        <p:spPr>
          <a:xfrm>
            <a:off x="5338191" y="1608703"/>
            <a:ext cx="970858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CNC Block </a:t>
            </a: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이란</a:t>
            </a:r>
            <a:r>
              <a:rPr lang="en-US" altLang="ko-KR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?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47" name="TextBox 33">
            <a:extLst>
              <a:ext uri="{FF2B5EF4-FFF2-40B4-BE49-F238E27FC236}">
                <a16:creationId xmlns:a16="http://schemas.microsoft.com/office/drawing/2014/main" id="{FA85BF06-2F27-67EC-3123-D2063E6AA100}"/>
              </a:ext>
            </a:extLst>
          </p:cNvPr>
          <p:cNvSpPr txBox="1"/>
          <p:nvPr/>
        </p:nvSpPr>
        <p:spPr>
          <a:xfrm>
            <a:off x="5345645" y="1814641"/>
            <a:ext cx="4342586" cy="18603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DS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Access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Switch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+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하나의 논리 단위로 묶은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NCP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기본 인프라 블록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04FEFD32-E2C5-71E4-F68E-B0CE1C6CFB0A}"/>
              </a:ext>
            </a:extLst>
          </p:cNvPr>
          <p:cNvGrpSpPr/>
          <p:nvPr/>
        </p:nvGrpSpPr>
        <p:grpSpPr>
          <a:xfrm>
            <a:off x="5087888" y="1600873"/>
            <a:ext cx="216025" cy="266700"/>
            <a:chOff x="5169872" y="1519136"/>
            <a:chExt cx="216025" cy="266700"/>
          </a:xfrm>
        </p:grpSpPr>
        <p:sp>
          <p:nvSpPr>
            <p:cNvPr id="148" name="타원 147">
              <a:extLst>
                <a:ext uri="{FF2B5EF4-FFF2-40B4-BE49-F238E27FC236}">
                  <a16:creationId xmlns:a16="http://schemas.microsoft.com/office/drawing/2014/main" id="{BBD50E4F-18F8-1F03-0241-2E7C8A5A02B1}"/>
                </a:ext>
              </a:extLst>
            </p:cNvPr>
            <p:cNvSpPr/>
            <p:nvPr/>
          </p:nvSpPr>
          <p:spPr>
            <a:xfrm>
              <a:off x="5196733" y="1563220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49" name="TextBox 26">
              <a:extLst>
                <a:ext uri="{FF2B5EF4-FFF2-40B4-BE49-F238E27FC236}">
                  <a16:creationId xmlns:a16="http://schemas.microsoft.com/office/drawing/2014/main" id="{BC58AC17-CE93-E5AF-0919-4B283B062215}"/>
                </a:ext>
              </a:extLst>
            </p:cNvPr>
            <p:cNvSpPr txBox="1"/>
            <p:nvPr/>
          </p:nvSpPr>
          <p:spPr>
            <a:xfrm>
              <a:off x="5169872" y="1519136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151" name="그래픽 150" descr="확인 표시 단색으로 채워진">
              <a:extLst>
                <a:ext uri="{FF2B5EF4-FFF2-40B4-BE49-F238E27FC236}">
                  <a16:creationId xmlns:a16="http://schemas.microsoft.com/office/drawing/2014/main" id="{FA682E95-B5E7-04A3-9BF3-F730760707A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217764" y="1592366"/>
              <a:ext cx="120241" cy="120241"/>
            </a:xfrm>
            <a:prstGeom prst="rect">
              <a:avLst/>
            </a:prstGeom>
          </p:spPr>
        </p:pic>
      </p:grpSp>
      <p:sp>
        <p:nvSpPr>
          <p:cNvPr id="152" name="TextBox 32">
            <a:extLst>
              <a:ext uri="{FF2B5EF4-FFF2-40B4-BE49-F238E27FC236}">
                <a16:creationId xmlns:a16="http://schemas.microsoft.com/office/drawing/2014/main" id="{C5C6E771-06FF-A0F4-3E26-7E7739950AF1}"/>
              </a:ext>
            </a:extLst>
          </p:cNvPr>
          <p:cNvSpPr txBox="1"/>
          <p:nvPr/>
        </p:nvSpPr>
        <p:spPr>
          <a:xfrm>
            <a:off x="5338191" y="2225200"/>
            <a:ext cx="970858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계층 구조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53" name="TextBox 33">
            <a:extLst>
              <a:ext uri="{FF2B5EF4-FFF2-40B4-BE49-F238E27FC236}">
                <a16:creationId xmlns:a16="http://schemas.microsoft.com/office/drawing/2014/main" id="{CD4C9C71-50DA-2A91-04FF-364CD5C258F3}"/>
              </a:ext>
            </a:extLst>
          </p:cNvPr>
          <p:cNvSpPr txBox="1"/>
          <p:nvPr/>
        </p:nvSpPr>
        <p:spPr>
          <a:xfrm>
            <a:off x="5345645" y="2431136"/>
            <a:ext cx="2291478" cy="84767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DS: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CNC Block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외부 네트워크 </a:t>
            </a:r>
            <a:r>
              <a:rPr lang="ko-KR" altLang="en-US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진입점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AS: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DS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와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물리 연결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(L2)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Master PM: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PM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클러스터 전체 제어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PM: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실제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올라가는 물리 서버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B723D4C-85A9-75AC-586F-BB3D91D63906}"/>
              </a:ext>
            </a:extLst>
          </p:cNvPr>
          <p:cNvGrpSpPr/>
          <p:nvPr/>
        </p:nvGrpSpPr>
        <p:grpSpPr>
          <a:xfrm>
            <a:off x="5087888" y="2217370"/>
            <a:ext cx="216025" cy="266700"/>
            <a:chOff x="5087888" y="2079527"/>
            <a:chExt cx="216025" cy="266700"/>
          </a:xfrm>
        </p:grpSpPr>
        <p:sp>
          <p:nvSpPr>
            <p:cNvPr id="154" name="타원 153">
              <a:extLst>
                <a:ext uri="{FF2B5EF4-FFF2-40B4-BE49-F238E27FC236}">
                  <a16:creationId xmlns:a16="http://schemas.microsoft.com/office/drawing/2014/main" id="{3879586C-8096-8BBB-CB49-CA032CBAD298}"/>
                </a:ext>
              </a:extLst>
            </p:cNvPr>
            <p:cNvSpPr/>
            <p:nvPr/>
          </p:nvSpPr>
          <p:spPr>
            <a:xfrm>
              <a:off x="5114749" y="2123611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55" name="TextBox 26">
              <a:extLst>
                <a:ext uri="{FF2B5EF4-FFF2-40B4-BE49-F238E27FC236}">
                  <a16:creationId xmlns:a16="http://schemas.microsoft.com/office/drawing/2014/main" id="{185850C7-9549-BD89-62A5-8DFA92A22F3F}"/>
                </a:ext>
              </a:extLst>
            </p:cNvPr>
            <p:cNvSpPr txBox="1"/>
            <p:nvPr/>
          </p:nvSpPr>
          <p:spPr>
            <a:xfrm>
              <a:off x="5087888" y="2079527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156" name="그래픽 155" descr="확인 표시 단색으로 채워진">
              <a:extLst>
                <a:ext uri="{FF2B5EF4-FFF2-40B4-BE49-F238E27FC236}">
                  <a16:creationId xmlns:a16="http://schemas.microsoft.com/office/drawing/2014/main" id="{E97780FA-AD8F-E9CE-C008-EB29856691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5780" y="2152757"/>
              <a:ext cx="120241" cy="120241"/>
            </a:xfrm>
            <a:prstGeom prst="rect">
              <a:avLst/>
            </a:prstGeom>
          </p:spPr>
        </p:pic>
      </p:grpSp>
      <p:sp>
        <p:nvSpPr>
          <p:cNvPr id="157" name="TextBox 32">
            <a:extLst>
              <a:ext uri="{FF2B5EF4-FFF2-40B4-BE49-F238E27FC236}">
                <a16:creationId xmlns:a16="http://schemas.microsoft.com/office/drawing/2014/main" id="{D139780E-1071-3C54-5052-403A2B0E2FE3}"/>
              </a:ext>
            </a:extLst>
          </p:cNvPr>
          <p:cNvSpPr txBox="1"/>
          <p:nvPr/>
        </p:nvSpPr>
        <p:spPr>
          <a:xfrm>
            <a:off x="7938003" y="2225200"/>
            <a:ext cx="970858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PM</a:t>
            </a: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 내부 구조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58" name="TextBox 33">
            <a:extLst>
              <a:ext uri="{FF2B5EF4-FFF2-40B4-BE49-F238E27FC236}">
                <a16:creationId xmlns:a16="http://schemas.microsoft.com/office/drawing/2014/main" id="{F36F1798-35D2-8819-58ED-FB4CC7BAD86A}"/>
              </a:ext>
            </a:extLst>
          </p:cNvPr>
          <p:cNvSpPr txBox="1"/>
          <p:nvPr/>
        </p:nvSpPr>
        <p:spPr>
          <a:xfrm>
            <a:off x="7945457" y="2431136"/>
            <a:ext cx="3739773" cy="84767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>
              <a:lnSpc>
                <a:spcPct val="130000"/>
              </a:lnSpc>
            </a:pP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pNIC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외부 트래픽 출입구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물리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NIC)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하이퍼바이저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PM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자원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(CPU/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메모리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분할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vSwitch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VM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들을 연결하는 가상 스위치로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ACG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정책의 적용 지점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VM: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고객에게 할당되는 가상 서버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대이며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각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독립된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vNIC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보유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26EB23E-F6C7-0226-BAB6-8EECD75EAA14}"/>
              </a:ext>
            </a:extLst>
          </p:cNvPr>
          <p:cNvGrpSpPr/>
          <p:nvPr/>
        </p:nvGrpSpPr>
        <p:grpSpPr>
          <a:xfrm>
            <a:off x="7687700" y="2217370"/>
            <a:ext cx="216025" cy="266700"/>
            <a:chOff x="7687700" y="2013101"/>
            <a:chExt cx="216025" cy="266700"/>
          </a:xfrm>
        </p:grpSpPr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E775655E-2475-DBE4-D0C7-721D2FA51BE0}"/>
                </a:ext>
              </a:extLst>
            </p:cNvPr>
            <p:cNvSpPr/>
            <p:nvPr/>
          </p:nvSpPr>
          <p:spPr>
            <a:xfrm>
              <a:off x="7714561" y="2079948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60" name="TextBox 26">
              <a:extLst>
                <a:ext uri="{FF2B5EF4-FFF2-40B4-BE49-F238E27FC236}">
                  <a16:creationId xmlns:a16="http://schemas.microsoft.com/office/drawing/2014/main" id="{5A88C695-90B5-4A66-895C-B06A08D270B1}"/>
                </a:ext>
              </a:extLst>
            </p:cNvPr>
            <p:cNvSpPr txBox="1"/>
            <p:nvPr/>
          </p:nvSpPr>
          <p:spPr>
            <a:xfrm>
              <a:off x="7687700" y="2013101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162" name="그래픽 161" descr="확인 표시 단색으로 채워진">
              <a:extLst>
                <a:ext uri="{FF2B5EF4-FFF2-40B4-BE49-F238E27FC236}">
                  <a16:creationId xmlns:a16="http://schemas.microsoft.com/office/drawing/2014/main" id="{68A8BCB0-AEEA-6F84-A0B0-EF7DDD07E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735592" y="2109094"/>
              <a:ext cx="120241" cy="120241"/>
            </a:xfrm>
            <a:prstGeom prst="rect">
              <a:avLst/>
            </a:prstGeom>
          </p:spPr>
        </p:pic>
      </p:grpSp>
      <p:sp>
        <p:nvSpPr>
          <p:cNvPr id="186" name="cb100">
            <a:extLst>
              <a:ext uri="{FF2B5EF4-FFF2-40B4-BE49-F238E27FC236}">
                <a16:creationId xmlns:a16="http://schemas.microsoft.com/office/drawing/2014/main" id="{A3650F57-CAF1-6AB1-4039-14282F9A8396}"/>
              </a:ext>
            </a:extLst>
          </p:cNvPr>
          <p:cNvSpPr/>
          <p:nvPr/>
        </p:nvSpPr>
        <p:spPr>
          <a:xfrm>
            <a:off x="4999110" y="3566843"/>
            <a:ext cx="6768104" cy="2989500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pic>
        <p:nvPicPr>
          <p:cNvPr id="189" name="Picture 5">
            <a:extLst>
              <a:ext uri="{FF2B5EF4-FFF2-40B4-BE49-F238E27FC236}">
                <a16:creationId xmlns:a16="http://schemas.microsoft.com/office/drawing/2014/main" id="{D3E23D60-7753-AA12-489C-0FB4F192F3D9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>
            <a:off x="5144693" y="3963826"/>
            <a:ext cx="6192901" cy="15367"/>
          </a:xfrm>
          <a:prstGeom prst="rect">
            <a:avLst/>
          </a:prstGeom>
        </p:spPr>
      </p:pic>
      <p:sp>
        <p:nvSpPr>
          <p:cNvPr id="196" name="TextBox 18">
            <a:extLst>
              <a:ext uri="{FF2B5EF4-FFF2-40B4-BE49-F238E27FC236}">
                <a16:creationId xmlns:a16="http://schemas.microsoft.com/office/drawing/2014/main" id="{66601936-5099-D535-B144-E71185A265E5}"/>
              </a:ext>
            </a:extLst>
          </p:cNvPr>
          <p:cNvSpPr txBox="1"/>
          <p:nvPr/>
        </p:nvSpPr>
        <p:spPr>
          <a:xfrm>
            <a:off x="5155251" y="3661694"/>
            <a:ext cx="1995083" cy="257625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200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일반 클라우드 가상환경 트래픽 흐름</a:t>
            </a:r>
            <a:endParaRPr lang="en-US" altLang="ko-KR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pic>
        <p:nvPicPr>
          <p:cNvPr id="217" name="Picture 6">
            <a:extLst>
              <a:ext uri="{FF2B5EF4-FFF2-40B4-BE49-F238E27FC236}">
                <a16:creationId xmlns:a16="http://schemas.microsoft.com/office/drawing/2014/main" id="{B67519B6-289D-3FF3-E648-90DD70036E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1904" y="4074085"/>
            <a:ext cx="899375" cy="266142"/>
          </a:xfrm>
          <a:prstGeom prst="rect">
            <a:avLst/>
          </a:prstGeom>
        </p:spPr>
      </p:pic>
      <p:sp>
        <p:nvSpPr>
          <p:cNvPr id="220" name="TextBox 19">
            <a:extLst>
              <a:ext uri="{FF2B5EF4-FFF2-40B4-BE49-F238E27FC236}">
                <a16:creationId xmlns:a16="http://schemas.microsoft.com/office/drawing/2014/main" id="{D0F8A56E-3ED2-A2E5-8632-747D1B9D07EB}"/>
              </a:ext>
            </a:extLst>
          </p:cNvPr>
          <p:cNvSpPr txBox="1"/>
          <p:nvPr/>
        </p:nvSpPr>
        <p:spPr>
          <a:xfrm>
            <a:off x="5311218" y="4086226"/>
            <a:ext cx="745557" cy="254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b="0" i="0" u="none" strike="noStrike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Inbound</a:t>
            </a:r>
          </a:p>
        </p:txBody>
      </p:sp>
      <p:sp>
        <p:nvSpPr>
          <p:cNvPr id="222" name="TextBox 33">
            <a:extLst>
              <a:ext uri="{FF2B5EF4-FFF2-40B4-BE49-F238E27FC236}">
                <a16:creationId xmlns:a16="http://schemas.microsoft.com/office/drawing/2014/main" id="{7AF930E3-B96D-1FCB-55B5-30758105C6A6}"/>
              </a:ext>
            </a:extLst>
          </p:cNvPr>
          <p:cNvSpPr txBox="1"/>
          <p:nvPr/>
        </p:nvSpPr>
        <p:spPr>
          <a:xfrm>
            <a:off x="6227138" y="4068002"/>
            <a:ext cx="5197454" cy="278308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pNIC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수신 → </a:t>
            </a:r>
            <a:r>
              <a:rPr lang="ko-KR" altLang="en-US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하이퍼바이저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처리 →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vSwitch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ACG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정책 검사 → 허용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– VM /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차단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Drop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31" name="Picture 6">
            <a:extLst>
              <a:ext uri="{FF2B5EF4-FFF2-40B4-BE49-F238E27FC236}">
                <a16:creationId xmlns:a16="http://schemas.microsoft.com/office/drawing/2014/main" id="{0177BB20-B636-C831-9A74-C5C514546E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1904" y="4400726"/>
            <a:ext cx="899375" cy="266142"/>
          </a:xfrm>
          <a:prstGeom prst="rect">
            <a:avLst/>
          </a:prstGeom>
        </p:spPr>
      </p:pic>
      <p:sp>
        <p:nvSpPr>
          <p:cNvPr id="232" name="TextBox 19">
            <a:extLst>
              <a:ext uri="{FF2B5EF4-FFF2-40B4-BE49-F238E27FC236}">
                <a16:creationId xmlns:a16="http://schemas.microsoft.com/office/drawing/2014/main" id="{BE2E905E-A481-E789-38B5-EA1146CD9DFE}"/>
              </a:ext>
            </a:extLst>
          </p:cNvPr>
          <p:cNvSpPr txBox="1"/>
          <p:nvPr/>
        </p:nvSpPr>
        <p:spPr>
          <a:xfrm>
            <a:off x="5311218" y="4412867"/>
            <a:ext cx="745557" cy="254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VM –</a:t>
            </a:r>
            <a:r>
              <a:rPr lang="ko-KR" altLang="en-US" sz="10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 </a:t>
            </a:r>
            <a:r>
              <a:rPr lang="en-US" altLang="ko-KR" sz="10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VM</a:t>
            </a:r>
            <a:endParaRPr lang="en-US" sz="1000" b="0" i="0" u="none" strike="noStrike" dirty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33" name="TextBox 33">
            <a:extLst>
              <a:ext uri="{FF2B5EF4-FFF2-40B4-BE49-F238E27FC236}">
                <a16:creationId xmlns:a16="http://schemas.microsoft.com/office/drawing/2014/main" id="{52C81B0B-2738-7A82-CE63-9E4CA7BC618E}"/>
              </a:ext>
            </a:extLst>
          </p:cNvPr>
          <p:cNvSpPr txBox="1"/>
          <p:nvPr/>
        </p:nvSpPr>
        <p:spPr>
          <a:xfrm>
            <a:off x="6227138" y="4394643"/>
            <a:ext cx="5197454" cy="278308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송신 →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vSwitch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ACG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정책 검사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같은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내에서도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허용된 경우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 2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전달</a:t>
            </a:r>
          </a:p>
        </p:txBody>
      </p:sp>
      <p:pic>
        <p:nvPicPr>
          <p:cNvPr id="238" name="Picture 6">
            <a:extLst>
              <a:ext uri="{FF2B5EF4-FFF2-40B4-BE49-F238E27FC236}">
                <a16:creationId xmlns:a16="http://schemas.microsoft.com/office/drawing/2014/main" id="{8EACB628-A402-BB1E-CC0E-D54E1F7CCC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1904" y="4739533"/>
            <a:ext cx="899375" cy="266142"/>
          </a:xfrm>
          <a:prstGeom prst="rect">
            <a:avLst/>
          </a:prstGeom>
        </p:spPr>
      </p:pic>
      <p:sp>
        <p:nvSpPr>
          <p:cNvPr id="239" name="TextBox 19">
            <a:extLst>
              <a:ext uri="{FF2B5EF4-FFF2-40B4-BE49-F238E27FC236}">
                <a16:creationId xmlns:a16="http://schemas.microsoft.com/office/drawing/2014/main" id="{2D2AA2AB-312F-424E-71C6-0379CCCB1BC7}"/>
              </a:ext>
            </a:extLst>
          </p:cNvPr>
          <p:cNvSpPr txBox="1"/>
          <p:nvPr/>
        </p:nvSpPr>
        <p:spPr>
          <a:xfrm>
            <a:off x="5311218" y="4751674"/>
            <a:ext cx="745557" cy="254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b="0" i="0" u="none" strike="noStrike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Outbound</a:t>
            </a:r>
          </a:p>
        </p:txBody>
      </p:sp>
      <p:sp>
        <p:nvSpPr>
          <p:cNvPr id="240" name="TextBox 33">
            <a:extLst>
              <a:ext uri="{FF2B5EF4-FFF2-40B4-BE49-F238E27FC236}">
                <a16:creationId xmlns:a16="http://schemas.microsoft.com/office/drawing/2014/main" id="{0F6DF5B9-8D36-AA0A-BD50-F87AC3AE222E}"/>
              </a:ext>
            </a:extLst>
          </p:cNvPr>
          <p:cNvSpPr txBox="1"/>
          <p:nvPr/>
        </p:nvSpPr>
        <p:spPr>
          <a:xfrm>
            <a:off x="6227138" y="4733450"/>
            <a:ext cx="5197454" cy="278308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송신 →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vSwitch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</a:t>
            </a:r>
            <a:r>
              <a:rPr lang="ko-KR" altLang="en-US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하이퍼바이저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→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pNIC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송출 →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DS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→ 보안장비</a:t>
            </a:r>
          </a:p>
        </p:txBody>
      </p:sp>
      <p:sp>
        <p:nvSpPr>
          <p:cNvPr id="241" name="TextBox 32">
            <a:extLst>
              <a:ext uri="{FF2B5EF4-FFF2-40B4-BE49-F238E27FC236}">
                <a16:creationId xmlns:a16="http://schemas.microsoft.com/office/drawing/2014/main" id="{43C5011A-EC3A-8173-5B04-89BA8DB400B0}"/>
              </a:ext>
            </a:extLst>
          </p:cNvPr>
          <p:cNvSpPr txBox="1"/>
          <p:nvPr/>
        </p:nvSpPr>
        <p:spPr>
          <a:xfrm>
            <a:off x="5420175" y="5230857"/>
            <a:ext cx="970858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b="0" i="0" u="none" strike="noStrike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멀티테넌시</a:t>
            </a: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 격리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42" name="TextBox 33">
            <a:extLst>
              <a:ext uri="{FF2B5EF4-FFF2-40B4-BE49-F238E27FC236}">
                <a16:creationId xmlns:a16="http://schemas.microsoft.com/office/drawing/2014/main" id="{3C3CE017-C686-6E27-9960-484903490047}"/>
              </a:ext>
            </a:extLst>
          </p:cNvPr>
          <p:cNvSpPr txBox="1"/>
          <p:nvPr/>
        </p:nvSpPr>
        <p:spPr>
          <a:xfrm>
            <a:off x="5427628" y="5436795"/>
            <a:ext cx="4556803" cy="355122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하나의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PM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 여러 고객의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존재하여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하이퍼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바이저가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자원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(CPU/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메모리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격리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ACG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네트워크 접근을 격리하고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간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서로 접근 불가</a:t>
            </a:r>
          </a:p>
        </p:txBody>
      </p:sp>
      <p:sp>
        <p:nvSpPr>
          <p:cNvPr id="243" name="타원 242">
            <a:extLst>
              <a:ext uri="{FF2B5EF4-FFF2-40B4-BE49-F238E27FC236}">
                <a16:creationId xmlns:a16="http://schemas.microsoft.com/office/drawing/2014/main" id="{405C997E-E3C6-82B3-E2D7-81365E1C885D}"/>
              </a:ext>
            </a:extLst>
          </p:cNvPr>
          <p:cNvSpPr/>
          <p:nvPr/>
        </p:nvSpPr>
        <p:spPr>
          <a:xfrm>
            <a:off x="5196733" y="5267111"/>
            <a:ext cx="16230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44" name="TextBox 26">
            <a:extLst>
              <a:ext uri="{FF2B5EF4-FFF2-40B4-BE49-F238E27FC236}">
                <a16:creationId xmlns:a16="http://schemas.microsoft.com/office/drawing/2014/main" id="{41857ACD-9CC5-3078-BCD7-59C464D7E09C}"/>
              </a:ext>
            </a:extLst>
          </p:cNvPr>
          <p:cNvSpPr txBox="1"/>
          <p:nvPr/>
        </p:nvSpPr>
        <p:spPr>
          <a:xfrm>
            <a:off x="5169872" y="5223027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endParaRPr lang="en-US" sz="1000" b="0" i="0" u="none" strike="noStrike" dirty="0">
              <a:solidFill>
                <a:srgbClr val="FFFFFF"/>
              </a:solidFill>
              <a:latin typeface="NanumSquare" panose="020B0600000101010101" pitchFamily="50" charset="-127"/>
              <a:ea typeface="NanumSquare" panose="020B0600000101010101" pitchFamily="50" charset="-127"/>
              <a:cs typeface="Pretendard Regular"/>
            </a:endParaRPr>
          </a:p>
        </p:txBody>
      </p:sp>
      <p:pic>
        <p:nvPicPr>
          <p:cNvPr id="245" name="그래픽 244" descr="확인 표시 단색으로 채워진">
            <a:extLst>
              <a:ext uri="{FF2B5EF4-FFF2-40B4-BE49-F238E27FC236}">
                <a16:creationId xmlns:a16="http://schemas.microsoft.com/office/drawing/2014/main" id="{FF270B8F-88CB-02CB-60A6-8A77771AA3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17764" y="5296257"/>
            <a:ext cx="120241" cy="120241"/>
          </a:xfrm>
          <a:prstGeom prst="rect">
            <a:avLst/>
          </a:prstGeom>
        </p:spPr>
      </p:pic>
      <p:sp>
        <p:nvSpPr>
          <p:cNvPr id="246" name="TextBox 32">
            <a:extLst>
              <a:ext uri="{FF2B5EF4-FFF2-40B4-BE49-F238E27FC236}">
                <a16:creationId xmlns:a16="http://schemas.microsoft.com/office/drawing/2014/main" id="{56567C6F-97C2-1288-A8F3-7495968760AA}"/>
              </a:ext>
            </a:extLst>
          </p:cNvPr>
          <p:cNvSpPr txBox="1"/>
          <p:nvPr/>
        </p:nvSpPr>
        <p:spPr>
          <a:xfrm>
            <a:off x="5420174" y="5862502"/>
            <a:ext cx="1467913" cy="214786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ACG </a:t>
            </a: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적용 위치 </a:t>
            </a:r>
            <a:r>
              <a:rPr lang="en-US" altLang="ko-KR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= </a:t>
            </a:r>
            <a:r>
              <a:rPr lang="en-US" altLang="ko-KR" sz="1050" b="0" i="0" u="none" strike="noStrike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vSwitch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47" name="TextBox 33">
            <a:extLst>
              <a:ext uri="{FF2B5EF4-FFF2-40B4-BE49-F238E27FC236}">
                <a16:creationId xmlns:a16="http://schemas.microsoft.com/office/drawing/2014/main" id="{D93E76DB-7A02-F5F4-AF37-EC624919BEDB}"/>
              </a:ext>
            </a:extLst>
          </p:cNvPr>
          <p:cNvSpPr txBox="1"/>
          <p:nvPr/>
        </p:nvSpPr>
        <p:spPr>
          <a:xfrm>
            <a:off x="5427628" y="6068440"/>
            <a:ext cx="4556803" cy="355122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물리 방화벽이 아닌 소프트웨어 정책으로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,VM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단위로 인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아웃 규칙 적용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동일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PM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내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간 통신도 예외 없이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ACG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통과</a:t>
            </a:r>
          </a:p>
        </p:txBody>
      </p:sp>
      <p:sp>
        <p:nvSpPr>
          <p:cNvPr id="248" name="타원 247">
            <a:extLst>
              <a:ext uri="{FF2B5EF4-FFF2-40B4-BE49-F238E27FC236}">
                <a16:creationId xmlns:a16="http://schemas.microsoft.com/office/drawing/2014/main" id="{9C7641C3-BE7F-EE68-D852-97F76BFB4E3B}"/>
              </a:ext>
            </a:extLst>
          </p:cNvPr>
          <p:cNvSpPr/>
          <p:nvPr/>
        </p:nvSpPr>
        <p:spPr>
          <a:xfrm>
            <a:off x="5196733" y="5898756"/>
            <a:ext cx="16230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49" name="TextBox 26">
            <a:extLst>
              <a:ext uri="{FF2B5EF4-FFF2-40B4-BE49-F238E27FC236}">
                <a16:creationId xmlns:a16="http://schemas.microsoft.com/office/drawing/2014/main" id="{6EB61A3B-F5D7-1134-ADD4-CD5CAB87BCB9}"/>
              </a:ext>
            </a:extLst>
          </p:cNvPr>
          <p:cNvSpPr txBox="1"/>
          <p:nvPr/>
        </p:nvSpPr>
        <p:spPr>
          <a:xfrm>
            <a:off x="5169872" y="5854672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endParaRPr lang="en-US" sz="1000" b="0" i="0" u="none" strike="noStrike" dirty="0">
              <a:solidFill>
                <a:srgbClr val="FFFFFF"/>
              </a:solidFill>
              <a:latin typeface="NanumSquare" panose="020B0600000101010101" pitchFamily="50" charset="-127"/>
              <a:ea typeface="NanumSquare" panose="020B0600000101010101" pitchFamily="50" charset="-127"/>
              <a:cs typeface="Pretendard Regular"/>
            </a:endParaRPr>
          </a:p>
        </p:txBody>
      </p:sp>
      <p:pic>
        <p:nvPicPr>
          <p:cNvPr id="250" name="그래픽 249" descr="확인 표시 단색으로 채워진">
            <a:extLst>
              <a:ext uri="{FF2B5EF4-FFF2-40B4-BE49-F238E27FC236}">
                <a16:creationId xmlns:a16="http://schemas.microsoft.com/office/drawing/2014/main" id="{5FA24823-95CE-5824-4CB2-AB521214B0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17764" y="5927902"/>
            <a:ext cx="120241" cy="12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7800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4.2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구성도</a:t>
            </a:r>
          </a:p>
        </p:txBody>
      </p:sp>
      <p:sp>
        <p:nvSpPr>
          <p:cNvPr id="3" name="cb100">
            <a:extLst>
              <a:ext uri="{FF2B5EF4-FFF2-40B4-BE49-F238E27FC236}">
                <a16:creationId xmlns:a16="http://schemas.microsoft.com/office/drawing/2014/main" id="{49E8569D-767F-248A-E212-A198D7B007E1}"/>
              </a:ext>
            </a:extLst>
          </p:cNvPr>
          <p:cNvSpPr/>
          <p:nvPr/>
        </p:nvSpPr>
        <p:spPr>
          <a:xfrm>
            <a:off x="407988" y="1340768"/>
            <a:ext cx="11376024" cy="4836742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0A2EE1-FAF1-4441-D02F-F6F284F411CB}"/>
              </a:ext>
            </a:extLst>
          </p:cNvPr>
          <p:cNvSpPr/>
          <p:nvPr/>
        </p:nvSpPr>
        <p:spPr>
          <a:xfrm>
            <a:off x="623398" y="1844825"/>
            <a:ext cx="1985577" cy="3168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pc="-5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6D7E8B6-2119-9029-92DB-677FCD4383A7}"/>
              </a:ext>
            </a:extLst>
          </p:cNvPr>
          <p:cNvSpPr/>
          <p:nvPr/>
        </p:nvSpPr>
        <p:spPr>
          <a:xfrm>
            <a:off x="2783632" y="1844825"/>
            <a:ext cx="1985577" cy="3168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pc="-5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783338-07E0-3D92-8A52-B3F2AD32AFBC}"/>
              </a:ext>
            </a:extLst>
          </p:cNvPr>
          <p:cNvSpPr/>
          <p:nvPr/>
        </p:nvSpPr>
        <p:spPr>
          <a:xfrm>
            <a:off x="4943872" y="1844825"/>
            <a:ext cx="1985577" cy="3168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pc="-50" dirty="0"/>
          </a:p>
        </p:txBody>
      </p:sp>
      <p:sp>
        <p:nvSpPr>
          <p:cNvPr id="9" name="desc104">
            <a:extLst>
              <a:ext uri="{FF2B5EF4-FFF2-40B4-BE49-F238E27FC236}">
                <a16:creationId xmlns:a16="http://schemas.microsoft.com/office/drawing/2014/main" id="{A0264FA8-5B81-7147-03B7-6CF1FE0A392A}"/>
              </a:ext>
            </a:extLst>
          </p:cNvPr>
          <p:cNvSpPr txBox="1"/>
          <p:nvPr/>
        </p:nvSpPr>
        <p:spPr>
          <a:xfrm>
            <a:off x="551384" y="1465696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물리 영역 </a:t>
            </a:r>
            <a:r>
              <a:rPr lang="en-US" altLang="ko-KR" sz="105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– CNC Block</a:t>
            </a:r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571881E1-5F8C-9570-0119-34D229F3E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8" y="1834146"/>
            <a:ext cx="1985576" cy="352088"/>
          </a:xfrm>
          <a:prstGeom prst="rect">
            <a:avLst/>
          </a:prstGeom>
        </p:spPr>
      </p:pic>
      <p:sp>
        <p:nvSpPr>
          <p:cNvPr id="14" name="TextBox 34">
            <a:extLst>
              <a:ext uri="{FF2B5EF4-FFF2-40B4-BE49-F238E27FC236}">
                <a16:creationId xmlns:a16="http://schemas.microsoft.com/office/drawing/2014/main" id="{A0AE6088-C1EA-B9C8-FCC8-04B313006320}"/>
              </a:ext>
            </a:extLst>
          </p:cNvPr>
          <p:cNvSpPr txBox="1"/>
          <p:nvPr/>
        </p:nvSpPr>
        <p:spPr>
          <a:xfrm>
            <a:off x="707117" y="1864269"/>
            <a:ext cx="1818150" cy="291843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PM</a:t>
            </a:r>
            <a:r>
              <a:rPr lang="ko-KR" altLang="en-US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 </a:t>
            </a:r>
            <a:r>
              <a:rPr lang="en-US" altLang="ko-KR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1</a:t>
            </a:r>
            <a:endParaRPr lang="ko-KR" altLang="en-US" sz="110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92117B1A-F205-E70A-87E3-C34215087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8563" y="1834146"/>
            <a:ext cx="1985576" cy="352088"/>
          </a:xfrm>
          <a:prstGeom prst="rect">
            <a:avLst/>
          </a:prstGeom>
        </p:spPr>
      </p:pic>
      <p:sp>
        <p:nvSpPr>
          <p:cNvPr id="16" name="TextBox 34">
            <a:extLst>
              <a:ext uri="{FF2B5EF4-FFF2-40B4-BE49-F238E27FC236}">
                <a16:creationId xmlns:a16="http://schemas.microsoft.com/office/drawing/2014/main" id="{FC36A228-3CAF-AF0E-C690-299EFD95989C}"/>
              </a:ext>
            </a:extLst>
          </p:cNvPr>
          <p:cNvSpPr txBox="1"/>
          <p:nvPr/>
        </p:nvSpPr>
        <p:spPr>
          <a:xfrm>
            <a:off x="2862276" y="1864269"/>
            <a:ext cx="1818150" cy="291843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PM</a:t>
            </a:r>
            <a:r>
              <a:rPr lang="ko-KR" altLang="en-US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 </a:t>
            </a:r>
            <a:r>
              <a:rPr lang="en-US" altLang="ko-KR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2</a:t>
            </a:r>
            <a:endParaRPr lang="ko-KR" altLang="en-US" sz="110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1BE01755-4E34-94A8-F739-6BC0E3A1C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716" y="1834146"/>
            <a:ext cx="1985576" cy="352088"/>
          </a:xfrm>
          <a:prstGeom prst="rect">
            <a:avLst/>
          </a:prstGeom>
        </p:spPr>
      </p:pic>
      <p:sp>
        <p:nvSpPr>
          <p:cNvPr id="18" name="TextBox 34">
            <a:extLst>
              <a:ext uri="{FF2B5EF4-FFF2-40B4-BE49-F238E27FC236}">
                <a16:creationId xmlns:a16="http://schemas.microsoft.com/office/drawing/2014/main" id="{A70EC0C8-7B6C-5D9E-BE6F-C0699FD4F228}"/>
              </a:ext>
            </a:extLst>
          </p:cNvPr>
          <p:cNvSpPr txBox="1"/>
          <p:nvPr/>
        </p:nvSpPr>
        <p:spPr>
          <a:xfrm>
            <a:off x="5036429" y="1864269"/>
            <a:ext cx="1818150" cy="291843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PM</a:t>
            </a:r>
            <a:r>
              <a:rPr lang="ko-KR" altLang="en-US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 </a:t>
            </a:r>
            <a:r>
              <a:rPr lang="en-US" altLang="ko-KR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3</a:t>
            </a:r>
            <a:endParaRPr lang="ko-KR" altLang="en-US" sz="110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ECF7F55-7296-1E85-A9ED-494C39A8E45F}"/>
              </a:ext>
            </a:extLst>
          </p:cNvPr>
          <p:cNvSpPr/>
          <p:nvPr/>
        </p:nvSpPr>
        <p:spPr>
          <a:xfrm>
            <a:off x="692324" y="2236442"/>
            <a:ext cx="1847725" cy="616495"/>
          </a:xfrm>
          <a:prstGeom prst="roundRect">
            <a:avLst/>
          </a:prstGeom>
          <a:solidFill>
            <a:srgbClr val="E5F6FF">
              <a:alpha val="69804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desc104">
            <a:extLst>
              <a:ext uri="{FF2B5EF4-FFF2-40B4-BE49-F238E27FC236}">
                <a16:creationId xmlns:a16="http://schemas.microsoft.com/office/drawing/2014/main" id="{096FF7C1-6580-664A-D7F7-E5C56034BCD3}"/>
              </a:ext>
            </a:extLst>
          </p:cNvPr>
          <p:cNvSpPr txBox="1"/>
          <p:nvPr/>
        </p:nvSpPr>
        <p:spPr>
          <a:xfrm>
            <a:off x="839422" y="2284433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 1 </a:t>
            </a:r>
          </a:p>
        </p:txBody>
      </p:sp>
      <p:sp>
        <p:nvSpPr>
          <p:cNvPr id="22" name="desc104">
            <a:extLst>
              <a:ext uri="{FF2B5EF4-FFF2-40B4-BE49-F238E27FC236}">
                <a16:creationId xmlns:a16="http://schemas.microsoft.com/office/drawing/2014/main" id="{2CA9CD2D-E3B9-E6ED-CCE8-F245A8B4432A}"/>
              </a:ext>
            </a:extLst>
          </p:cNvPr>
          <p:cNvSpPr txBox="1"/>
          <p:nvPr/>
        </p:nvSpPr>
        <p:spPr>
          <a:xfrm>
            <a:off x="824639" y="2548134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WEB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B7CE1F9-70C1-B230-B63F-890C9ED45FA0}"/>
              </a:ext>
            </a:extLst>
          </p:cNvPr>
          <p:cNvSpPr/>
          <p:nvPr/>
        </p:nvSpPr>
        <p:spPr>
          <a:xfrm>
            <a:off x="692324" y="2943447"/>
            <a:ext cx="1847725" cy="616495"/>
          </a:xfrm>
          <a:prstGeom prst="roundRect">
            <a:avLst/>
          </a:prstGeom>
          <a:solidFill>
            <a:srgbClr val="FFE8DD">
              <a:alpha val="69804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desc104">
            <a:extLst>
              <a:ext uri="{FF2B5EF4-FFF2-40B4-BE49-F238E27FC236}">
                <a16:creationId xmlns:a16="http://schemas.microsoft.com/office/drawing/2014/main" id="{32233B2E-82AF-9D18-A6B0-2A51EA397D71}"/>
              </a:ext>
            </a:extLst>
          </p:cNvPr>
          <p:cNvSpPr txBox="1"/>
          <p:nvPr/>
        </p:nvSpPr>
        <p:spPr>
          <a:xfrm>
            <a:off x="839422" y="2991438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 2 </a:t>
            </a:r>
          </a:p>
        </p:txBody>
      </p:sp>
      <p:sp>
        <p:nvSpPr>
          <p:cNvPr id="27" name="desc104">
            <a:extLst>
              <a:ext uri="{FF2B5EF4-FFF2-40B4-BE49-F238E27FC236}">
                <a16:creationId xmlns:a16="http://schemas.microsoft.com/office/drawing/2014/main" id="{C7B9F11F-C9C2-47CB-694A-EEC2A4575276}"/>
              </a:ext>
            </a:extLst>
          </p:cNvPr>
          <p:cNvSpPr txBox="1"/>
          <p:nvPr/>
        </p:nvSpPr>
        <p:spPr>
          <a:xfrm>
            <a:off x="824639" y="3255139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WEB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BF3A1B1-C695-F5AA-3819-6E9A5D345450}"/>
              </a:ext>
            </a:extLst>
          </p:cNvPr>
          <p:cNvSpPr/>
          <p:nvPr/>
        </p:nvSpPr>
        <p:spPr>
          <a:xfrm>
            <a:off x="692324" y="3594361"/>
            <a:ext cx="1847725" cy="616495"/>
          </a:xfrm>
          <a:prstGeom prst="roundRect">
            <a:avLst/>
          </a:prstGeom>
          <a:solidFill>
            <a:srgbClr val="E5F6FF">
              <a:alpha val="69804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desc104">
            <a:extLst>
              <a:ext uri="{FF2B5EF4-FFF2-40B4-BE49-F238E27FC236}">
                <a16:creationId xmlns:a16="http://schemas.microsoft.com/office/drawing/2014/main" id="{2A9CEDF5-F461-3888-071D-61B9F17D6BD7}"/>
              </a:ext>
            </a:extLst>
          </p:cNvPr>
          <p:cNvSpPr txBox="1"/>
          <p:nvPr/>
        </p:nvSpPr>
        <p:spPr>
          <a:xfrm>
            <a:off x="839422" y="3642352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</a:t>
            </a:r>
            <a:r>
              <a:rPr lang="ko-KR" altLang="en-US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</a:p>
        </p:txBody>
      </p:sp>
      <p:sp>
        <p:nvSpPr>
          <p:cNvPr id="30" name="desc104">
            <a:extLst>
              <a:ext uri="{FF2B5EF4-FFF2-40B4-BE49-F238E27FC236}">
                <a16:creationId xmlns:a16="http://schemas.microsoft.com/office/drawing/2014/main" id="{E832E7D1-1AFB-2935-5922-9CA858D38D20}"/>
              </a:ext>
            </a:extLst>
          </p:cNvPr>
          <p:cNvSpPr txBox="1"/>
          <p:nvPr/>
        </p:nvSpPr>
        <p:spPr>
          <a:xfrm>
            <a:off x="824639" y="3906053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E870472-4BD3-478D-3B8C-6E07E652E9EB}"/>
              </a:ext>
            </a:extLst>
          </p:cNvPr>
          <p:cNvSpPr/>
          <p:nvPr/>
        </p:nvSpPr>
        <p:spPr>
          <a:xfrm>
            <a:off x="692324" y="4301366"/>
            <a:ext cx="1847725" cy="616495"/>
          </a:xfrm>
          <a:prstGeom prst="roundRect">
            <a:avLst/>
          </a:prstGeom>
          <a:solidFill>
            <a:schemeClr val="accent3">
              <a:lumMod val="20000"/>
              <a:lumOff val="80000"/>
              <a:alpha val="69804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2" name="desc104">
            <a:extLst>
              <a:ext uri="{FF2B5EF4-FFF2-40B4-BE49-F238E27FC236}">
                <a16:creationId xmlns:a16="http://schemas.microsoft.com/office/drawing/2014/main" id="{F993E448-8FCA-F87F-C85E-FA20F3208809}"/>
              </a:ext>
            </a:extLst>
          </p:cNvPr>
          <p:cNvSpPr txBox="1"/>
          <p:nvPr/>
        </p:nvSpPr>
        <p:spPr>
          <a:xfrm>
            <a:off x="839422" y="4349357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 4</a:t>
            </a:r>
          </a:p>
        </p:txBody>
      </p:sp>
      <p:sp>
        <p:nvSpPr>
          <p:cNvPr id="33" name="desc104">
            <a:extLst>
              <a:ext uri="{FF2B5EF4-FFF2-40B4-BE49-F238E27FC236}">
                <a16:creationId xmlns:a16="http://schemas.microsoft.com/office/drawing/2014/main" id="{2C7E5595-6FC5-73BC-E737-FB8E729B0677}"/>
              </a:ext>
            </a:extLst>
          </p:cNvPr>
          <p:cNvSpPr txBox="1"/>
          <p:nvPr/>
        </p:nvSpPr>
        <p:spPr>
          <a:xfrm>
            <a:off x="824639" y="4613058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WEB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9271E7BE-1EC7-ABA7-3D93-F2AC53C4005C}"/>
              </a:ext>
            </a:extLst>
          </p:cNvPr>
          <p:cNvSpPr/>
          <p:nvPr/>
        </p:nvSpPr>
        <p:spPr>
          <a:xfrm>
            <a:off x="2844213" y="2236442"/>
            <a:ext cx="1847725" cy="616495"/>
          </a:xfrm>
          <a:prstGeom prst="roundRect">
            <a:avLst/>
          </a:prstGeom>
          <a:solidFill>
            <a:schemeClr val="accent3">
              <a:lumMod val="20000"/>
              <a:lumOff val="80000"/>
              <a:alpha val="69804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desc104">
            <a:extLst>
              <a:ext uri="{FF2B5EF4-FFF2-40B4-BE49-F238E27FC236}">
                <a16:creationId xmlns:a16="http://schemas.microsoft.com/office/drawing/2014/main" id="{FBF0C6A1-6416-CB02-7C6B-35632C79DC9F}"/>
              </a:ext>
            </a:extLst>
          </p:cNvPr>
          <p:cNvSpPr txBox="1"/>
          <p:nvPr/>
        </p:nvSpPr>
        <p:spPr>
          <a:xfrm>
            <a:off x="2991311" y="2284433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 5 </a:t>
            </a:r>
          </a:p>
        </p:txBody>
      </p:sp>
      <p:sp>
        <p:nvSpPr>
          <p:cNvPr id="36" name="desc104">
            <a:extLst>
              <a:ext uri="{FF2B5EF4-FFF2-40B4-BE49-F238E27FC236}">
                <a16:creationId xmlns:a16="http://schemas.microsoft.com/office/drawing/2014/main" id="{CE77B9A2-D1FB-0595-DAA8-4FBD15C76CE8}"/>
              </a:ext>
            </a:extLst>
          </p:cNvPr>
          <p:cNvSpPr txBox="1"/>
          <p:nvPr/>
        </p:nvSpPr>
        <p:spPr>
          <a:xfrm>
            <a:off x="2976528" y="2548134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WAS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6CA41304-7F9F-3534-8D5F-7B7AC0A93EB5}"/>
              </a:ext>
            </a:extLst>
          </p:cNvPr>
          <p:cNvSpPr/>
          <p:nvPr/>
        </p:nvSpPr>
        <p:spPr>
          <a:xfrm>
            <a:off x="2844213" y="2943447"/>
            <a:ext cx="1847725" cy="616495"/>
          </a:xfrm>
          <a:prstGeom prst="roundRect">
            <a:avLst/>
          </a:prstGeom>
          <a:solidFill>
            <a:srgbClr val="E5F6FF">
              <a:alpha val="69804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desc104">
            <a:extLst>
              <a:ext uri="{FF2B5EF4-FFF2-40B4-BE49-F238E27FC236}">
                <a16:creationId xmlns:a16="http://schemas.microsoft.com/office/drawing/2014/main" id="{82E35677-3CD3-4BDB-3702-D0E86E54A790}"/>
              </a:ext>
            </a:extLst>
          </p:cNvPr>
          <p:cNvSpPr txBox="1"/>
          <p:nvPr/>
        </p:nvSpPr>
        <p:spPr>
          <a:xfrm>
            <a:off x="2991311" y="2991438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 6 </a:t>
            </a:r>
          </a:p>
        </p:txBody>
      </p:sp>
      <p:sp>
        <p:nvSpPr>
          <p:cNvPr id="50" name="desc104">
            <a:extLst>
              <a:ext uri="{FF2B5EF4-FFF2-40B4-BE49-F238E27FC236}">
                <a16:creationId xmlns:a16="http://schemas.microsoft.com/office/drawing/2014/main" id="{BA340200-CC57-29DD-91C4-52AA78CC95EF}"/>
              </a:ext>
            </a:extLst>
          </p:cNvPr>
          <p:cNvSpPr txBox="1"/>
          <p:nvPr/>
        </p:nvSpPr>
        <p:spPr>
          <a:xfrm>
            <a:off x="2976528" y="3255139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WAS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3A581011-B4B8-8F2A-E2A1-DEF25489A6DA}"/>
              </a:ext>
            </a:extLst>
          </p:cNvPr>
          <p:cNvSpPr/>
          <p:nvPr/>
        </p:nvSpPr>
        <p:spPr>
          <a:xfrm>
            <a:off x="2844213" y="3594361"/>
            <a:ext cx="1847725" cy="616495"/>
          </a:xfrm>
          <a:prstGeom prst="roundRect">
            <a:avLst/>
          </a:prstGeom>
          <a:solidFill>
            <a:srgbClr val="FFE8DD">
              <a:alpha val="69804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2" name="desc104">
            <a:extLst>
              <a:ext uri="{FF2B5EF4-FFF2-40B4-BE49-F238E27FC236}">
                <a16:creationId xmlns:a16="http://schemas.microsoft.com/office/drawing/2014/main" id="{C2E4FE49-D73C-EFB5-738E-4EAFAD521815}"/>
              </a:ext>
            </a:extLst>
          </p:cNvPr>
          <p:cNvSpPr txBox="1"/>
          <p:nvPr/>
        </p:nvSpPr>
        <p:spPr>
          <a:xfrm>
            <a:off x="2991311" y="3642352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</a:t>
            </a:r>
            <a:r>
              <a:rPr lang="ko-KR" altLang="en-US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7</a:t>
            </a:r>
          </a:p>
        </p:txBody>
      </p:sp>
      <p:sp>
        <p:nvSpPr>
          <p:cNvPr id="53" name="desc104">
            <a:extLst>
              <a:ext uri="{FF2B5EF4-FFF2-40B4-BE49-F238E27FC236}">
                <a16:creationId xmlns:a16="http://schemas.microsoft.com/office/drawing/2014/main" id="{6D958C35-FDA2-90A6-41DB-E2A048B5E587}"/>
              </a:ext>
            </a:extLst>
          </p:cNvPr>
          <p:cNvSpPr txBox="1"/>
          <p:nvPr/>
        </p:nvSpPr>
        <p:spPr>
          <a:xfrm>
            <a:off x="2976528" y="3906053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WEB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D62A95DF-A38D-B2D7-D17F-868111792C93}"/>
              </a:ext>
            </a:extLst>
          </p:cNvPr>
          <p:cNvSpPr/>
          <p:nvPr/>
        </p:nvSpPr>
        <p:spPr>
          <a:xfrm>
            <a:off x="2844213" y="4301366"/>
            <a:ext cx="1847725" cy="616495"/>
          </a:xfrm>
          <a:prstGeom prst="roundRect">
            <a:avLst/>
          </a:prstGeom>
          <a:solidFill>
            <a:srgbClr val="FFE8DD">
              <a:alpha val="69804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desc104">
            <a:extLst>
              <a:ext uri="{FF2B5EF4-FFF2-40B4-BE49-F238E27FC236}">
                <a16:creationId xmlns:a16="http://schemas.microsoft.com/office/drawing/2014/main" id="{4032F8F8-5EE3-9BFD-E881-48A9B2E0C657}"/>
              </a:ext>
            </a:extLst>
          </p:cNvPr>
          <p:cNvSpPr txBox="1"/>
          <p:nvPr/>
        </p:nvSpPr>
        <p:spPr>
          <a:xfrm>
            <a:off x="2991311" y="4349357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 8</a:t>
            </a:r>
          </a:p>
        </p:txBody>
      </p:sp>
      <p:sp>
        <p:nvSpPr>
          <p:cNvPr id="57" name="desc104">
            <a:extLst>
              <a:ext uri="{FF2B5EF4-FFF2-40B4-BE49-F238E27FC236}">
                <a16:creationId xmlns:a16="http://schemas.microsoft.com/office/drawing/2014/main" id="{03454FB8-88D4-BBC4-4DAA-2B4774737A6A}"/>
              </a:ext>
            </a:extLst>
          </p:cNvPr>
          <p:cNvSpPr txBox="1"/>
          <p:nvPr/>
        </p:nvSpPr>
        <p:spPr>
          <a:xfrm>
            <a:off x="2976528" y="4613058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A5D64BF4-C5D9-E92B-E62B-C53044D33C48}"/>
              </a:ext>
            </a:extLst>
          </p:cNvPr>
          <p:cNvSpPr/>
          <p:nvPr/>
        </p:nvSpPr>
        <p:spPr>
          <a:xfrm>
            <a:off x="5001472" y="2236442"/>
            <a:ext cx="1847725" cy="616495"/>
          </a:xfrm>
          <a:prstGeom prst="roundRect">
            <a:avLst/>
          </a:prstGeom>
          <a:solidFill>
            <a:schemeClr val="accent3">
              <a:lumMod val="20000"/>
              <a:lumOff val="80000"/>
              <a:alpha val="69804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9" name="desc104">
            <a:extLst>
              <a:ext uri="{FF2B5EF4-FFF2-40B4-BE49-F238E27FC236}">
                <a16:creationId xmlns:a16="http://schemas.microsoft.com/office/drawing/2014/main" id="{8C1B1607-096D-DF4A-F552-2416C9C03AFC}"/>
              </a:ext>
            </a:extLst>
          </p:cNvPr>
          <p:cNvSpPr txBox="1"/>
          <p:nvPr/>
        </p:nvSpPr>
        <p:spPr>
          <a:xfrm>
            <a:off x="5148570" y="2284433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 9 </a:t>
            </a:r>
          </a:p>
        </p:txBody>
      </p:sp>
      <p:sp>
        <p:nvSpPr>
          <p:cNvPr id="60" name="desc104">
            <a:extLst>
              <a:ext uri="{FF2B5EF4-FFF2-40B4-BE49-F238E27FC236}">
                <a16:creationId xmlns:a16="http://schemas.microsoft.com/office/drawing/2014/main" id="{E3E7208E-345B-22F6-C271-949972985204}"/>
              </a:ext>
            </a:extLst>
          </p:cNvPr>
          <p:cNvSpPr txBox="1"/>
          <p:nvPr/>
        </p:nvSpPr>
        <p:spPr>
          <a:xfrm>
            <a:off x="5133787" y="2548134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B43C2A5-5A1C-729C-A5F5-A15BF1FB77EB}"/>
              </a:ext>
            </a:extLst>
          </p:cNvPr>
          <p:cNvSpPr/>
          <p:nvPr/>
        </p:nvSpPr>
        <p:spPr>
          <a:xfrm>
            <a:off x="5001472" y="2943447"/>
            <a:ext cx="1847725" cy="616495"/>
          </a:xfrm>
          <a:prstGeom prst="roundRect">
            <a:avLst/>
          </a:prstGeom>
          <a:solidFill>
            <a:srgbClr val="FFE8DD">
              <a:alpha val="69804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desc104">
            <a:extLst>
              <a:ext uri="{FF2B5EF4-FFF2-40B4-BE49-F238E27FC236}">
                <a16:creationId xmlns:a16="http://schemas.microsoft.com/office/drawing/2014/main" id="{C8C0C085-18CD-0B10-ADE7-397F185006A0}"/>
              </a:ext>
            </a:extLst>
          </p:cNvPr>
          <p:cNvSpPr txBox="1"/>
          <p:nvPr/>
        </p:nvSpPr>
        <p:spPr>
          <a:xfrm>
            <a:off x="5148570" y="2991438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 10 </a:t>
            </a:r>
          </a:p>
        </p:txBody>
      </p:sp>
      <p:sp>
        <p:nvSpPr>
          <p:cNvPr id="63" name="desc104">
            <a:extLst>
              <a:ext uri="{FF2B5EF4-FFF2-40B4-BE49-F238E27FC236}">
                <a16:creationId xmlns:a16="http://schemas.microsoft.com/office/drawing/2014/main" id="{07A67FCF-8B72-9A5B-C22B-904758796D01}"/>
              </a:ext>
            </a:extLst>
          </p:cNvPr>
          <p:cNvSpPr txBox="1"/>
          <p:nvPr/>
        </p:nvSpPr>
        <p:spPr>
          <a:xfrm>
            <a:off x="5133787" y="3255139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B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WAS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35E21910-F5A5-14CA-6AF4-8FCC28D5505B}"/>
              </a:ext>
            </a:extLst>
          </p:cNvPr>
          <p:cNvSpPr/>
          <p:nvPr/>
        </p:nvSpPr>
        <p:spPr>
          <a:xfrm>
            <a:off x="5001472" y="3594361"/>
            <a:ext cx="1847725" cy="616495"/>
          </a:xfrm>
          <a:prstGeom prst="roundRect">
            <a:avLst/>
          </a:prstGeom>
          <a:solidFill>
            <a:srgbClr val="E5F6FF">
              <a:alpha val="69804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5" name="desc104">
            <a:extLst>
              <a:ext uri="{FF2B5EF4-FFF2-40B4-BE49-F238E27FC236}">
                <a16:creationId xmlns:a16="http://schemas.microsoft.com/office/drawing/2014/main" id="{E80E523B-75EC-380B-4B30-360E51643B7D}"/>
              </a:ext>
            </a:extLst>
          </p:cNvPr>
          <p:cNvSpPr txBox="1"/>
          <p:nvPr/>
        </p:nvSpPr>
        <p:spPr>
          <a:xfrm>
            <a:off x="5148570" y="3642352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</a:t>
            </a:r>
            <a:r>
              <a:rPr lang="ko-KR" altLang="en-US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</a:t>
            </a:r>
          </a:p>
        </p:txBody>
      </p:sp>
      <p:sp>
        <p:nvSpPr>
          <p:cNvPr id="66" name="desc104">
            <a:extLst>
              <a:ext uri="{FF2B5EF4-FFF2-40B4-BE49-F238E27FC236}">
                <a16:creationId xmlns:a16="http://schemas.microsoft.com/office/drawing/2014/main" id="{5AD08F15-0BDB-D514-D8A7-DBB2F253F777}"/>
              </a:ext>
            </a:extLst>
          </p:cNvPr>
          <p:cNvSpPr txBox="1"/>
          <p:nvPr/>
        </p:nvSpPr>
        <p:spPr>
          <a:xfrm>
            <a:off x="5133787" y="3906053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A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WEB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F4F8848E-5408-F04F-A830-5AB33C6280B8}"/>
              </a:ext>
            </a:extLst>
          </p:cNvPr>
          <p:cNvSpPr/>
          <p:nvPr/>
        </p:nvSpPr>
        <p:spPr>
          <a:xfrm>
            <a:off x="5001472" y="4301366"/>
            <a:ext cx="1847725" cy="616495"/>
          </a:xfrm>
          <a:prstGeom prst="roundRect">
            <a:avLst/>
          </a:prstGeom>
          <a:solidFill>
            <a:schemeClr val="accent3">
              <a:lumMod val="20000"/>
              <a:lumOff val="80000"/>
              <a:alpha val="69804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9" name="desc104">
            <a:extLst>
              <a:ext uri="{FF2B5EF4-FFF2-40B4-BE49-F238E27FC236}">
                <a16:creationId xmlns:a16="http://schemas.microsoft.com/office/drawing/2014/main" id="{848A962C-2309-256D-C05B-FD137D1787F6}"/>
              </a:ext>
            </a:extLst>
          </p:cNvPr>
          <p:cNvSpPr txBox="1"/>
          <p:nvPr/>
        </p:nvSpPr>
        <p:spPr>
          <a:xfrm>
            <a:off x="5148570" y="4349357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 12</a:t>
            </a:r>
          </a:p>
        </p:txBody>
      </p:sp>
      <p:sp>
        <p:nvSpPr>
          <p:cNvPr id="70" name="desc104">
            <a:extLst>
              <a:ext uri="{FF2B5EF4-FFF2-40B4-BE49-F238E27FC236}">
                <a16:creationId xmlns:a16="http://schemas.microsoft.com/office/drawing/2014/main" id="{14185AB7-6449-2480-85A2-77EC865774B3}"/>
              </a:ext>
            </a:extLst>
          </p:cNvPr>
          <p:cNvSpPr txBox="1"/>
          <p:nvPr/>
        </p:nvSpPr>
        <p:spPr>
          <a:xfrm>
            <a:off x="5133787" y="4613058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WEB</a:t>
            </a:r>
          </a:p>
        </p:txBody>
      </p:sp>
      <p:sp>
        <p:nvSpPr>
          <p:cNvPr id="72" name="desc104">
            <a:extLst>
              <a:ext uri="{FF2B5EF4-FFF2-40B4-BE49-F238E27FC236}">
                <a16:creationId xmlns:a16="http://schemas.microsoft.com/office/drawing/2014/main" id="{347ACA72-DE83-7B15-9FEA-4322204EE439}"/>
              </a:ext>
            </a:extLst>
          </p:cNvPr>
          <p:cNvSpPr txBox="1"/>
          <p:nvPr/>
        </p:nvSpPr>
        <p:spPr>
          <a:xfrm>
            <a:off x="7894338" y="1465180"/>
            <a:ext cx="126549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논리 영역 </a:t>
            </a:r>
            <a:r>
              <a:rPr lang="en-US" altLang="ko-KR" sz="105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– </a:t>
            </a:r>
            <a:r>
              <a:rPr lang="ko-KR" altLang="en-US" sz="105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고객 </a:t>
            </a:r>
            <a:r>
              <a:rPr lang="en-US" altLang="ko-KR" sz="105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A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F6ECA98-1DF5-5115-A13E-1FED453E3A29}"/>
              </a:ext>
            </a:extLst>
          </p:cNvPr>
          <p:cNvSpPr/>
          <p:nvPr/>
        </p:nvSpPr>
        <p:spPr>
          <a:xfrm>
            <a:off x="7987704" y="1844825"/>
            <a:ext cx="3634983" cy="316835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pc="-50" dirty="0"/>
          </a:p>
        </p:txBody>
      </p:sp>
      <p:pic>
        <p:nvPicPr>
          <p:cNvPr id="74" name="Picture 4">
            <a:extLst>
              <a:ext uri="{FF2B5EF4-FFF2-40B4-BE49-F238E27FC236}">
                <a16:creationId xmlns:a16="http://schemas.microsoft.com/office/drawing/2014/main" id="{F680C7A5-4A5B-6F38-23C3-2087A36D5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704" y="1834146"/>
            <a:ext cx="3634983" cy="352088"/>
          </a:xfrm>
          <a:prstGeom prst="rect">
            <a:avLst/>
          </a:prstGeom>
        </p:spPr>
      </p:pic>
      <p:sp>
        <p:nvSpPr>
          <p:cNvPr id="75" name="TextBox 34">
            <a:extLst>
              <a:ext uri="{FF2B5EF4-FFF2-40B4-BE49-F238E27FC236}">
                <a16:creationId xmlns:a16="http://schemas.microsoft.com/office/drawing/2014/main" id="{601430B3-5761-BD4B-1798-67448DC13BDA}"/>
              </a:ext>
            </a:extLst>
          </p:cNvPr>
          <p:cNvSpPr txBox="1"/>
          <p:nvPr/>
        </p:nvSpPr>
        <p:spPr>
          <a:xfrm>
            <a:off x="8153597" y="1864269"/>
            <a:ext cx="3303197" cy="348864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ctr">
              <a:lnSpc>
                <a:spcPct val="107899"/>
              </a:lnSpc>
            </a:pPr>
            <a:r>
              <a:rPr lang="en-US" altLang="ko-KR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VPC-PRD [ </a:t>
            </a:r>
            <a:r>
              <a:rPr lang="ko-KR" altLang="en-US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고객 </a:t>
            </a:r>
            <a:r>
              <a:rPr lang="en-US" altLang="ko-KR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A</a:t>
            </a:r>
            <a:r>
              <a:rPr lang="ko-KR" altLang="en-US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의 운영 환경 </a:t>
            </a:r>
            <a:r>
              <a:rPr lang="en-US" altLang="ko-KR" sz="110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]</a:t>
            </a:r>
            <a:endParaRPr lang="ko-KR" altLang="en-US" sz="110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E84EA690-EA20-B75B-A4B4-312560BED891}"/>
              </a:ext>
            </a:extLst>
          </p:cNvPr>
          <p:cNvSpPr/>
          <p:nvPr/>
        </p:nvSpPr>
        <p:spPr>
          <a:xfrm>
            <a:off x="8063542" y="2923693"/>
            <a:ext cx="3483306" cy="616495"/>
          </a:xfrm>
          <a:prstGeom prst="roundRect">
            <a:avLst/>
          </a:prstGeom>
          <a:solidFill>
            <a:srgbClr val="E5F6FF">
              <a:alpha val="69804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0" name="desc104">
            <a:extLst>
              <a:ext uri="{FF2B5EF4-FFF2-40B4-BE49-F238E27FC236}">
                <a16:creationId xmlns:a16="http://schemas.microsoft.com/office/drawing/2014/main" id="{608A93F0-D80A-EE37-001E-1129E822E55F}"/>
              </a:ext>
            </a:extLst>
          </p:cNvPr>
          <p:cNvSpPr txBox="1"/>
          <p:nvPr/>
        </p:nvSpPr>
        <p:spPr>
          <a:xfrm>
            <a:off x="9028431" y="2971684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Subnet - WEB</a:t>
            </a:r>
          </a:p>
        </p:txBody>
      </p:sp>
      <p:sp>
        <p:nvSpPr>
          <p:cNvPr id="81" name="desc104">
            <a:extLst>
              <a:ext uri="{FF2B5EF4-FFF2-40B4-BE49-F238E27FC236}">
                <a16:creationId xmlns:a16="http://schemas.microsoft.com/office/drawing/2014/main" id="{DCDC159F-FA81-3AD4-18F5-8DB24CDE618D}"/>
              </a:ext>
            </a:extLst>
          </p:cNvPr>
          <p:cNvSpPr txBox="1"/>
          <p:nvPr/>
        </p:nvSpPr>
        <p:spPr>
          <a:xfrm>
            <a:off x="9028431" y="3235385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 1 + VM 11</a:t>
            </a:r>
          </a:p>
        </p:txBody>
      </p:sp>
      <p:sp>
        <p:nvSpPr>
          <p:cNvPr id="99" name="desc104">
            <a:extLst>
              <a:ext uri="{FF2B5EF4-FFF2-40B4-BE49-F238E27FC236}">
                <a16:creationId xmlns:a16="http://schemas.microsoft.com/office/drawing/2014/main" id="{538A2D79-BE49-33AC-41C2-B84757F2DAD2}"/>
              </a:ext>
            </a:extLst>
          </p:cNvPr>
          <p:cNvSpPr txBox="1"/>
          <p:nvPr/>
        </p:nvSpPr>
        <p:spPr>
          <a:xfrm>
            <a:off x="8100317" y="2300101"/>
            <a:ext cx="3409757" cy="477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PM 1·2·3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흩어진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들이 하나의 논리 네트워크로 묶임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ctr">
              <a:lnSpc>
                <a:spcPct val="130000"/>
              </a:lnSpc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실제 고객은 해당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VPC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환경을 관리하며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PM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은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CSP(NCP)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몫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D9CD54BE-7A91-30DC-A02B-F3C49632F950}"/>
              </a:ext>
            </a:extLst>
          </p:cNvPr>
          <p:cNvSpPr/>
          <p:nvPr/>
        </p:nvSpPr>
        <p:spPr>
          <a:xfrm>
            <a:off x="8063542" y="3588179"/>
            <a:ext cx="3483306" cy="616495"/>
          </a:xfrm>
          <a:prstGeom prst="roundRect">
            <a:avLst/>
          </a:prstGeom>
          <a:solidFill>
            <a:srgbClr val="E5F6FF">
              <a:alpha val="69804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1" name="desc104">
            <a:extLst>
              <a:ext uri="{FF2B5EF4-FFF2-40B4-BE49-F238E27FC236}">
                <a16:creationId xmlns:a16="http://schemas.microsoft.com/office/drawing/2014/main" id="{EF471460-9F93-1E02-D30B-2371E3D3CAE4}"/>
              </a:ext>
            </a:extLst>
          </p:cNvPr>
          <p:cNvSpPr txBox="1"/>
          <p:nvPr/>
        </p:nvSpPr>
        <p:spPr>
          <a:xfrm>
            <a:off x="9028431" y="3636170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Subnet - WAS</a:t>
            </a:r>
          </a:p>
        </p:txBody>
      </p:sp>
      <p:sp>
        <p:nvSpPr>
          <p:cNvPr id="102" name="desc104">
            <a:extLst>
              <a:ext uri="{FF2B5EF4-FFF2-40B4-BE49-F238E27FC236}">
                <a16:creationId xmlns:a16="http://schemas.microsoft.com/office/drawing/2014/main" id="{93874BC0-4F5D-1D5E-770B-B02B007F4BBC}"/>
              </a:ext>
            </a:extLst>
          </p:cNvPr>
          <p:cNvSpPr txBox="1"/>
          <p:nvPr/>
        </p:nvSpPr>
        <p:spPr>
          <a:xfrm>
            <a:off x="9028431" y="3899871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VM6</a:t>
            </a: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E643C5FD-0685-A35E-8BCD-1E0838DCFF64}"/>
              </a:ext>
            </a:extLst>
          </p:cNvPr>
          <p:cNvSpPr/>
          <p:nvPr/>
        </p:nvSpPr>
        <p:spPr>
          <a:xfrm>
            <a:off x="8063542" y="4252665"/>
            <a:ext cx="3483306" cy="616495"/>
          </a:xfrm>
          <a:prstGeom prst="roundRect">
            <a:avLst/>
          </a:prstGeom>
          <a:solidFill>
            <a:srgbClr val="E5F6FF">
              <a:alpha val="69804"/>
            </a:srgb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1" name="desc104">
            <a:extLst>
              <a:ext uri="{FF2B5EF4-FFF2-40B4-BE49-F238E27FC236}">
                <a16:creationId xmlns:a16="http://schemas.microsoft.com/office/drawing/2014/main" id="{C55332DF-6798-D2C2-2A39-96D96396BE28}"/>
              </a:ext>
            </a:extLst>
          </p:cNvPr>
          <p:cNvSpPr txBox="1"/>
          <p:nvPr/>
        </p:nvSpPr>
        <p:spPr>
          <a:xfrm>
            <a:off x="9028431" y="4300656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Subnet - DB</a:t>
            </a:r>
          </a:p>
        </p:txBody>
      </p:sp>
      <p:sp>
        <p:nvSpPr>
          <p:cNvPr id="112" name="desc104">
            <a:extLst>
              <a:ext uri="{FF2B5EF4-FFF2-40B4-BE49-F238E27FC236}">
                <a16:creationId xmlns:a16="http://schemas.microsoft.com/office/drawing/2014/main" id="{3F05BC15-8DE1-E2ED-AC6C-CFF78A91C907}"/>
              </a:ext>
            </a:extLst>
          </p:cNvPr>
          <p:cNvSpPr txBox="1"/>
          <p:nvPr/>
        </p:nvSpPr>
        <p:spPr>
          <a:xfrm>
            <a:off x="9028431" y="4564357"/>
            <a:ext cx="155352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VM 3</a:t>
            </a:r>
          </a:p>
        </p:txBody>
      </p:sp>
      <p:sp>
        <p:nvSpPr>
          <p:cNvPr id="114" name="화살표: 오른쪽 113">
            <a:extLst>
              <a:ext uri="{FF2B5EF4-FFF2-40B4-BE49-F238E27FC236}">
                <a16:creationId xmlns:a16="http://schemas.microsoft.com/office/drawing/2014/main" id="{5B1F1F2F-5AB7-6930-88B9-6389710693F0}"/>
              </a:ext>
            </a:extLst>
          </p:cNvPr>
          <p:cNvSpPr/>
          <p:nvPr/>
        </p:nvSpPr>
        <p:spPr>
          <a:xfrm>
            <a:off x="7077808" y="3204054"/>
            <a:ext cx="816530" cy="324821"/>
          </a:xfrm>
          <a:prstGeom prst="rightArrow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desc104">
            <a:extLst>
              <a:ext uri="{FF2B5EF4-FFF2-40B4-BE49-F238E27FC236}">
                <a16:creationId xmlns:a16="http://schemas.microsoft.com/office/drawing/2014/main" id="{711C44C4-598F-980D-2A01-EE4D0AC570F1}"/>
              </a:ext>
            </a:extLst>
          </p:cNvPr>
          <p:cNvSpPr txBox="1"/>
          <p:nvPr/>
        </p:nvSpPr>
        <p:spPr>
          <a:xfrm>
            <a:off x="7004917" y="3492733"/>
            <a:ext cx="10119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NCP</a:t>
            </a:r>
            <a:r>
              <a:rPr lang="ko-KR" altLang="en-US" sz="105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 자동 묶음</a:t>
            </a:r>
            <a:endParaRPr lang="en-US" altLang="ko-KR" sz="105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pic>
        <p:nvPicPr>
          <p:cNvPr id="125" name="Picture 4">
            <a:extLst>
              <a:ext uri="{FF2B5EF4-FFF2-40B4-BE49-F238E27FC236}">
                <a16:creationId xmlns:a16="http://schemas.microsoft.com/office/drawing/2014/main" id="{17E288C1-9C45-2220-86EF-A9B24EEBB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56" y="5267679"/>
            <a:ext cx="10999288" cy="652302"/>
          </a:xfrm>
          <a:prstGeom prst="rect">
            <a:avLst/>
          </a:prstGeom>
        </p:spPr>
      </p:pic>
      <p:sp>
        <p:nvSpPr>
          <p:cNvPr id="116" name="TextBox 32">
            <a:extLst>
              <a:ext uri="{FF2B5EF4-FFF2-40B4-BE49-F238E27FC236}">
                <a16:creationId xmlns:a16="http://schemas.microsoft.com/office/drawing/2014/main" id="{606ABE43-B63B-6273-1EF0-CB5A59E3BEC4}"/>
              </a:ext>
            </a:extLst>
          </p:cNvPr>
          <p:cNvSpPr txBox="1"/>
          <p:nvPr/>
        </p:nvSpPr>
        <p:spPr>
          <a:xfrm>
            <a:off x="3856375" y="5251046"/>
            <a:ext cx="5284335" cy="26670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20" name="TextBox 32">
            <a:extLst>
              <a:ext uri="{FF2B5EF4-FFF2-40B4-BE49-F238E27FC236}">
                <a16:creationId xmlns:a16="http://schemas.microsoft.com/office/drawing/2014/main" id="{2CF06AB0-CA7F-73E1-6C16-7F7CEF4F9D3D}"/>
              </a:ext>
            </a:extLst>
          </p:cNvPr>
          <p:cNvSpPr txBox="1"/>
          <p:nvPr/>
        </p:nvSpPr>
        <p:spPr>
          <a:xfrm>
            <a:off x="747354" y="5420296"/>
            <a:ext cx="10697292" cy="3303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100" b="0" i="0" u="none" strike="noStrike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CNC Block</a:t>
            </a:r>
            <a:r>
              <a:rPr lang="ko-KR" altLang="en-US" sz="1100" b="0" i="0" u="none" strike="noStrike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의 </a:t>
            </a: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PM</a:t>
            </a:r>
            <a:r>
              <a:rPr lang="ko-KR" altLang="en-US" sz="11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들이 생성한 </a:t>
            </a: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VM</a:t>
            </a:r>
            <a:r>
              <a:rPr lang="ko-KR" altLang="en-US" sz="11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들은 </a:t>
            </a: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NCP </a:t>
            </a:r>
            <a:r>
              <a:rPr lang="ko-KR" altLang="en-US" sz="11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소프트웨어에 의해 </a:t>
            </a: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VPC</a:t>
            </a:r>
            <a:r>
              <a:rPr lang="ko-KR" altLang="en-US" sz="11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로 논리 묶음이 진행되어</a:t>
            </a: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, </a:t>
            </a:r>
            <a:r>
              <a:rPr lang="ko-KR" altLang="en-US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같은 </a:t>
            </a: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 </a:t>
            </a:r>
            <a:r>
              <a:rPr lang="ko-KR" altLang="en-US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안에서도 여러 고객의 </a:t>
            </a: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</a:t>
            </a:r>
            <a:r>
              <a:rPr lang="ko-KR" altLang="en-US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섞여 있고</a:t>
            </a: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 고객의 </a:t>
            </a: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VM</a:t>
            </a:r>
            <a:r>
              <a:rPr lang="ko-KR" altLang="en-US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여러 </a:t>
            </a: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PM</a:t>
            </a:r>
            <a:r>
              <a:rPr lang="ko-KR" altLang="en-US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분산 될 수 있음</a:t>
            </a:r>
            <a:endParaRPr lang="en-US" altLang="ko-KR" sz="1100" b="0" i="0" u="none" strike="noStrike" dirty="0"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41938488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cb100">
            <a:extLst>
              <a:ext uri="{FF2B5EF4-FFF2-40B4-BE49-F238E27FC236}">
                <a16:creationId xmlns:a16="http://schemas.microsoft.com/office/drawing/2014/main" id="{8052A039-9CC7-0E3C-CD89-C0F4EDEEAA5B}"/>
              </a:ext>
            </a:extLst>
          </p:cNvPr>
          <p:cNvSpPr/>
          <p:nvPr/>
        </p:nvSpPr>
        <p:spPr>
          <a:xfrm>
            <a:off x="4973334" y="1196752"/>
            <a:ext cx="6954473" cy="4945375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2" name="cb100">
            <a:extLst>
              <a:ext uri="{FF2B5EF4-FFF2-40B4-BE49-F238E27FC236}">
                <a16:creationId xmlns:a16="http://schemas.microsoft.com/office/drawing/2014/main" id="{50D292EE-32D7-C5D2-E34E-FD44A1DD98D3}"/>
              </a:ext>
            </a:extLst>
          </p:cNvPr>
          <p:cNvSpPr/>
          <p:nvPr/>
        </p:nvSpPr>
        <p:spPr>
          <a:xfrm>
            <a:off x="407988" y="1196752"/>
            <a:ext cx="4391868" cy="4960062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4.2 NCP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 보안 아키텍처</a:t>
            </a:r>
          </a:p>
        </p:txBody>
      </p:sp>
      <p:pic>
        <p:nvPicPr>
          <p:cNvPr id="38" name="그림 37" descr="텍스트, 스크린샷, 도표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FBDFFC3-EE53-D227-C2C8-429B820DA7E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7" y="1279795"/>
            <a:ext cx="4248472" cy="4793975"/>
          </a:xfrm>
          <a:prstGeom prst="rect">
            <a:avLst/>
          </a:prstGeom>
        </p:spPr>
      </p:pic>
      <p:pic>
        <p:nvPicPr>
          <p:cNvPr id="40" name="Picture 9">
            <a:extLst>
              <a:ext uri="{FF2B5EF4-FFF2-40B4-BE49-F238E27FC236}">
                <a16:creationId xmlns:a16="http://schemas.microsoft.com/office/drawing/2014/main" id="{1E6827D8-CB97-F2B4-5FBE-95D2212A374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047383" y="1668591"/>
            <a:ext cx="4618182" cy="11545"/>
          </a:xfrm>
          <a:prstGeom prst="rect">
            <a:avLst/>
          </a:prstGeom>
        </p:spPr>
      </p:pic>
      <p:sp>
        <p:nvSpPr>
          <p:cNvPr id="41" name="TextBox 32">
            <a:extLst>
              <a:ext uri="{FF2B5EF4-FFF2-40B4-BE49-F238E27FC236}">
                <a16:creationId xmlns:a16="http://schemas.microsoft.com/office/drawing/2014/main" id="{1CFD9613-273A-7900-6118-E259BF310BD8}"/>
              </a:ext>
            </a:extLst>
          </p:cNvPr>
          <p:cNvSpPr txBox="1"/>
          <p:nvPr/>
        </p:nvSpPr>
        <p:spPr>
          <a:xfrm>
            <a:off x="5231904" y="1231855"/>
            <a:ext cx="1583336" cy="233802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Security Monitoring</a:t>
            </a:r>
          </a:p>
        </p:txBody>
      </p:sp>
      <p:sp>
        <p:nvSpPr>
          <p:cNvPr id="42" name="TextBox 33">
            <a:extLst>
              <a:ext uri="{FF2B5EF4-FFF2-40B4-BE49-F238E27FC236}">
                <a16:creationId xmlns:a16="http://schemas.microsoft.com/office/drawing/2014/main" id="{9E29CA01-47FC-E0F1-3598-CF9AE149A3FA}"/>
              </a:ext>
            </a:extLst>
          </p:cNvPr>
          <p:cNvSpPr txBox="1"/>
          <p:nvPr/>
        </p:nvSpPr>
        <p:spPr>
          <a:xfrm>
            <a:off x="5231064" y="1437793"/>
            <a:ext cx="6336084" cy="18603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클라우드 컴퓨팅 서비스 외부로부터 발생하는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DDoS,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비인가 접속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악성코드 감염 등에 대비한 보안 대책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134F07BF-7152-1016-DC4B-15C6CB416CF0}"/>
              </a:ext>
            </a:extLst>
          </p:cNvPr>
          <p:cNvSpPr/>
          <p:nvPr/>
        </p:nvSpPr>
        <p:spPr>
          <a:xfrm>
            <a:off x="5014538" y="1268109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44" name="TextBox 26">
            <a:extLst>
              <a:ext uri="{FF2B5EF4-FFF2-40B4-BE49-F238E27FC236}">
                <a16:creationId xmlns:a16="http://schemas.microsoft.com/office/drawing/2014/main" id="{8EEE10A5-5884-F515-0FDA-186FB610888E}"/>
              </a:ext>
            </a:extLst>
          </p:cNvPr>
          <p:cNvSpPr txBox="1"/>
          <p:nvPr/>
        </p:nvSpPr>
        <p:spPr>
          <a:xfrm>
            <a:off x="4995792" y="1224025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1</a:t>
            </a:r>
          </a:p>
        </p:txBody>
      </p:sp>
      <p:pic>
        <p:nvPicPr>
          <p:cNvPr id="45" name="Picture 9">
            <a:extLst>
              <a:ext uri="{FF2B5EF4-FFF2-40B4-BE49-F238E27FC236}">
                <a16:creationId xmlns:a16="http://schemas.microsoft.com/office/drawing/2014/main" id="{1550BD62-5870-863B-82D5-8FA36670289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047383" y="2153409"/>
            <a:ext cx="4618182" cy="11545"/>
          </a:xfrm>
          <a:prstGeom prst="rect">
            <a:avLst/>
          </a:prstGeom>
        </p:spPr>
      </p:pic>
      <p:sp>
        <p:nvSpPr>
          <p:cNvPr id="46" name="TextBox 32">
            <a:extLst>
              <a:ext uri="{FF2B5EF4-FFF2-40B4-BE49-F238E27FC236}">
                <a16:creationId xmlns:a16="http://schemas.microsoft.com/office/drawing/2014/main" id="{317FB4A6-C266-271F-FCB0-6355B16482AF}"/>
              </a:ext>
            </a:extLst>
          </p:cNvPr>
          <p:cNvSpPr txBox="1"/>
          <p:nvPr/>
        </p:nvSpPr>
        <p:spPr>
          <a:xfrm>
            <a:off x="5231904" y="1716672"/>
            <a:ext cx="2159400" cy="241445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Network ACL(VPC </a:t>
            </a: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환경</a:t>
            </a:r>
            <a:r>
              <a:rPr lang="en-US" altLang="ko-KR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), </a:t>
            </a: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ACG</a:t>
            </a:r>
          </a:p>
        </p:txBody>
      </p:sp>
      <p:sp>
        <p:nvSpPr>
          <p:cNvPr id="47" name="TextBox 33">
            <a:extLst>
              <a:ext uri="{FF2B5EF4-FFF2-40B4-BE49-F238E27FC236}">
                <a16:creationId xmlns:a16="http://schemas.microsoft.com/office/drawing/2014/main" id="{F23F2FA5-C938-4FE0-8A28-33B533534E18}"/>
              </a:ext>
            </a:extLst>
          </p:cNvPr>
          <p:cNvSpPr txBox="1"/>
          <p:nvPr/>
        </p:nvSpPr>
        <p:spPr>
          <a:xfrm>
            <a:off x="5231064" y="1910039"/>
            <a:ext cx="6264695" cy="225944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Network ACL(VPC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환경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ACG(Access Control Group)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를 이용하여 서비스 접근통제</a:t>
            </a:r>
            <a:endParaRPr lang="en-US" altLang="ko-KR" sz="10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DD428FFE-1E98-0E81-FFBA-AFC98128D3CC}"/>
              </a:ext>
            </a:extLst>
          </p:cNvPr>
          <p:cNvSpPr/>
          <p:nvPr/>
        </p:nvSpPr>
        <p:spPr>
          <a:xfrm>
            <a:off x="5014538" y="1752927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49" name="TextBox 26">
            <a:extLst>
              <a:ext uri="{FF2B5EF4-FFF2-40B4-BE49-F238E27FC236}">
                <a16:creationId xmlns:a16="http://schemas.microsoft.com/office/drawing/2014/main" id="{6388E3FD-6241-66B5-AA7C-7B2227FB58F8}"/>
              </a:ext>
            </a:extLst>
          </p:cNvPr>
          <p:cNvSpPr txBox="1"/>
          <p:nvPr/>
        </p:nvSpPr>
        <p:spPr>
          <a:xfrm>
            <a:off x="4995792" y="1708843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2</a:t>
            </a:r>
          </a:p>
        </p:txBody>
      </p:sp>
      <p:pic>
        <p:nvPicPr>
          <p:cNvPr id="189" name="Picture 9">
            <a:extLst>
              <a:ext uri="{FF2B5EF4-FFF2-40B4-BE49-F238E27FC236}">
                <a16:creationId xmlns:a16="http://schemas.microsoft.com/office/drawing/2014/main" id="{DEDF8ACB-5153-E2E3-17C4-A9D616F488B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047383" y="2730034"/>
            <a:ext cx="4618182" cy="11545"/>
          </a:xfrm>
          <a:prstGeom prst="rect">
            <a:avLst/>
          </a:prstGeom>
        </p:spPr>
      </p:pic>
      <p:sp>
        <p:nvSpPr>
          <p:cNvPr id="190" name="TextBox 32">
            <a:extLst>
              <a:ext uri="{FF2B5EF4-FFF2-40B4-BE49-F238E27FC236}">
                <a16:creationId xmlns:a16="http://schemas.microsoft.com/office/drawing/2014/main" id="{D170FB10-794E-5E9C-2870-9D1BEC6C4B65}"/>
              </a:ext>
            </a:extLst>
          </p:cNvPr>
          <p:cNvSpPr txBox="1"/>
          <p:nvPr/>
        </p:nvSpPr>
        <p:spPr>
          <a:xfrm>
            <a:off x="5231904" y="2176235"/>
            <a:ext cx="3095504" cy="253885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시스템 접근제어</a:t>
            </a:r>
            <a:r>
              <a:rPr lang="en-US" altLang="ko-KR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, DB </a:t>
            </a: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접근제어</a:t>
            </a:r>
            <a:r>
              <a:rPr lang="en-US" altLang="ko-KR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(</a:t>
            </a:r>
            <a:r>
              <a:rPr lang="ko-KR" altLang="en-US" sz="1050" b="0" i="0" u="none" strike="noStrike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마켓플레이스</a:t>
            </a:r>
            <a:r>
              <a:rPr lang="en-US" altLang="ko-KR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)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91" name="TextBox 33">
            <a:extLst>
              <a:ext uri="{FF2B5EF4-FFF2-40B4-BE49-F238E27FC236}">
                <a16:creationId xmlns:a16="http://schemas.microsoft.com/office/drawing/2014/main" id="{01F0A47E-5ECE-6C66-1353-1CF85C9C760E}"/>
              </a:ext>
            </a:extLst>
          </p:cNvPr>
          <p:cNvSpPr txBox="1"/>
          <p:nvPr/>
        </p:nvSpPr>
        <p:spPr>
          <a:xfrm>
            <a:off x="5231064" y="2382174"/>
            <a:ext cx="6120680" cy="347206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 계정 생성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사용자 계정관리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접근 기록 관리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접근제어</a:t>
            </a:r>
          </a:p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DB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접근제어 솔루션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(3rd-party)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통해 고객이 직접 생성한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Server, DB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 리소스에 대한 계정관리 및 접근통제</a:t>
            </a: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F589C61C-9A2E-A8CC-4C76-1C1079E625A7}"/>
              </a:ext>
            </a:extLst>
          </p:cNvPr>
          <p:cNvSpPr/>
          <p:nvPr/>
        </p:nvSpPr>
        <p:spPr>
          <a:xfrm>
            <a:off x="5014538" y="2212490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93" name="TextBox 26">
            <a:extLst>
              <a:ext uri="{FF2B5EF4-FFF2-40B4-BE49-F238E27FC236}">
                <a16:creationId xmlns:a16="http://schemas.microsoft.com/office/drawing/2014/main" id="{381026FA-27AE-FC61-3F77-00CA7B53466E}"/>
              </a:ext>
            </a:extLst>
          </p:cNvPr>
          <p:cNvSpPr txBox="1"/>
          <p:nvPr/>
        </p:nvSpPr>
        <p:spPr>
          <a:xfrm>
            <a:off x="4995792" y="2168406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3</a:t>
            </a:r>
            <a:endParaRPr lang="en-US" sz="1000" b="0" i="0" u="none" strike="noStrike" dirty="0">
              <a:solidFill>
                <a:srgbClr val="FFFFFF"/>
              </a:solidFill>
              <a:latin typeface="NanumSquare" panose="020B0600000101010101" pitchFamily="50" charset="-127"/>
              <a:ea typeface="NanumSquare" panose="020B0600000101010101" pitchFamily="50" charset="-127"/>
              <a:cs typeface="Pretendard Regular"/>
            </a:endParaRPr>
          </a:p>
        </p:txBody>
      </p:sp>
      <p:pic>
        <p:nvPicPr>
          <p:cNvPr id="194" name="Picture 9">
            <a:extLst>
              <a:ext uri="{FF2B5EF4-FFF2-40B4-BE49-F238E27FC236}">
                <a16:creationId xmlns:a16="http://schemas.microsoft.com/office/drawing/2014/main" id="{71A9AFAC-9486-B007-1768-BC23DFD5C91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047383" y="3214852"/>
            <a:ext cx="4618182" cy="11545"/>
          </a:xfrm>
          <a:prstGeom prst="rect">
            <a:avLst/>
          </a:prstGeom>
        </p:spPr>
      </p:pic>
      <p:sp>
        <p:nvSpPr>
          <p:cNvPr id="195" name="TextBox 32">
            <a:extLst>
              <a:ext uri="{FF2B5EF4-FFF2-40B4-BE49-F238E27FC236}">
                <a16:creationId xmlns:a16="http://schemas.microsoft.com/office/drawing/2014/main" id="{04D8BF9A-10B4-FDCA-D535-D6981A449DC3}"/>
              </a:ext>
            </a:extLst>
          </p:cNvPr>
          <p:cNvSpPr txBox="1"/>
          <p:nvPr/>
        </p:nvSpPr>
        <p:spPr>
          <a:xfrm>
            <a:off x="5229879" y="2801410"/>
            <a:ext cx="1943376" cy="159213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DB </a:t>
            </a: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암호화</a:t>
            </a:r>
            <a:r>
              <a:rPr lang="en-US" altLang="ko-KR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(</a:t>
            </a:r>
            <a:r>
              <a:rPr lang="ko-KR" altLang="en-US" sz="1050" b="0" i="0" u="none" strike="noStrike" dirty="0" err="1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마켓플레이스</a:t>
            </a:r>
            <a:r>
              <a:rPr lang="en-US" altLang="ko-KR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)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96" name="TextBox 33">
            <a:extLst>
              <a:ext uri="{FF2B5EF4-FFF2-40B4-BE49-F238E27FC236}">
                <a16:creationId xmlns:a16="http://schemas.microsoft.com/office/drawing/2014/main" id="{7F14F0C8-F21E-9540-7BE3-C81035C7EFF5}"/>
              </a:ext>
            </a:extLst>
          </p:cNvPr>
          <p:cNvSpPr txBox="1"/>
          <p:nvPr/>
        </p:nvSpPr>
        <p:spPr>
          <a:xfrm>
            <a:off x="5231064" y="2939532"/>
            <a:ext cx="5616624" cy="325322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DB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암호화 솔루션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(3rd-party)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을 통해 고객의 중요정보를 암호화 및 안전한 암호 키 관리를 제공</a:t>
            </a:r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27FCE24F-964C-7E66-35BE-844E5068F662}"/>
              </a:ext>
            </a:extLst>
          </p:cNvPr>
          <p:cNvSpPr/>
          <p:nvPr/>
        </p:nvSpPr>
        <p:spPr>
          <a:xfrm>
            <a:off x="5014538" y="2814370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98" name="TextBox 26">
            <a:extLst>
              <a:ext uri="{FF2B5EF4-FFF2-40B4-BE49-F238E27FC236}">
                <a16:creationId xmlns:a16="http://schemas.microsoft.com/office/drawing/2014/main" id="{39603B8C-B9F9-B1BB-879D-D9A3DE1BB1B0}"/>
              </a:ext>
            </a:extLst>
          </p:cNvPr>
          <p:cNvSpPr txBox="1"/>
          <p:nvPr/>
        </p:nvSpPr>
        <p:spPr>
          <a:xfrm>
            <a:off x="4995792" y="2770286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4</a:t>
            </a:r>
            <a:endParaRPr lang="en-US" sz="1000" dirty="0">
              <a:solidFill>
                <a:srgbClr val="FFFFFF"/>
              </a:solidFill>
              <a:latin typeface="NanumSquare" panose="020B0600000101010101" pitchFamily="50" charset="-127"/>
              <a:ea typeface="NanumSquare" panose="020B0600000101010101" pitchFamily="50" charset="-127"/>
              <a:cs typeface="Pretendard Regular"/>
            </a:endParaRPr>
          </a:p>
        </p:txBody>
      </p:sp>
      <p:pic>
        <p:nvPicPr>
          <p:cNvPr id="199" name="Picture 9">
            <a:extLst>
              <a:ext uri="{FF2B5EF4-FFF2-40B4-BE49-F238E27FC236}">
                <a16:creationId xmlns:a16="http://schemas.microsoft.com/office/drawing/2014/main" id="{A2A6447B-2E53-3665-67C6-AA2B5D1281C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067315" y="3665336"/>
            <a:ext cx="4618182" cy="11545"/>
          </a:xfrm>
          <a:prstGeom prst="rect">
            <a:avLst/>
          </a:prstGeom>
        </p:spPr>
      </p:pic>
      <p:sp>
        <p:nvSpPr>
          <p:cNvPr id="200" name="TextBox 32">
            <a:extLst>
              <a:ext uri="{FF2B5EF4-FFF2-40B4-BE49-F238E27FC236}">
                <a16:creationId xmlns:a16="http://schemas.microsoft.com/office/drawing/2014/main" id="{315F4D36-DBC9-80EF-2B75-FB7EFD5A7C17}"/>
              </a:ext>
            </a:extLst>
          </p:cNvPr>
          <p:cNvSpPr txBox="1"/>
          <p:nvPr/>
        </p:nvSpPr>
        <p:spPr>
          <a:xfrm>
            <a:off x="5251836" y="3228600"/>
            <a:ext cx="1131356" cy="233802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고객 관리 영역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01" name="TextBox 33">
            <a:extLst>
              <a:ext uri="{FF2B5EF4-FFF2-40B4-BE49-F238E27FC236}">
                <a16:creationId xmlns:a16="http://schemas.microsoft.com/office/drawing/2014/main" id="{1FC1A97E-82C9-58C7-9F02-D44BF812047D}"/>
              </a:ext>
            </a:extLst>
          </p:cNvPr>
          <p:cNvSpPr txBox="1"/>
          <p:nvPr/>
        </p:nvSpPr>
        <p:spPr>
          <a:xfrm>
            <a:off x="5250996" y="3450594"/>
            <a:ext cx="4342586" cy="18603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Server, DB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등 생성된 리소스의 계정 관리는 고객의 관리 영역</a:t>
            </a:r>
          </a:p>
        </p:txBody>
      </p:sp>
      <p:sp>
        <p:nvSpPr>
          <p:cNvPr id="202" name="타원 201">
            <a:extLst>
              <a:ext uri="{FF2B5EF4-FFF2-40B4-BE49-F238E27FC236}">
                <a16:creationId xmlns:a16="http://schemas.microsoft.com/office/drawing/2014/main" id="{B48ADD28-DB03-39BE-DC5B-F3294CA33EA5}"/>
              </a:ext>
            </a:extLst>
          </p:cNvPr>
          <p:cNvSpPr/>
          <p:nvPr/>
        </p:nvSpPr>
        <p:spPr>
          <a:xfrm>
            <a:off x="5034470" y="3264854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03" name="TextBox 26">
            <a:extLst>
              <a:ext uri="{FF2B5EF4-FFF2-40B4-BE49-F238E27FC236}">
                <a16:creationId xmlns:a16="http://schemas.microsoft.com/office/drawing/2014/main" id="{01720415-2D5F-392D-1F64-7C5B2BC2407D}"/>
              </a:ext>
            </a:extLst>
          </p:cNvPr>
          <p:cNvSpPr txBox="1"/>
          <p:nvPr/>
        </p:nvSpPr>
        <p:spPr>
          <a:xfrm>
            <a:off x="5015724" y="3220770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5</a:t>
            </a:r>
            <a:endParaRPr lang="en-US" sz="1000" b="0" i="0" u="none" strike="noStrike" dirty="0">
              <a:solidFill>
                <a:srgbClr val="FFFFFF"/>
              </a:solidFill>
              <a:latin typeface="NanumSquare" panose="020B0600000101010101" pitchFamily="50" charset="-127"/>
              <a:ea typeface="NanumSquare" panose="020B0600000101010101" pitchFamily="50" charset="-127"/>
              <a:cs typeface="Pretendard Regular"/>
            </a:endParaRPr>
          </a:p>
        </p:txBody>
      </p:sp>
      <p:pic>
        <p:nvPicPr>
          <p:cNvPr id="204" name="Picture 9">
            <a:extLst>
              <a:ext uri="{FF2B5EF4-FFF2-40B4-BE49-F238E27FC236}">
                <a16:creationId xmlns:a16="http://schemas.microsoft.com/office/drawing/2014/main" id="{06B70BA5-FB9B-4FBA-6C95-55B78FAB08A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067315" y="4150154"/>
            <a:ext cx="4618182" cy="11545"/>
          </a:xfrm>
          <a:prstGeom prst="rect">
            <a:avLst/>
          </a:prstGeom>
        </p:spPr>
      </p:pic>
      <p:sp>
        <p:nvSpPr>
          <p:cNvPr id="205" name="TextBox 32">
            <a:extLst>
              <a:ext uri="{FF2B5EF4-FFF2-40B4-BE49-F238E27FC236}">
                <a16:creationId xmlns:a16="http://schemas.microsoft.com/office/drawing/2014/main" id="{10A9B4C2-082B-F6AC-DBC9-C665FE3EFB83}"/>
              </a:ext>
            </a:extLst>
          </p:cNvPr>
          <p:cNvSpPr txBox="1"/>
          <p:nvPr/>
        </p:nvSpPr>
        <p:spPr>
          <a:xfrm>
            <a:off x="5251836" y="3713418"/>
            <a:ext cx="1419388" cy="176589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Sub Account</a:t>
            </a:r>
          </a:p>
        </p:txBody>
      </p:sp>
      <p:sp>
        <p:nvSpPr>
          <p:cNvPr id="206" name="TextBox 33">
            <a:extLst>
              <a:ext uri="{FF2B5EF4-FFF2-40B4-BE49-F238E27FC236}">
                <a16:creationId xmlns:a16="http://schemas.microsoft.com/office/drawing/2014/main" id="{AABCDAC5-666B-5709-6A64-669B0E95A436}"/>
              </a:ext>
            </a:extLst>
          </p:cNvPr>
          <p:cNvSpPr txBox="1"/>
          <p:nvPr/>
        </p:nvSpPr>
        <p:spPr>
          <a:xfrm>
            <a:off x="5250996" y="3874835"/>
            <a:ext cx="5308660" cy="27532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Sub Account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상품을 통해 사용자를 식별할 수 있도록 계정을 할당하고 서비스별로 권한을 분리</a:t>
            </a:r>
          </a:p>
        </p:txBody>
      </p:sp>
      <p:sp>
        <p:nvSpPr>
          <p:cNvPr id="207" name="타원 206">
            <a:extLst>
              <a:ext uri="{FF2B5EF4-FFF2-40B4-BE49-F238E27FC236}">
                <a16:creationId xmlns:a16="http://schemas.microsoft.com/office/drawing/2014/main" id="{1D6BD910-26CB-7646-67E9-5BB67E58D8FD}"/>
              </a:ext>
            </a:extLst>
          </p:cNvPr>
          <p:cNvSpPr/>
          <p:nvPr/>
        </p:nvSpPr>
        <p:spPr>
          <a:xfrm>
            <a:off x="5034470" y="3749672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08" name="TextBox 26">
            <a:extLst>
              <a:ext uri="{FF2B5EF4-FFF2-40B4-BE49-F238E27FC236}">
                <a16:creationId xmlns:a16="http://schemas.microsoft.com/office/drawing/2014/main" id="{71FD39DC-7FD9-8D36-8F3B-239A82D2FA9D}"/>
              </a:ext>
            </a:extLst>
          </p:cNvPr>
          <p:cNvSpPr txBox="1"/>
          <p:nvPr/>
        </p:nvSpPr>
        <p:spPr>
          <a:xfrm>
            <a:off x="5015724" y="3705588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6</a:t>
            </a:r>
            <a:endParaRPr lang="en-US" sz="1000" b="0" i="0" u="none" strike="noStrike" dirty="0">
              <a:solidFill>
                <a:srgbClr val="FFFFFF"/>
              </a:solidFill>
              <a:latin typeface="NanumSquare" panose="020B0600000101010101" pitchFamily="50" charset="-127"/>
              <a:ea typeface="NanumSquare" panose="020B0600000101010101" pitchFamily="50" charset="-127"/>
              <a:cs typeface="Pretendard Regular"/>
            </a:endParaRPr>
          </a:p>
        </p:txBody>
      </p:sp>
      <p:pic>
        <p:nvPicPr>
          <p:cNvPr id="209" name="Picture 9">
            <a:extLst>
              <a:ext uri="{FF2B5EF4-FFF2-40B4-BE49-F238E27FC236}">
                <a16:creationId xmlns:a16="http://schemas.microsoft.com/office/drawing/2014/main" id="{215FE4FB-DA9E-7C7C-39F3-006F4F04AA6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067315" y="4609717"/>
            <a:ext cx="4618182" cy="11545"/>
          </a:xfrm>
          <a:prstGeom prst="rect">
            <a:avLst/>
          </a:prstGeom>
        </p:spPr>
      </p:pic>
      <p:sp>
        <p:nvSpPr>
          <p:cNvPr id="210" name="TextBox 32">
            <a:extLst>
              <a:ext uri="{FF2B5EF4-FFF2-40B4-BE49-F238E27FC236}">
                <a16:creationId xmlns:a16="http://schemas.microsoft.com/office/drawing/2014/main" id="{B37A81DB-EDEC-6D50-3200-5E318EE2F587}"/>
              </a:ext>
            </a:extLst>
          </p:cNvPr>
          <p:cNvSpPr txBox="1"/>
          <p:nvPr/>
        </p:nvSpPr>
        <p:spPr>
          <a:xfrm>
            <a:off x="5251836" y="4172981"/>
            <a:ext cx="2787540" cy="205375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Resource Manager, Cloud Activity Tracer</a:t>
            </a:r>
          </a:p>
        </p:txBody>
      </p:sp>
      <p:sp>
        <p:nvSpPr>
          <p:cNvPr id="211" name="TextBox 33">
            <a:extLst>
              <a:ext uri="{FF2B5EF4-FFF2-40B4-BE49-F238E27FC236}">
                <a16:creationId xmlns:a16="http://schemas.microsoft.com/office/drawing/2014/main" id="{39CA1ADA-86C0-14D3-BBED-489CF8C8CC8C}"/>
              </a:ext>
            </a:extLst>
          </p:cNvPr>
          <p:cNvSpPr txBox="1"/>
          <p:nvPr/>
        </p:nvSpPr>
        <p:spPr>
          <a:xfrm>
            <a:off x="5250996" y="4378919"/>
            <a:ext cx="5524684" cy="18928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Console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서버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DB,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네트워크 등 리소스에 대해 생성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변경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삭제 기록을 모니터링하는 기능을 제공</a:t>
            </a:r>
          </a:p>
        </p:txBody>
      </p:sp>
      <p:sp>
        <p:nvSpPr>
          <p:cNvPr id="212" name="타원 211">
            <a:extLst>
              <a:ext uri="{FF2B5EF4-FFF2-40B4-BE49-F238E27FC236}">
                <a16:creationId xmlns:a16="http://schemas.microsoft.com/office/drawing/2014/main" id="{4BF08F92-C457-1277-D9D0-376EFCC213D7}"/>
              </a:ext>
            </a:extLst>
          </p:cNvPr>
          <p:cNvSpPr/>
          <p:nvPr/>
        </p:nvSpPr>
        <p:spPr>
          <a:xfrm>
            <a:off x="5034470" y="4209235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13" name="TextBox 26">
            <a:extLst>
              <a:ext uri="{FF2B5EF4-FFF2-40B4-BE49-F238E27FC236}">
                <a16:creationId xmlns:a16="http://schemas.microsoft.com/office/drawing/2014/main" id="{F585856B-F32F-F0C9-F39A-67F5588EDE44}"/>
              </a:ext>
            </a:extLst>
          </p:cNvPr>
          <p:cNvSpPr txBox="1"/>
          <p:nvPr/>
        </p:nvSpPr>
        <p:spPr>
          <a:xfrm>
            <a:off x="5015724" y="4165151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7</a:t>
            </a:r>
          </a:p>
        </p:txBody>
      </p:sp>
      <p:pic>
        <p:nvPicPr>
          <p:cNvPr id="214" name="Picture 9">
            <a:extLst>
              <a:ext uri="{FF2B5EF4-FFF2-40B4-BE49-F238E27FC236}">
                <a16:creationId xmlns:a16="http://schemas.microsoft.com/office/drawing/2014/main" id="{AC16CC87-2DCB-602E-948C-51DF992FF9E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067315" y="5094535"/>
            <a:ext cx="4618182" cy="11545"/>
          </a:xfrm>
          <a:prstGeom prst="rect">
            <a:avLst/>
          </a:prstGeom>
        </p:spPr>
      </p:pic>
      <p:sp>
        <p:nvSpPr>
          <p:cNvPr id="215" name="TextBox 32">
            <a:extLst>
              <a:ext uri="{FF2B5EF4-FFF2-40B4-BE49-F238E27FC236}">
                <a16:creationId xmlns:a16="http://schemas.microsoft.com/office/drawing/2014/main" id="{679DE72A-CDFC-F936-4798-85C5C5AD4F7D}"/>
              </a:ext>
            </a:extLst>
          </p:cNvPr>
          <p:cNvSpPr txBox="1"/>
          <p:nvPr/>
        </p:nvSpPr>
        <p:spPr>
          <a:xfrm>
            <a:off x="5251836" y="4657799"/>
            <a:ext cx="1491396" cy="234558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Cloud Security Watcher</a:t>
            </a:r>
          </a:p>
        </p:txBody>
      </p:sp>
      <p:sp>
        <p:nvSpPr>
          <p:cNvPr id="216" name="TextBox 33">
            <a:extLst>
              <a:ext uri="{FF2B5EF4-FFF2-40B4-BE49-F238E27FC236}">
                <a16:creationId xmlns:a16="http://schemas.microsoft.com/office/drawing/2014/main" id="{25A243D4-51D1-A3BF-57FB-3B2CE2EAC7F3}"/>
              </a:ext>
            </a:extLst>
          </p:cNvPr>
          <p:cNvSpPr txBox="1"/>
          <p:nvPr/>
        </p:nvSpPr>
        <p:spPr>
          <a:xfrm>
            <a:off x="5250996" y="4819216"/>
            <a:ext cx="6532796" cy="24902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클라우드 자산 통합 관리 기능을 제공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리소스 현황 시각화와 주요 보안 프레임워크 준수 여부 평가 및 상시 모니터링 가능</a:t>
            </a:r>
          </a:p>
        </p:txBody>
      </p:sp>
      <p:sp>
        <p:nvSpPr>
          <p:cNvPr id="217" name="타원 216">
            <a:extLst>
              <a:ext uri="{FF2B5EF4-FFF2-40B4-BE49-F238E27FC236}">
                <a16:creationId xmlns:a16="http://schemas.microsoft.com/office/drawing/2014/main" id="{96CC31DD-2C5C-3472-5C02-DB1118EB0163}"/>
              </a:ext>
            </a:extLst>
          </p:cNvPr>
          <p:cNvSpPr/>
          <p:nvPr/>
        </p:nvSpPr>
        <p:spPr>
          <a:xfrm>
            <a:off x="5034470" y="4694053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18" name="TextBox 26">
            <a:extLst>
              <a:ext uri="{FF2B5EF4-FFF2-40B4-BE49-F238E27FC236}">
                <a16:creationId xmlns:a16="http://schemas.microsoft.com/office/drawing/2014/main" id="{FD5E18CC-C3E3-1FAB-B20B-9CBF09F92F4D}"/>
              </a:ext>
            </a:extLst>
          </p:cNvPr>
          <p:cNvSpPr txBox="1"/>
          <p:nvPr/>
        </p:nvSpPr>
        <p:spPr>
          <a:xfrm>
            <a:off x="5015724" y="4649969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8</a:t>
            </a:r>
          </a:p>
        </p:txBody>
      </p:sp>
      <p:pic>
        <p:nvPicPr>
          <p:cNvPr id="219" name="Picture 9">
            <a:extLst>
              <a:ext uri="{FF2B5EF4-FFF2-40B4-BE49-F238E27FC236}">
                <a16:creationId xmlns:a16="http://schemas.microsoft.com/office/drawing/2014/main" id="{355A8580-1A14-DE4A-7E15-DB1600EFAB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088003" y="5090441"/>
            <a:ext cx="4618182" cy="11545"/>
          </a:xfrm>
          <a:prstGeom prst="rect">
            <a:avLst/>
          </a:prstGeom>
        </p:spPr>
      </p:pic>
      <p:pic>
        <p:nvPicPr>
          <p:cNvPr id="220" name="Picture 9">
            <a:extLst>
              <a:ext uri="{FF2B5EF4-FFF2-40B4-BE49-F238E27FC236}">
                <a16:creationId xmlns:a16="http://schemas.microsoft.com/office/drawing/2014/main" id="{DDCC90D7-142A-6842-BF2A-DE5EBA4B4F9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088003" y="5550004"/>
            <a:ext cx="4618182" cy="11545"/>
          </a:xfrm>
          <a:prstGeom prst="rect">
            <a:avLst/>
          </a:prstGeom>
        </p:spPr>
      </p:pic>
      <p:sp>
        <p:nvSpPr>
          <p:cNvPr id="221" name="TextBox 32">
            <a:extLst>
              <a:ext uri="{FF2B5EF4-FFF2-40B4-BE49-F238E27FC236}">
                <a16:creationId xmlns:a16="http://schemas.microsoft.com/office/drawing/2014/main" id="{D79DCBA6-4CB5-8A95-9EA2-378511639D68}"/>
              </a:ext>
            </a:extLst>
          </p:cNvPr>
          <p:cNvSpPr txBox="1"/>
          <p:nvPr/>
        </p:nvSpPr>
        <p:spPr>
          <a:xfrm>
            <a:off x="5272524" y="5113267"/>
            <a:ext cx="1614724" cy="266699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IPsec VPN, SSL VPN</a:t>
            </a:r>
          </a:p>
        </p:txBody>
      </p:sp>
      <p:sp>
        <p:nvSpPr>
          <p:cNvPr id="222" name="TextBox 33">
            <a:extLst>
              <a:ext uri="{FF2B5EF4-FFF2-40B4-BE49-F238E27FC236}">
                <a16:creationId xmlns:a16="http://schemas.microsoft.com/office/drawing/2014/main" id="{74AF32E0-3A18-085B-4716-4E0B18EE37CC}"/>
              </a:ext>
            </a:extLst>
          </p:cNvPr>
          <p:cNvSpPr txBox="1"/>
          <p:nvPr/>
        </p:nvSpPr>
        <p:spPr>
          <a:xfrm>
            <a:off x="5271684" y="5319206"/>
            <a:ext cx="4783916" cy="208918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NCP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 저장 또는 전송 중인 데이터를 보호하기 위해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Ipsec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VPN, SSL VPN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을 제공</a:t>
            </a:r>
          </a:p>
        </p:txBody>
      </p:sp>
      <p:sp>
        <p:nvSpPr>
          <p:cNvPr id="223" name="타원 222">
            <a:extLst>
              <a:ext uri="{FF2B5EF4-FFF2-40B4-BE49-F238E27FC236}">
                <a16:creationId xmlns:a16="http://schemas.microsoft.com/office/drawing/2014/main" id="{EAD00D90-2806-8937-E576-A566F5478AFF}"/>
              </a:ext>
            </a:extLst>
          </p:cNvPr>
          <p:cNvSpPr/>
          <p:nvPr/>
        </p:nvSpPr>
        <p:spPr>
          <a:xfrm>
            <a:off x="5055158" y="5149522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24" name="TextBox 26">
            <a:extLst>
              <a:ext uri="{FF2B5EF4-FFF2-40B4-BE49-F238E27FC236}">
                <a16:creationId xmlns:a16="http://schemas.microsoft.com/office/drawing/2014/main" id="{B1AD8E3A-B73E-7CFC-A6F4-F86910A0B8B0}"/>
              </a:ext>
            </a:extLst>
          </p:cNvPr>
          <p:cNvSpPr txBox="1"/>
          <p:nvPr/>
        </p:nvSpPr>
        <p:spPr>
          <a:xfrm>
            <a:off x="5036412" y="5105438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9</a:t>
            </a:r>
            <a:endParaRPr lang="en-US" sz="1000" b="0" i="0" u="none" strike="noStrike" dirty="0">
              <a:solidFill>
                <a:srgbClr val="FFFFFF"/>
              </a:solidFill>
              <a:latin typeface="NanumSquare" panose="020B0600000101010101" pitchFamily="50" charset="-127"/>
              <a:ea typeface="NanumSquare" panose="020B0600000101010101" pitchFamily="50" charset="-127"/>
              <a:cs typeface="Pretendard Regular"/>
            </a:endParaRPr>
          </a:p>
        </p:txBody>
      </p:sp>
      <p:pic>
        <p:nvPicPr>
          <p:cNvPr id="225" name="Picture 9">
            <a:extLst>
              <a:ext uri="{FF2B5EF4-FFF2-40B4-BE49-F238E27FC236}">
                <a16:creationId xmlns:a16="http://schemas.microsoft.com/office/drawing/2014/main" id="{3D7CA6F9-381A-AFB7-E293-33CF6A9EA34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103804" y="6130582"/>
            <a:ext cx="4618182" cy="11545"/>
          </a:xfrm>
          <a:prstGeom prst="rect">
            <a:avLst/>
          </a:prstGeom>
        </p:spPr>
      </p:pic>
      <p:sp>
        <p:nvSpPr>
          <p:cNvPr id="226" name="TextBox 32">
            <a:extLst>
              <a:ext uri="{FF2B5EF4-FFF2-40B4-BE49-F238E27FC236}">
                <a16:creationId xmlns:a16="http://schemas.microsoft.com/office/drawing/2014/main" id="{C1831DD8-9C97-DA20-BFD5-EFD9F4E40EAE}"/>
              </a:ext>
            </a:extLst>
          </p:cNvPr>
          <p:cNvSpPr txBox="1"/>
          <p:nvPr/>
        </p:nvSpPr>
        <p:spPr>
          <a:xfrm>
            <a:off x="5272524" y="5598086"/>
            <a:ext cx="750628" cy="190972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KMS, HSM</a:t>
            </a:r>
          </a:p>
        </p:txBody>
      </p:sp>
      <p:sp>
        <p:nvSpPr>
          <p:cNvPr id="227" name="TextBox 33">
            <a:extLst>
              <a:ext uri="{FF2B5EF4-FFF2-40B4-BE49-F238E27FC236}">
                <a16:creationId xmlns:a16="http://schemas.microsoft.com/office/drawing/2014/main" id="{4A94DB82-2466-E740-7E49-911B8FB4F276}"/>
              </a:ext>
            </a:extLst>
          </p:cNvPr>
          <p:cNvSpPr txBox="1"/>
          <p:nvPr/>
        </p:nvSpPr>
        <p:spPr>
          <a:xfrm>
            <a:off x="5271684" y="5759502"/>
            <a:ext cx="6656124" cy="28778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Key Management Service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는 암호 기능 운용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구현을 위해 반드시 필요한 요소인 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암호 키 관리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"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기능을 제공하는 서비스</a:t>
            </a:r>
            <a:b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</a:b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Hardware Security Module 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암호화 키를 안전하게 보호하기 위한 물리 보안 장치 서비스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표준 및 규정 준수 요건을 충족</a:t>
            </a:r>
            <a:r>
              <a:rPr lang="en-US" altLang="ko-KR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8" name="타원 227">
            <a:extLst>
              <a:ext uri="{FF2B5EF4-FFF2-40B4-BE49-F238E27FC236}">
                <a16:creationId xmlns:a16="http://schemas.microsoft.com/office/drawing/2014/main" id="{E9412A26-80EE-2558-A9C0-FBF52721FB89}"/>
              </a:ext>
            </a:extLst>
          </p:cNvPr>
          <p:cNvSpPr/>
          <p:nvPr/>
        </p:nvSpPr>
        <p:spPr>
          <a:xfrm>
            <a:off x="5055158" y="5634340"/>
            <a:ext cx="17853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29" name="TextBox 26">
            <a:extLst>
              <a:ext uri="{FF2B5EF4-FFF2-40B4-BE49-F238E27FC236}">
                <a16:creationId xmlns:a16="http://schemas.microsoft.com/office/drawing/2014/main" id="{73F12E2E-B2DD-72F9-A1C6-6F9A8C6862BF}"/>
              </a:ext>
            </a:extLst>
          </p:cNvPr>
          <p:cNvSpPr txBox="1"/>
          <p:nvPr/>
        </p:nvSpPr>
        <p:spPr>
          <a:xfrm>
            <a:off x="5036412" y="5590256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rPr>
              <a:t>10</a:t>
            </a:r>
          </a:p>
        </p:txBody>
      </p: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FA4562D1-B619-E30B-66C0-8E584BB4B231}"/>
              </a:ext>
            </a:extLst>
          </p:cNvPr>
          <p:cNvSpPr/>
          <p:nvPr/>
        </p:nvSpPr>
        <p:spPr>
          <a:xfrm>
            <a:off x="479377" y="6155410"/>
            <a:ext cx="11376073" cy="300291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43DEE8B8-C076-4222-A205-78F43888DD49}"/>
              </a:ext>
            </a:extLst>
          </p:cNvPr>
          <p:cNvSpPr txBox="1"/>
          <p:nvPr/>
        </p:nvSpPr>
        <p:spPr>
          <a:xfrm>
            <a:off x="475425" y="6134922"/>
            <a:ext cx="7060735" cy="3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0" indent="0">
              <a:buNone/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※ </a:t>
            </a:r>
            <a:r>
              <a:rPr lang="ko-KR" altLang="en-US" sz="1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마켓플레이스</a:t>
            </a:r>
            <a:r>
              <a:rPr lang="en-US" altLang="ko-KR" sz="1000" dirty="0"/>
              <a:t>: </a:t>
            </a:r>
            <a:r>
              <a:rPr lang="ko-KR" altLang="en-US" sz="1000" dirty="0"/>
              <a:t>네이버 클라우드 플랫폼의 </a:t>
            </a:r>
            <a:r>
              <a:rPr lang="ko-KR" altLang="en-US" sz="1000" dirty="0" err="1"/>
              <a:t>마켓플레이스에서</a:t>
            </a:r>
            <a:r>
              <a:rPr lang="ko-KR" altLang="en-US" sz="1000" dirty="0"/>
              <a:t> 제공하는 보안</a:t>
            </a:r>
            <a:r>
              <a:rPr lang="en-US" altLang="ko-KR" sz="1000" dirty="0"/>
              <a:t>/</a:t>
            </a:r>
            <a:r>
              <a:rPr lang="ko-KR" altLang="en-US" sz="1000" dirty="0"/>
              <a:t>솔루션을 </a:t>
            </a:r>
            <a:r>
              <a:rPr lang="en-US" altLang="ko-KR" sz="1000" dirty="0"/>
              <a:t>VM </a:t>
            </a:r>
            <a:r>
              <a:rPr lang="ko-KR" altLang="en-US" sz="1000" dirty="0"/>
              <a:t>형태로 바로 설치해서 쓰는 서비스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17230723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4.2 NCP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 보안 아키텍처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VPC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네트워크 구성</a:t>
            </a:r>
          </a:p>
        </p:txBody>
      </p:sp>
      <p:sp>
        <p:nvSpPr>
          <p:cNvPr id="3" name="cb100">
            <a:extLst>
              <a:ext uri="{FF2B5EF4-FFF2-40B4-BE49-F238E27FC236}">
                <a16:creationId xmlns:a16="http://schemas.microsoft.com/office/drawing/2014/main" id="{0BE5336D-1DA0-A69A-DAE6-5BED04ECAD55}"/>
              </a:ext>
            </a:extLst>
          </p:cNvPr>
          <p:cNvSpPr/>
          <p:nvPr/>
        </p:nvSpPr>
        <p:spPr>
          <a:xfrm>
            <a:off x="424786" y="1017899"/>
            <a:ext cx="4447078" cy="5693317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pic>
        <p:nvPicPr>
          <p:cNvPr id="139" name="그림 138" descr="로고이(가) 표시된 사진&#10;&#10;자동 생성된 설명">
            <a:extLst>
              <a:ext uri="{FF2B5EF4-FFF2-40B4-BE49-F238E27FC236}">
                <a16:creationId xmlns:a16="http://schemas.microsoft.com/office/drawing/2014/main" id="{E84989CB-2116-61F6-D295-484AB9A9AA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640" y="1030135"/>
            <a:ext cx="603371" cy="452529"/>
          </a:xfrm>
          <a:prstGeom prst="rect">
            <a:avLst/>
          </a:prstGeom>
        </p:spPr>
      </p:pic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25C4B658-ADF7-B400-F691-5743D8F25970}"/>
              </a:ext>
            </a:extLst>
          </p:cNvPr>
          <p:cNvGrpSpPr/>
          <p:nvPr/>
        </p:nvGrpSpPr>
        <p:grpSpPr>
          <a:xfrm>
            <a:off x="1137214" y="1559705"/>
            <a:ext cx="3022222" cy="1035256"/>
            <a:chOff x="1057554" y="1720912"/>
            <a:chExt cx="3022222" cy="1035256"/>
          </a:xfrm>
        </p:grpSpPr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9F6A0036-6653-EEB7-CEC3-CCB708211353}"/>
                </a:ext>
              </a:extLst>
            </p:cNvPr>
            <p:cNvSpPr/>
            <p:nvPr/>
          </p:nvSpPr>
          <p:spPr>
            <a:xfrm>
              <a:off x="1057554" y="1720912"/>
              <a:ext cx="3022222" cy="10352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2ADEA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B88526D-9FAC-61A9-89C0-268685DA3263}"/>
                </a:ext>
              </a:extLst>
            </p:cNvPr>
            <p:cNvSpPr/>
            <p:nvPr/>
          </p:nvSpPr>
          <p:spPr>
            <a:xfrm>
              <a:off x="1159369" y="2038073"/>
              <a:ext cx="605118" cy="605118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DE9B13A-6CD6-75EA-8F06-4073E8BC8BE9}"/>
                </a:ext>
              </a:extLst>
            </p:cNvPr>
            <p:cNvSpPr/>
            <p:nvPr/>
          </p:nvSpPr>
          <p:spPr>
            <a:xfrm>
              <a:off x="1955434" y="2038679"/>
              <a:ext cx="2017059" cy="6051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69C3036-A60F-CB98-5279-0F4DEEB29ED4}"/>
                </a:ext>
              </a:extLst>
            </p:cNvPr>
            <p:cNvSpPr txBox="1"/>
            <p:nvPr/>
          </p:nvSpPr>
          <p:spPr>
            <a:xfrm>
              <a:off x="1989113" y="2410467"/>
              <a:ext cx="63562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</a:t>
              </a:r>
              <a:r>
                <a:rPr kumimoji="1" lang="en-US" altLang="ko-KR" sz="800" b="1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ti</a:t>
              </a:r>
              <a:r>
                <a:rPr kumimoji="1"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-DDoS</a:t>
              </a:r>
              <a:endParaRPr kumimoji="1"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587C2A1-C823-D1BE-E6A1-9447710C6096}"/>
                </a:ext>
              </a:extLst>
            </p:cNvPr>
            <p:cNvSpPr txBox="1"/>
            <p:nvPr/>
          </p:nvSpPr>
          <p:spPr>
            <a:xfrm>
              <a:off x="2487947" y="2410467"/>
              <a:ext cx="5682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IDS</a:t>
              </a:r>
              <a:endParaRPr kumimoji="1"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703AFBD-8D69-5170-2B4D-9FF378CD51F7}"/>
                </a:ext>
              </a:extLst>
            </p:cNvPr>
            <p:cNvSpPr txBox="1"/>
            <p:nvPr/>
          </p:nvSpPr>
          <p:spPr>
            <a:xfrm>
              <a:off x="2939175" y="2410467"/>
              <a:ext cx="5682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IPS</a:t>
              </a:r>
              <a:endParaRPr kumimoji="1"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1698924-C7E2-2EF2-63B2-301872D1FFC9}"/>
                </a:ext>
              </a:extLst>
            </p:cNvPr>
            <p:cNvSpPr txBox="1"/>
            <p:nvPr/>
          </p:nvSpPr>
          <p:spPr>
            <a:xfrm>
              <a:off x="3390166" y="2410467"/>
              <a:ext cx="56826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WAF</a:t>
              </a:r>
              <a:endParaRPr kumimoji="1" lang="ko-KR" alt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863FA5-376B-505A-A403-18678609853B}"/>
                </a:ext>
              </a:extLst>
            </p:cNvPr>
            <p:cNvSpPr txBox="1"/>
            <p:nvPr/>
          </p:nvSpPr>
          <p:spPr>
            <a:xfrm>
              <a:off x="1077039" y="1754298"/>
              <a:ext cx="15395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rPr>
                <a:t>Security Monitoring</a:t>
              </a:r>
              <a:endParaRPr kumimoji="1"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endParaRPr>
            </a:p>
          </p:txBody>
        </p:sp>
        <p:cxnSp>
          <p:nvCxnSpPr>
            <p:cNvPr id="24" name="직선 연결선[R] 75">
              <a:extLst>
                <a:ext uri="{FF2B5EF4-FFF2-40B4-BE49-F238E27FC236}">
                  <a16:creationId xmlns:a16="http://schemas.microsoft.com/office/drawing/2014/main" id="{B693776A-0115-44FD-C082-EC68A18C71EB}"/>
                </a:ext>
              </a:extLst>
            </p:cNvPr>
            <p:cNvCxnSpPr>
              <a:stCxn id="17" idx="3"/>
              <a:endCxn id="18" idx="1"/>
            </p:cNvCxnSpPr>
            <p:nvPr/>
          </p:nvCxnSpPr>
          <p:spPr>
            <a:xfrm>
              <a:off x="1764487" y="2340632"/>
              <a:ext cx="190947" cy="6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41016459-C534-C508-08E4-7AD43E288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53328" y="2139184"/>
              <a:ext cx="244386" cy="303831"/>
            </a:xfrm>
            <a:prstGeom prst="rect">
              <a:avLst/>
            </a:prstGeom>
          </p:spPr>
        </p:pic>
        <p:pic>
          <p:nvPicPr>
            <p:cNvPr id="26" name="그림 25" descr="텍스트, 표지판, 야외, 회전이(가) 표시된 사진&#10;&#10;자동 생성된 설명">
              <a:extLst>
                <a:ext uri="{FF2B5EF4-FFF2-40B4-BE49-F238E27FC236}">
                  <a16:creationId xmlns:a16="http://schemas.microsoft.com/office/drawing/2014/main" id="{9388D367-AF7C-20A3-1017-4343AE32AB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3476" y="2216185"/>
              <a:ext cx="288000" cy="288000"/>
            </a:xfrm>
            <a:prstGeom prst="rect">
              <a:avLst/>
            </a:prstGeom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5C4D66A-6099-D75B-9BCB-C9F5FA1EE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2503" y="2131348"/>
              <a:ext cx="288000" cy="288000"/>
            </a:xfrm>
            <a:prstGeom prst="rect">
              <a:avLst/>
            </a:prstGeom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E57CDCB2-6B5F-83FF-385E-E1950F3CCC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8504" y="2159282"/>
              <a:ext cx="290160" cy="234000"/>
            </a:xfrm>
            <a:prstGeom prst="rect">
              <a:avLst/>
            </a:prstGeom>
          </p:spPr>
        </p:pic>
        <p:pic>
          <p:nvPicPr>
            <p:cNvPr id="29" name="그림 28" descr="텍스트, 표지판, 다크, 클립아트이(가) 표시된 사진&#10;&#10;자동 생성된 설명">
              <a:extLst>
                <a:ext uri="{FF2B5EF4-FFF2-40B4-BE49-F238E27FC236}">
                  <a16:creationId xmlns:a16="http://schemas.microsoft.com/office/drawing/2014/main" id="{CAD4FEDE-40D4-29B5-A411-B584DFC44C6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0551" y="2167910"/>
              <a:ext cx="311564" cy="201600"/>
            </a:xfrm>
            <a:prstGeom prst="rect">
              <a:avLst/>
            </a:prstGeom>
          </p:spPr>
        </p:pic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2A034E01-448C-1DF0-06A6-93E907FBC430}"/>
              </a:ext>
            </a:extLst>
          </p:cNvPr>
          <p:cNvGrpSpPr/>
          <p:nvPr/>
        </p:nvGrpSpPr>
        <p:grpSpPr>
          <a:xfrm>
            <a:off x="1137214" y="4684772"/>
            <a:ext cx="3022222" cy="1035256"/>
            <a:chOff x="1203183" y="5174259"/>
            <a:chExt cx="3022222" cy="1035256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DF3FEBD-B2EF-8737-0B97-433314171417}"/>
                </a:ext>
              </a:extLst>
            </p:cNvPr>
            <p:cNvSpPr/>
            <p:nvPr/>
          </p:nvSpPr>
          <p:spPr>
            <a:xfrm>
              <a:off x="1203183" y="5174259"/>
              <a:ext cx="3022222" cy="10352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B9B9B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EEF86E76-DE3D-D88F-FA3D-941232E0C882}"/>
                </a:ext>
              </a:extLst>
            </p:cNvPr>
            <p:cNvGrpSpPr/>
            <p:nvPr/>
          </p:nvGrpSpPr>
          <p:grpSpPr>
            <a:xfrm>
              <a:off x="2268937" y="5230970"/>
              <a:ext cx="1902760" cy="956880"/>
              <a:chOff x="1865908" y="5280415"/>
              <a:chExt cx="1902760" cy="956880"/>
            </a:xfrm>
          </p:grpSpPr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E79A5B1-34E3-2542-B36B-39D371A3BF41}"/>
                  </a:ext>
                </a:extLst>
              </p:cNvPr>
              <p:cNvSpPr txBox="1"/>
              <p:nvPr/>
            </p:nvSpPr>
            <p:spPr>
              <a:xfrm>
                <a:off x="2380133" y="6006463"/>
                <a:ext cx="874311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DB Servers</a:t>
                </a:r>
                <a:endParaRPr kumimoji="1"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449A882E-9C40-7CFA-0B17-13FF27FD532F}"/>
                  </a:ext>
                </a:extLst>
              </p:cNvPr>
              <p:cNvSpPr/>
              <p:nvPr/>
            </p:nvSpPr>
            <p:spPr>
              <a:xfrm>
                <a:off x="1865908" y="5280415"/>
                <a:ext cx="1902760" cy="929100"/>
              </a:xfrm>
              <a:prstGeom prst="rect">
                <a:avLst/>
              </a:prstGeom>
              <a:noFill/>
              <a:ln w="9525">
                <a:solidFill>
                  <a:srgbClr val="B9B9B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29" name="직사각형 128">
                <a:extLst>
                  <a:ext uri="{FF2B5EF4-FFF2-40B4-BE49-F238E27FC236}">
                    <a16:creationId xmlns:a16="http://schemas.microsoft.com/office/drawing/2014/main" id="{C641C128-BDC9-6B92-0766-C4D7DA4673EA}"/>
                  </a:ext>
                </a:extLst>
              </p:cNvPr>
              <p:cNvSpPr/>
              <p:nvPr/>
            </p:nvSpPr>
            <p:spPr>
              <a:xfrm>
                <a:off x="1957679" y="5359312"/>
                <a:ext cx="584616" cy="619371"/>
              </a:xfrm>
              <a:prstGeom prst="rect">
                <a:avLst/>
              </a:prstGeom>
              <a:solidFill>
                <a:srgbClr val="EBF3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BCEF5AB2-2ACC-214F-5D57-14E364BEC459}"/>
                  </a:ext>
                </a:extLst>
              </p:cNvPr>
              <p:cNvSpPr/>
              <p:nvPr/>
            </p:nvSpPr>
            <p:spPr>
              <a:xfrm>
                <a:off x="2624741" y="5359312"/>
                <a:ext cx="1061096" cy="619371"/>
              </a:xfrm>
              <a:prstGeom prst="rect">
                <a:avLst/>
              </a:prstGeom>
              <a:solidFill>
                <a:srgbClr val="EBF3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8792A3D4-D7B4-89E8-8339-CAFD06D3C978}"/>
                  </a:ext>
                </a:extLst>
              </p:cNvPr>
              <p:cNvSpPr txBox="1"/>
              <p:nvPr/>
            </p:nvSpPr>
            <p:spPr>
              <a:xfrm>
                <a:off x="1895745" y="5814794"/>
                <a:ext cx="70848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Master</a:t>
                </a:r>
                <a:endParaRPr kumimoji="1"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E8F87121-0DC3-F0CF-1623-724250100C2F}"/>
                  </a:ext>
                </a:extLst>
              </p:cNvPr>
              <p:cNvSpPr txBox="1"/>
              <p:nvPr/>
            </p:nvSpPr>
            <p:spPr>
              <a:xfrm>
                <a:off x="2798659" y="5814794"/>
                <a:ext cx="708483" cy="2000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7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Slaves</a:t>
                </a:r>
                <a:endParaRPr kumimoji="1" lang="ko-KR" altLang="en-US" sz="7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endParaRPr>
              </a:p>
            </p:txBody>
          </p:sp>
          <p:pic>
            <p:nvPicPr>
              <p:cNvPr id="133" name="그림 132">
                <a:extLst>
                  <a:ext uri="{FF2B5EF4-FFF2-40B4-BE49-F238E27FC236}">
                    <a16:creationId xmlns:a16="http://schemas.microsoft.com/office/drawing/2014/main" id="{232BE166-759A-B405-CB47-39D5BE7F24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08272" y="5443764"/>
                <a:ext cx="280800" cy="280800"/>
              </a:xfrm>
              <a:prstGeom prst="rect">
                <a:avLst/>
              </a:prstGeom>
            </p:spPr>
          </p:pic>
          <p:pic>
            <p:nvPicPr>
              <p:cNvPr id="134" name="그림 133">
                <a:extLst>
                  <a:ext uri="{FF2B5EF4-FFF2-40B4-BE49-F238E27FC236}">
                    <a16:creationId xmlns:a16="http://schemas.microsoft.com/office/drawing/2014/main" id="{7CA7A1AF-9D93-DD85-238E-B63854AAC0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1302" y="5443764"/>
                <a:ext cx="280800" cy="280800"/>
              </a:xfrm>
              <a:prstGeom prst="rect">
                <a:avLst/>
              </a:prstGeom>
            </p:spPr>
          </p:pic>
          <p:pic>
            <p:nvPicPr>
              <p:cNvPr id="135" name="그림 134">
                <a:extLst>
                  <a:ext uri="{FF2B5EF4-FFF2-40B4-BE49-F238E27FC236}">
                    <a16:creationId xmlns:a16="http://schemas.microsoft.com/office/drawing/2014/main" id="{C6747B6A-AEFE-D4D0-4270-6E785A30BB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8671" y="5443764"/>
                <a:ext cx="280800" cy="280800"/>
              </a:xfrm>
              <a:prstGeom prst="rect">
                <a:avLst/>
              </a:prstGeom>
            </p:spPr>
          </p:pic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719EAFBF-9423-7E44-5312-1A062BAF8F12}"/>
                </a:ext>
              </a:extLst>
            </p:cNvPr>
            <p:cNvSpPr txBox="1"/>
            <p:nvPr/>
          </p:nvSpPr>
          <p:spPr>
            <a:xfrm>
              <a:off x="1222668" y="5190493"/>
              <a:ext cx="984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rPr>
                <a:t>Private Subnet </a:t>
              </a:r>
              <a:br>
                <a:rPr kumimoji="1"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rPr>
              </a:br>
              <a:r>
                <a:rPr kumimoji="1"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rPr>
                <a:t>– DB</a:t>
              </a:r>
              <a:endParaRPr kumimoji="1"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endParaRPr>
            </a:p>
          </p:txBody>
        </p:sp>
      </p:grpSp>
      <p:grpSp>
        <p:nvGrpSpPr>
          <p:cNvPr id="286" name="그룹 285">
            <a:extLst>
              <a:ext uri="{FF2B5EF4-FFF2-40B4-BE49-F238E27FC236}">
                <a16:creationId xmlns:a16="http://schemas.microsoft.com/office/drawing/2014/main" id="{BCABD129-E65C-695F-8A3A-C33FB0ECF253}"/>
              </a:ext>
            </a:extLst>
          </p:cNvPr>
          <p:cNvGrpSpPr/>
          <p:nvPr/>
        </p:nvGrpSpPr>
        <p:grpSpPr>
          <a:xfrm>
            <a:off x="1137218" y="5819552"/>
            <a:ext cx="3022215" cy="845619"/>
            <a:chOff x="1137214" y="5860648"/>
            <a:chExt cx="3022215" cy="845619"/>
          </a:xfrm>
        </p:grpSpPr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6A58F5E7-645B-D539-CE13-7262A7B4DF16}"/>
                </a:ext>
              </a:extLst>
            </p:cNvPr>
            <p:cNvSpPr/>
            <p:nvPr/>
          </p:nvSpPr>
          <p:spPr>
            <a:xfrm>
              <a:off x="1137214" y="5860648"/>
              <a:ext cx="3022215" cy="84561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B9B9B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02E8A1-242B-92DC-9CA8-3846419AC764}"/>
                </a:ext>
              </a:extLst>
            </p:cNvPr>
            <p:cNvSpPr txBox="1"/>
            <p:nvPr/>
          </p:nvSpPr>
          <p:spPr>
            <a:xfrm>
              <a:off x="1137214" y="5867011"/>
              <a:ext cx="18975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rPr>
                <a:t>Subnet - SEC</a:t>
              </a:r>
              <a:endParaRPr kumimoji="1"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endParaRPr>
            </a:p>
          </p:txBody>
        </p: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735BC416-3A86-5DDD-1DDC-22FAEFC61094}"/>
                </a:ext>
              </a:extLst>
            </p:cNvPr>
            <p:cNvGrpSpPr/>
            <p:nvPr/>
          </p:nvGrpSpPr>
          <p:grpSpPr>
            <a:xfrm>
              <a:off x="2053355" y="6041162"/>
              <a:ext cx="487890" cy="501966"/>
              <a:chOff x="6015922" y="2511973"/>
              <a:chExt cx="487890" cy="501966"/>
            </a:xfrm>
          </p:grpSpPr>
          <p:sp>
            <p:nvSpPr>
              <p:cNvPr id="172" name="TextBox 171">
                <a:extLst>
                  <a:ext uri="{FF2B5EF4-FFF2-40B4-BE49-F238E27FC236}">
                    <a16:creationId xmlns:a16="http://schemas.microsoft.com/office/drawing/2014/main" id="{73831477-9CE9-C001-A47D-B3478E5D1A94}"/>
                  </a:ext>
                </a:extLst>
              </p:cNvPr>
              <p:cNvSpPr txBox="1"/>
              <p:nvPr/>
            </p:nvSpPr>
            <p:spPr>
              <a:xfrm>
                <a:off x="6015922" y="2783107"/>
                <a:ext cx="48789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ACG</a:t>
                </a:r>
                <a:endParaRPr kumimoji="1"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endParaRPr>
              </a:p>
            </p:txBody>
          </p:sp>
          <p:pic>
            <p:nvPicPr>
              <p:cNvPr id="136" name="그림 135" descr="텍스트, 표지판, 거리, 쇠살대이(가) 표시된 사진&#10;&#10;자동 생성된 설명">
                <a:extLst>
                  <a:ext uri="{FF2B5EF4-FFF2-40B4-BE49-F238E27FC236}">
                    <a16:creationId xmlns:a16="http://schemas.microsoft.com/office/drawing/2014/main" id="{F19208E1-EDB2-90EF-914F-F4E1AFF35F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15867" y="2511973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F88B5CC7-49FE-F1D1-D907-9B7E3180EFFD}"/>
                </a:ext>
              </a:extLst>
            </p:cNvPr>
            <p:cNvGrpSpPr/>
            <p:nvPr/>
          </p:nvGrpSpPr>
          <p:grpSpPr>
            <a:xfrm>
              <a:off x="2721734" y="6016611"/>
              <a:ext cx="487891" cy="533693"/>
              <a:chOff x="6678713" y="2504158"/>
              <a:chExt cx="487891" cy="533693"/>
            </a:xfrm>
          </p:grpSpPr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1635D799-8F97-0FAD-18FD-47E6A0C264A6}"/>
                  </a:ext>
                </a:extLst>
              </p:cNvPr>
              <p:cNvSpPr txBox="1"/>
              <p:nvPr/>
            </p:nvSpPr>
            <p:spPr>
              <a:xfrm>
                <a:off x="6678713" y="2817278"/>
                <a:ext cx="487891" cy="220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000"/>
                  </a:lnSpc>
                </a:pPr>
                <a: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ACL</a:t>
                </a:r>
                <a:endParaRPr kumimoji="1"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endParaRPr>
              </a:p>
            </p:txBody>
          </p:sp>
          <p:pic>
            <p:nvPicPr>
              <p:cNvPr id="137" name="그림 136">
                <a:extLst>
                  <a:ext uri="{FF2B5EF4-FFF2-40B4-BE49-F238E27FC236}">
                    <a16:creationId xmlns:a16="http://schemas.microsoft.com/office/drawing/2014/main" id="{9085B6D0-AFE2-AA48-26BB-829F74C024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78658" y="2504158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82BDA21C-B8AF-03A3-98DD-D14BEEC5313F}"/>
                </a:ext>
              </a:extLst>
            </p:cNvPr>
            <p:cNvGrpSpPr/>
            <p:nvPr/>
          </p:nvGrpSpPr>
          <p:grpSpPr>
            <a:xfrm>
              <a:off x="3415167" y="5957213"/>
              <a:ext cx="569511" cy="652487"/>
              <a:chOff x="7208818" y="2530996"/>
              <a:chExt cx="569511" cy="652487"/>
            </a:xfrm>
          </p:grpSpPr>
          <p:pic>
            <p:nvPicPr>
              <p:cNvPr id="138" name="그림 137">
                <a:extLst>
                  <a:ext uri="{FF2B5EF4-FFF2-40B4-BE49-F238E27FC236}">
                    <a16:creationId xmlns:a16="http://schemas.microsoft.com/office/drawing/2014/main" id="{DA47E8AE-D2D8-13CC-F154-E84F4280C8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49573" y="2530996"/>
                <a:ext cx="288000" cy="288000"/>
              </a:xfrm>
              <a:prstGeom prst="rect">
                <a:avLst/>
              </a:prstGeom>
            </p:spPr>
          </p:pic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EE03E9AD-C565-CCC4-AA68-E2933DCCEFBF}"/>
                  </a:ext>
                </a:extLst>
              </p:cNvPr>
              <p:cNvSpPr txBox="1"/>
              <p:nvPr/>
            </p:nvSpPr>
            <p:spPr>
              <a:xfrm>
                <a:off x="7208818" y="2834670"/>
                <a:ext cx="569511" cy="348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000"/>
                  </a:lnSpc>
                </a:pPr>
                <a: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Secure </a:t>
                </a:r>
                <a:b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</a:br>
                <a: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Zone</a:t>
                </a:r>
                <a:endParaRPr kumimoji="1"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7F9498FD-1024-0B98-FB4C-2AD471FDBF03}"/>
              </a:ext>
            </a:extLst>
          </p:cNvPr>
          <p:cNvCxnSpPr>
            <a:cxnSpLocks/>
          </p:cNvCxnSpPr>
          <p:nvPr/>
        </p:nvCxnSpPr>
        <p:spPr>
          <a:xfrm>
            <a:off x="2648325" y="1443782"/>
            <a:ext cx="0" cy="1159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8" name="그룹 287">
            <a:extLst>
              <a:ext uri="{FF2B5EF4-FFF2-40B4-BE49-F238E27FC236}">
                <a16:creationId xmlns:a16="http://schemas.microsoft.com/office/drawing/2014/main" id="{7ED1B8D7-D232-C983-0381-C00D37D5FAE7}"/>
              </a:ext>
            </a:extLst>
          </p:cNvPr>
          <p:cNvGrpSpPr/>
          <p:nvPr/>
        </p:nvGrpSpPr>
        <p:grpSpPr>
          <a:xfrm>
            <a:off x="1137216" y="2594961"/>
            <a:ext cx="3022219" cy="985648"/>
            <a:chOff x="1137214" y="2594961"/>
            <a:chExt cx="3022219" cy="985648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7EAAC9C5-8B63-B940-8179-954C5FE243AE}"/>
                </a:ext>
              </a:extLst>
            </p:cNvPr>
            <p:cNvSpPr/>
            <p:nvPr/>
          </p:nvSpPr>
          <p:spPr>
            <a:xfrm>
              <a:off x="1137214" y="2734990"/>
              <a:ext cx="3022219" cy="84561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B9B9B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4A9C1337-5159-395F-0E4A-46AED7112466}"/>
                </a:ext>
              </a:extLst>
            </p:cNvPr>
            <p:cNvGrpSpPr/>
            <p:nvPr/>
          </p:nvGrpSpPr>
          <p:grpSpPr>
            <a:xfrm>
              <a:off x="3251696" y="2845982"/>
              <a:ext cx="670811" cy="690185"/>
              <a:chOff x="2720654" y="2995817"/>
              <a:chExt cx="670811" cy="690185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701463-5401-B208-3F26-C7F83F13181B}"/>
                  </a:ext>
                </a:extLst>
              </p:cNvPr>
              <p:cNvSpPr txBox="1"/>
              <p:nvPr/>
            </p:nvSpPr>
            <p:spPr>
              <a:xfrm>
                <a:off x="2720654" y="3337189"/>
                <a:ext cx="670811" cy="3488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000"/>
                  </a:lnSpc>
                </a:pPr>
                <a: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NAT</a:t>
                </a:r>
              </a:p>
              <a:p>
                <a:pPr algn="ctr">
                  <a:lnSpc>
                    <a:spcPts val="1000"/>
                  </a:lnSpc>
                </a:pPr>
                <a: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Gateway</a:t>
                </a:r>
                <a:endParaRPr kumimoji="1"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endParaRPr>
              </a:p>
            </p:txBody>
          </p:sp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BB72FEF6-A0CD-A74D-6386-00EB7D7A45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12059" y="2995817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BCF0590F-7164-8228-CA65-9E4946EB31A0}"/>
                </a:ext>
              </a:extLst>
            </p:cNvPr>
            <p:cNvGrpSpPr/>
            <p:nvPr/>
          </p:nvGrpSpPr>
          <p:grpSpPr>
            <a:xfrm>
              <a:off x="2286707" y="2846649"/>
              <a:ext cx="670810" cy="685953"/>
              <a:chOff x="2010329" y="2913237"/>
              <a:chExt cx="670810" cy="685953"/>
            </a:xfrm>
          </p:grpSpPr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438C0E-4D0C-0722-649C-BC3C8F871704}"/>
                  </a:ext>
                </a:extLst>
              </p:cNvPr>
              <p:cNvSpPr txBox="1"/>
              <p:nvPr/>
            </p:nvSpPr>
            <p:spPr>
              <a:xfrm>
                <a:off x="2010329" y="3229858"/>
                <a:ext cx="6708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Load</a:t>
                </a:r>
                <a:r>
                  <a:rPr kumimoji="1" lang="ko-KR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 </a:t>
                </a:r>
                <a:endParaRPr kumimoji="1"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endParaRPr>
              </a:p>
              <a:p>
                <a:pPr algn="ctr"/>
                <a: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Balancer</a:t>
                </a:r>
                <a:endParaRPr kumimoji="1"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endParaRPr>
              </a:p>
            </p:txBody>
          </p:sp>
          <p:pic>
            <p:nvPicPr>
              <p:cNvPr id="36" name="그림 35" descr="텍스트, 클립아트이(가) 표시된 사진&#10;&#10;자동 생성된 설명">
                <a:extLst>
                  <a:ext uri="{FF2B5EF4-FFF2-40B4-BE49-F238E27FC236}">
                    <a16:creationId xmlns:a16="http://schemas.microsoft.com/office/drawing/2014/main" id="{464F38A5-27B2-06CA-5F3C-8476EF104F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201734" y="2913237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85F5FC3-8569-5FE0-295B-6723CD7811E9}"/>
                </a:ext>
              </a:extLst>
            </p:cNvPr>
            <p:cNvSpPr txBox="1"/>
            <p:nvPr/>
          </p:nvSpPr>
          <p:spPr>
            <a:xfrm>
              <a:off x="1156699" y="2750695"/>
              <a:ext cx="1585849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rPr>
                <a:t>Public Subnet</a:t>
              </a:r>
              <a:endParaRPr kumimoji="1"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endParaRPr>
            </a:p>
          </p:txBody>
        </p:sp>
        <p:cxnSp>
          <p:nvCxnSpPr>
            <p:cNvPr id="186" name="직선 연결선 185">
              <a:extLst>
                <a:ext uri="{FF2B5EF4-FFF2-40B4-BE49-F238E27FC236}">
                  <a16:creationId xmlns:a16="http://schemas.microsoft.com/office/drawing/2014/main" id="{56BFA21F-1977-05EB-9111-E5E8FD5CEBDD}"/>
                </a:ext>
              </a:extLst>
            </p:cNvPr>
            <p:cNvCxnSpPr>
              <a:cxnSpLocks/>
              <a:stCxn id="140" idx="2"/>
              <a:endCxn id="32" idx="0"/>
            </p:cNvCxnSpPr>
            <p:nvPr/>
          </p:nvCxnSpPr>
          <p:spPr>
            <a:xfrm>
              <a:off x="2648323" y="2594961"/>
              <a:ext cx="1" cy="14002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87" name="그룹 286">
            <a:extLst>
              <a:ext uri="{FF2B5EF4-FFF2-40B4-BE49-F238E27FC236}">
                <a16:creationId xmlns:a16="http://schemas.microsoft.com/office/drawing/2014/main" id="{69E5D56A-66BB-37B0-38D4-31DC33C8F2BE}"/>
              </a:ext>
            </a:extLst>
          </p:cNvPr>
          <p:cNvGrpSpPr/>
          <p:nvPr/>
        </p:nvGrpSpPr>
        <p:grpSpPr>
          <a:xfrm>
            <a:off x="1137217" y="3539513"/>
            <a:ext cx="3022217" cy="1160828"/>
            <a:chOff x="1137214" y="3580609"/>
            <a:chExt cx="3022217" cy="1160828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30DB6AB-BDBC-6E2B-50A1-9419AD12E150}"/>
                </a:ext>
              </a:extLst>
            </p:cNvPr>
            <p:cNvSpPr/>
            <p:nvPr/>
          </p:nvSpPr>
          <p:spPr>
            <a:xfrm>
              <a:off x="1137214" y="3698233"/>
              <a:ext cx="3022217" cy="92811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2ADEA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8EDA8104-B431-A95F-5FE8-003F923D4EBB}"/>
                </a:ext>
              </a:extLst>
            </p:cNvPr>
            <p:cNvGrpSpPr/>
            <p:nvPr/>
          </p:nvGrpSpPr>
          <p:grpSpPr>
            <a:xfrm>
              <a:off x="2468458" y="3924407"/>
              <a:ext cx="1457720" cy="621480"/>
              <a:chOff x="2124355" y="4210046"/>
              <a:chExt cx="1457720" cy="621480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008D2060-6EA8-9B3A-09E0-DC3CBAA8AD55}"/>
                  </a:ext>
                </a:extLst>
              </p:cNvPr>
              <p:cNvSpPr/>
              <p:nvPr/>
            </p:nvSpPr>
            <p:spPr>
              <a:xfrm>
                <a:off x="2124355" y="4210046"/>
                <a:ext cx="1457720" cy="613324"/>
              </a:xfrm>
              <a:prstGeom prst="rect">
                <a:avLst/>
              </a:prstGeom>
              <a:noFill/>
              <a:ln w="9525">
                <a:solidFill>
                  <a:srgbClr val="B9B9B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958A342-FD6F-06FD-BF6E-83E87DABFBAD}"/>
                  </a:ext>
                </a:extLst>
              </p:cNvPr>
              <p:cNvSpPr txBox="1"/>
              <p:nvPr/>
            </p:nvSpPr>
            <p:spPr>
              <a:xfrm>
                <a:off x="2248413" y="4610953"/>
                <a:ext cx="1209604" cy="2205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ts val="1000"/>
                  </a:lnSpc>
                </a:pPr>
                <a: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Web/WAS Servers</a:t>
                </a:r>
              </a:p>
            </p:txBody>
          </p:sp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8F4FCAFD-1E06-3230-66D8-94F3DC912C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26294" y="4293096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52" name="그림 51">
                <a:extLst>
                  <a:ext uri="{FF2B5EF4-FFF2-40B4-BE49-F238E27FC236}">
                    <a16:creationId xmlns:a16="http://schemas.microsoft.com/office/drawing/2014/main" id="{C0F085F9-ED03-1E1C-4421-CCF4830D7D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04184" y="4293096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25A190FE-75E6-0C41-3A32-AD1CD93737F5}"/>
                </a:ext>
              </a:extLst>
            </p:cNvPr>
            <p:cNvSpPr txBox="1"/>
            <p:nvPr/>
          </p:nvSpPr>
          <p:spPr>
            <a:xfrm>
              <a:off x="1156699" y="3700105"/>
              <a:ext cx="179331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rPr>
                <a:t>Private Subnet – WEB/WAS</a:t>
              </a:r>
              <a:endParaRPr kumimoji="1"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endParaRPr>
            </a:p>
          </p:txBody>
        </p: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8B01371A-00CE-3BE0-D11A-E7EB7BC5F6F5}"/>
                </a:ext>
              </a:extLst>
            </p:cNvPr>
            <p:cNvCxnSpPr>
              <a:cxnSpLocks/>
            </p:cNvCxnSpPr>
            <p:nvPr/>
          </p:nvCxnSpPr>
          <p:spPr>
            <a:xfrm>
              <a:off x="2638101" y="3580609"/>
              <a:ext cx="0" cy="1159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7" name="직선 연결선 236">
              <a:extLst>
                <a:ext uri="{FF2B5EF4-FFF2-40B4-BE49-F238E27FC236}">
                  <a16:creationId xmlns:a16="http://schemas.microsoft.com/office/drawing/2014/main" id="{00545911-409B-816B-6ADF-9AB204D78AD3}"/>
                </a:ext>
              </a:extLst>
            </p:cNvPr>
            <p:cNvCxnSpPr>
              <a:cxnSpLocks/>
            </p:cNvCxnSpPr>
            <p:nvPr/>
          </p:nvCxnSpPr>
          <p:spPr>
            <a:xfrm>
              <a:off x="2621303" y="4625514"/>
              <a:ext cx="0" cy="1159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38" name="직선 연결선 237">
            <a:extLst>
              <a:ext uri="{FF2B5EF4-FFF2-40B4-BE49-F238E27FC236}">
                <a16:creationId xmlns:a16="http://schemas.microsoft.com/office/drawing/2014/main" id="{AFC33154-1963-FBD2-9863-8976018FF0E2}"/>
              </a:ext>
            </a:extLst>
          </p:cNvPr>
          <p:cNvCxnSpPr>
            <a:cxnSpLocks/>
          </p:cNvCxnSpPr>
          <p:nvPr/>
        </p:nvCxnSpPr>
        <p:spPr>
          <a:xfrm>
            <a:off x="2648325" y="5720028"/>
            <a:ext cx="0" cy="11592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9" name="cb100">
            <a:extLst>
              <a:ext uri="{FF2B5EF4-FFF2-40B4-BE49-F238E27FC236}">
                <a16:creationId xmlns:a16="http://schemas.microsoft.com/office/drawing/2014/main" id="{5E311765-6F0C-8AF1-054B-8EBA0A103AEB}"/>
              </a:ext>
            </a:extLst>
          </p:cNvPr>
          <p:cNvSpPr/>
          <p:nvPr/>
        </p:nvSpPr>
        <p:spPr>
          <a:xfrm>
            <a:off x="4999110" y="1020368"/>
            <a:ext cx="6768104" cy="2298968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pic>
        <p:nvPicPr>
          <p:cNvPr id="240" name="Picture 5">
            <a:extLst>
              <a:ext uri="{FF2B5EF4-FFF2-40B4-BE49-F238E27FC236}">
                <a16:creationId xmlns:a16="http://schemas.microsoft.com/office/drawing/2014/main" id="{7C147D6D-3FA0-539B-9257-37F54F84CC2F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20000"/>
          </a:blip>
          <a:stretch>
            <a:fillRect/>
          </a:stretch>
        </p:blipFill>
        <p:spPr>
          <a:xfrm>
            <a:off x="5144693" y="1417351"/>
            <a:ext cx="6192901" cy="15367"/>
          </a:xfrm>
          <a:prstGeom prst="rect">
            <a:avLst/>
          </a:prstGeom>
        </p:spPr>
      </p:pic>
      <p:sp>
        <p:nvSpPr>
          <p:cNvPr id="241" name="TextBox 18">
            <a:extLst>
              <a:ext uri="{FF2B5EF4-FFF2-40B4-BE49-F238E27FC236}">
                <a16:creationId xmlns:a16="http://schemas.microsoft.com/office/drawing/2014/main" id="{8A988E7E-9828-5B78-55B1-389D3EBF5D76}"/>
              </a:ext>
            </a:extLst>
          </p:cNvPr>
          <p:cNvSpPr txBox="1"/>
          <p:nvPr/>
        </p:nvSpPr>
        <p:spPr>
          <a:xfrm>
            <a:off x="5155251" y="1115219"/>
            <a:ext cx="1995083" cy="257625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2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구성</a:t>
            </a:r>
            <a:endParaRPr lang="en-US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sp>
        <p:nvSpPr>
          <p:cNvPr id="242" name="TextBox 32">
            <a:extLst>
              <a:ext uri="{FF2B5EF4-FFF2-40B4-BE49-F238E27FC236}">
                <a16:creationId xmlns:a16="http://schemas.microsoft.com/office/drawing/2014/main" id="{2CEA9555-90E4-DB9A-0750-702F4AE9D3F8}"/>
              </a:ext>
            </a:extLst>
          </p:cNvPr>
          <p:cNvSpPr txBox="1"/>
          <p:nvPr/>
        </p:nvSpPr>
        <p:spPr>
          <a:xfrm>
            <a:off x="5338191" y="1542868"/>
            <a:ext cx="970858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VPC </a:t>
            </a:r>
            <a:r>
              <a:rPr lang="ko-KR" alt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란</a:t>
            </a:r>
            <a:r>
              <a:rPr lang="en-US" altLang="ko-KR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?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43" name="TextBox 33">
            <a:extLst>
              <a:ext uri="{FF2B5EF4-FFF2-40B4-BE49-F238E27FC236}">
                <a16:creationId xmlns:a16="http://schemas.microsoft.com/office/drawing/2014/main" id="{217DFC42-6628-A367-274E-71D738B3E8B4}"/>
              </a:ext>
            </a:extLst>
          </p:cNvPr>
          <p:cNvSpPr txBox="1"/>
          <p:nvPr/>
        </p:nvSpPr>
        <p:spPr>
          <a:xfrm>
            <a:off x="5345645" y="1767856"/>
            <a:ext cx="6192900" cy="287904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Public/Private Subnet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으로 분리된 </a:t>
            </a: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NCP 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가상 네트워크 단위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이며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환경별</a:t>
            </a: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(PRD / STG / DEV) VPC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를 분리 운영하여 보안 경계 유지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1796A847-C456-AC5D-6ED8-B91C4CFCE323}"/>
              </a:ext>
            </a:extLst>
          </p:cNvPr>
          <p:cNvGrpSpPr/>
          <p:nvPr/>
        </p:nvGrpSpPr>
        <p:grpSpPr>
          <a:xfrm>
            <a:off x="5087888" y="1535038"/>
            <a:ext cx="216025" cy="266700"/>
            <a:chOff x="5169872" y="1519136"/>
            <a:chExt cx="216025" cy="266700"/>
          </a:xfrm>
        </p:grpSpPr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2F8690FC-C1C9-BA98-E2B1-C4A27F009ED7}"/>
                </a:ext>
              </a:extLst>
            </p:cNvPr>
            <p:cNvSpPr/>
            <p:nvPr/>
          </p:nvSpPr>
          <p:spPr>
            <a:xfrm>
              <a:off x="5196733" y="1563220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46" name="TextBox 26">
              <a:extLst>
                <a:ext uri="{FF2B5EF4-FFF2-40B4-BE49-F238E27FC236}">
                  <a16:creationId xmlns:a16="http://schemas.microsoft.com/office/drawing/2014/main" id="{6578FF96-031D-88F4-4059-DC1B4940EBD5}"/>
                </a:ext>
              </a:extLst>
            </p:cNvPr>
            <p:cNvSpPr txBox="1"/>
            <p:nvPr/>
          </p:nvSpPr>
          <p:spPr>
            <a:xfrm>
              <a:off x="5169872" y="1519136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47" name="그래픽 246" descr="확인 표시 단색으로 채워진">
              <a:extLst>
                <a:ext uri="{FF2B5EF4-FFF2-40B4-BE49-F238E27FC236}">
                  <a16:creationId xmlns:a16="http://schemas.microsoft.com/office/drawing/2014/main" id="{5FBC37F6-2567-BE84-D54A-E00842793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217764" y="1592366"/>
              <a:ext cx="120241" cy="120241"/>
            </a:xfrm>
            <a:prstGeom prst="rect">
              <a:avLst/>
            </a:prstGeom>
          </p:spPr>
        </p:pic>
      </p:grpSp>
      <p:sp>
        <p:nvSpPr>
          <p:cNvPr id="248" name="TextBox 32">
            <a:extLst>
              <a:ext uri="{FF2B5EF4-FFF2-40B4-BE49-F238E27FC236}">
                <a16:creationId xmlns:a16="http://schemas.microsoft.com/office/drawing/2014/main" id="{24636CFE-5D58-027E-E0F6-5AD9E11846EA}"/>
              </a:ext>
            </a:extLst>
          </p:cNvPr>
          <p:cNvSpPr txBox="1"/>
          <p:nvPr/>
        </p:nvSpPr>
        <p:spPr>
          <a:xfrm>
            <a:off x="5338191" y="2159365"/>
            <a:ext cx="970858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계층 구조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49" name="TextBox 33">
            <a:extLst>
              <a:ext uri="{FF2B5EF4-FFF2-40B4-BE49-F238E27FC236}">
                <a16:creationId xmlns:a16="http://schemas.microsoft.com/office/drawing/2014/main" id="{1B565B53-3D5E-3F50-F2DC-7A983EA5FCDE}"/>
              </a:ext>
            </a:extLst>
          </p:cNvPr>
          <p:cNvSpPr txBox="1"/>
          <p:nvPr/>
        </p:nvSpPr>
        <p:spPr>
          <a:xfrm>
            <a:off x="5345645" y="2365301"/>
            <a:ext cx="2801496" cy="84767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Public Subnet: </a:t>
            </a:r>
            <a:r>
              <a:rPr lang="en-US" altLang="ko-KR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LB·NAT·Bastion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외부 노출 최소화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WAS(Private):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비즈니스 로직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. WEB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에서만 접근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DB(Private): </a:t>
            </a:r>
            <a:r>
              <a:rPr lang="ko-KR" altLang="en-US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내부망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직접 접근 금지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SEC Subnet: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접근제어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암호화 전용 구간</a:t>
            </a:r>
          </a:p>
        </p:txBody>
      </p: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9C56520C-43CE-EB4E-51A3-38AA763FAB8B}"/>
              </a:ext>
            </a:extLst>
          </p:cNvPr>
          <p:cNvGrpSpPr/>
          <p:nvPr/>
        </p:nvGrpSpPr>
        <p:grpSpPr>
          <a:xfrm>
            <a:off x="5087888" y="2151535"/>
            <a:ext cx="216025" cy="266700"/>
            <a:chOff x="5087888" y="2079527"/>
            <a:chExt cx="216025" cy="266700"/>
          </a:xfrm>
        </p:grpSpPr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17E7C76D-3022-2D64-9FFE-2B5404C02F7F}"/>
                </a:ext>
              </a:extLst>
            </p:cNvPr>
            <p:cNvSpPr/>
            <p:nvPr/>
          </p:nvSpPr>
          <p:spPr>
            <a:xfrm>
              <a:off x="5114749" y="2123611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52" name="TextBox 26">
              <a:extLst>
                <a:ext uri="{FF2B5EF4-FFF2-40B4-BE49-F238E27FC236}">
                  <a16:creationId xmlns:a16="http://schemas.microsoft.com/office/drawing/2014/main" id="{B03CF847-CC44-C29C-69CE-E61ED871D595}"/>
                </a:ext>
              </a:extLst>
            </p:cNvPr>
            <p:cNvSpPr txBox="1"/>
            <p:nvPr/>
          </p:nvSpPr>
          <p:spPr>
            <a:xfrm>
              <a:off x="5087888" y="2079527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53" name="그래픽 252" descr="확인 표시 단색으로 채워진">
              <a:extLst>
                <a:ext uri="{FF2B5EF4-FFF2-40B4-BE49-F238E27FC236}">
                  <a16:creationId xmlns:a16="http://schemas.microsoft.com/office/drawing/2014/main" id="{ACF901C4-5130-D049-28CD-C371E0183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135780" y="2152757"/>
              <a:ext cx="120241" cy="120241"/>
            </a:xfrm>
            <a:prstGeom prst="rect">
              <a:avLst/>
            </a:prstGeom>
          </p:spPr>
        </p:pic>
      </p:grpSp>
      <p:sp>
        <p:nvSpPr>
          <p:cNvPr id="254" name="TextBox 32">
            <a:extLst>
              <a:ext uri="{FF2B5EF4-FFF2-40B4-BE49-F238E27FC236}">
                <a16:creationId xmlns:a16="http://schemas.microsoft.com/office/drawing/2014/main" id="{A9EAAE1E-F186-16D9-A5E2-09EB9A074F1C}"/>
              </a:ext>
            </a:extLst>
          </p:cNvPr>
          <p:cNvSpPr txBox="1"/>
          <p:nvPr/>
        </p:nvSpPr>
        <p:spPr>
          <a:xfrm>
            <a:off x="8829493" y="2159365"/>
            <a:ext cx="970858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환경 분리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55" name="TextBox 33">
            <a:extLst>
              <a:ext uri="{FF2B5EF4-FFF2-40B4-BE49-F238E27FC236}">
                <a16:creationId xmlns:a16="http://schemas.microsoft.com/office/drawing/2014/main" id="{958F47FF-417F-BFA8-984F-66F12D45E0FB}"/>
              </a:ext>
            </a:extLst>
          </p:cNvPr>
          <p:cNvSpPr txBox="1"/>
          <p:nvPr/>
        </p:nvSpPr>
        <p:spPr>
          <a:xfrm>
            <a:off x="8836948" y="2365301"/>
            <a:ext cx="2801496" cy="84767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VPC-PRD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운영 환경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VPC-STG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스테이징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테스트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VPC-DEV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개발 환경</a:t>
            </a:r>
          </a:p>
          <a:p>
            <a:pPr>
              <a:lnSpc>
                <a:spcPct val="130000"/>
              </a:lnSpc>
            </a:pPr>
            <a:r>
              <a:rPr lang="en-US" altLang="ko-KR" sz="1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Peering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: VPC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간 필요 시 연결</a:t>
            </a:r>
          </a:p>
        </p:txBody>
      </p: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15369414-0EB8-2EF9-4AC9-666464C6CB67}"/>
              </a:ext>
            </a:extLst>
          </p:cNvPr>
          <p:cNvGrpSpPr/>
          <p:nvPr/>
        </p:nvGrpSpPr>
        <p:grpSpPr>
          <a:xfrm>
            <a:off x="8579190" y="2151535"/>
            <a:ext cx="216025" cy="266700"/>
            <a:chOff x="7687700" y="2013101"/>
            <a:chExt cx="216025" cy="266700"/>
          </a:xfrm>
        </p:grpSpPr>
        <p:sp>
          <p:nvSpPr>
            <p:cNvPr id="257" name="타원 256">
              <a:extLst>
                <a:ext uri="{FF2B5EF4-FFF2-40B4-BE49-F238E27FC236}">
                  <a16:creationId xmlns:a16="http://schemas.microsoft.com/office/drawing/2014/main" id="{32B7ED90-1481-810F-E754-BD3CA687F4E7}"/>
                </a:ext>
              </a:extLst>
            </p:cNvPr>
            <p:cNvSpPr/>
            <p:nvPr/>
          </p:nvSpPr>
          <p:spPr>
            <a:xfrm>
              <a:off x="7714561" y="2079948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58" name="TextBox 26">
              <a:extLst>
                <a:ext uri="{FF2B5EF4-FFF2-40B4-BE49-F238E27FC236}">
                  <a16:creationId xmlns:a16="http://schemas.microsoft.com/office/drawing/2014/main" id="{FFF945FD-8E4B-467C-C964-A761ACB86103}"/>
                </a:ext>
              </a:extLst>
            </p:cNvPr>
            <p:cNvSpPr txBox="1"/>
            <p:nvPr/>
          </p:nvSpPr>
          <p:spPr>
            <a:xfrm>
              <a:off x="7687700" y="2013101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59" name="그래픽 258" descr="확인 표시 단색으로 채워진">
              <a:extLst>
                <a:ext uri="{FF2B5EF4-FFF2-40B4-BE49-F238E27FC236}">
                  <a16:creationId xmlns:a16="http://schemas.microsoft.com/office/drawing/2014/main" id="{74E40727-CE67-7740-4000-316F0B857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735592" y="2109094"/>
              <a:ext cx="120241" cy="120241"/>
            </a:xfrm>
            <a:prstGeom prst="rect">
              <a:avLst/>
            </a:prstGeom>
          </p:spPr>
        </p:pic>
      </p:grpSp>
      <p:sp>
        <p:nvSpPr>
          <p:cNvPr id="260" name="cb100">
            <a:extLst>
              <a:ext uri="{FF2B5EF4-FFF2-40B4-BE49-F238E27FC236}">
                <a16:creationId xmlns:a16="http://schemas.microsoft.com/office/drawing/2014/main" id="{D58D197F-54FC-21E1-23F8-41CF9B2F1729}"/>
              </a:ext>
            </a:extLst>
          </p:cNvPr>
          <p:cNvSpPr/>
          <p:nvPr/>
        </p:nvSpPr>
        <p:spPr>
          <a:xfrm>
            <a:off x="4999110" y="3501008"/>
            <a:ext cx="6768104" cy="2989500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pic>
        <p:nvPicPr>
          <p:cNvPr id="261" name="Picture 5">
            <a:extLst>
              <a:ext uri="{FF2B5EF4-FFF2-40B4-BE49-F238E27FC236}">
                <a16:creationId xmlns:a16="http://schemas.microsoft.com/office/drawing/2014/main" id="{59880ADA-321F-1697-10D4-24F0426EEE50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20000"/>
          </a:blip>
          <a:stretch>
            <a:fillRect/>
          </a:stretch>
        </p:blipFill>
        <p:spPr>
          <a:xfrm>
            <a:off x="5144693" y="3897991"/>
            <a:ext cx="6192901" cy="15367"/>
          </a:xfrm>
          <a:prstGeom prst="rect">
            <a:avLst/>
          </a:prstGeom>
        </p:spPr>
      </p:pic>
      <p:sp>
        <p:nvSpPr>
          <p:cNvPr id="262" name="TextBox 18">
            <a:extLst>
              <a:ext uri="{FF2B5EF4-FFF2-40B4-BE49-F238E27FC236}">
                <a16:creationId xmlns:a16="http://schemas.microsoft.com/office/drawing/2014/main" id="{8F0E354F-7A8D-5525-2EAB-A6521EF48081}"/>
              </a:ext>
            </a:extLst>
          </p:cNvPr>
          <p:cNvSpPr txBox="1"/>
          <p:nvPr/>
        </p:nvSpPr>
        <p:spPr>
          <a:xfrm>
            <a:off x="5155251" y="3595859"/>
            <a:ext cx="2372090" cy="213323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200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일반적인 클라우드 가상환경 트래픽 흐름</a:t>
            </a:r>
            <a:endParaRPr lang="en-US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pic>
        <p:nvPicPr>
          <p:cNvPr id="263" name="Picture 6">
            <a:extLst>
              <a:ext uri="{FF2B5EF4-FFF2-40B4-BE49-F238E27FC236}">
                <a16:creationId xmlns:a16="http://schemas.microsoft.com/office/drawing/2014/main" id="{0D37B967-07BD-CC1D-DD19-53ED99ED057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31904" y="4008250"/>
            <a:ext cx="899375" cy="266142"/>
          </a:xfrm>
          <a:prstGeom prst="rect">
            <a:avLst/>
          </a:prstGeom>
        </p:spPr>
      </p:pic>
      <p:sp>
        <p:nvSpPr>
          <p:cNvPr id="264" name="TextBox 19">
            <a:extLst>
              <a:ext uri="{FF2B5EF4-FFF2-40B4-BE49-F238E27FC236}">
                <a16:creationId xmlns:a16="http://schemas.microsoft.com/office/drawing/2014/main" id="{77EFEC0B-5629-8916-ADBB-C24C5A2845BF}"/>
              </a:ext>
            </a:extLst>
          </p:cNvPr>
          <p:cNvSpPr txBox="1"/>
          <p:nvPr/>
        </p:nvSpPr>
        <p:spPr>
          <a:xfrm>
            <a:off x="5311218" y="4020391"/>
            <a:ext cx="745557" cy="254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b="0" i="0" u="none" strike="noStrike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Inbound</a:t>
            </a:r>
          </a:p>
        </p:txBody>
      </p:sp>
      <p:sp>
        <p:nvSpPr>
          <p:cNvPr id="265" name="TextBox 33">
            <a:extLst>
              <a:ext uri="{FF2B5EF4-FFF2-40B4-BE49-F238E27FC236}">
                <a16:creationId xmlns:a16="http://schemas.microsoft.com/office/drawing/2014/main" id="{7C0D5675-985C-9FE0-F27F-AA582920E21F}"/>
              </a:ext>
            </a:extLst>
          </p:cNvPr>
          <p:cNvSpPr txBox="1"/>
          <p:nvPr/>
        </p:nvSpPr>
        <p:spPr>
          <a:xfrm>
            <a:off x="6227138" y="4002167"/>
            <a:ext cx="5197454" cy="278308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Internet → Security Monitoring → LB(Public) → WEB/WAS(Private) → DB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66" name="Picture 6">
            <a:extLst>
              <a:ext uri="{FF2B5EF4-FFF2-40B4-BE49-F238E27FC236}">
                <a16:creationId xmlns:a16="http://schemas.microsoft.com/office/drawing/2014/main" id="{5F56646E-6585-2CA0-C767-4E846DD29FC2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31904" y="4334891"/>
            <a:ext cx="899375" cy="266142"/>
          </a:xfrm>
          <a:prstGeom prst="rect">
            <a:avLst/>
          </a:prstGeom>
        </p:spPr>
      </p:pic>
      <p:sp>
        <p:nvSpPr>
          <p:cNvPr id="267" name="TextBox 19">
            <a:extLst>
              <a:ext uri="{FF2B5EF4-FFF2-40B4-BE49-F238E27FC236}">
                <a16:creationId xmlns:a16="http://schemas.microsoft.com/office/drawing/2014/main" id="{01175B93-28D7-1EA8-353F-72E4FE6F9A08}"/>
              </a:ext>
            </a:extLst>
          </p:cNvPr>
          <p:cNvSpPr txBox="1"/>
          <p:nvPr/>
        </p:nvSpPr>
        <p:spPr>
          <a:xfrm>
            <a:off x="5311218" y="4347032"/>
            <a:ext cx="745557" cy="254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1000" b="0" i="0" u="none" strike="noStrike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내부 이동</a:t>
            </a:r>
            <a:endParaRPr lang="en-US" sz="1000" b="0" i="0" u="none" strike="noStrike" dirty="0">
              <a:solidFill>
                <a:srgbClr val="FFFFF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68" name="TextBox 33">
            <a:extLst>
              <a:ext uri="{FF2B5EF4-FFF2-40B4-BE49-F238E27FC236}">
                <a16:creationId xmlns:a16="http://schemas.microsoft.com/office/drawing/2014/main" id="{283A4086-10E7-6C0D-598C-42412533A3AB}"/>
              </a:ext>
            </a:extLst>
          </p:cNvPr>
          <p:cNvSpPr txBox="1"/>
          <p:nvPr/>
        </p:nvSpPr>
        <p:spPr>
          <a:xfrm>
            <a:off x="6227138" y="4328808"/>
            <a:ext cx="5197454" cy="278308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WEB → WAS → DB (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단방향 제어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역방향 직접 접근 차단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69" name="Picture 6">
            <a:extLst>
              <a:ext uri="{FF2B5EF4-FFF2-40B4-BE49-F238E27FC236}">
                <a16:creationId xmlns:a16="http://schemas.microsoft.com/office/drawing/2014/main" id="{49195A87-0FE4-CD0B-3CE3-DB94BF00FE3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231904" y="4673698"/>
            <a:ext cx="899375" cy="266142"/>
          </a:xfrm>
          <a:prstGeom prst="rect">
            <a:avLst/>
          </a:prstGeom>
        </p:spPr>
      </p:pic>
      <p:sp>
        <p:nvSpPr>
          <p:cNvPr id="270" name="TextBox 19">
            <a:extLst>
              <a:ext uri="{FF2B5EF4-FFF2-40B4-BE49-F238E27FC236}">
                <a16:creationId xmlns:a16="http://schemas.microsoft.com/office/drawing/2014/main" id="{483D5B55-DB68-2373-FC45-E65374A9291F}"/>
              </a:ext>
            </a:extLst>
          </p:cNvPr>
          <p:cNvSpPr txBox="1"/>
          <p:nvPr/>
        </p:nvSpPr>
        <p:spPr>
          <a:xfrm>
            <a:off x="5311218" y="4685839"/>
            <a:ext cx="745557" cy="2540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r>
              <a:rPr lang="en-US" sz="1000" b="0" i="0" u="none" strike="noStrike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Outbound</a:t>
            </a:r>
          </a:p>
        </p:txBody>
      </p:sp>
      <p:sp>
        <p:nvSpPr>
          <p:cNvPr id="271" name="TextBox 33">
            <a:extLst>
              <a:ext uri="{FF2B5EF4-FFF2-40B4-BE49-F238E27FC236}">
                <a16:creationId xmlns:a16="http://schemas.microsoft.com/office/drawing/2014/main" id="{92E70443-C24A-7EF1-A77E-E9ED75DDA5C7}"/>
              </a:ext>
            </a:extLst>
          </p:cNvPr>
          <p:cNvSpPr txBox="1"/>
          <p:nvPr/>
        </p:nvSpPr>
        <p:spPr>
          <a:xfrm>
            <a:off x="6227138" y="4667615"/>
            <a:ext cx="5197454" cy="278308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Private Server → NAT Gateway → Internet (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외부 노출 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IP 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단일화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2" name="TextBox 32">
            <a:extLst>
              <a:ext uri="{FF2B5EF4-FFF2-40B4-BE49-F238E27FC236}">
                <a16:creationId xmlns:a16="http://schemas.microsoft.com/office/drawing/2014/main" id="{7DE9CD05-A740-FD29-673C-0E66276E44C7}"/>
              </a:ext>
            </a:extLst>
          </p:cNvPr>
          <p:cNvSpPr txBox="1"/>
          <p:nvPr/>
        </p:nvSpPr>
        <p:spPr>
          <a:xfrm>
            <a:off x="5420175" y="5165022"/>
            <a:ext cx="970858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이중 접근 통제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74" name="타원 273">
            <a:extLst>
              <a:ext uri="{FF2B5EF4-FFF2-40B4-BE49-F238E27FC236}">
                <a16:creationId xmlns:a16="http://schemas.microsoft.com/office/drawing/2014/main" id="{17A7CEFD-2CE8-F518-7858-9E808D5FBD77}"/>
              </a:ext>
            </a:extLst>
          </p:cNvPr>
          <p:cNvSpPr/>
          <p:nvPr/>
        </p:nvSpPr>
        <p:spPr>
          <a:xfrm>
            <a:off x="5196733" y="5201276"/>
            <a:ext cx="162302" cy="178532"/>
          </a:xfrm>
          <a:prstGeom prst="ellipse">
            <a:avLst/>
          </a:prstGeom>
          <a:solidFill>
            <a:srgbClr val="07C6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275" name="TextBox 26">
            <a:extLst>
              <a:ext uri="{FF2B5EF4-FFF2-40B4-BE49-F238E27FC236}">
                <a16:creationId xmlns:a16="http://schemas.microsoft.com/office/drawing/2014/main" id="{D558479A-7F65-40B9-4ECD-8CA50D8B0C61}"/>
              </a:ext>
            </a:extLst>
          </p:cNvPr>
          <p:cNvSpPr txBox="1"/>
          <p:nvPr/>
        </p:nvSpPr>
        <p:spPr>
          <a:xfrm>
            <a:off x="5169872" y="5157192"/>
            <a:ext cx="216025" cy="266700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lvl="0" algn="ctr">
              <a:lnSpc>
                <a:spcPct val="99600"/>
              </a:lnSpc>
            </a:pPr>
            <a:endParaRPr lang="en-US" sz="1000" b="0" i="0" u="none" strike="noStrike" dirty="0">
              <a:solidFill>
                <a:srgbClr val="FFFFFF"/>
              </a:solidFill>
              <a:latin typeface="NanumSquare" panose="020B0600000101010101" pitchFamily="50" charset="-127"/>
              <a:ea typeface="NanumSquare" panose="020B0600000101010101" pitchFamily="50" charset="-127"/>
              <a:cs typeface="Pretendard Regular"/>
            </a:endParaRPr>
          </a:p>
        </p:txBody>
      </p:sp>
      <p:pic>
        <p:nvPicPr>
          <p:cNvPr id="276" name="그래픽 275" descr="확인 표시 단색으로 채워진">
            <a:extLst>
              <a:ext uri="{FF2B5EF4-FFF2-40B4-BE49-F238E27FC236}">
                <a16:creationId xmlns:a16="http://schemas.microsoft.com/office/drawing/2014/main" id="{CEEC6361-E345-BA45-2694-2034417DABD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217764" y="5230422"/>
            <a:ext cx="120241" cy="120241"/>
          </a:xfrm>
          <a:prstGeom prst="rect">
            <a:avLst/>
          </a:prstGeom>
        </p:spPr>
      </p:pic>
      <p:graphicFrame>
        <p:nvGraphicFramePr>
          <p:cNvPr id="282" name="표 281">
            <a:extLst>
              <a:ext uri="{FF2B5EF4-FFF2-40B4-BE49-F238E27FC236}">
                <a16:creationId xmlns:a16="http://schemas.microsoft.com/office/drawing/2014/main" id="{5292AB74-1590-7692-5BB2-87647B56151E}"/>
              </a:ext>
            </a:extLst>
          </p:cNvPr>
          <p:cNvGraphicFramePr>
            <a:graphicFrameLocks noGrp="1"/>
          </p:cNvGraphicFramePr>
          <p:nvPr/>
        </p:nvGraphicFramePr>
        <p:xfrm>
          <a:off x="5433867" y="5430666"/>
          <a:ext cx="6204576" cy="964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192">
                  <a:extLst>
                    <a:ext uri="{9D8B030D-6E8A-4147-A177-3AD203B41FA5}">
                      <a16:colId xmlns:a16="http://schemas.microsoft.com/office/drawing/2014/main" val="3105677795"/>
                    </a:ext>
                  </a:extLst>
                </a:gridCol>
                <a:gridCol w="2068192">
                  <a:extLst>
                    <a:ext uri="{9D8B030D-6E8A-4147-A177-3AD203B41FA5}">
                      <a16:colId xmlns:a16="http://schemas.microsoft.com/office/drawing/2014/main" val="3871487324"/>
                    </a:ext>
                  </a:extLst>
                </a:gridCol>
                <a:gridCol w="2068192">
                  <a:extLst>
                    <a:ext uri="{9D8B030D-6E8A-4147-A177-3AD203B41FA5}">
                      <a16:colId xmlns:a16="http://schemas.microsoft.com/office/drawing/2014/main" val="2053544255"/>
                    </a:ext>
                  </a:extLst>
                </a:gridCol>
              </a:tblGrid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구분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ACG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Network ACL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832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적용 단위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서버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(VM)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서브넷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338161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제어 범위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세밀한 포트 및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IP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제어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서브넷</a:t>
                      </a:r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전체 차단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336243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역할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서버 레벨 방화벽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서브넷</a:t>
                      </a:r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레벨 방화벽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92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4934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b100">
            <a:extLst>
              <a:ext uri="{FF2B5EF4-FFF2-40B4-BE49-F238E27FC236}">
                <a16:creationId xmlns:a16="http://schemas.microsoft.com/office/drawing/2014/main" id="{15CA5211-C39A-03D3-3EB5-48BC779017DB}"/>
              </a:ext>
            </a:extLst>
          </p:cNvPr>
          <p:cNvSpPr/>
          <p:nvPr/>
        </p:nvSpPr>
        <p:spPr>
          <a:xfrm>
            <a:off x="424786" y="1017899"/>
            <a:ext cx="4447078" cy="5693317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207" name="cb100">
            <a:extLst>
              <a:ext uri="{FF2B5EF4-FFF2-40B4-BE49-F238E27FC236}">
                <a16:creationId xmlns:a16="http://schemas.microsoft.com/office/drawing/2014/main" id="{8434D44C-3195-4351-BA3A-D037AE451417}"/>
              </a:ext>
            </a:extLst>
          </p:cNvPr>
          <p:cNvSpPr/>
          <p:nvPr/>
        </p:nvSpPr>
        <p:spPr>
          <a:xfrm>
            <a:off x="4999110" y="3501008"/>
            <a:ext cx="6768104" cy="2989500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4.2 NCP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 보안 아키텍처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계정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권한 통제</a:t>
            </a:r>
          </a:p>
        </p:txBody>
      </p:sp>
      <p:sp>
        <p:nvSpPr>
          <p:cNvPr id="239" name="cb100">
            <a:extLst>
              <a:ext uri="{FF2B5EF4-FFF2-40B4-BE49-F238E27FC236}">
                <a16:creationId xmlns:a16="http://schemas.microsoft.com/office/drawing/2014/main" id="{5E311765-6F0C-8AF1-054B-8EBA0A103AEB}"/>
              </a:ext>
            </a:extLst>
          </p:cNvPr>
          <p:cNvSpPr/>
          <p:nvPr/>
        </p:nvSpPr>
        <p:spPr>
          <a:xfrm>
            <a:off x="4969645" y="1017899"/>
            <a:ext cx="6768104" cy="2298968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pic>
        <p:nvPicPr>
          <p:cNvPr id="240" name="Picture 5">
            <a:extLst>
              <a:ext uri="{FF2B5EF4-FFF2-40B4-BE49-F238E27FC236}">
                <a16:creationId xmlns:a16="http://schemas.microsoft.com/office/drawing/2014/main" id="{7C147D6D-3FA0-539B-9257-37F54F84CC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144693" y="1417351"/>
            <a:ext cx="6192901" cy="15367"/>
          </a:xfrm>
          <a:prstGeom prst="rect">
            <a:avLst/>
          </a:prstGeom>
        </p:spPr>
      </p:pic>
      <p:sp>
        <p:nvSpPr>
          <p:cNvPr id="241" name="TextBox 18">
            <a:extLst>
              <a:ext uri="{FF2B5EF4-FFF2-40B4-BE49-F238E27FC236}">
                <a16:creationId xmlns:a16="http://schemas.microsoft.com/office/drawing/2014/main" id="{8A988E7E-9828-5B78-55B1-389D3EBF5D76}"/>
              </a:ext>
            </a:extLst>
          </p:cNvPr>
          <p:cNvSpPr txBox="1"/>
          <p:nvPr/>
        </p:nvSpPr>
        <p:spPr>
          <a:xfrm>
            <a:off x="5155251" y="1115219"/>
            <a:ext cx="1995083" cy="257625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2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구성</a:t>
            </a:r>
            <a:endParaRPr lang="en-US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sp>
        <p:nvSpPr>
          <p:cNvPr id="242" name="TextBox 32">
            <a:extLst>
              <a:ext uri="{FF2B5EF4-FFF2-40B4-BE49-F238E27FC236}">
                <a16:creationId xmlns:a16="http://schemas.microsoft.com/office/drawing/2014/main" id="{2CEA9555-90E4-DB9A-0750-702F4AE9D3F8}"/>
              </a:ext>
            </a:extLst>
          </p:cNvPr>
          <p:cNvSpPr txBox="1"/>
          <p:nvPr/>
        </p:nvSpPr>
        <p:spPr>
          <a:xfrm>
            <a:off x="5338190" y="1542868"/>
            <a:ext cx="1117850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Sub</a:t>
            </a:r>
            <a:r>
              <a:rPr lang="ko-KR" alt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 </a:t>
            </a:r>
            <a:r>
              <a:rPr lang="en-US" altLang="ko-KR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Account </a:t>
            </a:r>
            <a:r>
              <a:rPr lang="ko-KR" alt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구조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43" name="TextBox 33">
            <a:extLst>
              <a:ext uri="{FF2B5EF4-FFF2-40B4-BE49-F238E27FC236}">
                <a16:creationId xmlns:a16="http://schemas.microsoft.com/office/drawing/2014/main" id="{217DFC42-6628-A367-274E-71D738B3E8B4}"/>
              </a:ext>
            </a:extLst>
          </p:cNvPr>
          <p:cNvSpPr txBox="1"/>
          <p:nvPr/>
        </p:nvSpPr>
        <p:spPr>
          <a:xfrm>
            <a:off x="5345645" y="1767856"/>
            <a:ext cx="6192900" cy="287904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메인 계정을 직접 운영 계정으로 쓰지 않고</a:t>
            </a: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, Sub Account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로 권한을 분리하며</a:t>
            </a: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부여된 권한 범위 내에서만 작업 가능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1796A847-C456-AC5D-6ED8-B91C4CFCE323}"/>
              </a:ext>
            </a:extLst>
          </p:cNvPr>
          <p:cNvGrpSpPr/>
          <p:nvPr/>
        </p:nvGrpSpPr>
        <p:grpSpPr>
          <a:xfrm>
            <a:off x="5087888" y="1535038"/>
            <a:ext cx="216025" cy="266700"/>
            <a:chOff x="5169872" y="1519136"/>
            <a:chExt cx="216025" cy="266700"/>
          </a:xfrm>
        </p:grpSpPr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2F8690FC-C1C9-BA98-E2B1-C4A27F009ED7}"/>
                </a:ext>
              </a:extLst>
            </p:cNvPr>
            <p:cNvSpPr/>
            <p:nvPr/>
          </p:nvSpPr>
          <p:spPr>
            <a:xfrm>
              <a:off x="5196733" y="1563220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46" name="TextBox 26">
              <a:extLst>
                <a:ext uri="{FF2B5EF4-FFF2-40B4-BE49-F238E27FC236}">
                  <a16:creationId xmlns:a16="http://schemas.microsoft.com/office/drawing/2014/main" id="{6578FF96-031D-88F4-4059-DC1B4940EBD5}"/>
                </a:ext>
              </a:extLst>
            </p:cNvPr>
            <p:cNvSpPr txBox="1"/>
            <p:nvPr/>
          </p:nvSpPr>
          <p:spPr>
            <a:xfrm>
              <a:off x="5169872" y="1519136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47" name="그래픽 246" descr="확인 표시 단색으로 채워진">
              <a:extLst>
                <a:ext uri="{FF2B5EF4-FFF2-40B4-BE49-F238E27FC236}">
                  <a16:creationId xmlns:a16="http://schemas.microsoft.com/office/drawing/2014/main" id="{5FBC37F6-2567-BE84-D54A-E00842793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17764" y="1592366"/>
              <a:ext cx="120241" cy="120241"/>
            </a:xfrm>
            <a:prstGeom prst="rect">
              <a:avLst/>
            </a:prstGeom>
          </p:spPr>
        </p:pic>
      </p:grpSp>
      <p:sp>
        <p:nvSpPr>
          <p:cNvPr id="248" name="TextBox 32">
            <a:extLst>
              <a:ext uri="{FF2B5EF4-FFF2-40B4-BE49-F238E27FC236}">
                <a16:creationId xmlns:a16="http://schemas.microsoft.com/office/drawing/2014/main" id="{24636CFE-5D58-027E-E0F6-5AD9E11846EA}"/>
              </a:ext>
            </a:extLst>
          </p:cNvPr>
          <p:cNvSpPr txBox="1"/>
          <p:nvPr/>
        </p:nvSpPr>
        <p:spPr>
          <a:xfrm>
            <a:off x="5338191" y="2159365"/>
            <a:ext cx="970858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핵심 원칙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49" name="TextBox 33">
            <a:extLst>
              <a:ext uri="{FF2B5EF4-FFF2-40B4-BE49-F238E27FC236}">
                <a16:creationId xmlns:a16="http://schemas.microsoft.com/office/drawing/2014/main" id="{1B565B53-3D5E-3F50-F2DC-7A983EA5FCDE}"/>
              </a:ext>
            </a:extLst>
          </p:cNvPr>
          <p:cNvSpPr txBox="1"/>
          <p:nvPr/>
        </p:nvSpPr>
        <p:spPr>
          <a:xfrm>
            <a:off x="5345645" y="2365301"/>
            <a:ext cx="2801496" cy="84767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</a:pP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메인 계정 직접 사용 최소화</a:t>
            </a:r>
            <a:endParaRPr lang="en-US" altLang="ko-KR" sz="1000" b="0" i="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</a:pP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역할별 최소 권한 부여</a:t>
            </a:r>
            <a:endParaRPr lang="en-US" altLang="ko-KR" sz="1000" b="0" i="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</a:pP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서비스별 상세 권한 구성</a:t>
            </a:r>
            <a:endParaRPr lang="en-US" altLang="ko-KR" sz="1000" b="0" i="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</a:pP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ABAC 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성격의 권한 설정 지원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9C56520C-43CE-EB4E-51A3-38AA763FAB8B}"/>
              </a:ext>
            </a:extLst>
          </p:cNvPr>
          <p:cNvGrpSpPr/>
          <p:nvPr/>
        </p:nvGrpSpPr>
        <p:grpSpPr>
          <a:xfrm>
            <a:off x="5087888" y="2151535"/>
            <a:ext cx="216025" cy="266700"/>
            <a:chOff x="5087888" y="2079527"/>
            <a:chExt cx="216025" cy="266700"/>
          </a:xfrm>
        </p:grpSpPr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17E7C76D-3022-2D64-9FFE-2B5404C02F7F}"/>
                </a:ext>
              </a:extLst>
            </p:cNvPr>
            <p:cNvSpPr/>
            <p:nvPr/>
          </p:nvSpPr>
          <p:spPr>
            <a:xfrm>
              <a:off x="5114749" y="2123611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52" name="TextBox 26">
              <a:extLst>
                <a:ext uri="{FF2B5EF4-FFF2-40B4-BE49-F238E27FC236}">
                  <a16:creationId xmlns:a16="http://schemas.microsoft.com/office/drawing/2014/main" id="{B03CF847-CC44-C29C-69CE-E61ED871D595}"/>
                </a:ext>
              </a:extLst>
            </p:cNvPr>
            <p:cNvSpPr txBox="1"/>
            <p:nvPr/>
          </p:nvSpPr>
          <p:spPr>
            <a:xfrm>
              <a:off x="5087888" y="2079527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53" name="그래픽 252" descr="확인 표시 단색으로 채워진">
              <a:extLst>
                <a:ext uri="{FF2B5EF4-FFF2-40B4-BE49-F238E27FC236}">
                  <a16:creationId xmlns:a16="http://schemas.microsoft.com/office/drawing/2014/main" id="{ACF901C4-5130-D049-28CD-C371E0183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35780" y="2152757"/>
              <a:ext cx="120241" cy="120241"/>
            </a:xfrm>
            <a:prstGeom prst="rect">
              <a:avLst/>
            </a:prstGeom>
          </p:spPr>
        </p:pic>
      </p:grpSp>
      <p:sp>
        <p:nvSpPr>
          <p:cNvPr id="254" name="TextBox 32">
            <a:extLst>
              <a:ext uri="{FF2B5EF4-FFF2-40B4-BE49-F238E27FC236}">
                <a16:creationId xmlns:a16="http://schemas.microsoft.com/office/drawing/2014/main" id="{A9EAAE1E-F186-16D9-A5E2-09EB9A074F1C}"/>
              </a:ext>
            </a:extLst>
          </p:cNvPr>
          <p:cNvSpPr txBox="1"/>
          <p:nvPr/>
        </p:nvSpPr>
        <p:spPr>
          <a:xfrm>
            <a:off x="8829492" y="2159365"/>
            <a:ext cx="1298955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Cloud Activity Tracer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55" name="TextBox 33">
            <a:extLst>
              <a:ext uri="{FF2B5EF4-FFF2-40B4-BE49-F238E27FC236}">
                <a16:creationId xmlns:a16="http://schemas.microsoft.com/office/drawing/2014/main" id="{958F47FF-417F-BFA8-984F-66F12D45E0FB}"/>
              </a:ext>
            </a:extLst>
          </p:cNvPr>
          <p:cNvSpPr txBox="1"/>
          <p:nvPr/>
        </p:nvSpPr>
        <p:spPr>
          <a:xfrm>
            <a:off x="8836948" y="2365301"/>
            <a:ext cx="2801496" cy="847675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</a:pP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콘솔</a:t>
            </a: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/API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를 통한 계정 활동 기록</a:t>
            </a:r>
            <a:endParaRPr lang="en-US" altLang="ko-KR" sz="1000" b="0" i="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</a:pP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Sub Account 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권한 변경 추적</a:t>
            </a:r>
            <a:endParaRPr lang="en-US" altLang="ko-KR" sz="1000" b="0" i="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</a:pP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비정상 </a:t>
            </a: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API 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호출 탐지</a:t>
            </a:r>
            <a:endParaRPr lang="en-US" altLang="ko-KR" sz="1000" b="0" i="0" dirty="0">
              <a:effectLst/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</a:pP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신규 인증키 생성 이력 확인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56" name="그룹 255">
            <a:extLst>
              <a:ext uri="{FF2B5EF4-FFF2-40B4-BE49-F238E27FC236}">
                <a16:creationId xmlns:a16="http://schemas.microsoft.com/office/drawing/2014/main" id="{15369414-0EB8-2EF9-4AC9-666464C6CB67}"/>
              </a:ext>
            </a:extLst>
          </p:cNvPr>
          <p:cNvGrpSpPr/>
          <p:nvPr/>
        </p:nvGrpSpPr>
        <p:grpSpPr>
          <a:xfrm>
            <a:off x="8579190" y="2151535"/>
            <a:ext cx="216025" cy="266700"/>
            <a:chOff x="7687700" y="2013101"/>
            <a:chExt cx="216025" cy="266700"/>
          </a:xfrm>
        </p:grpSpPr>
        <p:sp>
          <p:nvSpPr>
            <p:cNvPr id="257" name="타원 256">
              <a:extLst>
                <a:ext uri="{FF2B5EF4-FFF2-40B4-BE49-F238E27FC236}">
                  <a16:creationId xmlns:a16="http://schemas.microsoft.com/office/drawing/2014/main" id="{32B7ED90-1481-810F-E754-BD3CA687F4E7}"/>
                </a:ext>
              </a:extLst>
            </p:cNvPr>
            <p:cNvSpPr/>
            <p:nvPr/>
          </p:nvSpPr>
          <p:spPr>
            <a:xfrm>
              <a:off x="7714561" y="2079948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58" name="TextBox 26">
              <a:extLst>
                <a:ext uri="{FF2B5EF4-FFF2-40B4-BE49-F238E27FC236}">
                  <a16:creationId xmlns:a16="http://schemas.microsoft.com/office/drawing/2014/main" id="{FFF945FD-8E4B-467C-C964-A761ACB86103}"/>
                </a:ext>
              </a:extLst>
            </p:cNvPr>
            <p:cNvSpPr txBox="1"/>
            <p:nvPr/>
          </p:nvSpPr>
          <p:spPr>
            <a:xfrm>
              <a:off x="7687700" y="2013101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59" name="그래픽 258" descr="확인 표시 단색으로 채워진">
              <a:extLst>
                <a:ext uri="{FF2B5EF4-FFF2-40B4-BE49-F238E27FC236}">
                  <a16:creationId xmlns:a16="http://schemas.microsoft.com/office/drawing/2014/main" id="{74E40727-CE67-7740-4000-316F0B857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35592" y="2109094"/>
              <a:ext cx="120241" cy="120241"/>
            </a:xfrm>
            <a:prstGeom prst="rect">
              <a:avLst/>
            </a:prstGeom>
          </p:spPr>
        </p:pic>
      </p:grpSp>
      <p:pic>
        <p:nvPicPr>
          <p:cNvPr id="261" name="Picture 5">
            <a:extLst>
              <a:ext uri="{FF2B5EF4-FFF2-40B4-BE49-F238E27FC236}">
                <a16:creationId xmlns:a16="http://schemas.microsoft.com/office/drawing/2014/main" id="{59880ADA-321F-1697-10D4-24F0426EEE5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144693" y="3897991"/>
            <a:ext cx="6192901" cy="15367"/>
          </a:xfrm>
          <a:prstGeom prst="rect">
            <a:avLst/>
          </a:prstGeom>
        </p:spPr>
      </p:pic>
      <p:sp>
        <p:nvSpPr>
          <p:cNvPr id="262" name="TextBox 18">
            <a:extLst>
              <a:ext uri="{FF2B5EF4-FFF2-40B4-BE49-F238E27FC236}">
                <a16:creationId xmlns:a16="http://schemas.microsoft.com/office/drawing/2014/main" id="{8F0E354F-7A8D-5525-2EAB-A6521EF48081}"/>
              </a:ext>
            </a:extLst>
          </p:cNvPr>
          <p:cNvSpPr txBox="1"/>
          <p:nvPr/>
        </p:nvSpPr>
        <p:spPr>
          <a:xfrm>
            <a:off x="5155251" y="3595859"/>
            <a:ext cx="2991889" cy="207139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2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탐지 후 </a:t>
            </a:r>
            <a:r>
              <a:rPr lang="en-US" altLang="ko-KR" sz="12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Activity Log</a:t>
            </a:r>
            <a:r>
              <a:rPr lang="ko-KR" altLang="en-US" sz="12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에서 확인하는 항목</a:t>
            </a:r>
            <a:endParaRPr lang="en-US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50730D19-83E4-6621-557D-4822CFD314FE}"/>
              </a:ext>
            </a:extLst>
          </p:cNvPr>
          <p:cNvGrpSpPr/>
          <p:nvPr/>
        </p:nvGrpSpPr>
        <p:grpSpPr>
          <a:xfrm>
            <a:off x="1436928" y="2298833"/>
            <a:ext cx="2422795" cy="1020126"/>
            <a:chOff x="1421531" y="2122430"/>
            <a:chExt cx="2422795" cy="1020126"/>
          </a:xfrm>
        </p:grpSpPr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9F6A0036-6653-EEB7-CEC3-CCB708211353}"/>
                </a:ext>
              </a:extLst>
            </p:cNvPr>
            <p:cNvSpPr/>
            <p:nvPr/>
          </p:nvSpPr>
          <p:spPr>
            <a:xfrm>
              <a:off x="1421531" y="2122430"/>
              <a:ext cx="2422795" cy="102012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2ADEA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4863FA5-376B-505A-A403-18678609853B}"/>
                </a:ext>
              </a:extLst>
            </p:cNvPr>
            <p:cNvSpPr txBox="1"/>
            <p:nvPr/>
          </p:nvSpPr>
          <p:spPr>
            <a:xfrm>
              <a:off x="1452721" y="2173947"/>
              <a:ext cx="15395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rPr>
                <a:t>Sub Account (</a:t>
              </a:r>
              <a:r>
                <a:rPr kumimoji="1"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rPr>
                <a:t>운영자 분리</a:t>
              </a:r>
              <a:r>
                <a:rPr kumimoji="1"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rPr>
                <a:t>)</a:t>
              </a:r>
              <a:endParaRPr kumimoji="1"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endParaRPr>
            </a:p>
          </p:txBody>
        </p: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881B8423-14E6-9627-DD02-68B864FA7078}"/>
                </a:ext>
              </a:extLst>
            </p:cNvPr>
            <p:cNvGrpSpPr/>
            <p:nvPr/>
          </p:nvGrpSpPr>
          <p:grpSpPr>
            <a:xfrm>
              <a:off x="1962008" y="2429627"/>
              <a:ext cx="1732640" cy="605118"/>
              <a:chOff x="2068773" y="1918568"/>
              <a:chExt cx="1732640" cy="605118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8DE9B13A-6CD6-75EA-8F06-4073E8BC8BE9}"/>
                  </a:ext>
                </a:extLst>
              </p:cNvPr>
              <p:cNvSpPr/>
              <p:nvPr/>
            </p:nvSpPr>
            <p:spPr>
              <a:xfrm>
                <a:off x="2115889" y="1918568"/>
                <a:ext cx="1685524" cy="6051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B9B9B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E0223EA7-FF2A-DEA6-D094-D386EEB72688}"/>
                  </a:ext>
                </a:extLst>
              </p:cNvPr>
              <p:cNvGrpSpPr/>
              <p:nvPr/>
            </p:nvGrpSpPr>
            <p:grpSpPr>
              <a:xfrm>
                <a:off x="2068773" y="1986611"/>
                <a:ext cx="635628" cy="519189"/>
                <a:chOff x="2068773" y="1986611"/>
                <a:chExt cx="635628" cy="519189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69C3036-A60F-CB98-5279-0F4DEEB29ED4}"/>
                    </a:ext>
                  </a:extLst>
                </p:cNvPr>
                <p:cNvSpPr txBox="1"/>
                <p:nvPr/>
              </p:nvSpPr>
              <p:spPr>
                <a:xfrm>
                  <a:off x="2068773" y="2290356"/>
                  <a:ext cx="635628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ko-KR" altLang="en-US" sz="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Calibri" panose="020F0502020204030204" pitchFamily="34" charset="0"/>
                    </a:rPr>
                    <a:t>운영자 </a:t>
                  </a:r>
                  <a:r>
                    <a:rPr kumimoji="1" lang="en-US" altLang="ko-KR" sz="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Calibri" panose="020F0502020204030204" pitchFamily="34" charset="0"/>
                    </a:rPr>
                    <a:t>A</a:t>
                  </a:r>
                  <a:endParaRPr kumimoji="1" lang="ko-KR" alt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endParaRPr>
                </a:p>
              </p:txBody>
            </p:sp>
            <p:pic>
              <p:nvPicPr>
                <p:cNvPr id="5" name="그림 4">
                  <a:extLst>
                    <a:ext uri="{FF2B5EF4-FFF2-40B4-BE49-F238E27FC236}">
                      <a16:creationId xmlns:a16="http://schemas.microsoft.com/office/drawing/2014/main" id="{BE67A1CB-9052-37B1-5159-E4C0A41D0FC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42023" y="1986611"/>
                  <a:ext cx="288000" cy="288000"/>
                </a:xfrm>
                <a:prstGeom prst="rect">
                  <a:avLst/>
                </a:prstGeom>
              </p:spPr>
            </p:pic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1238DBBD-7946-BD20-4C7C-4A325AF01EB3}"/>
                  </a:ext>
                </a:extLst>
              </p:cNvPr>
              <p:cNvGrpSpPr/>
              <p:nvPr/>
            </p:nvGrpSpPr>
            <p:grpSpPr>
              <a:xfrm>
                <a:off x="2610112" y="1986611"/>
                <a:ext cx="635628" cy="519189"/>
                <a:chOff x="2619929" y="1986611"/>
                <a:chExt cx="635628" cy="519189"/>
              </a:xfrm>
            </p:grpSpPr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9956570-6FFB-FF4E-5531-B565A2B8539F}"/>
                    </a:ext>
                  </a:extLst>
                </p:cNvPr>
                <p:cNvSpPr txBox="1"/>
                <p:nvPr/>
              </p:nvSpPr>
              <p:spPr>
                <a:xfrm>
                  <a:off x="2619929" y="2290356"/>
                  <a:ext cx="635628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ko-KR" altLang="en-US" sz="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Calibri" panose="020F0502020204030204" pitchFamily="34" charset="0"/>
                    </a:rPr>
                    <a:t>운영자 </a:t>
                  </a:r>
                  <a:r>
                    <a:rPr kumimoji="1" lang="en-US" altLang="ko-KR" sz="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Calibri" panose="020F0502020204030204" pitchFamily="34" charset="0"/>
                    </a:rPr>
                    <a:t>B</a:t>
                  </a:r>
                  <a:endParaRPr kumimoji="1" lang="ko-KR" alt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endParaRPr>
                </a:p>
              </p:txBody>
            </p:sp>
            <p:pic>
              <p:nvPicPr>
                <p:cNvPr id="11" name="그림 10">
                  <a:extLst>
                    <a:ext uri="{FF2B5EF4-FFF2-40B4-BE49-F238E27FC236}">
                      <a16:creationId xmlns:a16="http://schemas.microsoft.com/office/drawing/2014/main" id="{CFAA810C-8302-F303-304B-D6C4FAAC8D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93179" y="1986611"/>
                  <a:ext cx="288000" cy="288000"/>
                </a:xfrm>
                <a:prstGeom prst="rect">
                  <a:avLst/>
                </a:prstGeom>
              </p:spPr>
            </p:pic>
          </p:grpSp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248FA680-FBED-4F47-9BEA-EE30EF65BC14}"/>
                  </a:ext>
                </a:extLst>
              </p:cNvPr>
              <p:cNvGrpSpPr/>
              <p:nvPr/>
            </p:nvGrpSpPr>
            <p:grpSpPr>
              <a:xfrm>
                <a:off x="3151451" y="1986611"/>
                <a:ext cx="635628" cy="519189"/>
                <a:chOff x="3151451" y="1986611"/>
                <a:chExt cx="635628" cy="519189"/>
              </a:xfrm>
            </p:grpSpPr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656CB2AE-A138-AF3D-91CE-E5DA322DE03C}"/>
                    </a:ext>
                  </a:extLst>
                </p:cNvPr>
                <p:cNvSpPr txBox="1"/>
                <p:nvPr/>
              </p:nvSpPr>
              <p:spPr>
                <a:xfrm>
                  <a:off x="3151451" y="2290356"/>
                  <a:ext cx="635628" cy="2154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ko-KR" altLang="en-US" sz="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Calibri" panose="020F0502020204030204" pitchFamily="34" charset="0"/>
                    </a:rPr>
                    <a:t>운영자 </a:t>
                  </a:r>
                  <a:r>
                    <a:rPr kumimoji="1" lang="en-US" altLang="ko-KR" sz="800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나눔스퀘어 Bold" panose="020B0600000101010101" pitchFamily="50" charset="-127"/>
                      <a:ea typeface="나눔스퀘어 Bold" panose="020B0600000101010101" pitchFamily="50" charset="-127"/>
                      <a:cs typeface="Calibri" panose="020F0502020204030204" pitchFamily="34" charset="0"/>
                    </a:rPr>
                    <a:t>C</a:t>
                  </a:r>
                  <a:endParaRPr kumimoji="1" lang="ko-KR" altLang="en-US" sz="8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endParaRPr>
                </a:p>
              </p:txBody>
            </p:sp>
            <p:pic>
              <p:nvPicPr>
                <p:cNvPr id="13" name="그림 12">
                  <a:extLst>
                    <a:ext uri="{FF2B5EF4-FFF2-40B4-BE49-F238E27FC236}">
                      <a16:creationId xmlns:a16="http://schemas.microsoft.com/office/drawing/2014/main" id="{B8BB5ABD-6D2F-0B41-76D4-AFFCC3912E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324701" y="1986611"/>
                  <a:ext cx="288000" cy="28800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92914812-203B-0F4D-B574-CBA8BB3036BE}"/>
              </a:ext>
            </a:extLst>
          </p:cNvPr>
          <p:cNvSpPr txBox="1"/>
          <p:nvPr/>
        </p:nvSpPr>
        <p:spPr>
          <a:xfrm>
            <a:off x="2617511" y="3307490"/>
            <a:ext cx="9153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모든 행위 기록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6559CCC3-FC9F-4734-95CA-4D1A451D3722}"/>
              </a:ext>
            </a:extLst>
          </p:cNvPr>
          <p:cNvGrpSpPr/>
          <p:nvPr/>
        </p:nvGrpSpPr>
        <p:grpSpPr>
          <a:xfrm>
            <a:off x="1448187" y="4593953"/>
            <a:ext cx="2400276" cy="773806"/>
            <a:chOff x="1444055" y="4173765"/>
            <a:chExt cx="2400276" cy="773806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08D2060-6EA8-9B3A-09E0-DC3CBAA8AD55}"/>
                </a:ext>
              </a:extLst>
            </p:cNvPr>
            <p:cNvSpPr/>
            <p:nvPr/>
          </p:nvSpPr>
          <p:spPr>
            <a:xfrm>
              <a:off x="1444055" y="4173765"/>
              <a:ext cx="2400276" cy="773806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8D5C2876-83A8-82C4-A1F3-15818DC72993}"/>
                </a:ext>
              </a:extLst>
            </p:cNvPr>
            <p:cNvGrpSpPr/>
            <p:nvPr/>
          </p:nvGrpSpPr>
          <p:grpSpPr>
            <a:xfrm>
              <a:off x="1721090" y="4241446"/>
              <a:ext cx="688009" cy="639954"/>
              <a:chOff x="-92947" y="3230386"/>
              <a:chExt cx="688009" cy="639954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37BE318-C4EB-6D67-669F-F52CF6CB8797}"/>
                  </a:ext>
                </a:extLst>
              </p:cNvPr>
              <p:cNvSpPr txBox="1"/>
              <p:nvPr/>
            </p:nvSpPr>
            <p:spPr>
              <a:xfrm>
                <a:off x="-92947" y="3501008"/>
                <a:ext cx="6880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en" altLang="ko-KR" sz="9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rPr>
                  <a:t>Resource</a:t>
                </a:r>
              </a:p>
              <a:p>
                <a:pPr algn="ctr"/>
                <a:r>
                  <a:rPr kumimoji="1" lang="en" altLang="ko-KR" sz="9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rPr>
                  <a:t>Manager</a:t>
                </a:r>
                <a:endParaRPr kumimoji="1" lang="ko-KR" altLang="en-US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endParaRPr>
              </a:p>
            </p:txBody>
          </p:sp>
          <p:pic>
            <p:nvPicPr>
              <p:cNvPr id="56" name="그림 55">
                <a:extLst>
                  <a:ext uri="{FF2B5EF4-FFF2-40B4-BE49-F238E27FC236}">
                    <a16:creationId xmlns:a16="http://schemas.microsoft.com/office/drawing/2014/main" id="{524FDA06-E304-321D-8554-37B24E5232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7058" y="3230386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DE848888-2BD2-F3D7-602F-5789B75F9B97}"/>
                </a:ext>
              </a:extLst>
            </p:cNvPr>
            <p:cNvGrpSpPr/>
            <p:nvPr/>
          </p:nvGrpSpPr>
          <p:grpSpPr>
            <a:xfrm>
              <a:off x="3005604" y="4252015"/>
              <a:ext cx="583813" cy="625353"/>
              <a:chOff x="565203" y="3245383"/>
              <a:chExt cx="583813" cy="625353"/>
            </a:xfrm>
          </p:grpSpPr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E43997D-B999-465B-04AF-9C09446EE08E}"/>
                  </a:ext>
                </a:extLst>
              </p:cNvPr>
              <p:cNvSpPr txBox="1"/>
              <p:nvPr/>
            </p:nvSpPr>
            <p:spPr>
              <a:xfrm>
                <a:off x="565203" y="3501404"/>
                <a:ext cx="5838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ko-KR"/>
                </a:defPPr>
                <a:lvl1pPr algn="ctr">
                  <a:defRPr kumimoji="1" sz="1000">
                    <a:solidFill>
                      <a:schemeClr val="bg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</a:lstStyle>
              <a:p>
                <a:r>
                  <a:rPr lang="en" altLang="ko-KR" sz="9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Cloud </a:t>
                </a:r>
              </a:p>
              <a:p>
                <a:r>
                  <a:rPr lang="en" altLang="ko-KR" sz="900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Insight </a:t>
                </a:r>
              </a:p>
            </p:txBody>
          </p:sp>
          <p:pic>
            <p:nvPicPr>
              <p:cNvPr id="58" name="그림 57">
                <a:extLst>
                  <a:ext uri="{FF2B5EF4-FFF2-40B4-BE49-F238E27FC236}">
                    <a16:creationId xmlns:a16="http://schemas.microsoft.com/office/drawing/2014/main" id="{A0B0A0F0-5B8C-C49C-9776-578A020A1E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3109" y="3245383"/>
                <a:ext cx="288000" cy="288000"/>
              </a:xfrm>
              <a:prstGeom prst="rect">
                <a:avLst/>
              </a:prstGeom>
            </p:spPr>
          </p:pic>
        </p:grpSp>
      </p:grpSp>
      <p:sp>
        <p:nvSpPr>
          <p:cNvPr id="160" name="TextBox 159">
            <a:extLst>
              <a:ext uri="{FF2B5EF4-FFF2-40B4-BE49-F238E27FC236}">
                <a16:creationId xmlns:a16="http://schemas.microsoft.com/office/drawing/2014/main" id="{C8CEC17C-DE17-0E78-F2C2-17152FCADF39}"/>
              </a:ext>
            </a:extLst>
          </p:cNvPr>
          <p:cNvSpPr txBox="1"/>
          <p:nvPr/>
        </p:nvSpPr>
        <p:spPr>
          <a:xfrm>
            <a:off x="2617511" y="5393894"/>
            <a:ext cx="91539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t>이상 탐지 연계</a:t>
            </a:r>
          </a:p>
        </p:txBody>
      </p: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294222BE-E1AB-EACA-8B52-3B5AFA14FD55}"/>
              </a:ext>
            </a:extLst>
          </p:cNvPr>
          <p:cNvCxnSpPr>
            <a:cxnSpLocks/>
          </p:cNvCxnSpPr>
          <p:nvPr/>
        </p:nvCxnSpPr>
        <p:spPr>
          <a:xfrm>
            <a:off x="2648325" y="5372744"/>
            <a:ext cx="0" cy="2537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cb100">
            <a:extLst>
              <a:ext uri="{FF2B5EF4-FFF2-40B4-BE49-F238E27FC236}">
                <a16:creationId xmlns:a16="http://schemas.microsoft.com/office/drawing/2014/main" id="{E07D08D2-AB81-1DD5-EC1E-8B9A5E278E76}"/>
              </a:ext>
            </a:extLst>
          </p:cNvPr>
          <p:cNvSpPr/>
          <p:nvPr/>
        </p:nvSpPr>
        <p:spPr>
          <a:xfrm>
            <a:off x="5206423" y="3975218"/>
            <a:ext cx="2940717" cy="906905"/>
          </a:xfrm>
          <a:prstGeom prst="round2SameRect">
            <a:avLst>
              <a:gd name="adj1" fmla="val 7427"/>
              <a:gd name="adj2" fmla="val 928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pic>
        <p:nvPicPr>
          <p:cNvPr id="182" name="그림 181">
            <a:extLst>
              <a:ext uri="{FF2B5EF4-FFF2-40B4-BE49-F238E27FC236}">
                <a16:creationId xmlns:a16="http://schemas.microsoft.com/office/drawing/2014/main" id="{B24CFF9E-8FDB-6BA0-B33E-4903CFB2E1B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542" y="4043185"/>
            <a:ext cx="288000" cy="288000"/>
          </a:xfrm>
          <a:prstGeom prst="rect">
            <a:avLst/>
          </a:prstGeom>
        </p:spPr>
      </p:pic>
      <p:sp>
        <p:nvSpPr>
          <p:cNvPr id="183" name="TextBox 32">
            <a:extLst>
              <a:ext uri="{FF2B5EF4-FFF2-40B4-BE49-F238E27FC236}">
                <a16:creationId xmlns:a16="http://schemas.microsoft.com/office/drawing/2014/main" id="{2D083A4C-28DF-374F-2BFA-A7422281CEA4}"/>
              </a:ext>
            </a:extLst>
          </p:cNvPr>
          <p:cNvSpPr txBox="1"/>
          <p:nvPr/>
        </p:nvSpPr>
        <p:spPr>
          <a:xfrm>
            <a:off x="5676639" y="4068502"/>
            <a:ext cx="1330933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리소스 생성</a:t>
            </a:r>
            <a:r>
              <a:rPr lang="en-US" altLang="ko-KR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·</a:t>
            </a:r>
            <a:r>
              <a:rPr lang="ko-KR" altLang="en-US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삭제 이력</a:t>
            </a:r>
            <a:endParaRPr lang="en-US" sz="1050" b="0" i="0" u="none" strike="noStrike" dirty="0">
              <a:solidFill>
                <a:srgbClr val="00BC1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1BD2C863-6CE2-B988-37DF-F68A394E21AD}"/>
              </a:ext>
            </a:extLst>
          </p:cNvPr>
          <p:cNvSpPr txBox="1"/>
          <p:nvPr/>
        </p:nvSpPr>
        <p:spPr>
          <a:xfrm>
            <a:off x="5671001" y="4336408"/>
            <a:ext cx="2476139" cy="460246"/>
          </a:xfrm>
          <a:prstGeom prst="rect">
            <a:avLst/>
          </a:prstGeom>
        </p:spPr>
        <p:txBody>
          <a:bodyPr lIns="0" tIns="27093" rIns="0" bIns="27093" rtlCol="0" anchor="ctr"/>
          <a:lstStyle>
            <a:defPPr>
              <a:defRPr lang="ko-KR"/>
            </a:defPPr>
            <a:lvl1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  <a:defRPr sz="1000" b="0" i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dirty="0"/>
              <a:t>탐지 시점 전후 어떤 리소스가 만들어졌는지 확인 가능 → 공격자의 거점 확인 가능</a:t>
            </a:r>
            <a:endParaRPr lang="en-US" altLang="ko-KR" dirty="0"/>
          </a:p>
        </p:txBody>
      </p:sp>
      <p:sp>
        <p:nvSpPr>
          <p:cNvPr id="192" name="cb100">
            <a:extLst>
              <a:ext uri="{FF2B5EF4-FFF2-40B4-BE49-F238E27FC236}">
                <a16:creationId xmlns:a16="http://schemas.microsoft.com/office/drawing/2014/main" id="{6680BDA7-77F0-8D14-E1CF-66C4978E3497}"/>
              </a:ext>
            </a:extLst>
          </p:cNvPr>
          <p:cNvSpPr/>
          <p:nvPr/>
        </p:nvSpPr>
        <p:spPr>
          <a:xfrm>
            <a:off x="8404623" y="3975218"/>
            <a:ext cx="2940717" cy="906905"/>
          </a:xfrm>
          <a:prstGeom prst="round2SameRect">
            <a:avLst>
              <a:gd name="adj1" fmla="val 7427"/>
              <a:gd name="adj2" fmla="val 928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194" name="TextBox 32">
            <a:extLst>
              <a:ext uri="{FF2B5EF4-FFF2-40B4-BE49-F238E27FC236}">
                <a16:creationId xmlns:a16="http://schemas.microsoft.com/office/drawing/2014/main" id="{2F021C23-888E-0A87-549D-81FC7D9025DB}"/>
              </a:ext>
            </a:extLst>
          </p:cNvPr>
          <p:cNvSpPr txBox="1"/>
          <p:nvPr/>
        </p:nvSpPr>
        <p:spPr>
          <a:xfrm>
            <a:off x="8874839" y="4068502"/>
            <a:ext cx="1538245" cy="206045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Sub Account </a:t>
            </a:r>
            <a:r>
              <a:rPr lang="ko-KR" altLang="en-US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접근 이력</a:t>
            </a:r>
            <a:endParaRPr lang="en-US" sz="1050" b="0" i="0" u="none" strike="noStrike" dirty="0">
              <a:solidFill>
                <a:srgbClr val="00BC1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B4E4870B-B668-AF82-AC56-393CCB86FE3B}"/>
              </a:ext>
            </a:extLst>
          </p:cNvPr>
          <p:cNvSpPr txBox="1"/>
          <p:nvPr/>
        </p:nvSpPr>
        <p:spPr>
          <a:xfrm>
            <a:off x="8869201" y="4336407"/>
            <a:ext cx="2468393" cy="460246"/>
          </a:xfrm>
          <a:prstGeom prst="rect">
            <a:avLst/>
          </a:prstGeom>
        </p:spPr>
        <p:txBody>
          <a:bodyPr lIns="0" tIns="27093" rIns="0" bIns="27093" rtlCol="0" anchor="ctr"/>
          <a:lstStyle>
            <a:defPPr>
              <a:defRPr lang="ko-KR"/>
            </a:defPPr>
            <a:lvl1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  <a:defRPr sz="1000" b="0" i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l"/>
            <a:r>
              <a:rPr lang="ko-KR" altLang="en-US" sz="1000" b="0" i="0" dirty="0"/>
              <a:t>어느 운영자 계정이 접근했는지 확인 가능</a:t>
            </a:r>
            <a:br>
              <a:rPr lang="en-US" altLang="ko-KR" dirty="0"/>
            </a:br>
            <a:r>
              <a:rPr lang="ko-KR" altLang="en-US" dirty="0"/>
              <a:t>→ 계정 탈취 여부 확인 가능</a:t>
            </a:r>
            <a:endParaRPr lang="en-US" altLang="ko-KR" sz="1000" b="0" i="0" dirty="0"/>
          </a:p>
        </p:txBody>
      </p:sp>
      <p:pic>
        <p:nvPicPr>
          <p:cNvPr id="204" name="Picture 48" descr="s16_29_그림_2.png">
            <a:extLst>
              <a:ext uri="{FF2B5EF4-FFF2-40B4-BE49-F238E27FC236}">
                <a16:creationId xmlns:a16="http://schemas.microsoft.com/office/drawing/2014/main" id="{1B7C5D05-03EB-69AF-4026-F47A4906EA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7215" y="4051222"/>
            <a:ext cx="288000" cy="288000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022C4A0C-D2B6-2307-2472-A2E484674106}"/>
              </a:ext>
            </a:extLst>
          </p:cNvPr>
          <p:cNvGrpSpPr/>
          <p:nvPr/>
        </p:nvGrpSpPr>
        <p:grpSpPr>
          <a:xfrm>
            <a:off x="1448187" y="1268760"/>
            <a:ext cx="2400276" cy="779479"/>
            <a:chOff x="1421532" y="1159503"/>
            <a:chExt cx="2400276" cy="779479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D37E2868-80F6-BD6B-7736-4701BE8BDAF7}"/>
                </a:ext>
              </a:extLst>
            </p:cNvPr>
            <p:cNvGrpSpPr/>
            <p:nvPr/>
          </p:nvGrpSpPr>
          <p:grpSpPr>
            <a:xfrm>
              <a:off x="2156988" y="1299009"/>
              <a:ext cx="953513" cy="561012"/>
              <a:chOff x="2156988" y="1299009"/>
              <a:chExt cx="953513" cy="561012"/>
            </a:xfrm>
          </p:grpSpPr>
          <p:pic>
            <p:nvPicPr>
              <p:cNvPr id="2" name="그림 1">
                <a:extLst>
                  <a:ext uri="{FF2B5EF4-FFF2-40B4-BE49-F238E27FC236}">
                    <a16:creationId xmlns:a16="http://schemas.microsoft.com/office/drawing/2014/main" id="{0DF1B0EE-E833-401D-2604-88DE00159C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39160" y="1299009"/>
                <a:ext cx="389168" cy="389168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E3BFF4B-E343-5CAF-4ABF-F4A68ED74E8E}"/>
                  </a:ext>
                </a:extLst>
              </p:cNvPr>
              <p:cNvSpPr txBox="1"/>
              <p:nvPr/>
            </p:nvSpPr>
            <p:spPr>
              <a:xfrm>
                <a:off x="2156988" y="1629189"/>
                <a:ext cx="953513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ko-KR" altLang="en-US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메인 계정</a:t>
                </a:r>
                <a:r>
                  <a:rPr kumimoji="1" lang="en-US" altLang="ko-KR" sz="9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Calibri" panose="020F0502020204030204" pitchFamily="34" charset="0"/>
                  </a:rPr>
                  <a:t>(Root)</a:t>
                </a:r>
                <a:endParaRPr kumimoji="1" lang="ko-KR" altLang="en-US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9E484DC-61B2-FC16-FE10-8C9EFEC32B11}"/>
                </a:ext>
              </a:extLst>
            </p:cNvPr>
            <p:cNvSpPr/>
            <p:nvPr/>
          </p:nvSpPr>
          <p:spPr>
            <a:xfrm>
              <a:off x="1421532" y="1159503"/>
              <a:ext cx="2400276" cy="779479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708FA8A-53DD-CF99-A656-874775AA5932}"/>
              </a:ext>
            </a:extLst>
          </p:cNvPr>
          <p:cNvGrpSpPr/>
          <p:nvPr/>
        </p:nvGrpSpPr>
        <p:grpSpPr>
          <a:xfrm>
            <a:off x="1448187" y="5618351"/>
            <a:ext cx="2400276" cy="779479"/>
            <a:chOff x="1444055" y="5198376"/>
            <a:chExt cx="2400276" cy="779479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03B6681A-30E0-2282-446C-0065A025C1B0}"/>
                </a:ext>
              </a:extLst>
            </p:cNvPr>
            <p:cNvGrpSpPr/>
            <p:nvPr/>
          </p:nvGrpSpPr>
          <p:grpSpPr>
            <a:xfrm>
              <a:off x="2111918" y="5320367"/>
              <a:ext cx="1088760" cy="535495"/>
              <a:chOff x="2112860" y="5234396"/>
              <a:chExt cx="1088760" cy="535495"/>
            </a:xfrm>
          </p:grpSpPr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62B199C3-562F-4F6D-D2B4-D2C592650435}"/>
                  </a:ext>
                </a:extLst>
              </p:cNvPr>
              <p:cNvSpPr txBox="1"/>
              <p:nvPr/>
            </p:nvSpPr>
            <p:spPr>
              <a:xfrm>
                <a:off x="2112860" y="5539059"/>
                <a:ext cx="108876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kumimoji="1" lang="ko-KR" altLang="en-US" sz="9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rPr>
                  <a:t>보안 알림 모니터링</a:t>
                </a:r>
                <a:endParaRPr kumimoji="1" lang="ko-KR" altLang="en-US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endParaRPr>
              </a:p>
            </p:txBody>
          </p:sp>
          <p:pic>
            <p:nvPicPr>
              <p:cNvPr id="164" name="그림 163">
                <a:extLst>
                  <a:ext uri="{FF2B5EF4-FFF2-40B4-BE49-F238E27FC236}">
                    <a16:creationId xmlns:a16="http://schemas.microsoft.com/office/drawing/2014/main" id="{33CA0B89-0642-7685-72E6-AB5FC08EE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13240" y="5234396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F7DFBD3-4044-32B3-B3D9-241F8EFA5532}"/>
                </a:ext>
              </a:extLst>
            </p:cNvPr>
            <p:cNvSpPr/>
            <p:nvPr/>
          </p:nvSpPr>
          <p:spPr>
            <a:xfrm>
              <a:off x="1444055" y="5198376"/>
              <a:ext cx="2400276" cy="779479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3401BA51-BE67-DBD4-B0DF-D28A287C0C6C}"/>
              </a:ext>
            </a:extLst>
          </p:cNvPr>
          <p:cNvGrpSpPr/>
          <p:nvPr/>
        </p:nvGrpSpPr>
        <p:grpSpPr>
          <a:xfrm>
            <a:off x="1448187" y="3569553"/>
            <a:ext cx="2400276" cy="773806"/>
            <a:chOff x="1444055" y="3430061"/>
            <a:chExt cx="2400276" cy="773806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6805DD66-2754-E9AE-71D7-F0665F549169}"/>
                </a:ext>
              </a:extLst>
            </p:cNvPr>
            <p:cNvGrpSpPr/>
            <p:nvPr/>
          </p:nvGrpSpPr>
          <p:grpSpPr>
            <a:xfrm>
              <a:off x="1903602" y="3532004"/>
              <a:ext cx="1409676" cy="569920"/>
              <a:chOff x="1903602" y="2841457"/>
              <a:chExt cx="1409676" cy="569920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5354C47-9B62-8167-C6D2-9BEDD3123A0A}"/>
                  </a:ext>
                </a:extLst>
              </p:cNvPr>
              <p:cNvSpPr txBox="1"/>
              <p:nvPr/>
            </p:nvSpPr>
            <p:spPr>
              <a:xfrm>
                <a:off x="1903602" y="3180545"/>
                <a:ext cx="1409676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900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Arial" panose="020B0604020202020204" pitchFamily="34" charset="0"/>
                  </a:rPr>
                  <a:t>Cloud  Activity Tracer</a:t>
                </a:r>
                <a:endParaRPr kumimoji="1" lang="ko-KR" altLang="en-US" sz="900" dirty="0"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panose="020B0604020202020204" pitchFamily="34" charset="0"/>
                </a:endParaRPr>
              </a:p>
            </p:txBody>
          </p:sp>
          <p:pic>
            <p:nvPicPr>
              <p:cNvPr id="47" name="그림 46">
                <a:extLst>
                  <a:ext uri="{FF2B5EF4-FFF2-40B4-BE49-F238E27FC236}">
                    <a16:creationId xmlns:a16="http://schemas.microsoft.com/office/drawing/2014/main" id="{8C255120-E1AE-75A8-FAC5-BA2A4F9272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4040" y="2841457"/>
                <a:ext cx="388800" cy="388800"/>
              </a:xfrm>
              <a:prstGeom prst="rect">
                <a:avLst/>
              </a:prstGeom>
            </p:spPr>
          </p:pic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DCB193B-35B9-4BD1-19FC-C67D1686E16E}"/>
                </a:ext>
              </a:extLst>
            </p:cNvPr>
            <p:cNvSpPr/>
            <p:nvPr/>
          </p:nvSpPr>
          <p:spPr>
            <a:xfrm>
              <a:off x="1444055" y="3430061"/>
              <a:ext cx="2400276" cy="773806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F9FB884F-B5EB-420E-8F2F-302A043747A2}"/>
              </a:ext>
            </a:extLst>
          </p:cNvPr>
          <p:cNvCxnSpPr>
            <a:cxnSpLocks/>
          </p:cNvCxnSpPr>
          <p:nvPr/>
        </p:nvCxnSpPr>
        <p:spPr>
          <a:xfrm>
            <a:off x="2648325" y="4343359"/>
            <a:ext cx="0" cy="2537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B5E964FB-7D2D-B09D-8AF0-FF4D0216A891}"/>
              </a:ext>
            </a:extLst>
          </p:cNvPr>
          <p:cNvCxnSpPr>
            <a:cxnSpLocks/>
          </p:cNvCxnSpPr>
          <p:nvPr/>
        </p:nvCxnSpPr>
        <p:spPr>
          <a:xfrm>
            <a:off x="2648325" y="3299909"/>
            <a:ext cx="0" cy="2537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화살표 연결선 133">
            <a:extLst>
              <a:ext uri="{FF2B5EF4-FFF2-40B4-BE49-F238E27FC236}">
                <a16:creationId xmlns:a16="http://schemas.microsoft.com/office/drawing/2014/main" id="{797099D5-EC3E-A897-F90B-0F6DE9119EB5}"/>
              </a:ext>
            </a:extLst>
          </p:cNvPr>
          <p:cNvCxnSpPr>
            <a:cxnSpLocks/>
          </p:cNvCxnSpPr>
          <p:nvPr/>
        </p:nvCxnSpPr>
        <p:spPr>
          <a:xfrm>
            <a:off x="2648325" y="2054844"/>
            <a:ext cx="0" cy="2537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F65BFF85-470A-04CD-E3A5-5C15876977C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32303" y="4929165"/>
            <a:ext cx="5344639" cy="144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2837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cb100">
            <a:extLst>
              <a:ext uri="{FF2B5EF4-FFF2-40B4-BE49-F238E27FC236}">
                <a16:creationId xmlns:a16="http://schemas.microsoft.com/office/drawing/2014/main" id="{7D5EC8C2-4D05-412C-1B96-7942BD1A1F2D}"/>
              </a:ext>
            </a:extLst>
          </p:cNvPr>
          <p:cNvSpPr/>
          <p:nvPr/>
        </p:nvSpPr>
        <p:spPr>
          <a:xfrm>
            <a:off x="424786" y="1017899"/>
            <a:ext cx="4447078" cy="5693317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4.2 NCP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 보안 아키텍처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감사 체계 </a:t>
            </a:r>
          </a:p>
        </p:txBody>
      </p:sp>
      <p:sp>
        <p:nvSpPr>
          <p:cNvPr id="239" name="cb100">
            <a:extLst>
              <a:ext uri="{FF2B5EF4-FFF2-40B4-BE49-F238E27FC236}">
                <a16:creationId xmlns:a16="http://schemas.microsoft.com/office/drawing/2014/main" id="{5E311765-6F0C-8AF1-054B-8EBA0A103AEB}"/>
              </a:ext>
            </a:extLst>
          </p:cNvPr>
          <p:cNvSpPr/>
          <p:nvPr/>
        </p:nvSpPr>
        <p:spPr>
          <a:xfrm>
            <a:off x="4981957" y="1373435"/>
            <a:ext cx="6768104" cy="1885758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pic>
        <p:nvPicPr>
          <p:cNvPr id="240" name="Picture 5">
            <a:extLst>
              <a:ext uri="{FF2B5EF4-FFF2-40B4-BE49-F238E27FC236}">
                <a16:creationId xmlns:a16="http://schemas.microsoft.com/office/drawing/2014/main" id="{7C147D6D-3FA0-539B-9257-37F54F84CC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157005" y="1772887"/>
            <a:ext cx="6192901" cy="15367"/>
          </a:xfrm>
          <a:prstGeom prst="rect">
            <a:avLst/>
          </a:prstGeom>
        </p:spPr>
      </p:pic>
      <p:sp>
        <p:nvSpPr>
          <p:cNvPr id="241" name="TextBox 18">
            <a:extLst>
              <a:ext uri="{FF2B5EF4-FFF2-40B4-BE49-F238E27FC236}">
                <a16:creationId xmlns:a16="http://schemas.microsoft.com/office/drawing/2014/main" id="{8A988E7E-9828-5B78-55B1-389D3EBF5D76}"/>
              </a:ext>
            </a:extLst>
          </p:cNvPr>
          <p:cNvSpPr txBox="1"/>
          <p:nvPr/>
        </p:nvSpPr>
        <p:spPr>
          <a:xfrm>
            <a:off x="5167563" y="1470755"/>
            <a:ext cx="1995083" cy="257625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2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구성</a:t>
            </a:r>
            <a:endParaRPr lang="en-US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sp>
        <p:nvSpPr>
          <p:cNvPr id="242" name="TextBox 32">
            <a:extLst>
              <a:ext uri="{FF2B5EF4-FFF2-40B4-BE49-F238E27FC236}">
                <a16:creationId xmlns:a16="http://schemas.microsoft.com/office/drawing/2014/main" id="{2CEA9555-90E4-DB9A-0750-702F4AE9D3F8}"/>
              </a:ext>
            </a:extLst>
          </p:cNvPr>
          <p:cNvSpPr txBox="1"/>
          <p:nvPr/>
        </p:nvSpPr>
        <p:spPr>
          <a:xfrm>
            <a:off x="5350502" y="1898404"/>
            <a:ext cx="1309308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Cloud Activity Tracer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43" name="TextBox 33">
            <a:extLst>
              <a:ext uri="{FF2B5EF4-FFF2-40B4-BE49-F238E27FC236}">
                <a16:creationId xmlns:a16="http://schemas.microsoft.com/office/drawing/2014/main" id="{217DFC42-6628-A367-274E-71D738B3E8B4}"/>
              </a:ext>
            </a:extLst>
          </p:cNvPr>
          <p:cNvSpPr txBox="1"/>
          <p:nvPr/>
        </p:nvSpPr>
        <p:spPr>
          <a:xfrm>
            <a:off x="5357957" y="2123392"/>
            <a:ext cx="6192900" cy="287904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콘솔</a:t>
            </a: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/API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를 통한 계정 활동 기록</a:t>
            </a: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관리 행위 감사 목적으로 누가 어떤 리소스를 변경했는지 추적</a:t>
            </a:r>
            <a:endParaRPr lang="ko-KR" altLang="en-US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1796A847-C456-AC5D-6ED8-B91C4CFCE323}"/>
              </a:ext>
            </a:extLst>
          </p:cNvPr>
          <p:cNvGrpSpPr/>
          <p:nvPr/>
        </p:nvGrpSpPr>
        <p:grpSpPr>
          <a:xfrm>
            <a:off x="5100200" y="1890574"/>
            <a:ext cx="216025" cy="266700"/>
            <a:chOff x="5169872" y="1519136"/>
            <a:chExt cx="216025" cy="266700"/>
          </a:xfrm>
        </p:grpSpPr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2F8690FC-C1C9-BA98-E2B1-C4A27F009ED7}"/>
                </a:ext>
              </a:extLst>
            </p:cNvPr>
            <p:cNvSpPr/>
            <p:nvPr/>
          </p:nvSpPr>
          <p:spPr>
            <a:xfrm>
              <a:off x="5196733" y="1563220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46" name="TextBox 26">
              <a:extLst>
                <a:ext uri="{FF2B5EF4-FFF2-40B4-BE49-F238E27FC236}">
                  <a16:creationId xmlns:a16="http://schemas.microsoft.com/office/drawing/2014/main" id="{6578FF96-031D-88F4-4059-DC1B4940EBD5}"/>
                </a:ext>
              </a:extLst>
            </p:cNvPr>
            <p:cNvSpPr txBox="1"/>
            <p:nvPr/>
          </p:nvSpPr>
          <p:spPr>
            <a:xfrm>
              <a:off x="5169872" y="1519136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47" name="그래픽 246" descr="확인 표시 단색으로 채워진">
              <a:extLst>
                <a:ext uri="{FF2B5EF4-FFF2-40B4-BE49-F238E27FC236}">
                  <a16:creationId xmlns:a16="http://schemas.microsoft.com/office/drawing/2014/main" id="{5FBC37F6-2567-BE84-D54A-E00842793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17764" y="1592366"/>
              <a:ext cx="120241" cy="120241"/>
            </a:xfrm>
            <a:prstGeom prst="rect">
              <a:avLst/>
            </a:prstGeom>
          </p:spPr>
        </p:pic>
      </p:grpSp>
      <p:sp>
        <p:nvSpPr>
          <p:cNvPr id="248" name="TextBox 32">
            <a:extLst>
              <a:ext uri="{FF2B5EF4-FFF2-40B4-BE49-F238E27FC236}">
                <a16:creationId xmlns:a16="http://schemas.microsoft.com/office/drawing/2014/main" id="{24636CFE-5D58-027E-E0F6-5AD9E11846EA}"/>
              </a:ext>
            </a:extLst>
          </p:cNvPr>
          <p:cNvSpPr txBox="1"/>
          <p:nvPr/>
        </p:nvSpPr>
        <p:spPr>
          <a:xfrm>
            <a:off x="5350502" y="2514901"/>
            <a:ext cx="1309307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Cloud Log Analytics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49" name="TextBox 33">
            <a:extLst>
              <a:ext uri="{FF2B5EF4-FFF2-40B4-BE49-F238E27FC236}">
                <a16:creationId xmlns:a16="http://schemas.microsoft.com/office/drawing/2014/main" id="{1B565B53-3D5E-3F50-F2DC-7A983EA5FCDE}"/>
              </a:ext>
            </a:extLst>
          </p:cNvPr>
          <p:cNvSpPr txBox="1"/>
          <p:nvPr/>
        </p:nvSpPr>
        <p:spPr>
          <a:xfrm>
            <a:off x="5357956" y="2720838"/>
            <a:ext cx="3270635" cy="440416"/>
          </a:xfrm>
          <a:prstGeom prst="rect">
            <a:avLst/>
          </a:prstGeom>
        </p:spPr>
        <p:txBody>
          <a:bodyPr lIns="0" tIns="27093" rIns="0" bIns="27093" rtlCol="0" anchor="ctr"/>
          <a:lstStyle/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</a:pP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다양한 서비스 로그를 수집</a:t>
            </a: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분석</a:t>
            </a:r>
            <a:r>
              <a:rPr lang="en-US" altLang="ko-KR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b="0" i="0" dirty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저장</a:t>
            </a:r>
            <a:endParaRPr lang="en-US" altLang="ko-KR" sz="10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</a:pP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운영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보안 로그 분석 목적으로 서버</a:t>
            </a:r>
            <a:r>
              <a:rPr lang="en-US" altLang="ko-KR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서비스 로그 통합 관리</a:t>
            </a:r>
          </a:p>
        </p:txBody>
      </p: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9C56520C-43CE-EB4E-51A3-38AA763FAB8B}"/>
              </a:ext>
            </a:extLst>
          </p:cNvPr>
          <p:cNvGrpSpPr/>
          <p:nvPr/>
        </p:nvGrpSpPr>
        <p:grpSpPr>
          <a:xfrm>
            <a:off x="5100200" y="2507071"/>
            <a:ext cx="216025" cy="266700"/>
            <a:chOff x="5087888" y="2079527"/>
            <a:chExt cx="216025" cy="266700"/>
          </a:xfrm>
        </p:grpSpPr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17E7C76D-3022-2D64-9FFE-2B5404C02F7F}"/>
                </a:ext>
              </a:extLst>
            </p:cNvPr>
            <p:cNvSpPr/>
            <p:nvPr/>
          </p:nvSpPr>
          <p:spPr>
            <a:xfrm>
              <a:off x="5114749" y="2123611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52" name="TextBox 26">
              <a:extLst>
                <a:ext uri="{FF2B5EF4-FFF2-40B4-BE49-F238E27FC236}">
                  <a16:creationId xmlns:a16="http://schemas.microsoft.com/office/drawing/2014/main" id="{B03CF847-CC44-C29C-69CE-E61ED871D595}"/>
                </a:ext>
              </a:extLst>
            </p:cNvPr>
            <p:cNvSpPr txBox="1"/>
            <p:nvPr/>
          </p:nvSpPr>
          <p:spPr>
            <a:xfrm>
              <a:off x="5087888" y="2079527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53" name="그래픽 252" descr="확인 표시 단색으로 채워진">
              <a:extLst>
                <a:ext uri="{FF2B5EF4-FFF2-40B4-BE49-F238E27FC236}">
                  <a16:creationId xmlns:a16="http://schemas.microsoft.com/office/drawing/2014/main" id="{ACF901C4-5130-D049-28CD-C371E0183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35780" y="2152757"/>
              <a:ext cx="120241" cy="120241"/>
            </a:xfrm>
            <a:prstGeom prst="rect">
              <a:avLst/>
            </a:prstGeom>
          </p:spPr>
        </p:pic>
      </p:grpSp>
      <p:sp>
        <p:nvSpPr>
          <p:cNvPr id="235" name="TextBox 234">
            <a:extLst>
              <a:ext uri="{FF2B5EF4-FFF2-40B4-BE49-F238E27FC236}">
                <a16:creationId xmlns:a16="http://schemas.microsoft.com/office/drawing/2014/main" id="{714ABDB9-601E-9E9F-904D-A0AB530BE121}"/>
              </a:ext>
            </a:extLst>
          </p:cNvPr>
          <p:cNvSpPr txBox="1"/>
          <p:nvPr/>
        </p:nvSpPr>
        <p:spPr>
          <a:xfrm>
            <a:off x="2628061" y="4246679"/>
            <a:ext cx="9991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i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이상</a:t>
            </a:r>
            <a:r>
              <a:rPr sz="900" i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sz="900" i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탐지</a:t>
            </a:r>
            <a:r>
              <a:rPr sz="900" i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/ </a:t>
            </a:r>
            <a:r>
              <a:rPr sz="900" i="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알림</a:t>
            </a:r>
            <a:endParaRPr sz="900" i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345" name="그룹 344">
            <a:extLst>
              <a:ext uri="{FF2B5EF4-FFF2-40B4-BE49-F238E27FC236}">
                <a16:creationId xmlns:a16="http://schemas.microsoft.com/office/drawing/2014/main" id="{7E925337-106D-69E5-6C27-95DE6D3B74CE}"/>
              </a:ext>
            </a:extLst>
          </p:cNvPr>
          <p:cNvGrpSpPr/>
          <p:nvPr/>
        </p:nvGrpSpPr>
        <p:grpSpPr>
          <a:xfrm>
            <a:off x="1470028" y="2295464"/>
            <a:ext cx="2400276" cy="881131"/>
            <a:chOff x="1525055" y="2238436"/>
            <a:chExt cx="2400276" cy="881131"/>
          </a:xfrm>
        </p:grpSpPr>
        <p:sp>
          <p:nvSpPr>
            <p:cNvPr id="300" name="직사각형 299">
              <a:extLst>
                <a:ext uri="{FF2B5EF4-FFF2-40B4-BE49-F238E27FC236}">
                  <a16:creationId xmlns:a16="http://schemas.microsoft.com/office/drawing/2014/main" id="{D6A21354-2041-2626-C3B6-45137B8BD9AA}"/>
                </a:ext>
              </a:extLst>
            </p:cNvPr>
            <p:cNvSpPr/>
            <p:nvPr/>
          </p:nvSpPr>
          <p:spPr>
            <a:xfrm>
              <a:off x="1525055" y="2238436"/>
              <a:ext cx="2400276" cy="88113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2ADEA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56D15798-1174-53A0-1595-D659980066F2}"/>
                </a:ext>
              </a:extLst>
            </p:cNvPr>
            <p:cNvGrpSpPr/>
            <p:nvPr/>
          </p:nvGrpSpPr>
          <p:grpSpPr>
            <a:xfrm>
              <a:off x="1565989" y="2294683"/>
              <a:ext cx="945498" cy="779479"/>
              <a:chOff x="1565989" y="2294683"/>
              <a:chExt cx="945498" cy="779479"/>
            </a:xfrm>
          </p:grpSpPr>
          <p:grpSp>
            <p:nvGrpSpPr>
              <p:cNvPr id="287" name="그룹 286">
                <a:extLst>
                  <a:ext uri="{FF2B5EF4-FFF2-40B4-BE49-F238E27FC236}">
                    <a16:creationId xmlns:a16="http://schemas.microsoft.com/office/drawing/2014/main" id="{9E2656DD-72CF-C71A-1B34-DD7AE08B7500}"/>
                  </a:ext>
                </a:extLst>
              </p:cNvPr>
              <p:cNvGrpSpPr/>
              <p:nvPr/>
            </p:nvGrpSpPr>
            <p:grpSpPr>
              <a:xfrm>
                <a:off x="1565989" y="2362348"/>
                <a:ext cx="945498" cy="644148"/>
                <a:chOff x="1512870" y="2452681"/>
                <a:chExt cx="945498" cy="644148"/>
              </a:xfrm>
            </p:grpSpPr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A2997251-3DB8-8D03-79CA-EAE512F55164}"/>
                    </a:ext>
                  </a:extLst>
                </p:cNvPr>
                <p:cNvSpPr txBox="1"/>
                <p:nvPr/>
              </p:nvSpPr>
              <p:spPr>
                <a:xfrm>
                  <a:off x="1512870" y="2727497"/>
                  <a:ext cx="94549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900" b="1" i="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Cloud Activity </a:t>
                  </a:r>
                </a:p>
                <a:p>
                  <a:pPr algn="ctr"/>
                  <a:r>
                    <a:rPr lang="en-US" sz="900" b="1" i="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Tracer</a:t>
                  </a:r>
                </a:p>
              </p:txBody>
            </p:sp>
            <p:pic>
              <p:nvPicPr>
                <p:cNvPr id="223" name="Picture 23" descr="s16_29_그림_2.png">
                  <a:extLst>
                    <a:ext uri="{FF2B5EF4-FFF2-40B4-BE49-F238E27FC236}">
                      <a16:creationId xmlns:a16="http://schemas.microsoft.com/office/drawing/2014/main" id="{83C315D1-7A3B-EF89-4DE9-7C414D8B14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41619" y="2452681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289" name="직사각형 288">
                <a:extLst>
                  <a:ext uri="{FF2B5EF4-FFF2-40B4-BE49-F238E27FC236}">
                    <a16:creationId xmlns:a16="http://schemas.microsoft.com/office/drawing/2014/main" id="{9BD5B079-68A8-9D29-8576-53885F152DD8}"/>
                  </a:ext>
                </a:extLst>
              </p:cNvPr>
              <p:cNvSpPr/>
              <p:nvPr/>
            </p:nvSpPr>
            <p:spPr>
              <a:xfrm>
                <a:off x="1567507" y="2294683"/>
                <a:ext cx="942462" cy="779479"/>
              </a:xfrm>
              <a:prstGeom prst="rect">
                <a:avLst/>
              </a:prstGeom>
              <a:noFill/>
              <a:ln w="9525">
                <a:solidFill>
                  <a:srgbClr val="B9B9B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23C433C5-0C8B-FC11-9DAD-CCDD8DBC1729}"/>
                </a:ext>
              </a:extLst>
            </p:cNvPr>
            <p:cNvGrpSpPr/>
            <p:nvPr/>
          </p:nvGrpSpPr>
          <p:grpSpPr>
            <a:xfrm>
              <a:off x="2921290" y="2294683"/>
              <a:ext cx="942462" cy="779479"/>
              <a:chOff x="2921290" y="2294683"/>
              <a:chExt cx="942462" cy="779479"/>
            </a:xfrm>
          </p:grpSpPr>
          <p:grpSp>
            <p:nvGrpSpPr>
              <p:cNvPr id="286" name="그룹 285">
                <a:extLst>
                  <a:ext uri="{FF2B5EF4-FFF2-40B4-BE49-F238E27FC236}">
                    <a16:creationId xmlns:a16="http://schemas.microsoft.com/office/drawing/2014/main" id="{2DC19708-F0D5-5A10-020D-5DE5B987F972}"/>
                  </a:ext>
                </a:extLst>
              </p:cNvPr>
              <p:cNvGrpSpPr/>
              <p:nvPr/>
            </p:nvGrpSpPr>
            <p:grpSpPr>
              <a:xfrm>
                <a:off x="3011313" y="2368417"/>
                <a:ext cx="762416" cy="632010"/>
                <a:chOff x="2740090" y="2464819"/>
                <a:chExt cx="762416" cy="632010"/>
              </a:xfrm>
            </p:grpSpPr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545F6F86-2127-88FD-6080-3B8E7B21657F}"/>
                    </a:ext>
                  </a:extLst>
                </p:cNvPr>
                <p:cNvSpPr txBox="1"/>
                <p:nvPr/>
              </p:nvSpPr>
              <p:spPr>
                <a:xfrm>
                  <a:off x="2740090" y="2727497"/>
                  <a:ext cx="76241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sz="900" b="1" i="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Cloud Log </a:t>
                  </a:r>
                  <a:endParaRPr lang="en-US"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  <a:p>
                  <a:pPr algn="ctr"/>
                  <a:r>
                    <a:rPr sz="900" b="1" i="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Analytics</a:t>
                  </a:r>
                </a:p>
              </p:txBody>
            </p:sp>
            <p:pic>
              <p:nvPicPr>
                <p:cNvPr id="226" name="Picture 26" descr="s16_33_그림_18.png">
                  <a:extLst>
                    <a:ext uri="{FF2B5EF4-FFF2-40B4-BE49-F238E27FC236}">
                      <a16:creationId xmlns:a16="http://schemas.microsoft.com/office/drawing/2014/main" id="{2DCB6BF6-E2FD-F145-D69E-44C8A552A4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977298" y="2464819"/>
                  <a:ext cx="288000" cy="288000"/>
                </a:xfrm>
                <a:prstGeom prst="rect">
                  <a:avLst/>
                </a:prstGeom>
              </p:spPr>
            </p:pic>
          </p:grpSp>
          <p:sp>
            <p:nvSpPr>
              <p:cNvPr id="296" name="직사각형 295">
                <a:extLst>
                  <a:ext uri="{FF2B5EF4-FFF2-40B4-BE49-F238E27FC236}">
                    <a16:creationId xmlns:a16="http://schemas.microsoft.com/office/drawing/2014/main" id="{92157B83-D3E1-2032-B22B-32F55CDC24A6}"/>
                  </a:ext>
                </a:extLst>
              </p:cNvPr>
              <p:cNvSpPr/>
              <p:nvPr/>
            </p:nvSpPr>
            <p:spPr>
              <a:xfrm>
                <a:off x="2921290" y="2294683"/>
                <a:ext cx="942462" cy="779479"/>
              </a:xfrm>
              <a:prstGeom prst="rect">
                <a:avLst/>
              </a:prstGeom>
              <a:noFill/>
              <a:ln w="9525">
                <a:solidFill>
                  <a:srgbClr val="B9B9B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</p:grpSp>
      </p:grpSp>
      <p:grpSp>
        <p:nvGrpSpPr>
          <p:cNvPr id="421" name="그룹 420">
            <a:extLst>
              <a:ext uri="{FF2B5EF4-FFF2-40B4-BE49-F238E27FC236}">
                <a16:creationId xmlns:a16="http://schemas.microsoft.com/office/drawing/2014/main" id="{F34D82B2-AEE1-C663-99E1-A5AA623122DC}"/>
              </a:ext>
            </a:extLst>
          </p:cNvPr>
          <p:cNvGrpSpPr/>
          <p:nvPr/>
        </p:nvGrpSpPr>
        <p:grpSpPr>
          <a:xfrm>
            <a:off x="1467445" y="1251222"/>
            <a:ext cx="2427782" cy="779479"/>
            <a:chOff x="1467445" y="1251222"/>
            <a:chExt cx="2427782" cy="779479"/>
          </a:xfrm>
        </p:grpSpPr>
        <p:grpSp>
          <p:nvGrpSpPr>
            <p:cNvPr id="281" name="그룹 280">
              <a:extLst>
                <a:ext uri="{FF2B5EF4-FFF2-40B4-BE49-F238E27FC236}">
                  <a16:creationId xmlns:a16="http://schemas.microsoft.com/office/drawing/2014/main" id="{A36559E5-119B-9084-19F5-92678FD56E27}"/>
                </a:ext>
              </a:extLst>
            </p:cNvPr>
            <p:cNvGrpSpPr/>
            <p:nvPr/>
          </p:nvGrpSpPr>
          <p:grpSpPr>
            <a:xfrm>
              <a:off x="1467445" y="1398294"/>
              <a:ext cx="913448" cy="525701"/>
              <a:chOff x="1166351" y="1452205"/>
              <a:chExt cx="913448" cy="525701"/>
            </a:xfrm>
          </p:grpSpPr>
          <p:pic>
            <p:nvPicPr>
              <p:cNvPr id="210" name="Picture 10" descr="s16_29_그림_2.png">
                <a:extLst>
                  <a:ext uri="{FF2B5EF4-FFF2-40B4-BE49-F238E27FC236}">
                    <a16:creationId xmlns:a16="http://schemas.microsoft.com/office/drawing/2014/main" id="{82157826-6C78-902D-9A83-7B8B35F8AD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79075" y="1452205"/>
                <a:ext cx="288000" cy="288000"/>
              </a:xfrm>
              <a:prstGeom prst="rect">
                <a:avLst/>
              </a:prstGeom>
            </p:spPr>
          </p:pic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1EAAB230-DCC4-B7E4-BD60-4E276A779447}"/>
                  </a:ext>
                </a:extLst>
              </p:cNvPr>
              <p:cNvSpPr txBox="1"/>
              <p:nvPr/>
            </p:nvSpPr>
            <p:spPr>
              <a:xfrm>
                <a:off x="1166351" y="1747074"/>
                <a:ext cx="913448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0" i="0" dirty="0" err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콘솔</a:t>
                </a:r>
                <a:r>
                  <a:rPr sz="900" b="0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/API </a:t>
                </a:r>
                <a:r>
                  <a:rPr sz="900" b="0" i="0" dirty="0" err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행위</a:t>
                </a:r>
                <a:endParaRPr sz="900" b="0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grpSp>
          <p:nvGrpSpPr>
            <p:cNvPr id="284" name="그룹 283">
              <a:extLst>
                <a:ext uri="{FF2B5EF4-FFF2-40B4-BE49-F238E27FC236}">
                  <a16:creationId xmlns:a16="http://schemas.microsoft.com/office/drawing/2014/main" id="{A7A85AB2-C893-9C5B-6FA0-A23DA2E62006}"/>
                </a:ext>
              </a:extLst>
            </p:cNvPr>
            <p:cNvGrpSpPr/>
            <p:nvPr/>
          </p:nvGrpSpPr>
          <p:grpSpPr>
            <a:xfrm>
              <a:off x="2361445" y="1389310"/>
              <a:ext cx="728472" cy="543669"/>
              <a:chOff x="2143720" y="1454452"/>
              <a:chExt cx="728472" cy="543669"/>
            </a:xfrm>
          </p:grpSpPr>
          <p:pic>
            <p:nvPicPr>
              <p:cNvPr id="214" name="Picture 14" descr="s02_25_그림_20.png">
                <a:extLst>
                  <a:ext uri="{FF2B5EF4-FFF2-40B4-BE49-F238E27FC236}">
                    <a16:creationId xmlns:a16="http://schemas.microsoft.com/office/drawing/2014/main" id="{1D4EB709-B09D-C387-669D-A4D0671091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63956" y="1454452"/>
                <a:ext cx="288000" cy="288000"/>
              </a:xfrm>
              <a:prstGeom prst="rect">
                <a:avLst/>
              </a:prstGeom>
            </p:spPr>
          </p:pic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00144B3A-DFF0-3D3E-9EB6-C4F063BDAEF6}"/>
                  </a:ext>
                </a:extLst>
              </p:cNvPr>
              <p:cNvSpPr txBox="1"/>
              <p:nvPr/>
            </p:nvSpPr>
            <p:spPr>
              <a:xfrm>
                <a:off x="2143720" y="1767289"/>
                <a:ext cx="728472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0" i="0" dirty="0" err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서버</a:t>
                </a:r>
                <a:r>
                  <a:rPr sz="900" b="0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:r>
                  <a:rPr sz="900" b="0" i="0" dirty="0" err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로그</a:t>
                </a:r>
                <a:endParaRPr sz="900" b="0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grpSp>
          <p:nvGrpSpPr>
            <p:cNvPr id="285" name="그룹 284">
              <a:extLst>
                <a:ext uri="{FF2B5EF4-FFF2-40B4-BE49-F238E27FC236}">
                  <a16:creationId xmlns:a16="http://schemas.microsoft.com/office/drawing/2014/main" id="{5B771972-F0B8-F6A0-F6A6-BF667BD90E49}"/>
                </a:ext>
              </a:extLst>
            </p:cNvPr>
            <p:cNvGrpSpPr/>
            <p:nvPr/>
          </p:nvGrpSpPr>
          <p:grpSpPr>
            <a:xfrm>
              <a:off x="3127618" y="1389556"/>
              <a:ext cx="767609" cy="543423"/>
              <a:chOff x="3454360" y="1301221"/>
              <a:chExt cx="767609" cy="543423"/>
            </a:xfrm>
          </p:grpSpPr>
          <p:pic>
            <p:nvPicPr>
              <p:cNvPr id="218" name="Picture 18" descr="s16_19_그림_11.png">
                <a:extLst>
                  <a:ext uri="{FF2B5EF4-FFF2-40B4-BE49-F238E27FC236}">
                    <a16:creationId xmlns:a16="http://schemas.microsoft.com/office/drawing/2014/main" id="{63CCFF9A-9D5A-2E14-A3D3-BBC24376ED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94164" y="1301221"/>
                <a:ext cx="288000" cy="288000"/>
              </a:xfrm>
              <a:prstGeom prst="rect">
                <a:avLst/>
              </a:prstGeom>
            </p:spPr>
          </p:pic>
          <p:sp>
            <p:nvSpPr>
              <p:cNvPr id="219" name="TextBox 218">
                <a:extLst>
                  <a:ext uri="{FF2B5EF4-FFF2-40B4-BE49-F238E27FC236}">
                    <a16:creationId xmlns:a16="http://schemas.microsoft.com/office/drawing/2014/main" id="{35903810-BC49-9ABD-8C94-938E16833A3A}"/>
                  </a:ext>
                </a:extLst>
              </p:cNvPr>
              <p:cNvSpPr txBox="1"/>
              <p:nvPr/>
            </p:nvSpPr>
            <p:spPr>
              <a:xfrm>
                <a:off x="3454360" y="1613813"/>
                <a:ext cx="767609" cy="230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0" i="0" dirty="0" err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서비스</a:t>
                </a:r>
                <a:r>
                  <a:rPr sz="900" b="0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:r>
                  <a:rPr sz="900" b="0" i="0" dirty="0" err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로그</a:t>
                </a:r>
                <a:endParaRPr sz="900" b="0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sp>
          <p:nvSpPr>
            <p:cNvPr id="298" name="직사각형 297">
              <a:extLst>
                <a:ext uri="{FF2B5EF4-FFF2-40B4-BE49-F238E27FC236}">
                  <a16:creationId xmlns:a16="http://schemas.microsoft.com/office/drawing/2014/main" id="{37CE44F2-BAF6-4A83-C096-A588986738DC}"/>
                </a:ext>
              </a:extLst>
            </p:cNvPr>
            <p:cNvSpPr/>
            <p:nvPr/>
          </p:nvSpPr>
          <p:spPr>
            <a:xfrm>
              <a:off x="1470028" y="1251222"/>
              <a:ext cx="2425199" cy="779479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46" name="그룹 345">
            <a:extLst>
              <a:ext uri="{FF2B5EF4-FFF2-40B4-BE49-F238E27FC236}">
                <a16:creationId xmlns:a16="http://schemas.microsoft.com/office/drawing/2014/main" id="{227D06AF-AB15-D8F7-AFE8-D4C75C20C29E}"/>
              </a:ext>
            </a:extLst>
          </p:cNvPr>
          <p:cNvGrpSpPr/>
          <p:nvPr/>
        </p:nvGrpSpPr>
        <p:grpSpPr>
          <a:xfrm>
            <a:off x="1470028" y="3441358"/>
            <a:ext cx="2400276" cy="779479"/>
            <a:chOff x="1520428" y="3322783"/>
            <a:chExt cx="2400276" cy="779479"/>
          </a:xfrm>
        </p:grpSpPr>
        <p:grpSp>
          <p:nvGrpSpPr>
            <p:cNvPr id="333" name="그룹 332">
              <a:extLst>
                <a:ext uri="{FF2B5EF4-FFF2-40B4-BE49-F238E27FC236}">
                  <a16:creationId xmlns:a16="http://schemas.microsoft.com/office/drawing/2014/main" id="{D16A6345-36D5-F4E1-A842-8AEE26176EF6}"/>
                </a:ext>
              </a:extLst>
            </p:cNvPr>
            <p:cNvGrpSpPr/>
            <p:nvPr/>
          </p:nvGrpSpPr>
          <p:grpSpPr>
            <a:xfrm>
              <a:off x="2844149" y="3454568"/>
              <a:ext cx="799266" cy="514712"/>
              <a:chOff x="2962150" y="3405549"/>
              <a:chExt cx="799266" cy="514712"/>
            </a:xfrm>
          </p:grpSpPr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FC1CDE54-9AFF-4B4E-8CB6-A7152B5AFDCB}"/>
                  </a:ext>
                </a:extLst>
              </p:cNvPr>
              <p:cNvSpPr txBox="1"/>
              <p:nvPr/>
            </p:nvSpPr>
            <p:spPr>
              <a:xfrm>
                <a:off x="2962150" y="3689429"/>
                <a:ext cx="79926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Monitoring </a:t>
                </a:r>
              </a:p>
            </p:txBody>
          </p:sp>
          <p:pic>
            <p:nvPicPr>
              <p:cNvPr id="231" name="Picture 31" descr="s16_19_그림_11.png">
                <a:extLst>
                  <a:ext uri="{FF2B5EF4-FFF2-40B4-BE49-F238E27FC236}">
                    <a16:creationId xmlns:a16="http://schemas.microsoft.com/office/drawing/2014/main" id="{158D3913-0336-7D82-F365-176CABDBFF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217783" y="3405549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332" name="그룹 331">
              <a:extLst>
                <a:ext uri="{FF2B5EF4-FFF2-40B4-BE49-F238E27FC236}">
                  <a16:creationId xmlns:a16="http://schemas.microsoft.com/office/drawing/2014/main" id="{80D4411E-DA87-E66E-3369-65E914BBE6B3}"/>
                </a:ext>
              </a:extLst>
            </p:cNvPr>
            <p:cNvGrpSpPr/>
            <p:nvPr/>
          </p:nvGrpSpPr>
          <p:grpSpPr>
            <a:xfrm>
              <a:off x="1740760" y="3476492"/>
              <a:ext cx="959510" cy="470863"/>
              <a:chOff x="1579034" y="3414586"/>
              <a:chExt cx="959510" cy="470863"/>
            </a:xfrm>
          </p:grpSpPr>
          <p:pic>
            <p:nvPicPr>
              <p:cNvPr id="230" name="Picture 30" descr="s16_31_그림_10.png">
                <a:extLst>
                  <a:ext uri="{FF2B5EF4-FFF2-40B4-BE49-F238E27FC236}">
                    <a16:creationId xmlns:a16="http://schemas.microsoft.com/office/drawing/2014/main" id="{9EAEA45A-F036-DCBA-1A33-576872F6F0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14789" y="3414586"/>
                <a:ext cx="288000" cy="288000"/>
              </a:xfrm>
              <a:prstGeom prst="rect">
                <a:avLst/>
              </a:prstGeom>
            </p:spPr>
          </p:pic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788136B0-5CA8-BB6D-7D41-4353FD81365C}"/>
                  </a:ext>
                </a:extLst>
              </p:cNvPr>
              <p:cNvSpPr txBox="1"/>
              <p:nvPr/>
            </p:nvSpPr>
            <p:spPr>
              <a:xfrm>
                <a:off x="1579034" y="3654617"/>
                <a:ext cx="95951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Cloud Insight</a:t>
                </a:r>
              </a:p>
            </p:txBody>
          </p:sp>
        </p:grp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0801D6E9-C75A-DC66-E682-64776B267E4F}"/>
                </a:ext>
              </a:extLst>
            </p:cNvPr>
            <p:cNvSpPr/>
            <p:nvPr/>
          </p:nvSpPr>
          <p:spPr>
            <a:xfrm>
              <a:off x="1520428" y="3322783"/>
              <a:ext cx="2400276" cy="779479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47" name="그룹 346">
            <a:extLst>
              <a:ext uri="{FF2B5EF4-FFF2-40B4-BE49-F238E27FC236}">
                <a16:creationId xmlns:a16="http://schemas.microsoft.com/office/drawing/2014/main" id="{27A72CE5-8FAF-9F65-985B-67490CAAE982}"/>
              </a:ext>
            </a:extLst>
          </p:cNvPr>
          <p:cNvGrpSpPr/>
          <p:nvPr/>
        </p:nvGrpSpPr>
        <p:grpSpPr>
          <a:xfrm>
            <a:off x="1470028" y="4485600"/>
            <a:ext cx="2400276" cy="779479"/>
            <a:chOff x="1520428" y="4477572"/>
            <a:chExt cx="2400276" cy="779479"/>
          </a:xfrm>
        </p:grpSpPr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6248E404-1EB5-989A-C4DB-2417952D679E}"/>
                </a:ext>
              </a:extLst>
            </p:cNvPr>
            <p:cNvGrpSpPr/>
            <p:nvPr/>
          </p:nvGrpSpPr>
          <p:grpSpPr>
            <a:xfrm>
              <a:off x="2087736" y="4628480"/>
              <a:ext cx="1265660" cy="487506"/>
              <a:chOff x="2121701" y="4519971"/>
              <a:chExt cx="1265660" cy="487506"/>
            </a:xfrm>
          </p:grpSpPr>
          <p:pic>
            <p:nvPicPr>
              <p:cNvPr id="279" name="Picture 31" descr="s16_19_그림_11.png">
                <a:extLst>
                  <a:ext uri="{FF2B5EF4-FFF2-40B4-BE49-F238E27FC236}">
                    <a16:creationId xmlns:a16="http://schemas.microsoft.com/office/drawing/2014/main" id="{5214248A-59B9-02DD-65D0-2C1AB9314A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10531" y="4519971"/>
                <a:ext cx="288000" cy="288000"/>
              </a:xfrm>
              <a:prstGeom prst="rect">
                <a:avLst/>
              </a:prstGeom>
            </p:spPr>
          </p:pic>
          <p:sp>
            <p:nvSpPr>
              <p:cNvPr id="280" name="TextBox 279">
                <a:extLst>
                  <a:ext uri="{FF2B5EF4-FFF2-40B4-BE49-F238E27FC236}">
                    <a16:creationId xmlns:a16="http://schemas.microsoft.com/office/drawing/2014/main" id="{3F5CE257-117B-7958-3498-18676EB1BFFA}"/>
                  </a:ext>
                </a:extLst>
              </p:cNvPr>
              <p:cNvSpPr txBox="1"/>
              <p:nvPr/>
            </p:nvSpPr>
            <p:spPr>
              <a:xfrm>
                <a:off x="2121701" y="4776645"/>
                <a:ext cx="1265660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ko-KR" altLang="en-US" sz="900" b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로그 검색 및 대시보드</a:t>
                </a:r>
                <a:endParaRPr sz="900" b="1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3FF3CC50-9FEA-6180-ECF8-CE61D19281C9}"/>
                </a:ext>
              </a:extLst>
            </p:cNvPr>
            <p:cNvSpPr/>
            <p:nvPr/>
          </p:nvSpPr>
          <p:spPr>
            <a:xfrm>
              <a:off x="1520428" y="4477572"/>
              <a:ext cx="2400276" cy="779479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348" name="그룹 347">
            <a:extLst>
              <a:ext uri="{FF2B5EF4-FFF2-40B4-BE49-F238E27FC236}">
                <a16:creationId xmlns:a16="http://schemas.microsoft.com/office/drawing/2014/main" id="{5C90A419-1153-60CA-7203-5E6F0D8095EB}"/>
              </a:ext>
            </a:extLst>
          </p:cNvPr>
          <p:cNvGrpSpPr/>
          <p:nvPr/>
        </p:nvGrpSpPr>
        <p:grpSpPr>
          <a:xfrm>
            <a:off x="1470028" y="5529841"/>
            <a:ext cx="2400276" cy="779479"/>
            <a:chOff x="1520428" y="5368017"/>
            <a:chExt cx="2400276" cy="779479"/>
          </a:xfrm>
        </p:grpSpPr>
        <p:grpSp>
          <p:nvGrpSpPr>
            <p:cNvPr id="339" name="그룹 338">
              <a:extLst>
                <a:ext uri="{FF2B5EF4-FFF2-40B4-BE49-F238E27FC236}">
                  <a16:creationId xmlns:a16="http://schemas.microsoft.com/office/drawing/2014/main" id="{9FE36AE4-0056-C785-6754-C359B4567246}"/>
                </a:ext>
              </a:extLst>
            </p:cNvPr>
            <p:cNvGrpSpPr/>
            <p:nvPr/>
          </p:nvGrpSpPr>
          <p:grpSpPr>
            <a:xfrm>
              <a:off x="2141672" y="5434966"/>
              <a:ext cx="1117195" cy="645579"/>
              <a:chOff x="2121801" y="5394709"/>
              <a:chExt cx="1117195" cy="645579"/>
            </a:xfrm>
          </p:grpSpPr>
          <p:sp>
            <p:nvSpPr>
              <p:cNvPr id="277" name="TextBox 276">
                <a:extLst>
                  <a:ext uri="{FF2B5EF4-FFF2-40B4-BE49-F238E27FC236}">
                    <a16:creationId xmlns:a16="http://schemas.microsoft.com/office/drawing/2014/main" id="{73E34E3B-B2FB-45E6-E966-16089E49321C}"/>
                  </a:ext>
                </a:extLst>
              </p:cNvPr>
              <p:cNvSpPr txBox="1"/>
              <p:nvPr/>
            </p:nvSpPr>
            <p:spPr>
              <a:xfrm>
                <a:off x="2121801" y="5670956"/>
                <a:ext cx="111719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Object Storage </a:t>
                </a:r>
                <a:endParaRPr lang="en-US" sz="900" b="1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pPr algn="ctr"/>
                <a:r>
                  <a:rPr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</a:t>
                </a:r>
                <a:r>
                  <a:rPr sz="900" b="1" i="0" dirty="0" err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장기</a:t>
                </a:r>
                <a:r>
                  <a:rPr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:r>
                  <a:rPr sz="900" b="1" i="0" dirty="0" err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보관</a:t>
                </a:r>
                <a:r>
                  <a:rPr lang="en-US" altLang="ko-KR"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)</a:t>
                </a:r>
                <a:endParaRPr sz="900" b="1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pic>
            <p:nvPicPr>
              <p:cNvPr id="278" name="Picture 38" descr="s16_22_그림_17.png">
                <a:extLst>
                  <a:ext uri="{FF2B5EF4-FFF2-40B4-BE49-F238E27FC236}">
                    <a16:creationId xmlns:a16="http://schemas.microsoft.com/office/drawing/2014/main" id="{FE801420-131E-233D-F8AF-DB2BEDDBB2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536398" y="5394709"/>
                <a:ext cx="288000" cy="288000"/>
              </a:xfrm>
              <a:prstGeom prst="rect">
                <a:avLst/>
              </a:prstGeom>
            </p:spPr>
          </p:pic>
        </p:grpSp>
        <p:sp>
          <p:nvSpPr>
            <p:cNvPr id="337" name="직사각형 336">
              <a:extLst>
                <a:ext uri="{FF2B5EF4-FFF2-40B4-BE49-F238E27FC236}">
                  <a16:creationId xmlns:a16="http://schemas.microsoft.com/office/drawing/2014/main" id="{9DA16871-064F-BE11-5ABB-A24E8559AED9}"/>
                </a:ext>
              </a:extLst>
            </p:cNvPr>
            <p:cNvSpPr/>
            <p:nvPr/>
          </p:nvSpPr>
          <p:spPr>
            <a:xfrm>
              <a:off x="1520428" y="5368017"/>
              <a:ext cx="2400276" cy="779479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cxnSp>
        <p:nvCxnSpPr>
          <p:cNvPr id="349" name="직선 화살표 연결선 348">
            <a:extLst>
              <a:ext uri="{FF2B5EF4-FFF2-40B4-BE49-F238E27FC236}">
                <a16:creationId xmlns:a16="http://schemas.microsoft.com/office/drawing/2014/main" id="{1B49078C-3806-6820-291C-9AE160F01E58}"/>
              </a:ext>
            </a:extLst>
          </p:cNvPr>
          <p:cNvCxnSpPr>
            <a:cxnSpLocks/>
          </p:cNvCxnSpPr>
          <p:nvPr/>
        </p:nvCxnSpPr>
        <p:spPr>
          <a:xfrm>
            <a:off x="2648158" y="4255884"/>
            <a:ext cx="0" cy="230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1" name="TextBox 350">
            <a:extLst>
              <a:ext uri="{FF2B5EF4-FFF2-40B4-BE49-F238E27FC236}">
                <a16:creationId xmlns:a16="http://schemas.microsoft.com/office/drawing/2014/main" id="{721CE1A4-056E-62E9-2C4A-A422EE249554}"/>
              </a:ext>
            </a:extLst>
          </p:cNvPr>
          <p:cNvSpPr txBox="1"/>
          <p:nvPr/>
        </p:nvSpPr>
        <p:spPr>
          <a:xfrm>
            <a:off x="2628061" y="3198651"/>
            <a:ext cx="9991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분석 및 저장</a:t>
            </a:r>
            <a:endParaRPr sz="900" i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52" name="직선 화살표 연결선 351">
            <a:extLst>
              <a:ext uri="{FF2B5EF4-FFF2-40B4-BE49-F238E27FC236}">
                <a16:creationId xmlns:a16="http://schemas.microsoft.com/office/drawing/2014/main" id="{13D4D872-0652-5D3B-447B-798406BBC53E}"/>
              </a:ext>
            </a:extLst>
          </p:cNvPr>
          <p:cNvCxnSpPr>
            <a:cxnSpLocks/>
          </p:cNvCxnSpPr>
          <p:nvPr/>
        </p:nvCxnSpPr>
        <p:spPr>
          <a:xfrm>
            <a:off x="2648158" y="3207856"/>
            <a:ext cx="0" cy="230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352">
            <a:extLst>
              <a:ext uri="{FF2B5EF4-FFF2-40B4-BE49-F238E27FC236}">
                <a16:creationId xmlns:a16="http://schemas.microsoft.com/office/drawing/2014/main" id="{B7544CEE-FF10-43EE-1164-9B3AE5E3055C}"/>
              </a:ext>
            </a:extLst>
          </p:cNvPr>
          <p:cNvSpPr txBox="1"/>
          <p:nvPr/>
        </p:nvSpPr>
        <p:spPr>
          <a:xfrm>
            <a:off x="2628061" y="2045614"/>
            <a:ext cx="99911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 수집</a:t>
            </a:r>
            <a:endParaRPr sz="900" i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54" name="직선 화살표 연결선 353">
            <a:extLst>
              <a:ext uri="{FF2B5EF4-FFF2-40B4-BE49-F238E27FC236}">
                <a16:creationId xmlns:a16="http://schemas.microsoft.com/office/drawing/2014/main" id="{86BAFDD4-3B14-9CBE-6B04-2F8CF5652771}"/>
              </a:ext>
            </a:extLst>
          </p:cNvPr>
          <p:cNvCxnSpPr>
            <a:cxnSpLocks/>
          </p:cNvCxnSpPr>
          <p:nvPr/>
        </p:nvCxnSpPr>
        <p:spPr>
          <a:xfrm>
            <a:off x="2648158" y="2054819"/>
            <a:ext cx="0" cy="230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직선 화살표 연결선 354">
            <a:extLst>
              <a:ext uri="{FF2B5EF4-FFF2-40B4-BE49-F238E27FC236}">
                <a16:creationId xmlns:a16="http://schemas.microsoft.com/office/drawing/2014/main" id="{742D97A1-4CEA-3E71-75A9-577C069216EC}"/>
              </a:ext>
            </a:extLst>
          </p:cNvPr>
          <p:cNvCxnSpPr>
            <a:cxnSpLocks/>
          </p:cNvCxnSpPr>
          <p:nvPr/>
        </p:nvCxnSpPr>
        <p:spPr>
          <a:xfrm>
            <a:off x="2648158" y="5293567"/>
            <a:ext cx="0" cy="230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7" name="cb100">
            <a:extLst>
              <a:ext uri="{FF2B5EF4-FFF2-40B4-BE49-F238E27FC236}">
                <a16:creationId xmlns:a16="http://schemas.microsoft.com/office/drawing/2014/main" id="{7CCA29F4-1D3D-37DF-0049-AADE33D62408}"/>
              </a:ext>
            </a:extLst>
          </p:cNvPr>
          <p:cNvSpPr/>
          <p:nvPr/>
        </p:nvSpPr>
        <p:spPr>
          <a:xfrm>
            <a:off x="4997144" y="3568735"/>
            <a:ext cx="6768104" cy="2633496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pic>
        <p:nvPicPr>
          <p:cNvPr id="378" name="Picture 5">
            <a:extLst>
              <a:ext uri="{FF2B5EF4-FFF2-40B4-BE49-F238E27FC236}">
                <a16:creationId xmlns:a16="http://schemas.microsoft.com/office/drawing/2014/main" id="{568CA50B-388A-8A1F-C38B-A71CE31D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172192" y="3950332"/>
            <a:ext cx="6192901" cy="15367"/>
          </a:xfrm>
          <a:prstGeom prst="rect">
            <a:avLst/>
          </a:prstGeom>
        </p:spPr>
      </p:pic>
      <p:sp>
        <p:nvSpPr>
          <p:cNvPr id="379" name="TextBox 18">
            <a:extLst>
              <a:ext uri="{FF2B5EF4-FFF2-40B4-BE49-F238E27FC236}">
                <a16:creationId xmlns:a16="http://schemas.microsoft.com/office/drawing/2014/main" id="{18915363-F570-386C-908B-9F89E0BEA476}"/>
              </a:ext>
            </a:extLst>
          </p:cNvPr>
          <p:cNvSpPr txBox="1"/>
          <p:nvPr/>
        </p:nvSpPr>
        <p:spPr>
          <a:xfrm>
            <a:off x="5182750" y="3648200"/>
            <a:ext cx="1995083" cy="257625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2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조사 시 로그 별 확인 항목</a:t>
            </a:r>
            <a:endParaRPr lang="en-US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BB563B1B-3C4C-068E-7FD0-21D8E04B8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2286625"/>
              </p:ext>
            </p:extLst>
          </p:nvPr>
        </p:nvGraphicFramePr>
        <p:xfrm>
          <a:off x="5267569" y="4049559"/>
          <a:ext cx="6287136" cy="1928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647">
                  <a:extLst>
                    <a:ext uri="{9D8B030D-6E8A-4147-A177-3AD203B41FA5}">
                      <a16:colId xmlns:a16="http://schemas.microsoft.com/office/drawing/2014/main" val="3105677795"/>
                    </a:ext>
                  </a:extLst>
                </a:gridCol>
                <a:gridCol w="4074489">
                  <a:extLst>
                    <a:ext uri="{9D8B030D-6E8A-4147-A177-3AD203B41FA5}">
                      <a16:colId xmlns:a16="http://schemas.microsoft.com/office/drawing/2014/main" val="3871487324"/>
                    </a:ext>
                  </a:extLst>
                </a:gridCol>
              </a:tblGrid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로그 종류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Activity Tracer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832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리소스 생성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삭제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변경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탐지 시점 전후 어떤 리소스가 만들어졌는지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338161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API </a:t>
                      </a:r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호출 이력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이상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IP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에서 어떤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API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가 언제 호출됐는지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336243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Sub Account </a:t>
                      </a:r>
                      <a:r>
                        <a:rPr lang="ko-Kore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행위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어떤 운영자 계정에서 발생한 행위인지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92410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인증키 생성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침해 후 지속성 확보용 키 생성 여부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716205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콘솔 로그인 기록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비정상 접근 시간대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·IP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확인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605174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웹 접근 로그 </a:t>
                      </a:r>
                      <a:r>
                        <a:rPr lang="en-US" altLang="ko-KR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(WAF·LB)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외부에서 어떤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URL·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파라미터로 요청이 들어왔는지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814656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DB </a:t>
                      </a:r>
                      <a:r>
                        <a:rPr lang="ko-Kore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쿼리 로그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대용량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SELECT·DUMP -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데이터 탈취 규모 추정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170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00799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cb100">
            <a:extLst>
              <a:ext uri="{FF2B5EF4-FFF2-40B4-BE49-F238E27FC236}">
                <a16:creationId xmlns:a16="http://schemas.microsoft.com/office/drawing/2014/main" id="{E1E651E3-67BA-1351-7B3C-BB3D31C36898}"/>
              </a:ext>
            </a:extLst>
          </p:cNvPr>
          <p:cNvSpPr/>
          <p:nvPr/>
        </p:nvSpPr>
        <p:spPr>
          <a:xfrm>
            <a:off x="424786" y="1017899"/>
            <a:ext cx="4447078" cy="5693317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4.2 NCP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구성 보안 아키텍처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–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보안 운영 체계</a:t>
            </a:r>
          </a:p>
        </p:txBody>
      </p:sp>
      <p:sp>
        <p:nvSpPr>
          <p:cNvPr id="239" name="cb100">
            <a:extLst>
              <a:ext uri="{FF2B5EF4-FFF2-40B4-BE49-F238E27FC236}">
                <a16:creationId xmlns:a16="http://schemas.microsoft.com/office/drawing/2014/main" id="{5E311765-6F0C-8AF1-054B-8EBA0A103AEB}"/>
              </a:ext>
            </a:extLst>
          </p:cNvPr>
          <p:cNvSpPr/>
          <p:nvPr/>
        </p:nvSpPr>
        <p:spPr>
          <a:xfrm>
            <a:off x="4969645" y="1017899"/>
            <a:ext cx="6768104" cy="2897754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pic>
        <p:nvPicPr>
          <p:cNvPr id="240" name="Picture 5">
            <a:extLst>
              <a:ext uri="{FF2B5EF4-FFF2-40B4-BE49-F238E27FC236}">
                <a16:creationId xmlns:a16="http://schemas.microsoft.com/office/drawing/2014/main" id="{7C147D6D-3FA0-539B-9257-37F54F84CC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144693" y="1417351"/>
            <a:ext cx="6192901" cy="15367"/>
          </a:xfrm>
          <a:prstGeom prst="rect">
            <a:avLst/>
          </a:prstGeom>
        </p:spPr>
      </p:pic>
      <p:sp>
        <p:nvSpPr>
          <p:cNvPr id="241" name="TextBox 18">
            <a:extLst>
              <a:ext uri="{FF2B5EF4-FFF2-40B4-BE49-F238E27FC236}">
                <a16:creationId xmlns:a16="http://schemas.microsoft.com/office/drawing/2014/main" id="{8A988E7E-9828-5B78-55B1-389D3EBF5D76}"/>
              </a:ext>
            </a:extLst>
          </p:cNvPr>
          <p:cNvSpPr txBox="1"/>
          <p:nvPr/>
        </p:nvSpPr>
        <p:spPr>
          <a:xfrm>
            <a:off x="5155251" y="1115219"/>
            <a:ext cx="1995083" cy="257625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2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구성</a:t>
            </a:r>
            <a:endParaRPr lang="en-US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sp>
        <p:nvSpPr>
          <p:cNvPr id="242" name="TextBox 32">
            <a:extLst>
              <a:ext uri="{FF2B5EF4-FFF2-40B4-BE49-F238E27FC236}">
                <a16:creationId xmlns:a16="http://schemas.microsoft.com/office/drawing/2014/main" id="{2CEA9555-90E4-DB9A-0750-702F4AE9D3F8}"/>
              </a:ext>
            </a:extLst>
          </p:cNvPr>
          <p:cNvSpPr txBox="1"/>
          <p:nvPr/>
        </p:nvSpPr>
        <p:spPr>
          <a:xfrm>
            <a:off x="5338190" y="1523818"/>
            <a:ext cx="1309308" cy="253440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sz="105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Security Monitoring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43" name="TextBox 33">
            <a:extLst>
              <a:ext uri="{FF2B5EF4-FFF2-40B4-BE49-F238E27FC236}">
                <a16:creationId xmlns:a16="http://schemas.microsoft.com/office/drawing/2014/main" id="{217DFC42-6628-A367-274E-71D738B3E8B4}"/>
              </a:ext>
            </a:extLst>
          </p:cNvPr>
          <p:cNvSpPr txBox="1"/>
          <p:nvPr/>
        </p:nvSpPr>
        <p:spPr>
          <a:xfrm>
            <a:off x="5345645" y="1739280"/>
            <a:ext cx="6192900" cy="440415"/>
          </a:xfrm>
          <a:prstGeom prst="rect">
            <a:avLst/>
          </a:prstGeom>
        </p:spPr>
        <p:txBody>
          <a:bodyPr lIns="0" tIns="27093" rIns="0" bIns="27093" rtlCol="0" anchor="ctr"/>
          <a:lstStyle>
            <a:defPPr>
              <a:defRPr lang="ko-KR"/>
            </a:defPPr>
            <a:lvl1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  <a:defRPr sz="1000" b="0" i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dirty="0"/>
              <a:t>실시간 외부 위협 모니터링 기반 보안 서비스</a:t>
            </a:r>
            <a:endParaRPr lang="en-US" altLang="ko-KR" dirty="0"/>
          </a:p>
          <a:p>
            <a:r>
              <a:rPr lang="en-US" altLang="ko-KR" dirty="0"/>
              <a:t>IDS, Anti-DDoS, WAF, Anti-Virus, IPS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포함 되며 탐지</a:t>
            </a:r>
            <a:r>
              <a:rPr lang="en-US" altLang="ko-KR" dirty="0"/>
              <a:t>/</a:t>
            </a:r>
            <a:r>
              <a:rPr lang="ko-KR" altLang="en-US" dirty="0"/>
              <a:t>차단 역할</a:t>
            </a:r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1796A847-C456-AC5D-6ED8-B91C4CFCE323}"/>
              </a:ext>
            </a:extLst>
          </p:cNvPr>
          <p:cNvGrpSpPr/>
          <p:nvPr/>
        </p:nvGrpSpPr>
        <p:grpSpPr>
          <a:xfrm>
            <a:off x="5087888" y="1535038"/>
            <a:ext cx="216025" cy="266700"/>
            <a:chOff x="5169872" y="1519136"/>
            <a:chExt cx="216025" cy="266700"/>
          </a:xfrm>
        </p:grpSpPr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2F8690FC-C1C9-BA98-E2B1-C4A27F009ED7}"/>
                </a:ext>
              </a:extLst>
            </p:cNvPr>
            <p:cNvSpPr/>
            <p:nvPr/>
          </p:nvSpPr>
          <p:spPr>
            <a:xfrm>
              <a:off x="5196733" y="1563220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46" name="TextBox 26">
              <a:extLst>
                <a:ext uri="{FF2B5EF4-FFF2-40B4-BE49-F238E27FC236}">
                  <a16:creationId xmlns:a16="http://schemas.microsoft.com/office/drawing/2014/main" id="{6578FF96-031D-88F4-4059-DC1B4940EBD5}"/>
                </a:ext>
              </a:extLst>
            </p:cNvPr>
            <p:cNvSpPr txBox="1"/>
            <p:nvPr/>
          </p:nvSpPr>
          <p:spPr>
            <a:xfrm>
              <a:off x="5169872" y="1519136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47" name="그래픽 246" descr="확인 표시 단색으로 채워진">
              <a:extLst>
                <a:ext uri="{FF2B5EF4-FFF2-40B4-BE49-F238E27FC236}">
                  <a16:creationId xmlns:a16="http://schemas.microsoft.com/office/drawing/2014/main" id="{5FBC37F6-2567-BE84-D54A-E00842793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217764" y="1592366"/>
              <a:ext cx="120241" cy="120241"/>
            </a:xfrm>
            <a:prstGeom prst="rect">
              <a:avLst/>
            </a:prstGeom>
          </p:spPr>
        </p:pic>
      </p:grpSp>
      <p:sp>
        <p:nvSpPr>
          <p:cNvPr id="248" name="TextBox 32">
            <a:extLst>
              <a:ext uri="{FF2B5EF4-FFF2-40B4-BE49-F238E27FC236}">
                <a16:creationId xmlns:a16="http://schemas.microsoft.com/office/drawing/2014/main" id="{24636CFE-5D58-027E-E0F6-5AD9E11846EA}"/>
              </a:ext>
            </a:extLst>
          </p:cNvPr>
          <p:cNvSpPr txBox="1"/>
          <p:nvPr/>
        </p:nvSpPr>
        <p:spPr>
          <a:xfrm>
            <a:off x="5338190" y="2149840"/>
            <a:ext cx="2181550" cy="291198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050" b="0" i="0" u="none" strike="noStrike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Cloud Security Watcher (CSPM)</a:t>
            </a:r>
            <a:endParaRPr lang="en-US" sz="1050" b="0" i="0" u="none" strike="noStrike" dirty="0"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249" name="TextBox 33">
            <a:extLst>
              <a:ext uri="{FF2B5EF4-FFF2-40B4-BE49-F238E27FC236}">
                <a16:creationId xmlns:a16="http://schemas.microsoft.com/office/drawing/2014/main" id="{1B565B53-3D5E-3F50-F2DC-7A983EA5FCDE}"/>
              </a:ext>
            </a:extLst>
          </p:cNvPr>
          <p:cNvSpPr txBox="1"/>
          <p:nvPr/>
        </p:nvSpPr>
        <p:spPr>
          <a:xfrm>
            <a:off x="5345644" y="2374827"/>
            <a:ext cx="4811262" cy="440416"/>
          </a:xfrm>
          <a:prstGeom prst="rect">
            <a:avLst/>
          </a:prstGeom>
        </p:spPr>
        <p:txBody>
          <a:bodyPr lIns="0" tIns="27093" rIns="0" bIns="27093" rtlCol="0" anchor="ctr"/>
          <a:lstStyle>
            <a:defPPr>
              <a:defRPr lang="ko-KR"/>
            </a:defPPr>
            <a:lvl1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  <a:defRPr sz="1000" b="0" i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r>
              <a:rPr lang="ko-KR" altLang="en-US" dirty="0"/>
              <a:t>자산 가시성</a:t>
            </a:r>
            <a:r>
              <a:rPr lang="en-US" altLang="ko-KR" dirty="0"/>
              <a:t>, </a:t>
            </a:r>
            <a:r>
              <a:rPr lang="ko-KR" altLang="en-US" dirty="0"/>
              <a:t>규정 준수 평가</a:t>
            </a:r>
            <a:r>
              <a:rPr lang="en-US" altLang="ko-KR" dirty="0"/>
              <a:t>, </a:t>
            </a:r>
            <a:r>
              <a:rPr lang="ko-KR" altLang="en-US" dirty="0"/>
              <a:t>위협 교정 기능을 제공하는 </a:t>
            </a:r>
            <a:r>
              <a:rPr lang="en-US" altLang="ko-KR" dirty="0"/>
              <a:t>CSPM </a:t>
            </a:r>
            <a:r>
              <a:rPr lang="ko-KR" altLang="en-US" dirty="0"/>
              <a:t>성격의 서비스</a:t>
            </a:r>
            <a:endParaRPr lang="en-US" altLang="ko-KR" dirty="0"/>
          </a:p>
          <a:p>
            <a:r>
              <a:rPr lang="ko-KR" altLang="en-US" dirty="0"/>
              <a:t>보안 형상 점검</a:t>
            </a:r>
            <a:r>
              <a:rPr lang="en-US" altLang="ko-KR" dirty="0"/>
              <a:t>/</a:t>
            </a:r>
            <a:r>
              <a:rPr lang="ko-KR" altLang="en-US" dirty="0" err="1"/>
              <a:t>오구성</a:t>
            </a:r>
            <a:r>
              <a:rPr lang="ko-KR" altLang="en-US" dirty="0"/>
              <a:t> 탐지 역할</a:t>
            </a:r>
          </a:p>
        </p:txBody>
      </p:sp>
      <p:grpSp>
        <p:nvGrpSpPr>
          <p:cNvPr id="250" name="그룹 249">
            <a:extLst>
              <a:ext uri="{FF2B5EF4-FFF2-40B4-BE49-F238E27FC236}">
                <a16:creationId xmlns:a16="http://schemas.microsoft.com/office/drawing/2014/main" id="{9C56520C-43CE-EB4E-51A3-38AA763FAB8B}"/>
              </a:ext>
            </a:extLst>
          </p:cNvPr>
          <p:cNvGrpSpPr/>
          <p:nvPr/>
        </p:nvGrpSpPr>
        <p:grpSpPr>
          <a:xfrm>
            <a:off x="5087888" y="2161060"/>
            <a:ext cx="216025" cy="266700"/>
            <a:chOff x="5087888" y="2079527"/>
            <a:chExt cx="216025" cy="266700"/>
          </a:xfrm>
        </p:grpSpPr>
        <p:sp>
          <p:nvSpPr>
            <p:cNvPr id="251" name="타원 250">
              <a:extLst>
                <a:ext uri="{FF2B5EF4-FFF2-40B4-BE49-F238E27FC236}">
                  <a16:creationId xmlns:a16="http://schemas.microsoft.com/office/drawing/2014/main" id="{17E7C76D-3022-2D64-9FFE-2B5404C02F7F}"/>
                </a:ext>
              </a:extLst>
            </p:cNvPr>
            <p:cNvSpPr/>
            <p:nvPr/>
          </p:nvSpPr>
          <p:spPr>
            <a:xfrm>
              <a:off x="5114749" y="2123611"/>
              <a:ext cx="162302" cy="178532"/>
            </a:xfrm>
            <a:prstGeom prst="ellipse">
              <a:avLst/>
            </a:prstGeom>
            <a:solidFill>
              <a:srgbClr val="07C63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52" name="TextBox 26">
              <a:extLst>
                <a:ext uri="{FF2B5EF4-FFF2-40B4-BE49-F238E27FC236}">
                  <a16:creationId xmlns:a16="http://schemas.microsoft.com/office/drawing/2014/main" id="{B03CF847-CC44-C29C-69CE-E61ED871D595}"/>
                </a:ext>
              </a:extLst>
            </p:cNvPr>
            <p:cNvSpPr txBox="1"/>
            <p:nvPr/>
          </p:nvSpPr>
          <p:spPr>
            <a:xfrm>
              <a:off x="5087888" y="2079527"/>
              <a:ext cx="216025" cy="266700"/>
            </a:xfrm>
            <a:prstGeom prst="rect">
              <a:avLst/>
            </a:prstGeom>
          </p:spPr>
          <p:txBody>
            <a:bodyPr lIns="0" tIns="27093" rIns="0" bIns="27093" rtlCol="0" anchor="ctr"/>
            <a:lstStyle/>
            <a:p>
              <a:pPr lvl="0" algn="ctr">
                <a:lnSpc>
                  <a:spcPct val="99600"/>
                </a:lnSpc>
              </a:pPr>
              <a:endParaRPr lang="en-US" sz="1000" b="0" i="0" u="none" strike="noStrike" dirty="0">
                <a:solidFill>
                  <a:srgbClr val="FFFFFF"/>
                </a:solidFill>
                <a:latin typeface="NanumSquare" panose="020B0600000101010101" pitchFamily="50" charset="-127"/>
                <a:ea typeface="NanumSquare" panose="020B0600000101010101" pitchFamily="50" charset="-127"/>
                <a:cs typeface="Pretendard Regular"/>
              </a:endParaRPr>
            </a:p>
          </p:txBody>
        </p:sp>
        <p:pic>
          <p:nvPicPr>
            <p:cNvPr id="253" name="그래픽 252" descr="확인 표시 단색으로 채워진">
              <a:extLst>
                <a:ext uri="{FF2B5EF4-FFF2-40B4-BE49-F238E27FC236}">
                  <a16:creationId xmlns:a16="http://schemas.microsoft.com/office/drawing/2014/main" id="{ACF901C4-5130-D049-28CD-C371E0183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135780" y="2152757"/>
              <a:ext cx="120241" cy="120241"/>
            </a:xfrm>
            <a:prstGeom prst="rect">
              <a:avLst/>
            </a:prstGeom>
          </p:spPr>
        </p:pic>
      </p:grpSp>
      <p:sp>
        <p:nvSpPr>
          <p:cNvPr id="377" name="cb100">
            <a:extLst>
              <a:ext uri="{FF2B5EF4-FFF2-40B4-BE49-F238E27FC236}">
                <a16:creationId xmlns:a16="http://schemas.microsoft.com/office/drawing/2014/main" id="{7CCA29F4-1D3D-37DF-0049-AADE33D62408}"/>
              </a:ext>
            </a:extLst>
          </p:cNvPr>
          <p:cNvSpPr/>
          <p:nvPr/>
        </p:nvSpPr>
        <p:spPr>
          <a:xfrm>
            <a:off x="4969645" y="3965380"/>
            <a:ext cx="6768104" cy="2745835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378" name="Picture 5">
            <a:extLst>
              <a:ext uri="{FF2B5EF4-FFF2-40B4-BE49-F238E27FC236}">
                <a16:creationId xmlns:a16="http://schemas.microsoft.com/office/drawing/2014/main" id="{568CA50B-388A-8A1F-C38B-A71CE31D87B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144693" y="4346978"/>
            <a:ext cx="6192901" cy="15367"/>
          </a:xfrm>
          <a:prstGeom prst="rect">
            <a:avLst/>
          </a:prstGeom>
        </p:spPr>
      </p:pic>
      <p:sp>
        <p:nvSpPr>
          <p:cNvPr id="379" name="TextBox 18">
            <a:extLst>
              <a:ext uri="{FF2B5EF4-FFF2-40B4-BE49-F238E27FC236}">
                <a16:creationId xmlns:a16="http://schemas.microsoft.com/office/drawing/2014/main" id="{18915363-F570-386C-908B-9F89E0BEA476}"/>
              </a:ext>
            </a:extLst>
          </p:cNvPr>
          <p:cNvSpPr txBox="1"/>
          <p:nvPr/>
        </p:nvSpPr>
        <p:spPr>
          <a:xfrm>
            <a:off x="5155251" y="4044846"/>
            <a:ext cx="1995083" cy="257625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en-US" altLang="ko-KR" sz="1200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SOC </a:t>
            </a:r>
            <a:r>
              <a:rPr lang="ko-KR" altLang="en-US" sz="1200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탐지 → 분석 → 조치 흐름</a:t>
            </a:r>
            <a:endParaRPr lang="en-US" sz="12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D888E007-BF6F-C596-14B6-F990B27AE278}"/>
              </a:ext>
            </a:extLst>
          </p:cNvPr>
          <p:cNvGrpSpPr/>
          <p:nvPr/>
        </p:nvGrpSpPr>
        <p:grpSpPr>
          <a:xfrm>
            <a:off x="906531" y="2838561"/>
            <a:ext cx="3512155" cy="1035256"/>
            <a:chOff x="906531" y="2453933"/>
            <a:chExt cx="3512155" cy="1035256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F8F5570-BFC4-F438-C942-A252373FD64B}"/>
                </a:ext>
              </a:extLst>
            </p:cNvPr>
            <p:cNvSpPr/>
            <p:nvPr/>
          </p:nvSpPr>
          <p:spPr>
            <a:xfrm>
              <a:off x="906531" y="2453933"/>
              <a:ext cx="3512155" cy="103525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12ADEA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6EF4B06-B1B9-2DEF-8F5E-473223A9DB21}"/>
                </a:ext>
              </a:extLst>
            </p:cNvPr>
            <p:cNvSpPr txBox="1"/>
            <p:nvPr/>
          </p:nvSpPr>
          <p:spPr>
            <a:xfrm>
              <a:off x="906531" y="2494531"/>
              <a:ext cx="153955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9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Calibri" panose="020F0502020204030204" pitchFamily="34" charset="0"/>
                </a:rPr>
                <a:t>Security Monitoring</a:t>
              </a:r>
              <a:endParaRPr kumimoji="1" lang="ko-KR" altLang="en-US" sz="9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Calibri" panose="020F0502020204030204" pitchFamily="34" charset="0"/>
              </a:endParaRPr>
            </a:p>
          </p:txBody>
        </p:sp>
        <p:grpSp>
          <p:nvGrpSpPr>
            <p:cNvPr id="221" name="그룹 220">
              <a:extLst>
                <a:ext uri="{FF2B5EF4-FFF2-40B4-BE49-F238E27FC236}">
                  <a16:creationId xmlns:a16="http://schemas.microsoft.com/office/drawing/2014/main" id="{6F993583-5323-0D83-AE7A-E4EB6F9D0266}"/>
                </a:ext>
              </a:extLst>
            </p:cNvPr>
            <p:cNvGrpSpPr/>
            <p:nvPr/>
          </p:nvGrpSpPr>
          <p:grpSpPr>
            <a:xfrm>
              <a:off x="1400954" y="2771094"/>
              <a:ext cx="2813124" cy="605724"/>
              <a:chOff x="1400954" y="2771094"/>
              <a:chExt cx="2813124" cy="605724"/>
            </a:xfrm>
          </p:grpSpPr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4BAB181C-8A6F-42E0-7E4F-B4A0794E8A74}"/>
                  </a:ext>
                </a:extLst>
              </p:cNvPr>
              <p:cNvSpPr/>
              <p:nvPr/>
            </p:nvSpPr>
            <p:spPr>
              <a:xfrm>
                <a:off x="1400954" y="2771094"/>
                <a:ext cx="605118" cy="605118"/>
              </a:xfrm>
              <a:prstGeom prst="rect">
                <a:avLst/>
              </a:prstGeom>
              <a:noFill/>
              <a:ln w="9525">
                <a:solidFill>
                  <a:srgbClr val="B9B9B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B9019229-8E4F-98B0-21C2-011F90DF5375}"/>
                  </a:ext>
                </a:extLst>
              </p:cNvPr>
              <p:cNvSpPr/>
              <p:nvPr/>
            </p:nvSpPr>
            <p:spPr>
              <a:xfrm>
                <a:off x="2197019" y="2771700"/>
                <a:ext cx="2017059" cy="60511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B9B9B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96EAB6-EDDF-1657-EE94-90852FA53C6B}"/>
                  </a:ext>
                </a:extLst>
              </p:cNvPr>
              <p:cNvSpPr txBox="1"/>
              <p:nvPr/>
            </p:nvSpPr>
            <p:spPr>
              <a:xfrm>
                <a:off x="2230698" y="3143488"/>
                <a:ext cx="63562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" altLang="ko-KR" sz="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An</a:t>
                </a:r>
                <a:r>
                  <a:rPr kumimoji="1" lang="en-US" altLang="ko-KR" sz="800" b="1" dirty="0" err="1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ti</a:t>
                </a:r>
                <a:r>
                  <a:rPr kumimoji="1" lang="en-US" altLang="ko-KR" sz="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-DDoS</a:t>
                </a:r>
                <a:endParaRPr kumimoji="1" lang="ko-KR" altLang="en-US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A23BBB1-A55C-8FD8-8C67-DA064FB94D68}"/>
                  </a:ext>
                </a:extLst>
              </p:cNvPr>
              <p:cNvSpPr txBox="1"/>
              <p:nvPr/>
            </p:nvSpPr>
            <p:spPr>
              <a:xfrm>
                <a:off x="2729532" y="3143488"/>
                <a:ext cx="56826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IDS</a:t>
                </a:r>
                <a:endParaRPr kumimoji="1" lang="ko-KR" altLang="en-US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EEAD755-65A1-A8C1-CD26-FE49D1503864}"/>
                  </a:ext>
                </a:extLst>
              </p:cNvPr>
              <p:cNvSpPr txBox="1"/>
              <p:nvPr/>
            </p:nvSpPr>
            <p:spPr>
              <a:xfrm>
                <a:off x="3180760" y="3143488"/>
                <a:ext cx="56826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IPS</a:t>
                </a:r>
                <a:endParaRPr kumimoji="1" lang="ko-KR" altLang="en-US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4B8495-E936-6C48-7902-9FF136CA6D5C}"/>
                  </a:ext>
                </a:extLst>
              </p:cNvPr>
              <p:cNvSpPr txBox="1"/>
              <p:nvPr/>
            </p:nvSpPr>
            <p:spPr>
              <a:xfrm>
                <a:off x="3631751" y="3143488"/>
                <a:ext cx="56826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WAF</a:t>
                </a:r>
                <a:endParaRPr kumimoji="1" lang="ko-KR" altLang="en-US" sz="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cxnSp>
            <p:nvCxnSpPr>
              <p:cNvPr id="38" name="직선 연결선[R] 75">
                <a:extLst>
                  <a:ext uri="{FF2B5EF4-FFF2-40B4-BE49-F238E27FC236}">
                    <a16:creationId xmlns:a16="http://schemas.microsoft.com/office/drawing/2014/main" id="{6C5A341C-B1B9-8625-E6F8-8295608A3DE5}"/>
                  </a:ext>
                </a:extLst>
              </p:cNvPr>
              <p:cNvCxnSpPr>
                <a:stCxn id="15" idx="3"/>
                <a:endCxn id="23" idx="1"/>
              </p:cNvCxnSpPr>
              <p:nvPr/>
            </p:nvCxnSpPr>
            <p:spPr>
              <a:xfrm>
                <a:off x="2006072" y="3073653"/>
                <a:ext cx="190947" cy="60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9" name="그림 38">
                <a:extLst>
                  <a:ext uri="{FF2B5EF4-FFF2-40B4-BE49-F238E27FC236}">
                    <a16:creationId xmlns:a16="http://schemas.microsoft.com/office/drawing/2014/main" id="{2CD60A1C-E5F1-DB73-9C4D-21FBFCEB7B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94913" y="2872205"/>
                <a:ext cx="244386" cy="303831"/>
              </a:xfrm>
              <a:prstGeom prst="rect">
                <a:avLst/>
              </a:prstGeom>
            </p:spPr>
          </p:pic>
          <p:pic>
            <p:nvPicPr>
              <p:cNvPr id="40" name="그림 39" descr="텍스트, 표지판, 야외, 회전이(가) 표시된 사진&#10;&#10;자동 생성된 설명">
                <a:extLst>
                  <a:ext uri="{FF2B5EF4-FFF2-40B4-BE49-F238E27FC236}">
                    <a16:creationId xmlns:a16="http://schemas.microsoft.com/office/drawing/2014/main" id="{334F1ED1-9495-3DCA-599E-287F4D3EF2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65061" y="2949206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E8538594-C6C4-7CBA-2DC4-D1D5380E86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94088" y="2864369"/>
                <a:ext cx="288000" cy="288000"/>
              </a:xfrm>
              <a:prstGeom prst="rect">
                <a:avLst/>
              </a:prstGeom>
            </p:spPr>
          </p:pic>
          <p:pic>
            <p:nvPicPr>
              <p:cNvPr id="42" name="그림 41">
                <a:extLst>
                  <a:ext uri="{FF2B5EF4-FFF2-40B4-BE49-F238E27FC236}">
                    <a16:creationId xmlns:a16="http://schemas.microsoft.com/office/drawing/2014/main" id="{3312F1ED-E1F9-0DDB-66D6-8294988A1D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880089" y="2892303"/>
                <a:ext cx="290160" cy="234000"/>
              </a:xfrm>
              <a:prstGeom prst="rect">
                <a:avLst/>
              </a:prstGeom>
            </p:spPr>
          </p:pic>
          <p:pic>
            <p:nvPicPr>
              <p:cNvPr id="43" name="그림 42" descr="텍스트, 표지판, 다크, 클립아트이(가) 표시된 사진&#10;&#10;자동 생성된 설명">
                <a:extLst>
                  <a:ext uri="{FF2B5EF4-FFF2-40B4-BE49-F238E27FC236}">
                    <a16:creationId xmlns:a16="http://schemas.microsoft.com/office/drawing/2014/main" id="{61DD8605-79E0-6D9E-42B8-B3BCD81F24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12136" y="2900931"/>
                <a:ext cx="311564" cy="201600"/>
              </a:xfrm>
              <a:prstGeom prst="rect">
                <a:avLst/>
              </a:prstGeom>
            </p:spPr>
          </p:pic>
        </p:grpSp>
      </p:grpSp>
      <p:grpSp>
        <p:nvGrpSpPr>
          <p:cNvPr id="224" name="그룹 223">
            <a:extLst>
              <a:ext uri="{FF2B5EF4-FFF2-40B4-BE49-F238E27FC236}">
                <a16:creationId xmlns:a16="http://schemas.microsoft.com/office/drawing/2014/main" id="{55C4B158-19A2-CCCD-821B-660592A23659}"/>
              </a:ext>
            </a:extLst>
          </p:cNvPr>
          <p:cNvGrpSpPr/>
          <p:nvPr/>
        </p:nvGrpSpPr>
        <p:grpSpPr>
          <a:xfrm>
            <a:off x="906530" y="5358169"/>
            <a:ext cx="3512151" cy="807135"/>
            <a:chOff x="906530" y="4973541"/>
            <a:chExt cx="3512151" cy="807135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5F8BAD2A-97E7-414F-57E4-057A4D16EDBE}"/>
                </a:ext>
              </a:extLst>
            </p:cNvPr>
            <p:cNvSpPr/>
            <p:nvPr/>
          </p:nvSpPr>
          <p:spPr>
            <a:xfrm>
              <a:off x="906530" y="4973541"/>
              <a:ext cx="3512151" cy="807135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77ACDC59-9F1A-B804-8E0B-4E612B88823D}"/>
                </a:ext>
              </a:extLst>
            </p:cNvPr>
            <p:cNvGrpSpPr/>
            <p:nvPr/>
          </p:nvGrpSpPr>
          <p:grpSpPr>
            <a:xfrm>
              <a:off x="1640261" y="5117212"/>
              <a:ext cx="731622" cy="601789"/>
              <a:chOff x="1668519" y="5134824"/>
              <a:chExt cx="731622" cy="601789"/>
            </a:xfrm>
          </p:grpSpPr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3FE547E8-C4EC-8C99-CAF1-9E143EB67698}"/>
                  </a:ext>
                </a:extLst>
              </p:cNvPr>
              <p:cNvSpPr txBox="1"/>
              <p:nvPr/>
            </p:nvSpPr>
            <p:spPr>
              <a:xfrm>
                <a:off x="1668519" y="5367281"/>
                <a:ext cx="7316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900" b="1" i="0" dirty="0" err="1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Webshell</a:t>
                </a:r>
                <a:r>
                  <a:rPr lang="en-US"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</a:p>
              <a:p>
                <a:pPr algn="ctr"/>
                <a:r>
                  <a:rPr lang="en-US"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Detector</a:t>
                </a:r>
                <a:endParaRPr sz="900" b="1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pic>
            <p:nvPicPr>
              <p:cNvPr id="197" name="Picture 28" descr="s07_38_그림_44.png">
                <a:extLst>
                  <a:ext uri="{FF2B5EF4-FFF2-40B4-BE49-F238E27FC236}">
                    <a16:creationId xmlns:a16="http://schemas.microsoft.com/office/drawing/2014/main" id="{376F8129-87A4-AE80-D54B-8F314A35CE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879154" y="5134824"/>
                <a:ext cx="288000" cy="288000"/>
              </a:xfrm>
              <a:prstGeom prst="rect">
                <a:avLst/>
              </a:prstGeom>
            </p:spPr>
          </p:pic>
        </p:grpSp>
        <p:grpSp>
          <p:nvGrpSpPr>
            <p:cNvPr id="200" name="그룹 199">
              <a:extLst>
                <a:ext uri="{FF2B5EF4-FFF2-40B4-BE49-F238E27FC236}">
                  <a16:creationId xmlns:a16="http://schemas.microsoft.com/office/drawing/2014/main" id="{00B3B9F9-8230-3A26-9827-8A6E7C6ADC5E}"/>
                </a:ext>
              </a:extLst>
            </p:cNvPr>
            <p:cNvGrpSpPr/>
            <p:nvPr/>
          </p:nvGrpSpPr>
          <p:grpSpPr>
            <a:xfrm>
              <a:off x="3055842" y="5071350"/>
              <a:ext cx="628147" cy="644270"/>
              <a:chOff x="2701131" y="5114268"/>
              <a:chExt cx="628147" cy="644270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0A61CAF3-E485-D1BA-3CB9-C39B30030D95}"/>
                  </a:ext>
                </a:extLst>
              </p:cNvPr>
              <p:cNvSpPr txBox="1"/>
              <p:nvPr/>
            </p:nvSpPr>
            <p:spPr>
              <a:xfrm>
                <a:off x="2701131" y="5389206"/>
                <a:ext cx="6281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Security </a:t>
                </a:r>
              </a:p>
              <a:p>
                <a:pPr algn="l"/>
                <a:r>
                  <a:rPr lang="en-US"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Checker</a:t>
                </a:r>
                <a:endParaRPr sz="900" b="1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pic>
            <p:nvPicPr>
              <p:cNvPr id="198" name="Picture 31" descr="s07_25_그림_16.png">
                <a:extLst>
                  <a:ext uri="{FF2B5EF4-FFF2-40B4-BE49-F238E27FC236}">
                    <a16:creationId xmlns:a16="http://schemas.microsoft.com/office/drawing/2014/main" id="{EAC853C7-C9C4-023A-18A2-8740AAD7F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871204" y="5114268"/>
                <a:ext cx="288000" cy="288000"/>
              </a:xfrm>
              <a:prstGeom prst="rect">
                <a:avLst/>
              </a:prstGeom>
            </p:spPr>
          </p:pic>
        </p:grpSp>
      </p:grpSp>
      <p:grpSp>
        <p:nvGrpSpPr>
          <p:cNvPr id="202" name="그룹 201">
            <a:extLst>
              <a:ext uri="{FF2B5EF4-FFF2-40B4-BE49-F238E27FC236}">
                <a16:creationId xmlns:a16="http://schemas.microsoft.com/office/drawing/2014/main" id="{163A0DD4-C850-E562-81F4-276A8194FA92}"/>
              </a:ext>
            </a:extLst>
          </p:cNvPr>
          <p:cNvGrpSpPr/>
          <p:nvPr/>
        </p:nvGrpSpPr>
        <p:grpSpPr>
          <a:xfrm>
            <a:off x="877957" y="4175427"/>
            <a:ext cx="3540736" cy="881131"/>
            <a:chOff x="767408" y="3809397"/>
            <a:chExt cx="3540736" cy="881131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ABEC99D9-92EC-A4FA-C9C9-65F938BA8149}"/>
                </a:ext>
              </a:extLst>
            </p:cNvPr>
            <p:cNvGrpSpPr/>
            <p:nvPr/>
          </p:nvGrpSpPr>
          <p:grpSpPr>
            <a:xfrm>
              <a:off x="767408" y="3809397"/>
              <a:ext cx="3540736" cy="881131"/>
              <a:chOff x="755063" y="3428536"/>
              <a:chExt cx="3540736" cy="881131"/>
            </a:xfrm>
          </p:grpSpPr>
          <p:sp>
            <p:nvSpPr>
              <p:cNvPr id="300" name="직사각형 299">
                <a:extLst>
                  <a:ext uri="{FF2B5EF4-FFF2-40B4-BE49-F238E27FC236}">
                    <a16:creationId xmlns:a16="http://schemas.microsoft.com/office/drawing/2014/main" id="{D6A21354-2041-2626-C3B6-45137B8BD9AA}"/>
                  </a:ext>
                </a:extLst>
              </p:cNvPr>
              <p:cNvSpPr/>
              <p:nvPr/>
            </p:nvSpPr>
            <p:spPr>
              <a:xfrm>
                <a:off x="783638" y="3428536"/>
                <a:ext cx="3512161" cy="881131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rgbClr val="12ADEA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 dirty="0"/>
              </a:p>
            </p:txBody>
          </p:sp>
          <p:grpSp>
            <p:nvGrpSpPr>
              <p:cNvPr id="314" name="그룹 313">
                <a:extLst>
                  <a:ext uri="{FF2B5EF4-FFF2-40B4-BE49-F238E27FC236}">
                    <a16:creationId xmlns:a16="http://schemas.microsoft.com/office/drawing/2014/main" id="{56D15798-1174-53A0-1595-D659980066F2}"/>
                  </a:ext>
                </a:extLst>
              </p:cNvPr>
              <p:cNvGrpSpPr/>
              <p:nvPr/>
            </p:nvGrpSpPr>
            <p:grpSpPr>
              <a:xfrm>
                <a:off x="2320576" y="3468678"/>
                <a:ext cx="945498" cy="779479"/>
                <a:chOff x="1565989" y="2294683"/>
                <a:chExt cx="945498" cy="779479"/>
              </a:xfrm>
            </p:grpSpPr>
            <p:sp>
              <p:nvSpPr>
                <p:cNvPr id="222" name="TextBox 221">
                  <a:extLst>
                    <a:ext uri="{FF2B5EF4-FFF2-40B4-BE49-F238E27FC236}">
                      <a16:creationId xmlns:a16="http://schemas.microsoft.com/office/drawing/2014/main" id="{A2997251-3DB8-8D03-79CA-EAE512F55164}"/>
                    </a:ext>
                  </a:extLst>
                </p:cNvPr>
                <p:cNvSpPr txBox="1"/>
                <p:nvPr/>
              </p:nvSpPr>
              <p:spPr>
                <a:xfrm>
                  <a:off x="1565989" y="2637164"/>
                  <a:ext cx="94549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900" b="1" i="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자산 가시성</a:t>
                  </a:r>
                  <a:r>
                    <a:rPr lang="en-US" altLang="ko-KR" sz="900" b="1" i="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·</a:t>
                  </a:r>
                </a:p>
                <a:p>
                  <a:pPr algn="ctr"/>
                  <a:r>
                    <a:rPr lang="ko-KR" altLang="en-US" sz="900" b="1" i="0" dirty="0" err="1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오구성</a:t>
                  </a:r>
                  <a:r>
                    <a:rPr lang="ko-KR" altLang="en-US" sz="900" b="1" i="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 탐지</a:t>
                  </a:r>
                  <a:endParaRPr lang="en-US"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  <p:sp>
              <p:nvSpPr>
                <p:cNvPr id="289" name="직사각형 288">
                  <a:extLst>
                    <a:ext uri="{FF2B5EF4-FFF2-40B4-BE49-F238E27FC236}">
                      <a16:creationId xmlns:a16="http://schemas.microsoft.com/office/drawing/2014/main" id="{9BD5B079-68A8-9D29-8576-53885F152DD8}"/>
                    </a:ext>
                  </a:extLst>
                </p:cNvPr>
                <p:cNvSpPr/>
                <p:nvPr/>
              </p:nvSpPr>
              <p:spPr>
                <a:xfrm>
                  <a:off x="1567507" y="2294683"/>
                  <a:ext cx="942462" cy="779479"/>
                </a:xfrm>
                <a:prstGeom prst="rect">
                  <a:avLst/>
                </a:prstGeom>
                <a:noFill/>
                <a:ln w="9525">
                  <a:solidFill>
                    <a:srgbClr val="B9B9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grpSp>
            <p:nvGrpSpPr>
              <p:cNvPr id="313" name="그룹 312">
                <a:extLst>
                  <a:ext uri="{FF2B5EF4-FFF2-40B4-BE49-F238E27FC236}">
                    <a16:creationId xmlns:a16="http://schemas.microsoft.com/office/drawing/2014/main" id="{23C433C5-0C8B-FC11-9DAD-CCDD8DBC1729}"/>
                  </a:ext>
                </a:extLst>
              </p:cNvPr>
              <p:cNvGrpSpPr/>
              <p:nvPr/>
            </p:nvGrpSpPr>
            <p:grpSpPr>
              <a:xfrm>
                <a:off x="3316933" y="3468678"/>
                <a:ext cx="942462" cy="779479"/>
                <a:chOff x="2921290" y="2294683"/>
                <a:chExt cx="942462" cy="779479"/>
              </a:xfrm>
            </p:grpSpPr>
            <p:sp>
              <p:nvSpPr>
                <p:cNvPr id="225" name="TextBox 224">
                  <a:extLst>
                    <a:ext uri="{FF2B5EF4-FFF2-40B4-BE49-F238E27FC236}">
                      <a16:creationId xmlns:a16="http://schemas.microsoft.com/office/drawing/2014/main" id="{545F6F86-2127-88FD-6080-3B8E7B21657F}"/>
                    </a:ext>
                  </a:extLst>
                </p:cNvPr>
                <p:cNvSpPr txBox="1"/>
                <p:nvPr/>
              </p:nvSpPr>
              <p:spPr>
                <a:xfrm>
                  <a:off x="3011313" y="2631095"/>
                  <a:ext cx="76241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ko-KR" altLang="en-US" sz="900" b="1" i="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규정 준수</a:t>
                  </a:r>
                  <a:r>
                    <a:rPr lang="en-US" altLang="ko-KR" sz="900" b="1" i="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·</a:t>
                  </a:r>
                  <a:r>
                    <a:rPr lang="ko-KR" altLang="en-US" sz="900" b="1" i="0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위협 교정</a:t>
                  </a:r>
                  <a:endParaRPr sz="900" b="1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  <p:sp>
              <p:nvSpPr>
                <p:cNvPr id="296" name="직사각형 295">
                  <a:extLst>
                    <a:ext uri="{FF2B5EF4-FFF2-40B4-BE49-F238E27FC236}">
                      <a16:creationId xmlns:a16="http://schemas.microsoft.com/office/drawing/2014/main" id="{92157B83-D3E1-2032-B22B-32F55CDC24A6}"/>
                    </a:ext>
                  </a:extLst>
                </p:cNvPr>
                <p:cNvSpPr/>
                <p:nvPr/>
              </p:nvSpPr>
              <p:spPr>
                <a:xfrm>
                  <a:off x="2921290" y="2294683"/>
                  <a:ext cx="942462" cy="779479"/>
                </a:xfrm>
                <a:prstGeom prst="rect">
                  <a:avLst/>
                </a:prstGeom>
                <a:noFill/>
                <a:ln w="9525">
                  <a:solidFill>
                    <a:srgbClr val="B9B9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ko-KR" altLang="en-US"/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256D705-070C-E55A-470F-8970F65393D6}"/>
                  </a:ext>
                </a:extLst>
              </p:cNvPr>
              <p:cNvSpPr txBox="1"/>
              <p:nvPr/>
            </p:nvSpPr>
            <p:spPr>
              <a:xfrm>
                <a:off x="755063" y="3453165"/>
                <a:ext cx="16761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sz="900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Cloud Security Watcher </a:t>
                </a:r>
              </a:p>
              <a:p>
                <a:pPr algn="l"/>
                <a:r>
                  <a:rPr lang="en-US" sz="900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(CSPM · </a:t>
                </a:r>
                <a:r>
                  <a:rPr lang="ko-KR" altLang="en-US" sz="900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형상 점검</a:t>
                </a:r>
                <a:r>
                  <a:rPr lang="en-US" altLang="ko-KR" sz="900" i="0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)</a:t>
                </a:r>
                <a:endParaRPr sz="900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p:grpSp>
        <p:pic>
          <p:nvPicPr>
            <p:cNvPr id="54" name="Picture 23" descr="s07_27_그림_20.png">
              <a:extLst>
                <a:ext uri="{FF2B5EF4-FFF2-40B4-BE49-F238E27FC236}">
                  <a16:creationId xmlns:a16="http://schemas.microsoft.com/office/drawing/2014/main" id="{DF8EB825-EE11-BDB9-FB69-D481CEDA2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661670" y="3904913"/>
              <a:ext cx="288000" cy="288000"/>
            </a:xfrm>
            <a:prstGeom prst="rect">
              <a:avLst/>
            </a:prstGeom>
          </p:spPr>
        </p:pic>
        <p:pic>
          <p:nvPicPr>
            <p:cNvPr id="201" name="Picture 23" descr="s07_27_그림_20.png">
              <a:extLst>
                <a:ext uri="{FF2B5EF4-FFF2-40B4-BE49-F238E27FC236}">
                  <a16:creationId xmlns:a16="http://schemas.microsoft.com/office/drawing/2014/main" id="{9A79C2E6-E1E8-7163-015E-A26FEA046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650402" y="3904913"/>
              <a:ext cx="288000" cy="288000"/>
            </a:xfrm>
            <a:prstGeom prst="rect">
              <a:avLst/>
            </a:prstGeom>
          </p:spPr>
        </p:pic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455BA50D-114A-ACCA-25AC-96E968BC0071}"/>
              </a:ext>
            </a:extLst>
          </p:cNvPr>
          <p:cNvGrpSpPr/>
          <p:nvPr/>
        </p:nvGrpSpPr>
        <p:grpSpPr>
          <a:xfrm>
            <a:off x="906531" y="1753104"/>
            <a:ext cx="3512151" cy="783847"/>
            <a:chOff x="906531" y="1368476"/>
            <a:chExt cx="3512151" cy="783847"/>
          </a:xfrm>
        </p:grpSpPr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0801D6E9-C75A-DC66-E682-64776B267E4F}"/>
                </a:ext>
              </a:extLst>
            </p:cNvPr>
            <p:cNvSpPr/>
            <p:nvPr/>
          </p:nvSpPr>
          <p:spPr>
            <a:xfrm>
              <a:off x="906531" y="1368476"/>
              <a:ext cx="3512151" cy="783847"/>
            </a:xfrm>
            <a:prstGeom prst="rect">
              <a:avLst/>
            </a:prstGeom>
            <a:noFill/>
            <a:ln w="9525">
              <a:solidFill>
                <a:srgbClr val="B9B9B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D5C6C6B9-E4C4-8115-7A45-80A90BB45DA2}"/>
                </a:ext>
              </a:extLst>
            </p:cNvPr>
            <p:cNvGrpSpPr/>
            <p:nvPr/>
          </p:nvGrpSpPr>
          <p:grpSpPr>
            <a:xfrm>
              <a:off x="1860749" y="1492040"/>
              <a:ext cx="1549899" cy="536718"/>
              <a:chOff x="1860749" y="1508315"/>
              <a:chExt cx="1549899" cy="536718"/>
            </a:xfrm>
          </p:grpSpPr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788136B0-5CA8-BB6D-7D41-4353FD81365C}"/>
                  </a:ext>
                </a:extLst>
              </p:cNvPr>
              <p:cNvSpPr txBox="1"/>
              <p:nvPr/>
            </p:nvSpPr>
            <p:spPr>
              <a:xfrm>
                <a:off x="1860749" y="1814201"/>
                <a:ext cx="1549899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/>
                <a:r>
                  <a:rPr lang="ko-KR" altLang="en-US" sz="900" b="1" i="0" dirty="0">
                    <a:effectLst/>
                    <a:latin typeface="Malgun Gothic" panose="020B0503020000020004" pitchFamily="50" charset="-127"/>
                    <a:ea typeface="Malgun Gothic" panose="020B0503020000020004" pitchFamily="50" charset="-127"/>
                  </a:rPr>
                  <a:t>외부 위협 </a:t>
                </a:r>
                <a:r>
                  <a:rPr lang="en-US" altLang="ko-KR" sz="900" b="1" i="0" dirty="0">
                    <a:effectLst/>
                    <a:latin typeface="Malgun Gothic" panose="020B0503020000020004" pitchFamily="50" charset="-127"/>
                    <a:ea typeface="Malgun Gothic" panose="020B0503020000020004" pitchFamily="50" charset="-127"/>
                  </a:rPr>
                  <a:t>/ </a:t>
                </a:r>
                <a:r>
                  <a:rPr lang="ko-KR" altLang="en-US" sz="900" b="1" i="0" dirty="0">
                    <a:effectLst/>
                    <a:latin typeface="Malgun Gothic" panose="020B0503020000020004" pitchFamily="50" charset="-127"/>
                    <a:ea typeface="Malgun Gothic" panose="020B0503020000020004" pitchFamily="50" charset="-127"/>
                  </a:rPr>
                  <a:t>내부 이상행위</a:t>
                </a:r>
                <a:endParaRPr sz="900" b="1" i="0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pic>
            <p:nvPicPr>
              <p:cNvPr id="203" name="Picture 10" descr="s20_19_그림_7.png">
                <a:extLst>
                  <a:ext uri="{FF2B5EF4-FFF2-40B4-BE49-F238E27FC236}">
                    <a16:creationId xmlns:a16="http://schemas.microsoft.com/office/drawing/2014/main" id="{D55BB122-7A11-D97E-8DE8-03B1BAE486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543368" y="1508315"/>
                <a:ext cx="288000" cy="288000"/>
              </a:xfrm>
              <a:prstGeom prst="rect">
                <a:avLst/>
              </a:prstGeom>
            </p:spPr>
          </p:pic>
        </p:grpSp>
      </p:grp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4DA5AF80-6532-7D7E-65EE-793010321889}"/>
              </a:ext>
            </a:extLst>
          </p:cNvPr>
          <p:cNvCxnSpPr>
            <a:cxnSpLocks/>
          </p:cNvCxnSpPr>
          <p:nvPr/>
        </p:nvCxnSpPr>
        <p:spPr>
          <a:xfrm>
            <a:off x="2648325" y="2554818"/>
            <a:ext cx="0" cy="307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직선 화살표 연결선 206">
            <a:extLst>
              <a:ext uri="{FF2B5EF4-FFF2-40B4-BE49-F238E27FC236}">
                <a16:creationId xmlns:a16="http://schemas.microsoft.com/office/drawing/2014/main" id="{CADB7FE4-EB21-6656-B899-EE56C55E0DDF}"/>
              </a:ext>
            </a:extLst>
          </p:cNvPr>
          <p:cNvCxnSpPr>
            <a:cxnSpLocks/>
          </p:cNvCxnSpPr>
          <p:nvPr/>
        </p:nvCxnSpPr>
        <p:spPr>
          <a:xfrm>
            <a:off x="2648325" y="3873817"/>
            <a:ext cx="0" cy="307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207">
            <a:extLst>
              <a:ext uri="{FF2B5EF4-FFF2-40B4-BE49-F238E27FC236}">
                <a16:creationId xmlns:a16="http://schemas.microsoft.com/office/drawing/2014/main" id="{1EBDCA36-DF77-82C1-CEC9-4D419ADEB078}"/>
              </a:ext>
            </a:extLst>
          </p:cNvPr>
          <p:cNvCxnSpPr>
            <a:cxnSpLocks/>
          </p:cNvCxnSpPr>
          <p:nvPr/>
        </p:nvCxnSpPr>
        <p:spPr>
          <a:xfrm>
            <a:off x="2648325" y="5056558"/>
            <a:ext cx="0" cy="3070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2" name="표 211">
            <a:extLst>
              <a:ext uri="{FF2B5EF4-FFF2-40B4-BE49-F238E27FC236}">
                <a16:creationId xmlns:a16="http://schemas.microsoft.com/office/drawing/2014/main" id="{932B3EB3-C2B4-F260-BF28-E5EE25134464}"/>
              </a:ext>
            </a:extLst>
          </p:cNvPr>
          <p:cNvGraphicFramePr>
            <a:graphicFrameLocks noGrp="1"/>
          </p:cNvGraphicFramePr>
          <p:nvPr/>
        </p:nvGraphicFramePr>
        <p:xfrm>
          <a:off x="5251409" y="2860691"/>
          <a:ext cx="6204576" cy="964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192">
                  <a:extLst>
                    <a:ext uri="{9D8B030D-6E8A-4147-A177-3AD203B41FA5}">
                      <a16:colId xmlns:a16="http://schemas.microsoft.com/office/drawing/2014/main" val="3105677795"/>
                    </a:ext>
                  </a:extLst>
                </a:gridCol>
                <a:gridCol w="2068192">
                  <a:extLst>
                    <a:ext uri="{9D8B030D-6E8A-4147-A177-3AD203B41FA5}">
                      <a16:colId xmlns:a16="http://schemas.microsoft.com/office/drawing/2014/main" val="3871487324"/>
                    </a:ext>
                  </a:extLst>
                </a:gridCol>
                <a:gridCol w="2068192">
                  <a:extLst>
                    <a:ext uri="{9D8B030D-6E8A-4147-A177-3AD203B41FA5}">
                      <a16:colId xmlns:a16="http://schemas.microsoft.com/office/drawing/2014/main" val="2053544255"/>
                    </a:ext>
                  </a:extLst>
                </a:gridCol>
              </a:tblGrid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항목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Security Monitoring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Cloud Security Watcher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832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성격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보안 탐지 및 차단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보안 형상 점검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338161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기능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IDS / IPS / WAF / DDoS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오구성</a:t>
                      </a:r>
                      <a:r>
                        <a:rPr lang="en-US" altLang="ko-KR" sz="8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오픈포트 탐지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336243"/>
                  </a:ext>
                </a:extLst>
              </a:tr>
              <a:tr h="241074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대응 방식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실시간 차단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설정 개선 권고</a:t>
                      </a:r>
                      <a:endParaRPr lang="ko-Kore-KR" altLang="en-US" sz="8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92410"/>
                  </a:ext>
                </a:extLst>
              </a:tr>
            </a:tbl>
          </a:graphicData>
        </a:graphic>
      </p:graphicFrame>
      <p:sp>
        <p:nvSpPr>
          <p:cNvPr id="2" name="cb100">
            <a:extLst>
              <a:ext uri="{FF2B5EF4-FFF2-40B4-BE49-F238E27FC236}">
                <a16:creationId xmlns:a16="http://schemas.microsoft.com/office/drawing/2014/main" id="{7F3F14B7-74FC-8D72-5B20-E7D588F492A9}"/>
              </a:ext>
            </a:extLst>
          </p:cNvPr>
          <p:cNvSpPr/>
          <p:nvPr/>
        </p:nvSpPr>
        <p:spPr>
          <a:xfrm>
            <a:off x="5206423" y="4424206"/>
            <a:ext cx="6332122" cy="586538"/>
          </a:xfrm>
          <a:prstGeom prst="round2SameRect">
            <a:avLst>
              <a:gd name="adj1" fmla="val 7427"/>
              <a:gd name="adj2" fmla="val 928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3" name="TextBox 32">
            <a:extLst>
              <a:ext uri="{FF2B5EF4-FFF2-40B4-BE49-F238E27FC236}">
                <a16:creationId xmlns:a16="http://schemas.microsoft.com/office/drawing/2014/main" id="{AB1D1A54-5418-6784-941C-6D6E03AEA66C}"/>
              </a:ext>
            </a:extLst>
          </p:cNvPr>
          <p:cNvSpPr txBox="1"/>
          <p:nvPr/>
        </p:nvSpPr>
        <p:spPr>
          <a:xfrm>
            <a:off x="5303913" y="4471412"/>
            <a:ext cx="2117613" cy="224933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이벤트 탐지</a:t>
            </a:r>
            <a:endParaRPr lang="en-US" sz="1050" b="0" i="0" u="none" strike="noStrike" dirty="0">
              <a:solidFill>
                <a:srgbClr val="00BC1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AC13F-22F5-97E4-DFD6-326A2E2D9F2E}"/>
              </a:ext>
            </a:extLst>
          </p:cNvPr>
          <p:cNvSpPr txBox="1"/>
          <p:nvPr/>
        </p:nvSpPr>
        <p:spPr>
          <a:xfrm>
            <a:off x="5338191" y="4696345"/>
            <a:ext cx="5305000" cy="298703"/>
          </a:xfrm>
          <a:prstGeom prst="rect">
            <a:avLst/>
          </a:prstGeom>
        </p:spPr>
        <p:txBody>
          <a:bodyPr lIns="0" tIns="27093" rIns="0" bIns="27093" rtlCol="0" anchor="ctr"/>
          <a:lstStyle>
            <a:defPPr>
              <a:defRPr lang="ko-KR"/>
            </a:defPPr>
            <a:lvl1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  <a:defRPr sz="1000" b="0" i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l"/>
            <a:r>
              <a:rPr lang="en-US" altLang="ko-KR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Security Monitoring (IDS/WAF) 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경보</a:t>
            </a:r>
            <a:endParaRPr lang="en-US" altLang="ko-KR" sz="1000" b="0" i="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cb100">
            <a:extLst>
              <a:ext uri="{FF2B5EF4-FFF2-40B4-BE49-F238E27FC236}">
                <a16:creationId xmlns:a16="http://schemas.microsoft.com/office/drawing/2014/main" id="{83F6EBA8-766C-949D-4948-96DE5391D15A}"/>
              </a:ext>
            </a:extLst>
          </p:cNvPr>
          <p:cNvSpPr/>
          <p:nvPr/>
        </p:nvSpPr>
        <p:spPr>
          <a:xfrm>
            <a:off x="5206423" y="5061948"/>
            <a:ext cx="6332122" cy="699383"/>
          </a:xfrm>
          <a:prstGeom prst="round2SameRect">
            <a:avLst>
              <a:gd name="adj1" fmla="val 7427"/>
              <a:gd name="adj2" fmla="val 928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6" name="TextBox 32">
            <a:extLst>
              <a:ext uri="{FF2B5EF4-FFF2-40B4-BE49-F238E27FC236}">
                <a16:creationId xmlns:a16="http://schemas.microsoft.com/office/drawing/2014/main" id="{AC5E7A4B-43E7-1DFF-8D2B-609FB5291A29}"/>
              </a:ext>
            </a:extLst>
          </p:cNvPr>
          <p:cNvSpPr txBox="1"/>
          <p:nvPr/>
        </p:nvSpPr>
        <p:spPr>
          <a:xfrm>
            <a:off x="5303913" y="5109155"/>
            <a:ext cx="2117613" cy="224933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로그 분석</a:t>
            </a:r>
            <a:endParaRPr lang="en-US" sz="1050" b="0" i="0" u="none" strike="noStrike" dirty="0">
              <a:solidFill>
                <a:srgbClr val="00BC1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646B1-29D3-5DB5-ED82-F94C7AE42CD3}"/>
              </a:ext>
            </a:extLst>
          </p:cNvPr>
          <p:cNvSpPr txBox="1"/>
          <p:nvPr/>
        </p:nvSpPr>
        <p:spPr>
          <a:xfrm>
            <a:off x="5338191" y="5312822"/>
            <a:ext cx="5305000" cy="396004"/>
          </a:xfrm>
          <a:prstGeom prst="rect">
            <a:avLst/>
          </a:prstGeom>
        </p:spPr>
        <p:txBody>
          <a:bodyPr lIns="0" tIns="27093" rIns="0" bIns="27093" rtlCol="0" anchor="ctr"/>
          <a:lstStyle>
            <a:defPPr>
              <a:defRPr lang="ko-KR"/>
            </a:defPPr>
            <a:lvl1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  <a:defRPr sz="1000" b="0" i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l"/>
            <a:r>
              <a:rPr lang="en-US" altLang="ko-KR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IDS/IPS/WAF Raw </a:t>
            </a:r>
            <a:r>
              <a:rPr lang="ko-KR" altLang="en-US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데이터 직접 확인 </a:t>
            </a:r>
            <a:r>
              <a:rPr lang="en-US" altLang="ko-KR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- </a:t>
            </a:r>
            <a:r>
              <a:rPr lang="ko-KR" altLang="en-US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패킷</a:t>
            </a:r>
            <a:r>
              <a:rPr lang="en-US" altLang="ko-KR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·</a:t>
            </a:r>
            <a:r>
              <a:rPr lang="ko-KR" altLang="en-US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트래픽</a:t>
            </a:r>
            <a:r>
              <a:rPr lang="en-US" altLang="ko-KR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·</a:t>
            </a:r>
            <a:r>
              <a:rPr lang="ko-KR" altLang="en-US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공격 패턴
출발지 </a:t>
            </a:r>
            <a:r>
              <a:rPr lang="en-US" altLang="ko-KR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IP · </a:t>
            </a:r>
            <a:r>
              <a:rPr lang="ko-KR" altLang="en-US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악성 </a:t>
            </a:r>
            <a:r>
              <a:rPr lang="en-US" altLang="ko-KR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IP </a:t>
            </a:r>
            <a:r>
              <a:rPr lang="ko-KR" altLang="en-US" sz="1000" b="0" dirty="0">
                <a:latin typeface="NanumSquare" panose="020B0600000101010101" pitchFamily="50" charset="-127"/>
                <a:ea typeface="NanumSquare" panose="020B0600000101010101" pitchFamily="50" charset="-127"/>
              </a:rPr>
              <a:t>대조</a:t>
            </a:r>
            <a:endParaRPr lang="en-US" altLang="ko-KR" sz="1000" b="0" i="0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8" name="cb100">
            <a:extLst>
              <a:ext uri="{FF2B5EF4-FFF2-40B4-BE49-F238E27FC236}">
                <a16:creationId xmlns:a16="http://schemas.microsoft.com/office/drawing/2014/main" id="{E52733E9-51BE-E0D1-127C-5A9C4A74F4BF}"/>
              </a:ext>
            </a:extLst>
          </p:cNvPr>
          <p:cNvSpPr/>
          <p:nvPr/>
        </p:nvSpPr>
        <p:spPr>
          <a:xfrm>
            <a:off x="5206423" y="5812536"/>
            <a:ext cx="6332122" cy="862104"/>
          </a:xfrm>
          <a:prstGeom prst="round2SameRect">
            <a:avLst>
              <a:gd name="adj1" fmla="val 7427"/>
              <a:gd name="adj2" fmla="val 928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9" name="TextBox 32">
            <a:extLst>
              <a:ext uri="{FF2B5EF4-FFF2-40B4-BE49-F238E27FC236}">
                <a16:creationId xmlns:a16="http://schemas.microsoft.com/office/drawing/2014/main" id="{045D182B-D74D-CE6C-0D4E-607467AB1C58}"/>
              </a:ext>
            </a:extLst>
          </p:cNvPr>
          <p:cNvSpPr txBox="1"/>
          <p:nvPr/>
        </p:nvSpPr>
        <p:spPr>
          <a:xfrm>
            <a:off x="5303913" y="5817211"/>
            <a:ext cx="2117613" cy="224933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영향 범위 판단</a:t>
            </a:r>
            <a:endParaRPr lang="en-US" sz="1050" b="0" i="0" u="none" strike="noStrike" dirty="0">
              <a:solidFill>
                <a:srgbClr val="00BC1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574D3C-A4ED-D0DF-B8ED-546A0F71B3AE}"/>
              </a:ext>
            </a:extLst>
          </p:cNvPr>
          <p:cNvSpPr txBox="1"/>
          <p:nvPr/>
        </p:nvSpPr>
        <p:spPr>
          <a:xfrm>
            <a:off x="5338191" y="6040949"/>
            <a:ext cx="5305000" cy="545911"/>
          </a:xfrm>
          <a:prstGeom prst="rect">
            <a:avLst/>
          </a:prstGeom>
        </p:spPr>
        <p:txBody>
          <a:bodyPr lIns="0" tIns="27093" rIns="0" bIns="27093" rtlCol="0" anchor="ctr"/>
          <a:lstStyle>
            <a:defPPr>
              <a:defRPr lang="ko-KR"/>
            </a:defPPr>
            <a:lvl1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  <a:defRPr sz="1000" b="0" i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l"/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영향 받은 리소스</a:t>
            </a:r>
            <a:r>
              <a:rPr lang="en-US" altLang="ko-KR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계정</a:t>
            </a:r>
            <a:r>
              <a:rPr lang="en-US" altLang="ko-KR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범위 식별</a:t>
            </a:r>
            <a:endParaRPr lang="en-US" altLang="ko-KR" sz="1000" b="0" i="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r>
              <a:rPr lang="en-US" altLang="ko-KR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CSPM: 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관련 </a:t>
            </a:r>
            <a:r>
              <a:rPr lang="ko-KR" altLang="en-US" sz="1000" b="0" i="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오구성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자산 목록 확인</a:t>
            </a:r>
            <a:endParaRPr lang="en-US" altLang="ko-KR" sz="1000" b="0" i="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algn="l"/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고객 환경 기준 서비스 중단 가능성 판단</a:t>
            </a:r>
            <a:endParaRPr lang="en-US" altLang="ko-KR" sz="1000" b="0" i="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8830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 txBox="1">
            <a:spLocks/>
          </p:cNvSpPr>
          <p:nvPr/>
        </p:nvSpPr>
        <p:spPr>
          <a:xfrm>
            <a:off x="385200" y="288001"/>
            <a:ext cx="8280000" cy="19045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algn="l" defTabSz="914400" rtl="0" eaLnBrk="1" latinLnBrk="1" hangingPunct="1">
              <a:lnSpc>
                <a:spcPct val="110000"/>
              </a:lnSpc>
              <a:spcBef>
                <a:spcPct val="0"/>
              </a:spcBef>
              <a:buNone/>
              <a:defRPr lang="ko-KR" altLang="en-US" sz="3600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r>
              <a:rPr lang="en-US" altLang="ko-KR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5. </a:t>
            </a:r>
            <a:r>
              <a:rPr lang="ko-KR" altLang="en-US" sz="3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클라우드 보안 위협</a:t>
            </a:r>
          </a:p>
        </p:txBody>
      </p:sp>
    </p:spTree>
    <p:extLst>
      <p:ext uri="{BB962C8B-B14F-4D97-AF65-F5344CB8AC3E}">
        <p14:creationId xmlns:p14="http://schemas.microsoft.com/office/powerpoint/2010/main" val="351737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BFA296F-4950-E900-6FC3-4E554FCE58DB}"/>
              </a:ext>
            </a:extLst>
          </p:cNvPr>
          <p:cNvSpPr/>
          <p:nvPr/>
        </p:nvSpPr>
        <p:spPr>
          <a:xfrm>
            <a:off x="423862" y="1222260"/>
            <a:ext cx="11360151" cy="910595"/>
          </a:xfrm>
          <a:prstGeom prst="rect">
            <a:avLst/>
          </a:prstGeom>
          <a:solidFill>
            <a:srgbClr val="E5FFF1">
              <a:alpha val="40000"/>
            </a:srgbClr>
          </a:solidFill>
          <a:ln w="9525">
            <a:solidFill>
              <a:srgbClr val="03A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5.1 MITRE ATT&amp;CK</a:t>
            </a:r>
            <a:endParaRPr lang="ko-KR" altLang="en-US" sz="24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42466-27A4-12D3-9E33-0992FA7D5BF6}"/>
              </a:ext>
            </a:extLst>
          </p:cNvPr>
          <p:cNvSpPr txBox="1"/>
          <p:nvPr/>
        </p:nvSpPr>
        <p:spPr>
          <a:xfrm>
            <a:off x="616427" y="1650513"/>
            <a:ext cx="471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60" dirty="0">
                <a:latin typeface="NanumSquare ExtraBold" panose="020B0600000101010101" pitchFamily="50" charset="-127"/>
                <a:ea typeface="NanumSquare ExtraBold" panose="020B0600000101010101" pitchFamily="50" charset="-127"/>
              </a:rPr>
              <a:t>MITRE ATT&amp;CK</a:t>
            </a:r>
            <a:endParaRPr lang="ko-KR" altLang="en-US" spc="-60" dirty="0">
              <a:latin typeface="NanumSquare ExtraBold" panose="020B0600000101010101" pitchFamily="50" charset="-127"/>
              <a:ea typeface="NanumSquare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34376-EC40-BD95-CA85-CDAB5A70ADEF}"/>
              </a:ext>
            </a:extLst>
          </p:cNvPr>
          <p:cNvSpPr txBox="1"/>
          <p:nvPr/>
        </p:nvSpPr>
        <p:spPr>
          <a:xfrm>
            <a:off x="3114603" y="1390833"/>
            <a:ext cx="8460970" cy="590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2000"/>
              </a:lnSpc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dirty="0"/>
              <a:t>실제 공격자들의 행동을 바탕으로</a:t>
            </a:r>
            <a:r>
              <a:rPr lang="en-US" altLang="ko-KR" dirty="0"/>
              <a:t>, </a:t>
            </a:r>
            <a:r>
              <a:rPr lang="ko-KR" altLang="en-US" dirty="0"/>
              <a:t>공격 목적과 방법을 체계적으로 정리한 공개 모델</a:t>
            </a:r>
            <a:endParaRPr lang="en-US" altLang="ko-KR" dirty="0"/>
          </a:p>
          <a:p>
            <a:pPr marL="144000" indent="-144000">
              <a:buFont typeface="Arial" panose="020B0604020202020204" pitchFamily="34" charset="0"/>
              <a:buChar char="•"/>
            </a:pPr>
            <a:r>
              <a:rPr lang="ko-KR" altLang="en-US" dirty="0"/>
              <a:t>공격자가 왜</a:t>
            </a:r>
            <a:r>
              <a:rPr lang="en-US" altLang="ko-KR" dirty="0"/>
              <a:t>, </a:t>
            </a:r>
            <a:r>
              <a:rPr lang="ko-KR" altLang="en-US" dirty="0"/>
              <a:t>어떻게</a:t>
            </a:r>
            <a:r>
              <a:rPr lang="en-US" altLang="ko-KR" dirty="0"/>
              <a:t>, </a:t>
            </a:r>
            <a:r>
              <a:rPr lang="ko-KR" altLang="en-US" dirty="0"/>
              <a:t>어떤 순서로 움직이는지를 공통 언어로 정리한 프레임워크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4F72A3-152C-7DD4-8C47-2BE500BA89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009" y="1342142"/>
            <a:ext cx="325260" cy="3252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226A7D-266D-4039-99CE-3B2D70C641C6}"/>
              </a:ext>
            </a:extLst>
          </p:cNvPr>
          <p:cNvSpPr txBox="1"/>
          <p:nvPr/>
        </p:nvSpPr>
        <p:spPr>
          <a:xfrm>
            <a:off x="521238" y="2229889"/>
            <a:ext cx="112469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개념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800100" marR="0" lvl="1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MITRE ATT&amp;CK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은 실제 발생한 사이버 공격 사례를 바탕으로 공격자의 전술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(Tactics),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기법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(Techniques),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절차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(Procedures)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를 체계화한 지식 베이스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800100" marR="0" lvl="1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전 세계 보안 전문가들이 공유하는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"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공격자의 행동 양식 사전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"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이자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,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위협 중심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(Threat-informed)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방어 체계 가이드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R="0" lvl="1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구조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800100" marR="0" lvl="1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Tactics (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전술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/ 'Why'):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공격자의 전략적 목표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예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: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초기 침투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,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권한 상승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,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데이터 유출 등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14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개 항목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)</a:t>
            </a:r>
          </a:p>
          <a:p>
            <a:pPr marL="800100" marR="0" lvl="1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Techniques (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기법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/ 'How'):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전술을 달성하기 위한 구체적인 방법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예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: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피싱 이메일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,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무차별 대입 공격 등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)</a:t>
            </a:r>
          </a:p>
          <a:p>
            <a:pPr marL="800100" marR="0" lvl="1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Procedures (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절차 </a:t>
            </a:r>
            <a:r>
              <a:rPr kumimoji="0" lang="en-US" altLang="ko-KR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/ 'What'): </a:t>
            </a:r>
            <a:r>
              <a:rPr kumimoji="0" lang="ko-KR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특정 공격 그룹이 기법을 실행하는 구체적인 단계나 도구 활용 사례</a:t>
            </a:r>
            <a:endParaRPr kumimoji="0" lang="en-US" altLang="ko-KR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800100" marR="0" lvl="1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endParaRPr lang="en-US" altLang="ko-KR" sz="1300" dirty="0">
              <a:solidFill>
                <a:prstClr val="black"/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  <a:p>
            <a:pPr marL="342900" indent="-342900">
              <a:buFont typeface="+mj-ea"/>
              <a:buAutoNum type="arabicPeriod"/>
            </a:pP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CLOUD MITRE ATT&amp;CK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기존의 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MITRE ATT&amp;CK(Enterprise)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이 주로 물리적인 서버나 </a:t>
            </a:r>
            <a:r>
              <a:rPr lang="ko-KR" altLang="en-US" sz="1300" dirty="0" err="1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엔드포인트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(Windows, Linux 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등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) 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환경에서의 공격자 행동을 다룬다면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, Cloud Matrix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는 </a:t>
            </a:r>
            <a:r>
              <a:rPr lang="ko-KR" altLang="en-US" sz="1300" dirty="0" err="1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가상화된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 인프라와 관리 서비스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(SaaS, PaaS, IaaS) 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특유의 공격 수법에 집중</a:t>
            </a:r>
            <a:endParaRPr lang="en-US" altLang="ko-KR" sz="1300" dirty="0">
              <a:solidFill>
                <a:prstClr val="black"/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공격의 대상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: OS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보다는 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Cloud API, 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관리 콘솔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(Console), 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계정 등을 노림</a:t>
            </a:r>
            <a:endParaRPr lang="en-US" altLang="ko-KR" sz="1300" dirty="0">
              <a:solidFill>
                <a:prstClr val="black"/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기존에는 피싱이나 취약점 공격이 주를 이뤘다면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, 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클라우드에서는 임시 자격 증명 탈취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(Cloud Instance Metadata Service)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나 설정 오류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(Misconfiguration)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를 통한 침투가 핵심 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/ 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기존에는 백도어를 설치했다면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, 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클라우드에서는 새로운 사용자 계정 생성이나 액세스 정책 수정을 통해 권한을 유지</a:t>
            </a:r>
            <a:endParaRPr lang="en-US" altLang="ko-KR" sz="1300" dirty="0">
              <a:solidFill>
                <a:prstClr val="black"/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  <a:p>
            <a:pPr marL="800100" lvl="1" indent="-342900">
              <a:buFont typeface="+mj-ea"/>
              <a:buAutoNum type="circleNumDbPlain"/>
            </a:pP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클라우드 매트릭스에만 존재하는 고유한 기법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Cloud Service Dashboard: 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클라우드 관리 화면을 통해 인프라 정보를 수집하는 기법</a:t>
            </a:r>
            <a:endParaRPr lang="en-US" altLang="ko-KR" sz="1300" dirty="0">
              <a:solidFill>
                <a:prstClr val="black"/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Steal Web Session Cookie: MFA(</a:t>
            </a:r>
            <a:r>
              <a:rPr lang="ko-KR" altLang="en-US" sz="1300" dirty="0" err="1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다요소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 인증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)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를 우회하기 위해 브라우저의 세션 쿠키를 탈취하는 수법</a:t>
            </a:r>
            <a:endParaRPr lang="en-US" altLang="ko-KR" sz="1300" dirty="0">
              <a:solidFill>
                <a:prstClr val="black"/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Serverless Execution: Lambda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나 </a:t>
            </a:r>
            <a:r>
              <a:rPr lang="en-US" altLang="ko-KR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Azure Functions </a:t>
            </a:r>
            <a:r>
              <a:rPr lang="ko-KR" altLang="en-US" sz="1300" dirty="0">
                <a:solidFill>
                  <a:prstClr val="black"/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같은 서버리스 기능을 악용해 코드를 실행하는 방식</a:t>
            </a:r>
            <a:endParaRPr lang="en-US" altLang="ko-KR" sz="1300" dirty="0">
              <a:solidFill>
                <a:prstClr val="black"/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  <a:p>
            <a:pPr marL="800100" lvl="1" indent="-342900">
              <a:buFont typeface="+mj-ea"/>
              <a:buAutoNum type="circleNumDbPlain"/>
            </a:pPr>
            <a:endParaRPr lang="en-US" altLang="ko-KR" sz="1200" dirty="0">
              <a:solidFill>
                <a:prstClr val="black"/>
              </a:solidFill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56515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24">
            <a:extLst>
              <a:ext uri="{FF2B5EF4-FFF2-40B4-BE49-F238E27FC236}">
                <a16:creationId xmlns:a16="http://schemas.microsoft.com/office/drawing/2014/main" id="{E87E5A16-CD82-6963-55B5-4BD04C70F934}"/>
              </a:ext>
            </a:extLst>
          </p:cNvPr>
          <p:cNvSpPr/>
          <p:nvPr/>
        </p:nvSpPr>
        <p:spPr>
          <a:xfrm>
            <a:off x="430084" y="3537073"/>
            <a:ext cx="11361516" cy="3208480"/>
          </a:xfrm>
          <a:prstGeom prst="roundRect">
            <a:avLst>
              <a:gd name="adj" fmla="val 9988"/>
            </a:avLst>
          </a:prstGeom>
          <a:solidFill>
            <a:schemeClr val="bg1">
              <a:lumMod val="9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CB1E9C3-0110-4AD3-B497-C175A53721AB}"/>
              </a:ext>
            </a:extLst>
          </p:cNvPr>
          <p:cNvGrpSpPr/>
          <p:nvPr/>
        </p:nvGrpSpPr>
        <p:grpSpPr>
          <a:xfrm>
            <a:off x="626601" y="3429000"/>
            <a:ext cx="1752403" cy="282877"/>
            <a:chOff x="1563827" y="2059979"/>
            <a:chExt cx="1604979" cy="342249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1" name="모서리가 둥근 직사각형 8">
              <a:extLst>
                <a:ext uri="{FF2B5EF4-FFF2-40B4-BE49-F238E27FC236}">
                  <a16:creationId xmlns:a16="http://schemas.microsoft.com/office/drawing/2014/main" id="{389D18DA-E3D9-C177-666E-F9C0850E1456}"/>
                </a:ext>
              </a:extLst>
            </p:cNvPr>
            <p:cNvSpPr/>
            <p:nvPr/>
          </p:nvSpPr>
          <p:spPr>
            <a:xfrm>
              <a:off x="1568078" y="2059979"/>
              <a:ext cx="1596469" cy="34224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202D922-DE7A-D53B-22CC-A1E62F005B8B}"/>
                </a:ext>
              </a:extLst>
            </p:cNvPr>
            <p:cNvSpPr/>
            <p:nvPr/>
          </p:nvSpPr>
          <p:spPr>
            <a:xfrm>
              <a:off x="1563827" y="2077213"/>
              <a:ext cx="1604979" cy="3165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Tactic </a:t>
              </a:r>
              <a:r>
                <a:rPr lang="ko-KR" altLang="en-US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별 주요 </a:t>
              </a:r>
              <a:r>
                <a:rPr lang="en-US" altLang="ko-KR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Technique</a:t>
              </a:r>
            </a:p>
          </p:txBody>
        </p:sp>
      </p:grp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5.1 CLOUD MITRE ATT&amp;CK</a:t>
            </a:r>
            <a:endParaRPr lang="ko-KR" altLang="en-US" sz="24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B80B494-5931-7E91-43F5-042A3F239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379664"/>
              </p:ext>
            </p:extLst>
          </p:nvPr>
        </p:nvGraphicFramePr>
        <p:xfrm>
          <a:off x="430084" y="1004581"/>
          <a:ext cx="11361516" cy="2316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023">
                  <a:extLst>
                    <a:ext uri="{9D8B030D-6E8A-4147-A177-3AD203B41FA5}">
                      <a16:colId xmlns:a16="http://schemas.microsoft.com/office/drawing/2014/main" val="2894895546"/>
                    </a:ext>
                  </a:extLst>
                </a:gridCol>
                <a:gridCol w="7265221">
                  <a:extLst>
                    <a:ext uri="{9D8B030D-6E8A-4147-A177-3AD203B41FA5}">
                      <a16:colId xmlns:a16="http://schemas.microsoft.com/office/drawing/2014/main" val="4071572583"/>
                    </a:ext>
                  </a:extLst>
                </a:gridCol>
                <a:gridCol w="2743272">
                  <a:extLst>
                    <a:ext uri="{9D8B030D-6E8A-4147-A177-3AD203B41FA5}">
                      <a16:colId xmlns:a16="http://schemas.microsoft.com/office/drawing/2014/main" val="93297693"/>
                    </a:ext>
                  </a:extLst>
                </a:gridCol>
              </a:tblGrid>
              <a:tr h="249396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en-US" sz="1200" b="0" i="0" kern="1200" spc="-5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Tactics</a:t>
                      </a:r>
                      <a:endParaRPr lang="ko-Kore-KR" altLang="en-US" sz="1200" b="0" i="0" kern="1200" spc="-5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ore-KR" altLang="en-US" sz="1200" b="0" i="0" kern="1200" spc="-5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38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200" b="0" i="0" kern="1200" spc="-5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Techniques</a:t>
                      </a:r>
                      <a:endParaRPr lang="ko-Kore-KR" altLang="en-US" sz="1200" b="0" i="0" kern="1200" spc="-5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808916"/>
                  </a:ext>
                </a:extLst>
              </a:tr>
              <a:tr h="488113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Initial Access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공격자가 공격 대상의 네트워크에 침입하려는 초기 단계이며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탐지의 최전선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Drive-by Compromise</a:t>
                      </a:r>
                    </a:p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Exploit Public-Facing Application</a:t>
                      </a:r>
                    </a:p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Valid Accounts</a:t>
                      </a:r>
                      <a:endParaRPr lang="en-US" altLang="ko-KR" sz="1100" b="0" i="0" u="none" strike="noStrike" spc="-1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Nirmala Text" panose="020B05020402040202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07195"/>
                  </a:ext>
                </a:extLst>
              </a:tr>
              <a:tr h="415776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Execution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indent="50800" algn="l" defTabSz="914400" rtl="0" eaLnBrk="1" latinLnBrk="0" hangingPunct="1">
                        <a:tabLst/>
                      </a:pP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공격자가 침투에 성공 후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원하는 코드나 명령을 실행시키는 단계로 다른 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Tactic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과 연계되어 나타남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Cloud Administration Command</a:t>
                      </a:r>
                    </a:p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Serverless Execution</a:t>
                      </a:r>
                      <a:endParaRPr lang="en-US" altLang="ko-KR" sz="1100" b="0" i="0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u="none" strike="noStrike" spc="-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Nirmala Text" panose="020B0502040204020203" pitchFamily="34" charset="0"/>
                        </a:rPr>
                        <a:t>Poisoned Pipeline Execution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204152"/>
                  </a:ext>
                </a:extLst>
              </a:tr>
              <a:tr h="522217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ko-Kore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Persistence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공격자가 시스템에 한번 침투한 후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spc="-50" baseline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재부팅</a:t>
                      </a:r>
                      <a:r>
                        <a:rPr lang="ko-KR" altLang="en-US" sz="1100" b="0" i="0" kern="1200" spc="-50" baseline="0" dirty="0" err="1">
                          <a:solidFill>
                            <a:schemeClr val="tx1"/>
                          </a:solidFill>
                          <a:latin typeface="Narkisim" panose="020E0502050101010101" pitchFamily="34" charset="-79"/>
                          <a:ea typeface="나눔스퀘어" panose="020B0600000101010101" pitchFamily="50" charset="-127"/>
                          <a:cs typeface="Narkisim" panose="020E0502050101010101" pitchFamily="34" charset="-79"/>
                        </a:rPr>
                        <a:t>∙계정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Narkisim" panose="020E0502050101010101" pitchFamily="34" charset="-79"/>
                          <a:ea typeface="나눔스퀘어" panose="020B0600000101010101" pitchFamily="50" charset="-127"/>
                          <a:cs typeface="Narkisim" panose="020E0502050101010101" pitchFamily="34" charset="-79"/>
                        </a:rPr>
                        <a:t> 변경 후에도 다시 접근할 수 있는 교두보를 유지하기 위한 행위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lvl="0" indent="-968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Implant Internal Image</a:t>
                      </a:r>
                      <a:endParaRPr lang="en-US" altLang="ko-KR" sz="1100" b="0" i="0" dirty="0">
                        <a:solidFill>
                          <a:schemeClr val="tx1"/>
                        </a:solidFill>
                        <a:effectLst/>
                        <a:latin typeface="NanumSquare" panose="020B0600000101010101" pitchFamily="50" charset="-127"/>
                        <a:ea typeface="NanumSquare" panose="020B0600000101010101" pitchFamily="50" charset="-127"/>
                      </a:endParaRPr>
                    </a:p>
                    <a:p>
                      <a:pPr marL="182563" lvl="0" indent="-968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Account Manipulation</a:t>
                      </a:r>
                    </a:p>
                    <a:p>
                      <a:pPr marL="182563" lvl="0" indent="-968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Cloud Application Integration</a:t>
                      </a:r>
                      <a:endParaRPr lang="en-US" altLang="ko-KR" sz="1100" b="0" i="0" u="none" strike="noStrike" spc="-10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Nirmala Text" panose="020B05020402040202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143932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ko-Kore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Privilege Escalation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공격자가 낮은 권한으로 침투한 후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Narkisim" panose="020E0502050101010101" pitchFamily="34" charset="-79"/>
                          <a:ea typeface="나눔스퀘어" panose="020B0600000101010101" pitchFamily="50" charset="-127"/>
                          <a:cs typeface="Narkisim" panose="020E0502050101010101" pitchFamily="34" charset="-79"/>
                        </a:rPr>
                        <a:t>높은 권한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Narkisim" panose="020E0502050101010101" pitchFamily="34" charset="-79"/>
                          <a:ea typeface="나눔스퀘어" panose="020B0600000101010101" pitchFamily="50" charset="-127"/>
                          <a:cs typeface="Narkisim" panose="020E0502050101010101" pitchFamily="34" charset="-79"/>
                        </a:rPr>
                        <a:t>(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Narkisim" panose="020E0502050101010101" pitchFamily="34" charset="-79"/>
                          <a:ea typeface="나눔스퀘어" panose="020B0600000101010101" pitchFamily="50" charset="-127"/>
                          <a:cs typeface="Narkisim" panose="020E0502050101010101" pitchFamily="34" charset="-79"/>
                        </a:rPr>
                        <a:t>관리자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Narkisim" panose="020E0502050101010101" pitchFamily="34" charset="-79"/>
                          <a:ea typeface="나눔스퀘어" panose="020B0600000101010101" pitchFamily="50" charset="-127"/>
                          <a:cs typeface="Narkisim" panose="020E0502050101010101" pitchFamily="34" charset="-79"/>
                        </a:rPr>
                        <a:t>)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Narkisim" panose="020E0502050101010101" pitchFamily="34" charset="-79"/>
                          <a:ea typeface="나눔스퀘어" panose="020B0600000101010101" pitchFamily="50" charset="-127"/>
                          <a:cs typeface="Narkisim" panose="020E0502050101010101" pitchFamily="34" charset="-79"/>
                        </a:rPr>
                        <a:t>을 획득하기 위해 수행하는 행위로 </a:t>
                      </a:r>
                      <a:r>
                        <a:rPr lang="ko-KR" altLang="en-US" sz="1100" b="0" i="0" kern="1200" spc="-50" baseline="0" dirty="0" err="1">
                          <a:solidFill>
                            <a:schemeClr val="tx1"/>
                          </a:solidFill>
                          <a:latin typeface="Narkisim" panose="020E0502050101010101" pitchFamily="34" charset="-79"/>
                          <a:ea typeface="나눔스퀘어" panose="020B0600000101010101" pitchFamily="50" charset="-127"/>
                          <a:cs typeface="Narkisim" panose="020E0502050101010101" pitchFamily="34" charset="-79"/>
                        </a:rPr>
                        <a:t>고가치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Narkisim" panose="020E0502050101010101" pitchFamily="34" charset="-79"/>
                          <a:ea typeface="나눔스퀘어" panose="020B0600000101010101" pitchFamily="50" charset="-127"/>
                          <a:cs typeface="Narkisim" panose="020E0502050101010101" pitchFamily="34" charset="-79"/>
                        </a:rPr>
                        <a:t> 데이터 접근과 최종 목표 달성이 가능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lvl="0" indent="-968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Account Manipulation</a:t>
                      </a:r>
                      <a:endParaRPr lang="en-US" altLang="ko-KR" sz="1100" b="0" i="0" dirty="0">
                        <a:solidFill>
                          <a:schemeClr val="tx1"/>
                        </a:solidFill>
                        <a:effectLst/>
                        <a:latin typeface="NanumSquare" panose="020B0600000101010101" pitchFamily="50" charset="-127"/>
                        <a:ea typeface="NanumSquare" panose="020B0600000101010101" pitchFamily="50" charset="-127"/>
                      </a:endParaRPr>
                    </a:p>
                    <a:p>
                      <a:pPr marL="182563" lvl="0" indent="-968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Abuse Elevation Control Mechanism</a:t>
                      </a:r>
                      <a:endParaRPr lang="en-US" altLang="ko-KR" sz="1100" b="0" i="0" u="none" strike="noStrike" spc="-10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Nirmala Text" panose="020B05020402040202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693410"/>
                  </a:ext>
                </a:extLst>
              </a:tr>
            </a:tbl>
          </a:graphicData>
        </a:graphic>
      </p:graphicFrame>
      <p:sp>
        <p:nvSpPr>
          <p:cNvPr id="12" name="제목 1">
            <a:extLst>
              <a:ext uri="{FF2B5EF4-FFF2-40B4-BE49-F238E27FC236}">
                <a16:creationId xmlns:a16="http://schemas.microsoft.com/office/drawing/2014/main" id="{2C663383-F23E-9B6D-A74F-5E905644693B}"/>
              </a:ext>
            </a:extLst>
          </p:cNvPr>
          <p:cNvSpPr txBox="1">
            <a:spLocks/>
          </p:cNvSpPr>
          <p:nvPr/>
        </p:nvSpPr>
        <p:spPr>
          <a:xfrm>
            <a:off x="456612" y="3717032"/>
            <a:ext cx="11398838" cy="717312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Initial Access - </a:t>
            </a:r>
            <a:r>
              <a:rPr lang="en-US" altLang="ko-KR" sz="1100" b="1" i="0" dirty="0">
                <a:solidFill>
                  <a:schemeClr val="tx1"/>
                </a:solidFill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rPr>
              <a:t>Exploit Public-Facing Application</a:t>
            </a:r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b="0" dirty="0">
                <a:solidFill>
                  <a:schemeClr val="tx1"/>
                </a:solidFill>
                <a:effectLst/>
              </a:rPr>
              <a:t>인터넷에 노출된 웹 서버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, 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웹 애플리케이션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, 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데이터베이스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, 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관리 인터페이스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, 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각종 서비스 포트의 취약점이나 설정 오류를 악용해 처음 침투하는 방식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,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 소프트웨어 </a:t>
            </a:r>
            <a:r>
              <a:rPr lang="ko-KR" altLang="en-US" sz="1050" b="0" dirty="0" err="1">
                <a:solidFill>
                  <a:schemeClr val="tx1"/>
                </a:solidFill>
                <a:effectLst/>
              </a:rPr>
              <a:t>버그뿐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 아니라 일시적 결함이나 </a:t>
            </a:r>
            <a:r>
              <a:rPr lang="ko-KR" altLang="en-US" sz="1050" b="0" dirty="0" err="1">
                <a:solidFill>
                  <a:schemeClr val="tx1"/>
                </a:solidFill>
                <a:effectLst/>
              </a:rPr>
              <a:t>오설정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 포함</a:t>
            </a:r>
            <a:endParaRPr lang="en-US" altLang="ko-KR" sz="1050" b="0" dirty="0">
              <a:solidFill>
                <a:schemeClr val="tx1"/>
              </a:solidFill>
              <a:effectLst/>
              <a:latin typeface="NanumSquare" panose="020B0600000101010101" pitchFamily="50" charset="-127"/>
              <a:ea typeface="NanumSquare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b="0" dirty="0">
                <a:solidFill>
                  <a:schemeClr val="tx1"/>
                </a:solidFill>
                <a:effectLst/>
              </a:rPr>
              <a:t>공격 대상은 인터넷에 공개된 시스템이고 성공하면 해당 서버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/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컨테이너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/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인스턴스를 장악한 다음 클라우드 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API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나 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Cloud Instance Metadata API 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같은 곳으로 확장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212DC55B-528E-0FAD-0835-4108253A9B4A}"/>
              </a:ext>
            </a:extLst>
          </p:cNvPr>
          <p:cNvSpPr txBox="1">
            <a:spLocks/>
          </p:cNvSpPr>
          <p:nvPr/>
        </p:nvSpPr>
        <p:spPr>
          <a:xfrm>
            <a:off x="456611" y="4482466"/>
            <a:ext cx="9814059" cy="717312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en-US" altLang="en-US" sz="1100" b="0" i="0" kern="1200" spc="-50" baseline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Execution - </a:t>
            </a:r>
            <a:r>
              <a:rPr lang="en-US" altLang="ko-KR" sz="1100" b="0" i="0" u="none" strike="noStrike" spc="-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irmala Text" panose="020B0502040204020203" pitchFamily="34" charset="0"/>
              </a:rPr>
              <a:t>Cloud </a:t>
            </a:r>
            <a:r>
              <a:rPr lang="en-US" altLang="ko-KR" sz="1100" i="0" u="none" strike="noStrike" spc="-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irmala Text" panose="020B0502040204020203" pitchFamily="34" charset="0"/>
              </a:rPr>
              <a:t>Administration Comm</a:t>
            </a:r>
            <a:r>
              <a:rPr lang="en-US" altLang="ko-KR" sz="1100" b="0" i="0" u="none" strike="noStrike" spc="-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Nirmala Text" panose="020B0502040204020203" pitchFamily="34" charset="0"/>
              </a:rPr>
              <a:t>and</a:t>
            </a:r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클라우드 관리 기능을 이용해 </a:t>
            </a:r>
            <a:r>
              <a:rPr lang="en-US" altLang="ko-KR" sz="1050" dirty="0">
                <a:solidFill>
                  <a:schemeClr val="tx1"/>
                </a:solidFill>
              </a:rPr>
              <a:t>VM </a:t>
            </a:r>
            <a:r>
              <a:rPr lang="ko-KR" altLang="en-US" sz="1050" dirty="0">
                <a:solidFill>
                  <a:schemeClr val="tx1"/>
                </a:solidFill>
              </a:rPr>
              <a:t>안에서 명령을 실행하는 방식</a:t>
            </a:r>
            <a:r>
              <a:rPr lang="en-US" altLang="ko-KR" sz="1050" dirty="0">
                <a:solidFill>
                  <a:schemeClr val="tx1"/>
                </a:solidFill>
              </a:rPr>
              <a:t>. </a:t>
            </a:r>
            <a:r>
              <a:rPr lang="ko-KR" altLang="en-US" sz="1050" dirty="0">
                <a:solidFill>
                  <a:schemeClr val="tx1"/>
                </a:solidFill>
              </a:rPr>
              <a:t>핵심은 공격자가 </a:t>
            </a:r>
            <a:r>
              <a:rPr lang="en-US" altLang="ko-KR" sz="1050" dirty="0">
                <a:solidFill>
                  <a:schemeClr val="tx1"/>
                </a:solidFill>
              </a:rPr>
              <a:t>VM</a:t>
            </a:r>
            <a:r>
              <a:rPr lang="ko-KR" altLang="en-US" sz="1050" dirty="0">
                <a:solidFill>
                  <a:schemeClr val="tx1"/>
                </a:solidFill>
              </a:rPr>
              <a:t>에 직접 </a:t>
            </a:r>
            <a:r>
              <a:rPr lang="en-US" altLang="ko-KR" sz="1050" dirty="0">
                <a:solidFill>
                  <a:schemeClr val="tx1"/>
                </a:solidFill>
              </a:rPr>
              <a:t>SSH/RDP</a:t>
            </a:r>
            <a:r>
              <a:rPr lang="ko-KR" altLang="en-US" sz="1050" dirty="0">
                <a:solidFill>
                  <a:schemeClr val="tx1"/>
                </a:solidFill>
              </a:rPr>
              <a:t>로 붙지 않아도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클라우드 관리 서비스가 대신 명령을 실행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공격자가 클라우드 환경에 대한 관리자 권한을 획득하면 클라우드 관리 서비스를 악용하여 환경의 가상 </a:t>
            </a:r>
            <a:r>
              <a:rPr lang="ko-KR" altLang="en-US" sz="1050" dirty="0" err="1">
                <a:solidFill>
                  <a:schemeClr val="tx1"/>
                </a:solidFill>
              </a:rPr>
              <a:t>머신에서</a:t>
            </a:r>
            <a:r>
              <a:rPr lang="ko-KR" altLang="en-US" sz="1050" dirty="0">
                <a:solidFill>
                  <a:schemeClr val="tx1"/>
                </a:solidFill>
              </a:rPr>
              <a:t> 명령을 실행할 수 있음</a:t>
            </a:r>
            <a:r>
              <a:rPr lang="en-US" altLang="ko-KR" sz="105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6CA226C-173C-ACC5-D3BD-F368F38BADC3}"/>
              </a:ext>
            </a:extLst>
          </p:cNvPr>
          <p:cNvSpPr txBox="1">
            <a:spLocks/>
          </p:cNvSpPr>
          <p:nvPr/>
        </p:nvSpPr>
        <p:spPr>
          <a:xfrm>
            <a:off x="456612" y="5247900"/>
            <a:ext cx="10319908" cy="717312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  <a:r>
              <a:rPr lang="en-US" altLang="ko-Kore-KR" sz="1100" b="0" i="0" kern="1200" spc="-50" baseline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Persistence - </a:t>
            </a:r>
            <a:r>
              <a:rPr lang="en-US" altLang="ko-KR" sz="1100" b="0" i="0" dirty="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Implant Internal Image</a:t>
            </a:r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클라우드</a:t>
            </a:r>
            <a:r>
              <a:rPr lang="en-US" altLang="ko-KR" sz="1050" dirty="0">
                <a:solidFill>
                  <a:schemeClr val="tx1"/>
                </a:solidFill>
              </a:rPr>
              <a:t>/</a:t>
            </a:r>
            <a:r>
              <a:rPr lang="ko-KR" altLang="en-US" sz="1050" dirty="0">
                <a:solidFill>
                  <a:schemeClr val="tx1"/>
                </a:solidFill>
              </a:rPr>
              <a:t>컨테이너 이미지에 백도어를 심어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해당 이미지로 새로운 인스턴스가 생성될 때마다 자동으로 감염되도록 하는 기술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b="0" dirty="0">
                <a:solidFill>
                  <a:schemeClr val="tx1"/>
                </a:solidFill>
                <a:effectLst/>
              </a:rPr>
              <a:t>인프라가 확장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(Auto Scaling)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할 때마다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, 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감염 인스턴스가 자동으로 생성되며 이미지 자체에 심어져 있어 운영 도중에 탐지가 어려우며 한번 성공하면 전체 클라우드 인프라로 자동 확산 가능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C807EE81-C23C-E098-38F5-76F828FD81BC}"/>
              </a:ext>
            </a:extLst>
          </p:cNvPr>
          <p:cNvSpPr txBox="1">
            <a:spLocks/>
          </p:cNvSpPr>
          <p:nvPr/>
        </p:nvSpPr>
        <p:spPr>
          <a:xfrm>
            <a:off x="456612" y="6013335"/>
            <a:ext cx="7681402" cy="717312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4) </a:t>
            </a:r>
            <a:r>
              <a:rPr lang="en-US" altLang="ko-Kore-KR" sz="1100" b="0" i="0" kern="1200" spc="-50" baseline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Privilege Escalation -</a:t>
            </a:r>
            <a:r>
              <a:rPr lang="en-US" altLang="ko-KR" sz="1100" b="0" i="0" dirty="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Account Manipulation</a:t>
            </a:r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클라우드 환경에서 공격자가 제어하는 계정에 추가 역할이나 관리자 권한을 부여하여 </a:t>
            </a:r>
            <a:r>
              <a:rPr lang="ko-KR" altLang="en-US" sz="1050" dirty="0" err="1">
                <a:solidFill>
                  <a:schemeClr val="tx1"/>
                </a:solidFill>
              </a:rPr>
              <a:t>테넌트</a:t>
            </a:r>
            <a:r>
              <a:rPr lang="ko-KR" altLang="en-US" sz="1050" dirty="0">
                <a:solidFill>
                  <a:schemeClr val="tx1"/>
                </a:solidFill>
              </a:rPr>
              <a:t> 전체에 대한 무제한 접근을 확보하는 기술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관리자 권한 획득 시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다른 관리자의 계정까지 리셋 가능하며 정상적인 </a:t>
            </a:r>
            <a:r>
              <a:rPr lang="en-US" altLang="ko-KR" sz="1050" dirty="0">
                <a:solidFill>
                  <a:schemeClr val="tx1"/>
                </a:solidFill>
              </a:rPr>
              <a:t>IAM </a:t>
            </a:r>
            <a:r>
              <a:rPr lang="ko-KR" altLang="en-US" sz="1050" dirty="0">
                <a:solidFill>
                  <a:schemeClr val="tx1"/>
                </a:solidFill>
              </a:rPr>
              <a:t>조작으로 보여 탐지가 어려움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980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24">
            <a:extLst>
              <a:ext uri="{FF2B5EF4-FFF2-40B4-BE49-F238E27FC236}">
                <a16:creationId xmlns:a16="http://schemas.microsoft.com/office/drawing/2014/main" id="{F3C85292-42B3-7922-38F9-7EA546F0D1F5}"/>
              </a:ext>
            </a:extLst>
          </p:cNvPr>
          <p:cNvSpPr/>
          <p:nvPr/>
        </p:nvSpPr>
        <p:spPr>
          <a:xfrm>
            <a:off x="430084" y="3537073"/>
            <a:ext cx="11361516" cy="3208480"/>
          </a:xfrm>
          <a:prstGeom prst="roundRect">
            <a:avLst>
              <a:gd name="adj" fmla="val 9988"/>
            </a:avLst>
          </a:prstGeom>
          <a:solidFill>
            <a:schemeClr val="bg1">
              <a:lumMod val="9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FB2DC4F-FF85-19D5-C3B8-2D3B8D403C82}"/>
              </a:ext>
            </a:extLst>
          </p:cNvPr>
          <p:cNvGrpSpPr/>
          <p:nvPr/>
        </p:nvGrpSpPr>
        <p:grpSpPr>
          <a:xfrm>
            <a:off x="626601" y="3429000"/>
            <a:ext cx="1752403" cy="282877"/>
            <a:chOff x="1563827" y="2059979"/>
            <a:chExt cx="1604979" cy="342249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1" name="모서리가 둥근 직사각형 8">
              <a:extLst>
                <a:ext uri="{FF2B5EF4-FFF2-40B4-BE49-F238E27FC236}">
                  <a16:creationId xmlns:a16="http://schemas.microsoft.com/office/drawing/2014/main" id="{5A0512A8-A48B-3CFD-E580-6FFEB8796633}"/>
                </a:ext>
              </a:extLst>
            </p:cNvPr>
            <p:cNvSpPr/>
            <p:nvPr/>
          </p:nvSpPr>
          <p:spPr>
            <a:xfrm>
              <a:off x="1568078" y="2059979"/>
              <a:ext cx="1596469" cy="34224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63CEBFC-E2DC-9B17-1A2C-7666FCBEBA03}"/>
                </a:ext>
              </a:extLst>
            </p:cNvPr>
            <p:cNvSpPr/>
            <p:nvPr/>
          </p:nvSpPr>
          <p:spPr>
            <a:xfrm>
              <a:off x="1563827" y="2077213"/>
              <a:ext cx="1604979" cy="3165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Tactic </a:t>
              </a:r>
              <a:r>
                <a:rPr lang="ko-KR" altLang="en-US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별 주요 </a:t>
              </a:r>
              <a:r>
                <a:rPr lang="en-US" altLang="ko-KR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Technique</a:t>
              </a:r>
            </a:p>
          </p:txBody>
        </p:sp>
      </p:grp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5.1 CLOUD MITRE ATT&amp;CK</a:t>
            </a:r>
            <a:endParaRPr lang="ko-KR" altLang="en-US" sz="24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B80B494-5931-7E91-43F5-042A3F239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5460526"/>
              </p:ext>
            </p:extLst>
          </p:nvPr>
        </p:nvGraphicFramePr>
        <p:xfrm>
          <a:off x="430084" y="1004581"/>
          <a:ext cx="11361516" cy="23813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023">
                  <a:extLst>
                    <a:ext uri="{9D8B030D-6E8A-4147-A177-3AD203B41FA5}">
                      <a16:colId xmlns:a16="http://schemas.microsoft.com/office/drawing/2014/main" val="2894895546"/>
                    </a:ext>
                  </a:extLst>
                </a:gridCol>
                <a:gridCol w="7265221">
                  <a:extLst>
                    <a:ext uri="{9D8B030D-6E8A-4147-A177-3AD203B41FA5}">
                      <a16:colId xmlns:a16="http://schemas.microsoft.com/office/drawing/2014/main" val="4071572583"/>
                    </a:ext>
                  </a:extLst>
                </a:gridCol>
                <a:gridCol w="2743272">
                  <a:extLst>
                    <a:ext uri="{9D8B030D-6E8A-4147-A177-3AD203B41FA5}">
                      <a16:colId xmlns:a16="http://schemas.microsoft.com/office/drawing/2014/main" val="93297693"/>
                    </a:ext>
                  </a:extLst>
                </a:gridCol>
              </a:tblGrid>
              <a:tr h="249396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en-US" sz="1200" b="0" i="0" kern="1200" spc="-5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Tactics</a:t>
                      </a:r>
                      <a:endParaRPr lang="ko-Kore-KR" altLang="en-US" sz="1200" b="0" i="0" kern="1200" spc="-5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ore-KR" altLang="en-US" sz="1200" b="0" i="0" kern="1200" spc="-5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38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200" b="0" i="0" kern="1200" spc="-5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Techniques</a:t>
                      </a:r>
                      <a:endParaRPr lang="ko-Kore-KR" altLang="en-US" sz="1200" b="0" i="0" kern="1200" spc="-5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808916"/>
                  </a:ext>
                </a:extLst>
              </a:tr>
              <a:tr h="522217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ko-Kore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Defense Evasion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공격자가 보안 솔루션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 기능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에 탐지되지 않기 위해  수행하는 행위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lvl="0" indent="-968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Modify Authentication Process</a:t>
                      </a:r>
                    </a:p>
                    <a:p>
                      <a:pPr marL="182563" lvl="0" indent="-968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Modify Cloud Compute Infrastructure</a:t>
                      </a:r>
                    </a:p>
                    <a:p>
                      <a:pPr marL="182563" lvl="0" indent="-968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Unused/Unsupported Cloud Regions</a:t>
                      </a:r>
                      <a:endParaRPr lang="en-US" altLang="ko-KR" sz="1100" b="0" i="0" u="none" strike="noStrike" spc="-10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Nirmala Text" panose="020B05020402040202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007195"/>
                  </a:ext>
                </a:extLst>
              </a:tr>
              <a:tr h="522217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ko-Kore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Credential Access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공격자가 </a:t>
                      </a:r>
                      <a:r>
                        <a:rPr lang="ko-KR" altLang="en-US" sz="1100" b="0" i="0" kern="1200" spc="-50" baseline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계정명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비밀번호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인증서 등 자격증명을 탈취하는 행위</a:t>
                      </a:r>
                      <a:endParaRPr lang="en-US" altLang="ko-KR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Modify Authentication Process</a:t>
                      </a:r>
                    </a:p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Steal Web Session Cookie</a:t>
                      </a:r>
                    </a:p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u="none" strike="noStrike" spc="-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Nirmala Text" panose="020B0502040204020203" pitchFamily="34" charset="0"/>
                        </a:rPr>
                        <a:t>Steal Application Access Token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204152"/>
                  </a:ext>
                </a:extLst>
              </a:tr>
              <a:tr h="522217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ko-Kore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Discovery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공격자가 침투 후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 네트워크 환경을 파악하기 위해 </a:t>
                      </a:r>
                      <a:r>
                        <a:rPr lang="ko-KR" altLang="en-US" sz="1100" b="0" i="0" kern="1200" spc="-50" baseline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시스템</a:t>
                      </a:r>
                      <a:r>
                        <a:rPr lang="ko-KR" altLang="en-US" sz="1100" b="0" i="0" kern="1200" spc="-50" baseline="0" dirty="0" err="1">
                          <a:solidFill>
                            <a:schemeClr val="tx1"/>
                          </a:solidFill>
                          <a:latin typeface="Narkisim" panose="020E0502050101010101" pitchFamily="34" charset="-79"/>
                          <a:ea typeface="나눔스퀘어" panose="020B0600000101010101" pitchFamily="50" charset="-127"/>
                          <a:cs typeface="Narkisim" panose="020E0502050101010101" pitchFamily="34" charset="-79"/>
                        </a:rPr>
                        <a:t>∙네트워크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Narkisim" panose="020E0502050101010101" pitchFamily="34" charset="-79"/>
                          <a:ea typeface="나눔스퀘어" panose="020B0600000101010101" pitchFamily="50" charset="-127"/>
                          <a:cs typeface="Narkisim" panose="020E0502050101010101" pitchFamily="34" charset="-79"/>
                        </a:rPr>
                        <a:t> 등 정보를 수집하는 행위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841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Cloud Infrastructure Discovery</a:t>
                      </a:r>
                    </a:p>
                    <a:p>
                      <a:pPr marL="171450" lvl="0" indent="-841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Cloud Service Dashboard</a:t>
                      </a:r>
                      <a:endParaRPr lang="en-US" altLang="ko-KR" sz="1100" b="0" i="0" u="none" strike="noStrike" spc="-1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Nirmala Text" panose="020B05020402040202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143932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ko-Kore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Lateral Movement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공격자가 침투한 시스템에서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 다른 시스템으로 이동하며 영향 범위를 확장하는 행위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841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Implant Internal Image</a:t>
                      </a:r>
                    </a:p>
                    <a:p>
                      <a:pPr marL="171450" lvl="0" indent="-841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Software Deployment Tools</a:t>
                      </a:r>
                    </a:p>
                    <a:p>
                      <a:pPr marL="171450" lvl="0" indent="-841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u="none" strike="noStrike" spc="-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Nirmala Text" panose="020B0502040204020203" pitchFamily="34" charset="0"/>
                        </a:rPr>
                        <a:t>Taint Shared Content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693410"/>
                  </a:ext>
                </a:extLst>
              </a:tr>
            </a:tbl>
          </a:graphicData>
        </a:graphic>
      </p:graphicFrame>
      <p:sp>
        <p:nvSpPr>
          <p:cNvPr id="12" name="제목 1">
            <a:extLst>
              <a:ext uri="{FF2B5EF4-FFF2-40B4-BE49-F238E27FC236}">
                <a16:creationId xmlns:a16="http://schemas.microsoft.com/office/drawing/2014/main" id="{2C663383-F23E-9B6D-A74F-5E905644693B}"/>
              </a:ext>
            </a:extLst>
          </p:cNvPr>
          <p:cNvSpPr txBox="1">
            <a:spLocks/>
          </p:cNvSpPr>
          <p:nvPr/>
        </p:nvSpPr>
        <p:spPr>
          <a:xfrm>
            <a:off x="456611" y="3717032"/>
            <a:ext cx="11196545" cy="717312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en-US" altLang="ko-Kore-KR" sz="1100" b="0" i="0" kern="1200" spc="-50" baseline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Defense Evasion - </a:t>
            </a:r>
            <a:r>
              <a:rPr lang="en-US" altLang="ko-KR" sz="1100" b="1" i="0" dirty="0">
                <a:solidFill>
                  <a:schemeClr val="tx1"/>
                </a:solidFill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Modify Cloud Compute Infrastructure</a:t>
            </a:r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가상 머신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인스턴스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이미지 등의 클라우드 컴퓨팅 인프라</a:t>
            </a:r>
            <a:r>
              <a:rPr lang="en-US" altLang="ko-KR" sz="1050" dirty="0">
                <a:solidFill>
                  <a:schemeClr val="tx1"/>
                </a:solidFill>
              </a:rPr>
              <a:t>(Infrastructure)</a:t>
            </a:r>
            <a:r>
              <a:rPr lang="ko-KR" altLang="en-US" sz="1050" dirty="0">
                <a:solidFill>
                  <a:schemeClr val="tx1"/>
                </a:solidFill>
              </a:rPr>
              <a:t>를 생성</a:t>
            </a:r>
            <a:r>
              <a:rPr lang="en-US" altLang="ko-KR" sz="1050" dirty="0">
                <a:solidFill>
                  <a:schemeClr val="tx1"/>
                </a:solidFill>
              </a:rPr>
              <a:t>·</a:t>
            </a:r>
            <a:r>
              <a:rPr lang="ko-KR" altLang="en-US" sz="1050" dirty="0">
                <a:solidFill>
                  <a:schemeClr val="tx1"/>
                </a:solidFill>
              </a:rPr>
              <a:t>수정</a:t>
            </a:r>
            <a:r>
              <a:rPr lang="en-US" altLang="ko-KR" sz="1050" dirty="0">
                <a:solidFill>
                  <a:schemeClr val="tx1"/>
                </a:solidFill>
              </a:rPr>
              <a:t>·</a:t>
            </a:r>
            <a:r>
              <a:rPr lang="ko-KR" altLang="en-US" sz="1050" dirty="0">
                <a:solidFill>
                  <a:schemeClr val="tx1"/>
                </a:solidFill>
              </a:rPr>
              <a:t>삭제하여 보안 설정을 우회하고 접근 권한을 확보하는 기술 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b="0" dirty="0">
                <a:solidFill>
                  <a:schemeClr val="tx1"/>
                </a:solidFill>
                <a:effectLst/>
              </a:rPr>
              <a:t>인프라 변경은 정상 작업처럼 보이기 때문에 탐지를 어렵게 만들고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, 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로그 및 흔적을 숨겨 공격 행위를 은닉하는 데 활용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212DC55B-528E-0FAD-0835-4108253A9B4A}"/>
              </a:ext>
            </a:extLst>
          </p:cNvPr>
          <p:cNvSpPr txBox="1">
            <a:spLocks/>
          </p:cNvSpPr>
          <p:nvPr/>
        </p:nvSpPr>
        <p:spPr>
          <a:xfrm>
            <a:off x="456612" y="4470906"/>
            <a:ext cx="7681402" cy="717312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en-US" altLang="ko-Kore-KR" sz="1100" b="0" i="0" kern="1200" spc="-50" baseline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Credential Access</a:t>
            </a:r>
            <a:r>
              <a:rPr lang="en-US" altLang="ko-Kore-KR" sz="1100" spc="-5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- </a:t>
            </a:r>
            <a:r>
              <a:rPr lang="en-US" altLang="ko-KR" sz="1100" b="1" i="0" dirty="0">
                <a:solidFill>
                  <a:schemeClr val="tx1"/>
                </a:solidFill>
                <a:effectLst/>
                <a:latin typeface="NanumSquare" panose="020B0600000101010101" pitchFamily="50" charset="-127"/>
                <a:ea typeface="NanumSquare" panose="020B0600000101010101" pitchFamily="50" charset="-127"/>
              </a:rPr>
              <a:t>Modify Authentication Process</a:t>
            </a:r>
            <a:endParaRPr lang="en-US" altLang="ko-KR" sz="11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인증 정책과 </a:t>
            </a:r>
            <a:r>
              <a:rPr lang="en-US" altLang="ko-KR" sz="1050" dirty="0">
                <a:solidFill>
                  <a:schemeClr val="tx1"/>
                </a:solidFill>
              </a:rPr>
              <a:t>MFA, </a:t>
            </a:r>
            <a:r>
              <a:rPr lang="ko-KR" altLang="en-US" sz="1050" dirty="0">
                <a:solidFill>
                  <a:schemeClr val="tx1"/>
                </a:solidFill>
              </a:rPr>
              <a:t>인증 모듈 등의 동작 방식을 변경해 자격 증명을 탈취하거나 인증 절차를 우회하는 기술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획득한 권한은 내부 </a:t>
            </a:r>
            <a:r>
              <a:rPr lang="ko-KR" altLang="en-US" sz="1050" dirty="0" err="1">
                <a:solidFill>
                  <a:schemeClr val="tx1"/>
                </a:solidFill>
              </a:rPr>
              <a:t>리소스뿐</a:t>
            </a:r>
            <a:r>
              <a:rPr lang="ko-KR" altLang="en-US" sz="1050" dirty="0">
                <a:solidFill>
                  <a:schemeClr val="tx1"/>
                </a:solidFill>
              </a:rPr>
              <a:t> 아니라 </a:t>
            </a:r>
            <a:r>
              <a:rPr lang="en-US" altLang="ko-KR" sz="1050" dirty="0">
                <a:solidFill>
                  <a:schemeClr val="tx1"/>
                </a:solidFill>
              </a:rPr>
              <a:t>VPN, </a:t>
            </a:r>
            <a:r>
              <a:rPr lang="ko-KR" altLang="en-US" sz="1050" dirty="0">
                <a:solidFill>
                  <a:schemeClr val="tx1"/>
                </a:solidFill>
              </a:rPr>
              <a:t>원격 접속 등 외부 서비스까지 접근 제어를 우회하는데 활용 가능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6CA226C-173C-ACC5-D3BD-F368F38BADC3}"/>
              </a:ext>
            </a:extLst>
          </p:cNvPr>
          <p:cNvSpPr txBox="1">
            <a:spLocks/>
          </p:cNvSpPr>
          <p:nvPr/>
        </p:nvSpPr>
        <p:spPr>
          <a:xfrm>
            <a:off x="456612" y="5224780"/>
            <a:ext cx="10319908" cy="717312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  <a:r>
              <a:rPr lang="en-US" altLang="ko-Kore-KR" sz="1100" b="0" i="0" kern="1200" spc="-50" baseline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Discovery</a:t>
            </a:r>
            <a:r>
              <a:rPr lang="en-US" altLang="ko-Kore-KR" sz="1100" spc="-5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- Cloud Service Dashboard</a:t>
            </a:r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b="0" dirty="0">
                <a:solidFill>
                  <a:schemeClr val="tx1"/>
                </a:solidFill>
                <a:effectLst/>
              </a:rPr>
              <a:t>클라우드 관리 콘솔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(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웹 콘솔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/CLI 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등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)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을 통해 전체 인프라 및 계정 정보 수집</a:t>
            </a:r>
            <a:endParaRPr lang="en-US" altLang="ko-KR" sz="1050" b="0" dirty="0">
              <a:solidFill>
                <a:schemeClr val="tx1"/>
              </a:solidFill>
              <a:effectLst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b="0" dirty="0">
                <a:solidFill>
                  <a:schemeClr val="tx1"/>
                </a:solidFill>
                <a:effectLst/>
              </a:rPr>
              <a:t>별도 공격 없이 로그인만으로 정보 수집 가능하며 네트워크 스캔 없이도 환경 파악이 가능한 클라우드 특화 정찰 방식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C807EE81-C23C-E098-38F5-76F828FD81BC}"/>
              </a:ext>
            </a:extLst>
          </p:cNvPr>
          <p:cNvSpPr txBox="1">
            <a:spLocks/>
          </p:cNvSpPr>
          <p:nvPr/>
        </p:nvSpPr>
        <p:spPr>
          <a:xfrm>
            <a:off x="456612" y="5978653"/>
            <a:ext cx="7681402" cy="717312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4) </a:t>
            </a:r>
            <a:r>
              <a:rPr lang="en-US" altLang="ko-Kore-KR" sz="1100" b="0" i="0" kern="1200" spc="-50" baseline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Lateral Movement - Software Deployment Tools</a:t>
            </a:r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en-US" altLang="ko-KR" sz="1050" dirty="0">
                <a:solidFill>
                  <a:schemeClr val="tx1"/>
                </a:solidFill>
              </a:rPr>
              <a:t>Ansible, Terraform </a:t>
            </a:r>
            <a:r>
              <a:rPr lang="ko-KR" altLang="en-US" sz="1050" dirty="0">
                <a:solidFill>
                  <a:schemeClr val="tx1"/>
                </a:solidFill>
              </a:rPr>
              <a:t>등 관리 도구를 악용하여 다수 시스템에 명령 실행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정상 관리 행위로 위장되어 탐지 어려우며</a:t>
            </a:r>
            <a:r>
              <a:rPr lang="en-US" altLang="ko-KR" sz="1050" dirty="0">
                <a:solidFill>
                  <a:schemeClr val="tx1"/>
                </a:solidFill>
              </a:rPr>
              <a:t>, </a:t>
            </a:r>
            <a:r>
              <a:rPr lang="ko-KR" altLang="en-US" sz="1050" dirty="0">
                <a:solidFill>
                  <a:schemeClr val="tx1"/>
                </a:solidFill>
              </a:rPr>
              <a:t>클라우드 환경 특성상 빠른 확산이 가능한 이동 방식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2564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5.1 CLOUD MITRE ATT&amp;CK</a:t>
            </a:r>
            <a:endParaRPr lang="ko-KR" altLang="en-US" sz="24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B80B494-5931-7E91-43F5-042A3F239730}"/>
              </a:ext>
            </a:extLst>
          </p:cNvPr>
          <p:cNvGraphicFramePr>
            <a:graphicFrameLocks noGrp="1"/>
          </p:cNvGraphicFramePr>
          <p:nvPr/>
        </p:nvGraphicFramePr>
        <p:xfrm>
          <a:off x="430084" y="1281847"/>
          <a:ext cx="11361516" cy="18591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3023">
                  <a:extLst>
                    <a:ext uri="{9D8B030D-6E8A-4147-A177-3AD203B41FA5}">
                      <a16:colId xmlns:a16="http://schemas.microsoft.com/office/drawing/2014/main" val="2894895546"/>
                    </a:ext>
                  </a:extLst>
                </a:gridCol>
                <a:gridCol w="7265221">
                  <a:extLst>
                    <a:ext uri="{9D8B030D-6E8A-4147-A177-3AD203B41FA5}">
                      <a16:colId xmlns:a16="http://schemas.microsoft.com/office/drawing/2014/main" val="4071572583"/>
                    </a:ext>
                  </a:extLst>
                </a:gridCol>
                <a:gridCol w="2743272">
                  <a:extLst>
                    <a:ext uri="{9D8B030D-6E8A-4147-A177-3AD203B41FA5}">
                      <a16:colId xmlns:a16="http://schemas.microsoft.com/office/drawing/2014/main" val="93297693"/>
                    </a:ext>
                  </a:extLst>
                </a:gridCol>
              </a:tblGrid>
              <a:tr h="249396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en-US" sz="1200" b="0" i="0" kern="1200" spc="-5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Tactics</a:t>
                      </a:r>
                      <a:endParaRPr lang="ko-Kore-KR" altLang="en-US" sz="1200" b="0" i="0" kern="1200" spc="-5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ore-KR" altLang="en-US" sz="1200" b="0" i="0" kern="1200" spc="-5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설명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1381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200" b="0" i="0" kern="1200" spc="-5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  <a:cs typeface="+mn-cs"/>
                        </a:rPr>
                        <a:t>Techniques</a:t>
                      </a:r>
                      <a:endParaRPr lang="ko-Kore-KR" altLang="en-US" sz="1200" b="0" i="0" kern="1200" spc="-5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2808916"/>
                  </a:ext>
                </a:extLst>
              </a:tr>
              <a:tr h="522217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ko-Kore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Collection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공격자가 최종 목표인 데이터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(DB, 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스토리지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파일시스템 등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를 수집하는 행위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Data from Cloud Storage</a:t>
                      </a:r>
                    </a:p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Automated Collection</a:t>
                      </a:r>
                      <a:endParaRPr lang="en-US" altLang="ko-KR" sz="1100" b="0" i="0" dirty="0">
                        <a:solidFill>
                          <a:schemeClr val="tx1"/>
                        </a:solidFill>
                        <a:effectLst/>
                        <a:latin typeface="NanumSquare" panose="020B0600000101010101" pitchFamily="50" charset="-127"/>
                        <a:ea typeface="NanumSquare" panose="020B0600000101010101" pitchFamily="50" charset="-127"/>
                      </a:endParaRPr>
                    </a:p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Data from Information Repositories</a:t>
                      </a:r>
                      <a:endParaRPr lang="en-US" altLang="ko-KR" sz="1100" b="0" i="0" u="none" strike="noStrike" spc="-10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Nirmala Text" panose="020B05020402040202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8204152"/>
                  </a:ext>
                </a:extLst>
              </a:tr>
              <a:tr h="522217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Exfiltration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공격자가 수집한 데이터를 외부로 탈취하기 위한 행위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841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Exfiltration Over Web Service</a:t>
                      </a:r>
                    </a:p>
                    <a:p>
                      <a:pPr marL="171450" lvl="0" indent="-841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Transfer Data to Cloud Account</a:t>
                      </a:r>
                    </a:p>
                    <a:p>
                      <a:pPr marL="171450" lvl="0" indent="-84138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Exfiltration Over Alternative Protocol</a:t>
                      </a:r>
                      <a:endParaRPr lang="en-US" altLang="ko-KR" sz="1100" b="0" i="0" u="none" strike="noStrike" spc="-10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  <a:cs typeface="Nirmala Text" panose="020B05020402040202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143932"/>
                  </a:ext>
                </a:extLst>
              </a:tr>
              <a:tr h="457226"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en-US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Impact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138113" algn="l" defTabSz="914400" rtl="0" eaLnBrk="1" latinLnBrk="0" hangingPunct="1">
                        <a:tabLst/>
                      </a:pP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공격자의 최종 목표를 달성하는 행위가 포함되며 데이터 조작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방해</a:t>
                      </a:r>
                      <a:r>
                        <a:rPr lang="en-US" altLang="ko-KR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100" b="0" i="0" kern="1200" spc="-5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파괴 등의 행위</a:t>
                      </a:r>
                      <a:endParaRPr lang="ko-Kore-KR" altLang="en-US" sz="1100" b="0" i="0" kern="1200" spc="-5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Data Encrypted for Impact</a:t>
                      </a:r>
                      <a:endParaRPr lang="en-US" altLang="ko-KR" sz="1100" b="0" i="0" dirty="0">
                        <a:solidFill>
                          <a:schemeClr val="tx1"/>
                        </a:solidFill>
                        <a:effectLst/>
                        <a:latin typeface="NanumSquare" panose="020B0600000101010101" pitchFamily="50" charset="-127"/>
                        <a:ea typeface="NanumSquare" panose="020B0600000101010101" pitchFamily="50" charset="-127"/>
                      </a:endParaRPr>
                    </a:p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Financial Theft</a:t>
                      </a:r>
                    </a:p>
                    <a:p>
                      <a:pPr marL="182563" lvl="0" indent="-95250">
                        <a:lnSpc>
                          <a:spcPct val="107899"/>
                        </a:lnSpc>
                        <a:buFont typeface="Arial" panose="020B0604020202020204" pitchFamily="34" charset="0"/>
                        <a:buChar char="•"/>
                        <a:tabLst>
                          <a:tab pos="182563" algn="l"/>
                        </a:tabLst>
                      </a:pPr>
                      <a:r>
                        <a:rPr lang="en-US" altLang="ko-KR" sz="1100" b="0" i="0" dirty="0">
                          <a:solidFill>
                            <a:schemeClr val="tx1"/>
                          </a:solidFill>
                          <a:effectLst/>
                          <a:latin typeface="NanumSquare" panose="020B0600000101010101" pitchFamily="50" charset="-127"/>
                          <a:ea typeface="NanumSquare" panose="020B0600000101010101" pitchFamily="50" charset="-127"/>
                        </a:rPr>
                        <a:t>Service Stop</a:t>
                      </a:r>
                      <a:endParaRPr lang="en-US" altLang="ko-KR" sz="1100" b="0" i="0" u="none" strike="noStrike" spc="-100" dirty="0">
                        <a:solidFill>
                          <a:schemeClr val="tx1"/>
                        </a:solidFill>
                        <a:latin typeface="NanumSquare" panose="020B0600000101010101" pitchFamily="50" charset="-127"/>
                        <a:ea typeface="NanumSquare" panose="020B0600000101010101" pitchFamily="50" charset="-127"/>
                        <a:cs typeface="Nirmala Text" panose="020B0502040204020203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693410"/>
                  </a:ext>
                </a:extLst>
              </a:tr>
            </a:tbl>
          </a:graphicData>
        </a:graphic>
      </p:graphicFrame>
      <p:sp>
        <p:nvSpPr>
          <p:cNvPr id="5" name="모서리가 둥근 직사각형 24">
            <a:extLst>
              <a:ext uri="{FF2B5EF4-FFF2-40B4-BE49-F238E27FC236}">
                <a16:creationId xmlns:a16="http://schemas.microsoft.com/office/drawing/2014/main" id="{CE075EF1-CBF0-4174-1CCF-A29A16938B61}"/>
              </a:ext>
            </a:extLst>
          </p:cNvPr>
          <p:cNvSpPr/>
          <p:nvPr/>
        </p:nvSpPr>
        <p:spPr>
          <a:xfrm>
            <a:off x="430084" y="3530943"/>
            <a:ext cx="11361516" cy="2634361"/>
          </a:xfrm>
          <a:prstGeom prst="roundRect">
            <a:avLst>
              <a:gd name="adj" fmla="val 9988"/>
            </a:avLst>
          </a:prstGeom>
          <a:solidFill>
            <a:schemeClr val="bg1">
              <a:lumMod val="9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C0D5611-DE55-EF6C-200A-266C8A5EC87D}"/>
              </a:ext>
            </a:extLst>
          </p:cNvPr>
          <p:cNvGrpSpPr/>
          <p:nvPr/>
        </p:nvGrpSpPr>
        <p:grpSpPr>
          <a:xfrm>
            <a:off x="626600" y="3408584"/>
            <a:ext cx="1752404" cy="282877"/>
            <a:chOff x="1563827" y="2059979"/>
            <a:chExt cx="1604981" cy="342249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8" name="모서리가 둥근 직사각형 8">
              <a:extLst>
                <a:ext uri="{FF2B5EF4-FFF2-40B4-BE49-F238E27FC236}">
                  <a16:creationId xmlns:a16="http://schemas.microsoft.com/office/drawing/2014/main" id="{61188014-6127-ED86-8574-17F1930D64EB}"/>
                </a:ext>
              </a:extLst>
            </p:cNvPr>
            <p:cNvSpPr/>
            <p:nvPr/>
          </p:nvSpPr>
          <p:spPr>
            <a:xfrm>
              <a:off x="1568078" y="2059979"/>
              <a:ext cx="1596469" cy="342249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A4AE0E4-3327-0ADB-1C48-8D5CEB1310E5}"/>
                </a:ext>
              </a:extLst>
            </p:cNvPr>
            <p:cNvSpPr/>
            <p:nvPr/>
          </p:nvSpPr>
          <p:spPr>
            <a:xfrm>
              <a:off x="1563827" y="2077215"/>
              <a:ext cx="1604981" cy="31651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Tactic </a:t>
              </a:r>
              <a:r>
                <a:rPr lang="ko-KR" altLang="en-US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별 주요 </a:t>
              </a:r>
              <a:r>
                <a:rPr lang="en-US" altLang="ko-KR" sz="11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Technique</a:t>
              </a:r>
            </a:p>
          </p:txBody>
        </p:sp>
      </p:grpSp>
      <p:sp>
        <p:nvSpPr>
          <p:cNvPr id="12" name="제목 1">
            <a:extLst>
              <a:ext uri="{FF2B5EF4-FFF2-40B4-BE49-F238E27FC236}">
                <a16:creationId xmlns:a16="http://schemas.microsoft.com/office/drawing/2014/main" id="{2C663383-F23E-9B6D-A74F-5E905644693B}"/>
              </a:ext>
            </a:extLst>
          </p:cNvPr>
          <p:cNvSpPr txBox="1">
            <a:spLocks/>
          </p:cNvSpPr>
          <p:nvPr/>
        </p:nvSpPr>
        <p:spPr>
          <a:xfrm>
            <a:off x="456612" y="3719693"/>
            <a:ext cx="7681402" cy="717312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en-US" altLang="ko-KR" sz="1100" spc="-5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Collection - </a:t>
            </a:r>
            <a:r>
              <a:rPr lang="en-US" altLang="ko-KR" sz="1100" b="0" i="0" dirty="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Automated Collection</a:t>
            </a:r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b="0" dirty="0">
                <a:solidFill>
                  <a:schemeClr val="tx1"/>
                </a:solidFill>
                <a:effectLst/>
              </a:rPr>
              <a:t>클라우드 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API(CLI/SDK)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를 활용하여 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Object Storage 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등 데이터 대량 조회</a:t>
            </a:r>
            <a:r>
              <a:rPr lang="en-US" altLang="ko-KR" sz="1050" b="0" dirty="0">
                <a:solidFill>
                  <a:schemeClr val="tx1"/>
                </a:solidFill>
                <a:effectLst/>
              </a:rPr>
              <a:t>/</a:t>
            </a:r>
            <a:r>
              <a:rPr lang="ko-KR" altLang="en-US" sz="1050" b="0" dirty="0">
                <a:solidFill>
                  <a:schemeClr val="tx1"/>
                </a:solidFill>
                <a:effectLst/>
              </a:rPr>
              <a:t>수집  </a:t>
            </a:r>
            <a:endParaRPr lang="en-US" altLang="ko-KR" sz="1050" b="0" dirty="0">
              <a:solidFill>
                <a:schemeClr val="tx1"/>
              </a:solidFill>
              <a:effectLst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기존 온프레미스와 달리 IAM 자격증명 하나로 전체 리전/버킷 접근이 가능해 대규모 탈취가 단시간에 발생</a:t>
            </a:r>
            <a:endParaRPr lang="ko-KR" altLang="en-US" sz="1050" b="0" dirty="0">
              <a:solidFill>
                <a:schemeClr val="tx1"/>
              </a:solidFill>
              <a:effectLst/>
            </a:endParaRP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212DC55B-528E-0FAD-0835-4108253A9B4A}"/>
              </a:ext>
            </a:extLst>
          </p:cNvPr>
          <p:cNvSpPr txBox="1">
            <a:spLocks/>
          </p:cNvSpPr>
          <p:nvPr/>
        </p:nvSpPr>
        <p:spPr>
          <a:xfrm>
            <a:off x="456612" y="4442809"/>
            <a:ext cx="7681402" cy="927370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en-US" altLang="en-US" sz="1100" b="0" i="0" kern="1200" spc="-50" baseline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Exfiltration - </a:t>
            </a:r>
            <a:r>
              <a:rPr lang="en-US" altLang="ko-KR" sz="1100" b="0" i="0" dirty="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Transfer Data to Cloud Account</a:t>
            </a:r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공격자 계정 또는 외부 저장소로 데이터 전송하여 탈취 수행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en-US" altLang="ko-KR" sz="1050" dirty="0">
                <a:solidFill>
                  <a:schemeClr val="tx1"/>
                </a:solidFill>
              </a:rPr>
              <a:t>Object Storage </a:t>
            </a:r>
            <a:r>
              <a:rPr lang="ko-KR" altLang="en-US" sz="1050" dirty="0">
                <a:solidFill>
                  <a:schemeClr val="tx1"/>
                </a:solidFill>
              </a:rPr>
              <a:t>공유 </a:t>
            </a:r>
            <a:r>
              <a:rPr lang="en-US" altLang="ko-KR" sz="1050" dirty="0">
                <a:solidFill>
                  <a:schemeClr val="tx1"/>
                </a:solidFill>
              </a:rPr>
              <a:t>URL, </a:t>
            </a:r>
            <a:r>
              <a:rPr lang="ko-KR" altLang="en-US" sz="1050" dirty="0">
                <a:solidFill>
                  <a:schemeClr val="tx1"/>
                </a:solidFill>
              </a:rPr>
              <a:t>외부 업로드 기능 등을 악용하여 데이터 유출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정상 클라우드 트래픽</a:t>
            </a:r>
            <a:r>
              <a:rPr lang="en-US" altLang="ko-KR" sz="1050" dirty="0">
                <a:solidFill>
                  <a:schemeClr val="tx1"/>
                </a:solidFill>
              </a:rPr>
              <a:t>(API/HTTPS)</a:t>
            </a:r>
            <a:r>
              <a:rPr lang="ko-KR" altLang="en-US" sz="1050" dirty="0">
                <a:solidFill>
                  <a:schemeClr val="tx1"/>
                </a:solidFill>
              </a:rPr>
              <a:t>으로 위장되어 탐지 어려움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A6CA226C-173C-ACC5-D3BD-F368F38BADC3}"/>
              </a:ext>
            </a:extLst>
          </p:cNvPr>
          <p:cNvSpPr txBox="1">
            <a:spLocks/>
          </p:cNvSpPr>
          <p:nvPr/>
        </p:nvSpPr>
        <p:spPr>
          <a:xfrm>
            <a:off x="456612" y="5375984"/>
            <a:ext cx="10319908" cy="717312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marL="0" indent="0">
              <a:lnSpc>
                <a:spcPct val="130000"/>
              </a:lnSpc>
              <a:buNone/>
            </a:pPr>
            <a:r>
              <a: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  <a:r>
              <a:rPr lang="en-US" altLang="ko-Kore-KR" sz="1100" b="0" i="0" kern="1200" spc="-50" baseline="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Impact - </a:t>
            </a:r>
            <a:r>
              <a:rPr lang="en-US" altLang="ko-KR" sz="1100" b="0" i="0" dirty="0">
                <a:solidFill>
                  <a:schemeClr val="tx1"/>
                </a:solidFill>
                <a:effectLst/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Data Encrypted for Impact</a:t>
            </a:r>
            <a:r>
              <a:rPr lang="en-US" altLang="ko-KR" sz="1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(Ransomware)</a:t>
            </a:r>
            <a:endParaRPr lang="en-US" altLang="ko-KR" sz="11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클라우드 암호화 키 관리 기능을 악용하여 데이터 복구 불가 상태 유도</a:t>
            </a:r>
            <a:endParaRPr lang="en-US" altLang="ko-KR" sz="1050" dirty="0">
              <a:solidFill>
                <a:schemeClr val="tx1"/>
              </a:solidFill>
            </a:endParaRPr>
          </a:p>
          <a:p>
            <a:pPr marL="179388" indent="-95250">
              <a:lnSpc>
                <a:spcPct val="130000"/>
              </a:lnSpc>
              <a:tabLst>
                <a:tab pos="179388" algn="l"/>
              </a:tabLst>
            </a:pPr>
            <a:r>
              <a:rPr lang="ko-KR" altLang="en-US" sz="1050" dirty="0">
                <a:solidFill>
                  <a:schemeClr val="tx1"/>
                </a:solidFill>
              </a:rPr>
              <a:t>암호화 설정 변경 또는 키 접근 권한 변경을 통해 서비스 장애 발생</a:t>
            </a:r>
            <a:endParaRPr lang="en-US" altLang="ko-KR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0464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5.1 CLOUD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ATT&amp;CK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Enterprise ATT&amp;CK</a:t>
            </a:r>
            <a:endParaRPr lang="ko-KR" altLang="en-US" sz="24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20DFE9F1-BA26-8F48-D502-34559456E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378533"/>
              </p:ext>
            </p:extLst>
          </p:nvPr>
        </p:nvGraphicFramePr>
        <p:xfrm>
          <a:off x="486580" y="3428729"/>
          <a:ext cx="11262509" cy="2987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097">
                  <a:extLst>
                    <a:ext uri="{9D8B030D-6E8A-4147-A177-3AD203B41FA5}">
                      <a16:colId xmlns:a16="http://schemas.microsoft.com/office/drawing/2014/main" val="3105677795"/>
                    </a:ext>
                  </a:extLst>
                </a:gridCol>
                <a:gridCol w="4724706">
                  <a:extLst>
                    <a:ext uri="{9D8B030D-6E8A-4147-A177-3AD203B41FA5}">
                      <a16:colId xmlns:a16="http://schemas.microsoft.com/office/drawing/2014/main" val="3871487324"/>
                    </a:ext>
                  </a:extLst>
                </a:gridCol>
                <a:gridCol w="4724706">
                  <a:extLst>
                    <a:ext uri="{9D8B030D-6E8A-4147-A177-3AD203B41FA5}">
                      <a16:colId xmlns:a16="http://schemas.microsoft.com/office/drawing/2014/main" val="2053544255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구분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Enterprise ATT&amp;CK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CLOUD ATT&amp;CK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832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대상 환경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엔드포인트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서버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네트워크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·AD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IaaS · PaaS · SaaS · 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컨테이너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33816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공격 경로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악성코드 실행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취약점 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익스플로잇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피싱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탈취 계정 </a:t>
                      </a:r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(Valid Accounts)</a:t>
                      </a:r>
                    </a:p>
                    <a:p>
                      <a:pPr algn="ctr"/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API 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오용 </a:t>
                      </a:r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 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설정 오류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336243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특징적 </a:t>
                      </a:r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Tactic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Lateral Movement</a:t>
                      </a: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내부 네트워크 이동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Collection + Exfiltration</a:t>
                      </a:r>
                    </a:p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데이터 직접 탈취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89241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경계 구조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물리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논리 경계 명확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방화벽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·DMZ·</a:t>
                      </a:r>
                      <a:r>
                        <a:rPr lang="ko-KR" altLang="en-US" sz="110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내부망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구분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경계 없음 </a:t>
                      </a:r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모든 것이 </a:t>
                      </a:r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API)</a:t>
                      </a:r>
                    </a:p>
                    <a:p>
                      <a:pPr algn="ctr"/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IAM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 유일한 경계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394277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ko-Kore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탐지 방법</a:t>
                      </a: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이상 프로세스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파일 변경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네트워크 트래픽 이상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로그 기반 탐지</a:t>
                      </a:r>
                      <a:endParaRPr lang="en-US" altLang="ko-KR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정상 자격증명 → </a:t>
                      </a:r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CAT 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의존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492128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핵심 통제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AV · EDR ·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방화벽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· IPS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MFA · IAM · CSPM · CloudTrail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813025"/>
                  </a:ext>
                </a:extLst>
              </a:tr>
            </a:tbl>
          </a:graphicData>
        </a:graphic>
      </p:graphicFrame>
      <p:sp>
        <p:nvSpPr>
          <p:cNvPr id="5" name="cb100">
            <a:extLst>
              <a:ext uri="{FF2B5EF4-FFF2-40B4-BE49-F238E27FC236}">
                <a16:creationId xmlns:a16="http://schemas.microsoft.com/office/drawing/2014/main" id="{0FCF100B-ED80-D379-DF60-FCE43C4B9580}"/>
              </a:ext>
            </a:extLst>
          </p:cNvPr>
          <p:cNvSpPr/>
          <p:nvPr/>
        </p:nvSpPr>
        <p:spPr>
          <a:xfrm>
            <a:off x="486580" y="1135096"/>
            <a:ext cx="11262508" cy="2293904"/>
          </a:xfrm>
          <a:prstGeom prst="round2SameRect">
            <a:avLst>
              <a:gd name="adj1" fmla="val 2669"/>
              <a:gd name="adj2" fmla="val 0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995D32-DC6E-6667-A3C4-658E7E26A3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654741" y="1518026"/>
            <a:ext cx="5118101" cy="12700"/>
          </a:xfrm>
          <a:prstGeom prst="rect">
            <a:avLst/>
          </a:prstGeom>
        </p:spPr>
      </p:pic>
      <p:sp>
        <p:nvSpPr>
          <p:cNvPr id="7" name="TextBox 18">
            <a:extLst>
              <a:ext uri="{FF2B5EF4-FFF2-40B4-BE49-F238E27FC236}">
                <a16:creationId xmlns:a16="http://schemas.microsoft.com/office/drawing/2014/main" id="{1617E395-2A82-7F76-543D-5AD9E59C926B}"/>
              </a:ext>
            </a:extLst>
          </p:cNvPr>
          <p:cNvSpPr txBox="1"/>
          <p:nvPr/>
        </p:nvSpPr>
        <p:spPr>
          <a:xfrm>
            <a:off x="672186" y="1214561"/>
            <a:ext cx="1995083" cy="257625"/>
          </a:xfrm>
          <a:prstGeom prst="rect">
            <a:avLst/>
          </a:prstGeom>
        </p:spPr>
        <p:txBody>
          <a:bodyPr lIns="0" tIns="18626" rIns="0" bIns="18626" rtlCol="0" anchor="ctr"/>
          <a:lstStyle/>
          <a:p>
            <a:pPr lvl="0" algn="l">
              <a:lnSpc>
                <a:spcPct val="107899"/>
              </a:lnSpc>
            </a:pPr>
            <a:r>
              <a:rPr lang="ko-KR" altLang="en-US" sz="1400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rPr>
              <a:t>핵심 차이점</a:t>
            </a:r>
            <a:endParaRPr lang="en-US" sz="1400" b="0" i="0" u="none" strike="noStrike" spc="-100" dirty="0">
              <a:solidFill>
                <a:srgbClr val="000000"/>
              </a:solidFill>
              <a:latin typeface="NanumSquare ExtraBold" panose="020B0600000101010101" pitchFamily="50" charset="-127"/>
              <a:ea typeface="NanumSquare ExtraBold" panose="020B0600000101010101" pitchFamily="50" charset="-127"/>
              <a:cs typeface="Pretendard Bold"/>
            </a:endParaRPr>
          </a:p>
        </p:txBody>
      </p:sp>
      <p:sp>
        <p:nvSpPr>
          <p:cNvPr id="10" name="cb100">
            <a:extLst>
              <a:ext uri="{FF2B5EF4-FFF2-40B4-BE49-F238E27FC236}">
                <a16:creationId xmlns:a16="http://schemas.microsoft.com/office/drawing/2014/main" id="{49830349-7C3F-D563-5E93-F540F8C8A7E3}"/>
              </a:ext>
            </a:extLst>
          </p:cNvPr>
          <p:cNvSpPr/>
          <p:nvPr/>
        </p:nvSpPr>
        <p:spPr>
          <a:xfrm>
            <a:off x="628519" y="1705651"/>
            <a:ext cx="5118101" cy="700043"/>
          </a:xfrm>
          <a:prstGeom prst="round2SameRect">
            <a:avLst>
              <a:gd name="adj1" fmla="val 7427"/>
              <a:gd name="adj2" fmla="val 928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11" name="TextBox 32">
            <a:extLst>
              <a:ext uri="{FF2B5EF4-FFF2-40B4-BE49-F238E27FC236}">
                <a16:creationId xmlns:a16="http://schemas.microsoft.com/office/drawing/2014/main" id="{7C9EDAFF-22F5-F5EE-4B3C-93483699D8CE}"/>
              </a:ext>
            </a:extLst>
          </p:cNvPr>
          <p:cNvSpPr txBox="1"/>
          <p:nvPr/>
        </p:nvSpPr>
        <p:spPr>
          <a:xfrm>
            <a:off x="726009" y="1752858"/>
            <a:ext cx="2117613" cy="224933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계정 </a:t>
            </a:r>
            <a:r>
              <a:rPr lang="en-US" altLang="ko-KR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– </a:t>
            </a:r>
            <a:r>
              <a:rPr lang="ko-KR" altLang="en-US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새로운 경계</a:t>
            </a:r>
            <a:endParaRPr lang="en-US" sz="1050" b="0" i="0" u="none" strike="noStrike" dirty="0">
              <a:solidFill>
                <a:srgbClr val="00BC1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040763-A6AD-3C3C-E996-BC28288C2042}"/>
              </a:ext>
            </a:extLst>
          </p:cNvPr>
          <p:cNvSpPr txBox="1"/>
          <p:nvPr/>
        </p:nvSpPr>
        <p:spPr>
          <a:xfrm>
            <a:off x="760287" y="1977791"/>
            <a:ext cx="4889399" cy="331437"/>
          </a:xfrm>
          <a:prstGeom prst="rect">
            <a:avLst/>
          </a:prstGeom>
        </p:spPr>
        <p:txBody>
          <a:bodyPr lIns="0" tIns="27093" rIns="0" bIns="27093" rtlCol="0" anchor="ctr"/>
          <a:lstStyle>
            <a:defPPr>
              <a:defRPr lang="ko-KR"/>
            </a:defPPr>
            <a:lvl1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  <a:defRPr sz="1000" b="0" i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l"/>
            <a:r>
              <a:rPr lang="en-US" altLang="ko-KR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IAM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 방화벽을 대체 </a:t>
            </a:r>
            <a:r>
              <a:rPr lang="en-US" altLang="ko-KR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— 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올바른 계정 통제 없이는 네트워크 방어 무의미</a:t>
            </a:r>
            <a:endParaRPr lang="en-US" altLang="ko-KR" sz="1000" b="0" i="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3" name="cb100">
            <a:extLst>
              <a:ext uri="{FF2B5EF4-FFF2-40B4-BE49-F238E27FC236}">
                <a16:creationId xmlns:a16="http://schemas.microsoft.com/office/drawing/2014/main" id="{0AE742AE-49AA-3CD6-C44A-47EB99CD073D}"/>
              </a:ext>
            </a:extLst>
          </p:cNvPr>
          <p:cNvSpPr/>
          <p:nvPr/>
        </p:nvSpPr>
        <p:spPr>
          <a:xfrm>
            <a:off x="628519" y="2529447"/>
            <a:ext cx="5118101" cy="700043"/>
          </a:xfrm>
          <a:prstGeom prst="round2SameRect">
            <a:avLst>
              <a:gd name="adj1" fmla="val 7427"/>
              <a:gd name="adj2" fmla="val 928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14" name="TextBox 32">
            <a:extLst>
              <a:ext uri="{FF2B5EF4-FFF2-40B4-BE49-F238E27FC236}">
                <a16:creationId xmlns:a16="http://schemas.microsoft.com/office/drawing/2014/main" id="{D0A54DF9-5EC8-0888-78C9-C51E792A1626}"/>
              </a:ext>
            </a:extLst>
          </p:cNvPr>
          <p:cNvSpPr txBox="1"/>
          <p:nvPr/>
        </p:nvSpPr>
        <p:spPr>
          <a:xfrm>
            <a:off x="726009" y="2576654"/>
            <a:ext cx="2117613" cy="224933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정상 행위처럼 보임</a:t>
            </a:r>
            <a:endParaRPr lang="en-US" sz="1050" b="0" i="0" u="none" strike="noStrike" dirty="0">
              <a:solidFill>
                <a:srgbClr val="00BC1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98CE99-F4B7-3FE5-D6F3-7FC76F866706}"/>
              </a:ext>
            </a:extLst>
          </p:cNvPr>
          <p:cNvSpPr txBox="1"/>
          <p:nvPr/>
        </p:nvSpPr>
        <p:spPr>
          <a:xfrm>
            <a:off x="760287" y="2801587"/>
            <a:ext cx="4889399" cy="331437"/>
          </a:xfrm>
          <a:prstGeom prst="rect">
            <a:avLst/>
          </a:prstGeom>
        </p:spPr>
        <p:txBody>
          <a:bodyPr lIns="0" tIns="27093" rIns="0" bIns="27093" rtlCol="0" anchor="ctr"/>
          <a:lstStyle>
            <a:defPPr>
              <a:defRPr lang="ko-KR"/>
            </a:defPPr>
            <a:lvl1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  <a:defRPr sz="1000" b="0" i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l"/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탈취된 자격증명으로 로그인 → 정상 트래픽으로 보여 탐지 더 어려움</a:t>
            </a:r>
            <a:endParaRPr lang="en-US" altLang="ko-KR" sz="1000" b="0" i="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" name="cb100">
            <a:extLst>
              <a:ext uri="{FF2B5EF4-FFF2-40B4-BE49-F238E27FC236}">
                <a16:creationId xmlns:a16="http://schemas.microsoft.com/office/drawing/2014/main" id="{DEA65346-E845-2C62-C444-472F3600FFF6}"/>
              </a:ext>
            </a:extLst>
          </p:cNvPr>
          <p:cNvSpPr/>
          <p:nvPr/>
        </p:nvSpPr>
        <p:spPr>
          <a:xfrm>
            <a:off x="6299971" y="1729216"/>
            <a:ext cx="5118101" cy="700043"/>
          </a:xfrm>
          <a:prstGeom prst="round2SameRect">
            <a:avLst>
              <a:gd name="adj1" fmla="val 7427"/>
              <a:gd name="adj2" fmla="val 928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17" name="TextBox 32">
            <a:extLst>
              <a:ext uri="{FF2B5EF4-FFF2-40B4-BE49-F238E27FC236}">
                <a16:creationId xmlns:a16="http://schemas.microsoft.com/office/drawing/2014/main" id="{859A9358-6F91-725C-5E91-F2BA0CB84448}"/>
              </a:ext>
            </a:extLst>
          </p:cNvPr>
          <p:cNvSpPr txBox="1"/>
          <p:nvPr/>
        </p:nvSpPr>
        <p:spPr>
          <a:xfrm>
            <a:off x="6397461" y="1776423"/>
            <a:ext cx="2117613" cy="224933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en-US" altLang="ko-KR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API</a:t>
            </a:r>
            <a:r>
              <a:rPr lang="ko-KR" altLang="en-US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가 모든 공격의 경로</a:t>
            </a:r>
            <a:endParaRPr lang="en-US" sz="1050" b="0" i="0" u="none" strike="noStrike" dirty="0">
              <a:solidFill>
                <a:srgbClr val="00BC1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92D38E-9864-F13C-8DED-2C8C67DE265C}"/>
              </a:ext>
            </a:extLst>
          </p:cNvPr>
          <p:cNvSpPr txBox="1"/>
          <p:nvPr/>
        </p:nvSpPr>
        <p:spPr>
          <a:xfrm>
            <a:off x="6431739" y="2001356"/>
            <a:ext cx="4889399" cy="331437"/>
          </a:xfrm>
          <a:prstGeom prst="rect">
            <a:avLst/>
          </a:prstGeom>
        </p:spPr>
        <p:txBody>
          <a:bodyPr lIns="0" tIns="27093" rIns="0" bIns="27093" rtlCol="0" anchor="ctr"/>
          <a:lstStyle>
            <a:defPPr>
              <a:defRPr lang="ko-KR"/>
            </a:defPPr>
            <a:lvl1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  <a:defRPr sz="1000" b="0" i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l"/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악성코드 불필요 </a:t>
            </a:r>
            <a:r>
              <a:rPr lang="en-US" altLang="ko-KR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— API 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호출만으로 리소스 생성</a:t>
            </a:r>
            <a:r>
              <a:rPr lang="en-US" altLang="ko-KR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 탈취</a:t>
            </a:r>
            <a:r>
              <a:rPr lang="en-US" altLang="ko-KR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삭제 가능</a:t>
            </a:r>
            <a:endParaRPr lang="en-US" altLang="ko-KR" sz="1000" b="0" i="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" name="cb100">
            <a:extLst>
              <a:ext uri="{FF2B5EF4-FFF2-40B4-BE49-F238E27FC236}">
                <a16:creationId xmlns:a16="http://schemas.microsoft.com/office/drawing/2014/main" id="{F0718BC0-91BD-3DB7-84DD-1D996BBC4D21}"/>
              </a:ext>
            </a:extLst>
          </p:cNvPr>
          <p:cNvSpPr/>
          <p:nvPr/>
        </p:nvSpPr>
        <p:spPr>
          <a:xfrm>
            <a:off x="6299971" y="2553012"/>
            <a:ext cx="5118101" cy="700043"/>
          </a:xfrm>
          <a:prstGeom prst="round2SameRect">
            <a:avLst>
              <a:gd name="adj1" fmla="val 7427"/>
              <a:gd name="adj2" fmla="val 9288"/>
            </a:avLst>
          </a:prstGeom>
          <a:noFill/>
          <a:ln w="9525">
            <a:solidFill>
              <a:schemeClr val="bg1">
                <a:lumMod val="85000"/>
              </a:schemeClr>
            </a:solidFill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D9793A-2327-EC29-A172-2CB42D15FACA}"/>
              </a:ext>
            </a:extLst>
          </p:cNvPr>
          <p:cNvSpPr txBox="1"/>
          <p:nvPr/>
        </p:nvSpPr>
        <p:spPr>
          <a:xfrm>
            <a:off x="6397461" y="2600219"/>
            <a:ext cx="2117613" cy="224933"/>
          </a:xfrm>
          <a:prstGeom prst="rect">
            <a:avLst/>
          </a:prstGeom>
        </p:spPr>
        <p:txBody>
          <a:bodyPr lIns="0" tIns="33867" rIns="0" bIns="33867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050" dirty="0">
                <a:solidFill>
                  <a:srgbClr val="00BC1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rPr>
              <a:t>탐지는 로그에만 의존</a:t>
            </a:r>
            <a:endParaRPr lang="en-US" sz="1050" b="0" i="0" u="none" strike="noStrike" dirty="0">
              <a:solidFill>
                <a:srgbClr val="00BC12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Pretendard Bold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B633EC-F2DB-6370-95C4-DA29333A2A9C}"/>
              </a:ext>
            </a:extLst>
          </p:cNvPr>
          <p:cNvSpPr txBox="1"/>
          <p:nvPr/>
        </p:nvSpPr>
        <p:spPr>
          <a:xfrm>
            <a:off x="6431739" y="2825152"/>
            <a:ext cx="4889399" cy="331437"/>
          </a:xfrm>
          <a:prstGeom prst="rect">
            <a:avLst/>
          </a:prstGeom>
        </p:spPr>
        <p:txBody>
          <a:bodyPr lIns="0" tIns="27093" rIns="0" bIns="27093" rtlCol="0" anchor="ctr"/>
          <a:lstStyle>
            <a:defPPr>
              <a:defRPr lang="ko-KR"/>
            </a:defPPr>
            <a:lvl1pPr marL="85725" indent="-85725">
              <a:lnSpc>
                <a:spcPct val="130000"/>
              </a:lnSpc>
              <a:buFont typeface="Arial" panose="020B0604020202020204" pitchFamily="34" charset="0"/>
              <a:buChar char="•"/>
              <a:tabLst>
                <a:tab pos="85725" algn="l"/>
              </a:tabLst>
              <a:defRPr sz="1000" b="0" i="0">
                <a:effectLst/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 algn="l"/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물리</a:t>
            </a:r>
            <a:r>
              <a:rPr lang="en-US" altLang="ko-KR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·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네트워크 레벨 탐지 한계 → </a:t>
            </a:r>
            <a:r>
              <a:rPr lang="en-US" altLang="ko-KR" sz="1000" b="0" i="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CloudTrail·Activity</a:t>
            </a:r>
            <a:r>
              <a:rPr lang="en-US" altLang="ko-KR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Log</a:t>
            </a:r>
            <a:r>
              <a:rPr lang="ko-KR" altLang="en-US" sz="1000" b="0" i="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가 유일한 증거</a:t>
            </a:r>
            <a:endParaRPr lang="en-US" altLang="ko-KR" sz="1000" b="0" i="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0884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24">
            <a:extLst>
              <a:ext uri="{FF2B5EF4-FFF2-40B4-BE49-F238E27FC236}">
                <a16:creationId xmlns:a16="http://schemas.microsoft.com/office/drawing/2014/main" id="{9995DEE8-89F4-0783-1946-F42AC0A07BE7}"/>
              </a:ext>
            </a:extLst>
          </p:cNvPr>
          <p:cNvSpPr/>
          <p:nvPr/>
        </p:nvSpPr>
        <p:spPr>
          <a:xfrm>
            <a:off x="416967" y="6208925"/>
            <a:ext cx="11376025" cy="245319"/>
          </a:xfrm>
          <a:prstGeom prst="roundRect">
            <a:avLst>
              <a:gd name="adj" fmla="val 13909"/>
            </a:avLst>
          </a:prstGeom>
          <a:solidFill>
            <a:schemeClr val="bg1">
              <a:lumMod val="9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5.1 CLOUD MITRE ATT&amp;CK -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 사건으로 보는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CLOUD MITRE ATT&amp;CK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1A9B04-71F7-4D77-67D3-85D6D53C97EB}"/>
              </a:ext>
            </a:extLst>
          </p:cNvPr>
          <p:cNvGraphicFramePr>
            <a:graphicFrameLocks noGrp="1"/>
          </p:cNvGraphicFramePr>
          <p:nvPr/>
        </p:nvGraphicFramePr>
        <p:xfrm>
          <a:off x="407988" y="1052737"/>
          <a:ext cx="11376023" cy="70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898">
                  <a:extLst>
                    <a:ext uri="{9D8B030D-6E8A-4147-A177-3AD203B41FA5}">
                      <a16:colId xmlns:a16="http://schemas.microsoft.com/office/drawing/2014/main" val="3105677795"/>
                    </a:ext>
                  </a:extLst>
                </a:gridCol>
                <a:gridCol w="2740042">
                  <a:extLst>
                    <a:ext uri="{9D8B030D-6E8A-4147-A177-3AD203B41FA5}">
                      <a16:colId xmlns:a16="http://schemas.microsoft.com/office/drawing/2014/main" val="3871487324"/>
                    </a:ext>
                  </a:extLst>
                </a:gridCol>
                <a:gridCol w="2602821">
                  <a:extLst>
                    <a:ext uri="{9D8B030D-6E8A-4147-A177-3AD203B41FA5}">
                      <a16:colId xmlns:a16="http://schemas.microsoft.com/office/drawing/2014/main" val="2053544255"/>
                    </a:ext>
                  </a:extLst>
                </a:gridCol>
                <a:gridCol w="2511467">
                  <a:extLst>
                    <a:ext uri="{9D8B030D-6E8A-4147-A177-3AD203B41FA5}">
                      <a16:colId xmlns:a16="http://schemas.microsoft.com/office/drawing/2014/main" val="4167920948"/>
                    </a:ext>
                  </a:extLst>
                </a:gridCol>
                <a:gridCol w="1221795">
                  <a:extLst>
                    <a:ext uri="{9D8B030D-6E8A-4147-A177-3AD203B41FA5}">
                      <a16:colId xmlns:a16="http://schemas.microsoft.com/office/drawing/2014/main" val="2650612031"/>
                    </a:ext>
                  </a:extLst>
                </a:gridCol>
              </a:tblGrid>
              <a:tr h="2783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사건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설명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핵심 원인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</a:t>
                      </a:r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Tactic 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흐름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탐지 공백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832"/>
                  </a:ext>
                </a:extLst>
              </a:tr>
              <a:tr h="30699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Snowflake 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고객 계정 해킹 사건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MFA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미적용 계정을 통해 시스템 접근 후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데이터 유출 및 금전 요구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MFA 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미적용 및 </a:t>
                      </a:r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Credential </a:t>
                      </a:r>
                      <a:r>
                        <a:rPr lang="en-US" altLang="ko-KR" sz="1100" b="0" i="0" spc="-30" baseline="0" dirty="0" err="1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Suffing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Initial Access </a:t>
                      </a:r>
                      <a:r>
                        <a:rPr lang="en-US" altLang="ko-Kore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→ Exfiltration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MFA 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정책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338161"/>
                  </a:ext>
                </a:extLst>
              </a:tr>
            </a:tbl>
          </a:graphicData>
        </a:graphic>
      </p:graphicFrame>
      <p:sp>
        <p:nvSpPr>
          <p:cNvPr id="20" name="모서리가 둥근 직사각형 24">
            <a:extLst>
              <a:ext uri="{FF2B5EF4-FFF2-40B4-BE49-F238E27FC236}">
                <a16:creationId xmlns:a16="http://schemas.microsoft.com/office/drawing/2014/main" id="{FC306303-CB26-930C-5564-93CC7E7BB0F5}"/>
              </a:ext>
            </a:extLst>
          </p:cNvPr>
          <p:cNvSpPr/>
          <p:nvPr/>
        </p:nvSpPr>
        <p:spPr>
          <a:xfrm>
            <a:off x="407988" y="5478137"/>
            <a:ext cx="11376025" cy="660823"/>
          </a:xfrm>
          <a:prstGeom prst="roundRect">
            <a:avLst>
              <a:gd name="adj" fmla="val 13909"/>
            </a:avLst>
          </a:prstGeom>
          <a:solidFill>
            <a:schemeClr val="bg1">
              <a:lumMod val="9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53F8F5BA-C481-2E9F-7C05-BBF7A3D9F711}"/>
              </a:ext>
            </a:extLst>
          </p:cNvPr>
          <p:cNvSpPr txBox="1">
            <a:spLocks/>
          </p:cNvSpPr>
          <p:nvPr/>
        </p:nvSpPr>
        <p:spPr>
          <a:xfrm>
            <a:off x="622781" y="5669600"/>
            <a:ext cx="6913379" cy="277897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ko-KR" sz="1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MFA</a:t>
            </a:r>
            <a:r>
              <a:rPr lang="ko-KR" altLang="en-US" sz="1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비활성화 여부 탐지 불가 → </a:t>
            </a:r>
            <a:r>
              <a:rPr lang="en-US" altLang="ko-KR" sz="1000" dirty="0">
                <a:solidFill>
                  <a:schemeClr val="tx1"/>
                </a:solidFill>
              </a:rPr>
              <a:t>MFA </a:t>
            </a:r>
            <a:r>
              <a:rPr lang="ko-KR" altLang="en-US" sz="1000" dirty="0">
                <a:solidFill>
                  <a:schemeClr val="tx1"/>
                </a:solidFill>
              </a:rPr>
              <a:t>설정 상태는 네트워크 레벨이 아닌 계정 정책에서 확인 가능한 부분</a:t>
            </a:r>
            <a:endParaRPr lang="ko-KR" altLang="ko-KR" sz="1000" dirty="0">
              <a:solidFill>
                <a:schemeClr val="tx1"/>
              </a:solidFill>
            </a:endParaRP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C2C4FD9B-8A7B-17C6-0B20-9A2C5A894DCB}"/>
              </a:ext>
            </a:extLst>
          </p:cNvPr>
          <p:cNvSpPr txBox="1">
            <a:spLocks/>
          </p:cNvSpPr>
          <p:nvPr/>
        </p:nvSpPr>
        <p:spPr>
          <a:xfrm>
            <a:off x="622781" y="5861063"/>
            <a:ext cx="8209523" cy="277897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정상 자격증명으로 로그인 성공 후 행위 탐지 어려움→ </a:t>
            </a:r>
            <a:r>
              <a:rPr lang="ko-KR" altLang="en-US" sz="1000" dirty="0">
                <a:solidFill>
                  <a:schemeClr val="tx1"/>
                </a:solidFill>
              </a:rPr>
              <a:t>로그인 자체는 정상으로 보이나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이후 행위 패턴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대용량 쿼리 등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r>
              <a:rPr lang="ko-KR" altLang="en-US" sz="1000" dirty="0">
                <a:solidFill>
                  <a:schemeClr val="tx1"/>
                </a:solidFill>
              </a:rPr>
              <a:t>에 대한 별도 탐지 필요</a:t>
            </a:r>
            <a:endParaRPr lang="ko-KR" altLang="ko-KR" sz="1000" dirty="0">
              <a:solidFill>
                <a:schemeClr val="tx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33A62F2-B049-30DB-2921-A45A06D37460}"/>
              </a:ext>
            </a:extLst>
          </p:cNvPr>
          <p:cNvGrpSpPr/>
          <p:nvPr/>
        </p:nvGrpSpPr>
        <p:grpSpPr>
          <a:xfrm>
            <a:off x="945970" y="5373335"/>
            <a:ext cx="1349065" cy="291564"/>
            <a:chOff x="1568078" y="2059979"/>
            <a:chExt cx="1596469" cy="345033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72" name="모서리가 둥근 직사각형 8">
              <a:extLst>
                <a:ext uri="{FF2B5EF4-FFF2-40B4-BE49-F238E27FC236}">
                  <a16:creationId xmlns:a16="http://schemas.microsoft.com/office/drawing/2014/main" id="{81A4FDAD-BBA7-7E5B-833D-67A915136978}"/>
                </a:ext>
              </a:extLst>
            </p:cNvPr>
            <p:cNvSpPr/>
            <p:nvPr/>
          </p:nvSpPr>
          <p:spPr>
            <a:xfrm>
              <a:off x="1568078" y="2059979"/>
              <a:ext cx="1596469" cy="34224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2FFE2A6F-1491-3E1D-4A78-120AFD9E0A93}"/>
                </a:ext>
              </a:extLst>
            </p:cNvPr>
            <p:cNvSpPr/>
            <p:nvPr/>
          </p:nvSpPr>
          <p:spPr>
            <a:xfrm>
              <a:off x="1904213" y="2077215"/>
              <a:ext cx="924207" cy="3277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탐지 공백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77" name="오른쪽 화살표[R] 3">
            <a:extLst>
              <a:ext uri="{FF2B5EF4-FFF2-40B4-BE49-F238E27FC236}">
                <a16:creationId xmlns:a16="http://schemas.microsoft.com/office/drawing/2014/main" id="{278728A2-248A-109E-B237-72D0C431A1FE}"/>
              </a:ext>
            </a:extLst>
          </p:cNvPr>
          <p:cNvSpPr/>
          <p:nvPr/>
        </p:nvSpPr>
        <p:spPr>
          <a:xfrm>
            <a:off x="444079" y="4261414"/>
            <a:ext cx="7242753" cy="548640"/>
          </a:xfrm>
          <a:prstGeom prst="rightArrow">
            <a:avLst/>
          </a:prstGeom>
          <a:gradFill flip="none" rotWithShape="1">
            <a:gsLst>
              <a:gs pos="0">
                <a:srgbClr val="009F0F">
                  <a:alpha val="0"/>
                </a:srgbClr>
              </a:gs>
              <a:gs pos="33000">
                <a:srgbClr val="009F0F">
                  <a:alpha val="40000"/>
                </a:srgbClr>
              </a:gs>
              <a:gs pos="67000">
                <a:srgbClr val="009F0F">
                  <a:alpha val="70000"/>
                </a:srgbClr>
              </a:gs>
              <a:gs pos="100000">
                <a:srgbClr val="009F0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8" name="오른쪽 화살표[R] 3">
            <a:extLst>
              <a:ext uri="{FF2B5EF4-FFF2-40B4-BE49-F238E27FC236}">
                <a16:creationId xmlns:a16="http://schemas.microsoft.com/office/drawing/2014/main" id="{BC4A8D75-A741-573D-1CDC-6F2F1D7C0BB4}"/>
              </a:ext>
            </a:extLst>
          </p:cNvPr>
          <p:cNvSpPr/>
          <p:nvPr/>
        </p:nvSpPr>
        <p:spPr>
          <a:xfrm>
            <a:off x="444078" y="2707626"/>
            <a:ext cx="11339935" cy="548640"/>
          </a:xfrm>
          <a:prstGeom prst="rightArrow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09F0F">
                  <a:alpha val="0"/>
                </a:srgbClr>
              </a:gs>
              <a:gs pos="33000">
                <a:srgbClr val="009F0F">
                  <a:alpha val="40000"/>
                </a:srgbClr>
              </a:gs>
              <a:gs pos="67000">
                <a:srgbClr val="009F0F">
                  <a:alpha val="70000"/>
                </a:srgbClr>
              </a:gs>
              <a:gs pos="100000">
                <a:srgbClr val="009F0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9" name="모서리가 둥근 직사각형 24">
            <a:extLst>
              <a:ext uri="{FF2B5EF4-FFF2-40B4-BE49-F238E27FC236}">
                <a16:creationId xmlns:a16="http://schemas.microsoft.com/office/drawing/2014/main" id="{6DC462B5-AC60-C27B-6CB4-47138607C3CD}"/>
              </a:ext>
            </a:extLst>
          </p:cNvPr>
          <p:cNvSpPr/>
          <p:nvPr/>
        </p:nvSpPr>
        <p:spPr>
          <a:xfrm>
            <a:off x="407348" y="1960594"/>
            <a:ext cx="11376663" cy="3356405"/>
          </a:xfrm>
          <a:prstGeom prst="roundRect">
            <a:avLst>
              <a:gd name="adj" fmla="val 9988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913C4C2E-4384-58D0-4F69-DE8F5DF478C2}"/>
              </a:ext>
            </a:extLst>
          </p:cNvPr>
          <p:cNvGrpSpPr/>
          <p:nvPr/>
        </p:nvGrpSpPr>
        <p:grpSpPr>
          <a:xfrm>
            <a:off x="945970" y="1832698"/>
            <a:ext cx="1349065" cy="289211"/>
            <a:chOff x="1568078" y="2059979"/>
            <a:chExt cx="1596469" cy="342249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81" name="모서리가 둥근 직사각형 8">
              <a:extLst>
                <a:ext uri="{FF2B5EF4-FFF2-40B4-BE49-F238E27FC236}">
                  <a16:creationId xmlns:a16="http://schemas.microsoft.com/office/drawing/2014/main" id="{5ADEF41B-6D04-4535-574E-A02FEDD4AAC4}"/>
                </a:ext>
              </a:extLst>
            </p:cNvPr>
            <p:cNvSpPr/>
            <p:nvPr/>
          </p:nvSpPr>
          <p:spPr>
            <a:xfrm>
              <a:off x="1568078" y="2059979"/>
              <a:ext cx="1596469" cy="34224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809AF37C-7163-C958-1086-C4773DEED080}"/>
                </a:ext>
              </a:extLst>
            </p:cNvPr>
            <p:cNvSpPr/>
            <p:nvPr/>
          </p:nvSpPr>
          <p:spPr>
            <a:xfrm>
              <a:off x="1975823" y="2077215"/>
              <a:ext cx="780983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주요 흐름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CC7015FD-13D5-B34F-A95E-C9BE47215EB9}"/>
              </a:ext>
            </a:extLst>
          </p:cNvPr>
          <p:cNvGrpSpPr/>
          <p:nvPr/>
        </p:nvGrpSpPr>
        <p:grpSpPr>
          <a:xfrm>
            <a:off x="769844" y="2249805"/>
            <a:ext cx="2514974" cy="1418531"/>
            <a:chOff x="435972" y="2354450"/>
            <a:chExt cx="2514974" cy="1418531"/>
          </a:xfrm>
        </p:grpSpPr>
        <p:sp>
          <p:nvSpPr>
            <p:cNvPr id="84" name="모서리가 둥근 직사각형 36">
              <a:extLst>
                <a:ext uri="{FF2B5EF4-FFF2-40B4-BE49-F238E27FC236}">
                  <a16:creationId xmlns:a16="http://schemas.microsoft.com/office/drawing/2014/main" id="{2720BB5E-684B-B329-AD4B-A1B70C290D63}"/>
                </a:ext>
              </a:extLst>
            </p:cNvPr>
            <p:cNvSpPr/>
            <p:nvPr/>
          </p:nvSpPr>
          <p:spPr>
            <a:xfrm>
              <a:off x="435972" y="2665573"/>
              <a:ext cx="2491470" cy="1107407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85" name="모서리가 둥근 직사각형 36">
              <a:extLst>
                <a:ext uri="{FF2B5EF4-FFF2-40B4-BE49-F238E27FC236}">
                  <a16:creationId xmlns:a16="http://schemas.microsoft.com/office/drawing/2014/main" id="{314FBE72-B7AD-D1AF-5C7D-1F760010F183}"/>
                </a:ext>
              </a:extLst>
            </p:cNvPr>
            <p:cNvSpPr/>
            <p:nvPr/>
          </p:nvSpPr>
          <p:spPr>
            <a:xfrm>
              <a:off x="437717" y="2359545"/>
              <a:ext cx="2487981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BAFF211E-ECB4-CD41-12CB-FB731CD7A05B}"/>
                </a:ext>
              </a:extLst>
            </p:cNvPr>
            <p:cNvSpPr txBox="1"/>
            <p:nvPr/>
          </p:nvSpPr>
          <p:spPr>
            <a:xfrm>
              <a:off x="1285663" y="2354450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87" name="Picture 5">
              <a:extLst>
                <a:ext uri="{FF2B5EF4-FFF2-40B4-BE49-F238E27FC236}">
                  <a16:creationId xmlns:a16="http://schemas.microsoft.com/office/drawing/2014/main" id="{A1DD3DCD-1F76-D5A3-5970-A00D63B6D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547945" y="3014295"/>
              <a:ext cx="2267524" cy="5385"/>
            </a:xfrm>
            <a:prstGeom prst="rect">
              <a:avLst/>
            </a:prstGeom>
          </p:spPr>
        </p:pic>
        <p:sp>
          <p:nvSpPr>
            <p:cNvPr id="88" name="TextBox 31">
              <a:extLst>
                <a:ext uri="{FF2B5EF4-FFF2-40B4-BE49-F238E27FC236}">
                  <a16:creationId xmlns:a16="http://schemas.microsoft.com/office/drawing/2014/main" id="{5095BCFA-BF98-E7D0-F20E-DE73031B3AD0}"/>
                </a:ext>
              </a:extLst>
            </p:cNvPr>
            <p:cNvSpPr txBox="1"/>
            <p:nvPr/>
          </p:nvSpPr>
          <p:spPr>
            <a:xfrm>
              <a:off x="585507" y="2712924"/>
              <a:ext cx="2192400" cy="2646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Credential</a:t>
              </a:r>
              <a:r>
                <a:rPr lang="ko-KR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Access</a:t>
              </a: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b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Brute Force (T1110)</a:t>
              </a:r>
              <a:endParaRPr lang="en-US" sz="900" b="0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endParaRPr>
            </a:p>
          </p:txBody>
        </p:sp>
        <p:sp>
          <p:nvSpPr>
            <p:cNvPr id="89" name="pt104">
              <a:extLst>
                <a:ext uri="{FF2B5EF4-FFF2-40B4-BE49-F238E27FC236}">
                  <a16:creationId xmlns:a16="http://schemas.microsoft.com/office/drawing/2014/main" id="{57A41DA5-FE41-DD0E-639A-3C70551582DE}"/>
                </a:ext>
              </a:extLst>
            </p:cNvPr>
            <p:cNvSpPr txBox="1"/>
            <p:nvPr/>
          </p:nvSpPr>
          <p:spPr>
            <a:xfrm>
              <a:off x="520311" y="3043069"/>
              <a:ext cx="2322792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탈취된 자격 증명으로 무차별 대입공격 진행 </a:t>
              </a:r>
              <a:endPara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0" name="dt105">
              <a:extLst>
                <a:ext uri="{FF2B5EF4-FFF2-40B4-BE49-F238E27FC236}">
                  <a16:creationId xmlns:a16="http://schemas.microsoft.com/office/drawing/2014/main" id="{F91C7B7C-48A6-976A-3D1E-2995C7550E6A}"/>
                </a:ext>
              </a:extLst>
            </p:cNvPr>
            <p:cNvSpPr txBox="1"/>
            <p:nvPr/>
          </p:nvSpPr>
          <p:spPr>
            <a:xfrm>
              <a:off x="456221" y="3270664"/>
              <a:ext cx="2494725" cy="50231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N234_Bruteforce_Threshold_Exceeded_Alert</a:t>
              </a:r>
              <a:r>
                <a:rPr lang="en-US" altLang="ko-KR" sz="700" b="1" dirty="0">
                  <a:solidFill>
                    <a:schemeClr val="accent1"/>
                  </a:solidFill>
                </a:rPr>
                <a:t> </a:t>
              </a: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N252_MongoDB_Multi_Target_Bruteforce_Success_Alert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463B9B37-C8B5-01DB-D88E-1C5AA9B7CB6A}"/>
              </a:ext>
            </a:extLst>
          </p:cNvPr>
          <p:cNvGrpSpPr/>
          <p:nvPr/>
        </p:nvGrpSpPr>
        <p:grpSpPr>
          <a:xfrm>
            <a:off x="3542502" y="2279196"/>
            <a:ext cx="2538477" cy="1419923"/>
            <a:chOff x="3148955" y="2279196"/>
            <a:chExt cx="2538477" cy="1419923"/>
          </a:xfrm>
        </p:grpSpPr>
        <p:sp>
          <p:nvSpPr>
            <p:cNvPr id="92" name="모서리가 둥근 직사각형 36">
              <a:extLst>
                <a:ext uri="{FF2B5EF4-FFF2-40B4-BE49-F238E27FC236}">
                  <a16:creationId xmlns:a16="http://schemas.microsoft.com/office/drawing/2014/main" id="{DB2A660D-DFC5-9D30-3D94-9063BF038BA7}"/>
                </a:ext>
              </a:extLst>
            </p:cNvPr>
            <p:cNvSpPr/>
            <p:nvPr/>
          </p:nvSpPr>
          <p:spPr>
            <a:xfrm>
              <a:off x="3172593" y="2590319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3" name="모서리가 둥근 직사각형 36">
              <a:extLst>
                <a:ext uri="{FF2B5EF4-FFF2-40B4-BE49-F238E27FC236}">
                  <a16:creationId xmlns:a16="http://schemas.microsoft.com/office/drawing/2014/main" id="{F6E79E0F-FD11-D434-9F7D-B3292A024626}"/>
                </a:ext>
              </a:extLst>
            </p:cNvPr>
            <p:cNvSpPr/>
            <p:nvPr/>
          </p:nvSpPr>
          <p:spPr>
            <a:xfrm>
              <a:off x="3172593" y="2284291"/>
              <a:ext cx="2491201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51B4EC1-F9A9-91A9-CDBC-C01B90CC5C05}"/>
                </a:ext>
              </a:extLst>
            </p:cNvPr>
            <p:cNvSpPr txBox="1"/>
            <p:nvPr/>
          </p:nvSpPr>
          <p:spPr>
            <a:xfrm>
              <a:off x="3959633" y="2279196"/>
              <a:ext cx="917121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95" name="Picture 5">
              <a:extLst>
                <a:ext uri="{FF2B5EF4-FFF2-40B4-BE49-F238E27FC236}">
                  <a16:creationId xmlns:a16="http://schemas.microsoft.com/office/drawing/2014/main" id="{46334EBA-D7C1-6DC8-955E-EC5E9AD0E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3224803" y="2939286"/>
              <a:ext cx="2386781" cy="4895"/>
            </a:xfrm>
            <a:prstGeom prst="rect">
              <a:avLst/>
            </a:prstGeom>
          </p:spPr>
        </p:pic>
        <p:sp>
          <p:nvSpPr>
            <p:cNvPr id="96" name="TextBox 31">
              <a:extLst>
                <a:ext uri="{FF2B5EF4-FFF2-40B4-BE49-F238E27FC236}">
                  <a16:creationId xmlns:a16="http://schemas.microsoft.com/office/drawing/2014/main" id="{C9ED9F05-E9EA-5DA7-C311-1B52FE81F098}"/>
                </a:ext>
              </a:extLst>
            </p:cNvPr>
            <p:cNvSpPr txBox="1"/>
            <p:nvPr/>
          </p:nvSpPr>
          <p:spPr>
            <a:xfrm>
              <a:off x="3148955" y="2577064"/>
              <a:ext cx="2538477" cy="333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Credential</a:t>
              </a:r>
              <a:r>
                <a:rPr lang="ko-KR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Access</a:t>
              </a: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b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MFA Request Generation (T1621)</a:t>
              </a:r>
            </a:p>
          </p:txBody>
        </p:sp>
        <p:sp>
          <p:nvSpPr>
            <p:cNvPr id="97" name="pt104">
              <a:extLst>
                <a:ext uri="{FF2B5EF4-FFF2-40B4-BE49-F238E27FC236}">
                  <a16:creationId xmlns:a16="http://schemas.microsoft.com/office/drawing/2014/main" id="{60915A61-B652-D8F8-FC34-085A637D5E2E}"/>
                </a:ext>
              </a:extLst>
            </p:cNvPr>
            <p:cNvSpPr txBox="1"/>
            <p:nvPr/>
          </p:nvSpPr>
          <p:spPr>
            <a:xfrm>
              <a:off x="3170831" y="2967815"/>
              <a:ext cx="2494725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en-US" altLang="ko-KR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MFA </a:t>
              </a: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우회 목적 대량 시도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8" name="dt105">
              <a:extLst>
                <a:ext uri="{FF2B5EF4-FFF2-40B4-BE49-F238E27FC236}">
                  <a16:creationId xmlns:a16="http://schemas.microsoft.com/office/drawing/2014/main" id="{7224D975-D5CA-48CF-7F49-0AF2F6887731}"/>
                </a:ext>
              </a:extLst>
            </p:cNvPr>
            <p:cNvSpPr txBox="1"/>
            <p:nvPr/>
          </p:nvSpPr>
          <p:spPr>
            <a:xfrm>
              <a:off x="3217037" y="3195410"/>
              <a:ext cx="2394547" cy="36227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N195_Multiple_Bruteforce_Outbound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E57ED625-4F8D-29C6-495A-05D05932FE92}"/>
              </a:ext>
            </a:extLst>
          </p:cNvPr>
          <p:cNvGrpSpPr/>
          <p:nvPr/>
        </p:nvGrpSpPr>
        <p:grpSpPr>
          <a:xfrm>
            <a:off x="6338662" y="2281383"/>
            <a:ext cx="2491200" cy="1419924"/>
            <a:chOff x="6298793" y="2286231"/>
            <a:chExt cx="2491200" cy="1419924"/>
          </a:xfrm>
        </p:grpSpPr>
        <p:sp>
          <p:nvSpPr>
            <p:cNvPr id="100" name="모서리가 둥근 직사각형 36">
              <a:extLst>
                <a:ext uri="{FF2B5EF4-FFF2-40B4-BE49-F238E27FC236}">
                  <a16:creationId xmlns:a16="http://schemas.microsoft.com/office/drawing/2014/main" id="{6DF93DF0-97B0-07CE-B7CA-D4DE0485E9E6}"/>
                </a:ext>
              </a:extLst>
            </p:cNvPr>
            <p:cNvSpPr/>
            <p:nvPr/>
          </p:nvSpPr>
          <p:spPr>
            <a:xfrm>
              <a:off x="6298793" y="2597355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1" name="모서리가 둥근 직사각형 36">
              <a:extLst>
                <a:ext uri="{FF2B5EF4-FFF2-40B4-BE49-F238E27FC236}">
                  <a16:creationId xmlns:a16="http://schemas.microsoft.com/office/drawing/2014/main" id="{406105B3-3773-FBDF-6E1F-363D881594F2}"/>
                </a:ext>
              </a:extLst>
            </p:cNvPr>
            <p:cNvSpPr/>
            <p:nvPr/>
          </p:nvSpPr>
          <p:spPr>
            <a:xfrm>
              <a:off x="6303361" y="2291326"/>
              <a:ext cx="2482065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A27C993-9CD1-8DC3-767E-B2D65F35C768}"/>
                </a:ext>
              </a:extLst>
            </p:cNvPr>
            <p:cNvSpPr txBox="1"/>
            <p:nvPr/>
          </p:nvSpPr>
          <p:spPr>
            <a:xfrm>
              <a:off x="7148349" y="2286231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chemeClr val="accent6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</a:t>
              </a:r>
              <a:r>
                <a:rPr lang="ko-KR" altLang="en-US" sz="1100" dirty="0">
                  <a:solidFill>
                    <a:schemeClr val="accent6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chemeClr val="accent6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03" name="Picture 5">
              <a:extLst>
                <a:ext uri="{FF2B5EF4-FFF2-40B4-BE49-F238E27FC236}">
                  <a16:creationId xmlns:a16="http://schemas.microsoft.com/office/drawing/2014/main" id="{463FD1EE-0296-B828-13CD-11BA35E111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6513701" y="2946321"/>
              <a:ext cx="2061385" cy="4895"/>
            </a:xfrm>
            <a:prstGeom prst="rect">
              <a:avLst/>
            </a:prstGeom>
          </p:spPr>
        </p:pic>
        <p:sp>
          <p:nvSpPr>
            <p:cNvPr id="104" name="TextBox 31">
              <a:extLst>
                <a:ext uri="{FF2B5EF4-FFF2-40B4-BE49-F238E27FC236}">
                  <a16:creationId xmlns:a16="http://schemas.microsoft.com/office/drawing/2014/main" id="{CA3A33EB-AF6F-FDA6-6CDE-04F3AC12C80B}"/>
                </a:ext>
              </a:extLst>
            </p:cNvPr>
            <p:cNvSpPr txBox="1"/>
            <p:nvPr/>
          </p:nvSpPr>
          <p:spPr>
            <a:xfrm>
              <a:off x="6448193" y="2616921"/>
              <a:ext cx="2192400" cy="3201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Initial Access </a:t>
              </a:r>
            </a:p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Valid Accounts - Cloud (T1078.004)</a:t>
              </a:r>
              <a:endParaRPr lang="en-US" sz="900" b="0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endParaRPr>
            </a:p>
          </p:txBody>
        </p:sp>
        <p:sp>
          <p:nvSpPr>
            <p:cNvPr id="105" name="pt104">
              <a:extLst>
                <a:ext uri="{FF2B5EF4-FFF2-40B4-BE49-F238E27FC236}">
                  <a16:creationId xmlns:a16="http://schemas.microsoft.com/office/drawing/2014/main" id="{79426612-5E20-0676-3F67-9F6054B6A3A1}"/>
                </a:ext>
              </a:extLst>
            </p:cNvPr>
            <p:cNvSpPr txBox="1"/>
            <p:nvPr/>
          </p:nvSpPr>
          <p:spPr>
            <a:xfrm>
              <a:off x="6467087" y="2974850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탈취 계정으로 로그인 성공 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6" name="dt105">
              <a:extLst>
                <a:ext uri="{FF2B5EF4-FFF2-40B4-BE49-F238E27FC236}">
                  <a16:creationId xmlns:a16="http://schemas.microsoft.com/office/drawing/2014/main" id="{3E3737CE-9F9F-9869-FF81-A3DE1D0B99AB}"/>
                </a:ext>
              </a:extLst>
            </p:cNvPr>
            <p:cNvSpPr txBox="1"/>
            <p:nvPr/>
          </p:nvSpPr>
          <p:spPr>
            <a:xfrm>
              <a:off x="6448193" y="3202445"/>
              <a:ext cx="2192400" cy="50231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chemeClr val="accent6">
                      <a:lumMod val="7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chemeClr val="accent6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N164_HADOOP_Login_Success_Alert N166_MongoDB_Login_Success_Alert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817AF2FD-36A7-D163-404D-025257A7631F}"/>
              </a:ext>
            </a:extLst>
          </p:cNvPr>
          <p:cNvGrpSpPr/>
          <p:nvPr/>
        </p:nvGrpSpPr>
        <p:grpSpPr>
          <a:xfrm>
            <a:off x="8949650" y="2257853"/>
            <a:ext cx="2491200" cy="1419923"/>
            <a:chOff x="9284729" y="2274101"/>
            <a:chExt cx="2491200" cy="1419923"/>
          </a:xfrm>
        </p:grpSpPr>
        <p:sp>
          <p:nvSpPr>
            <p:cNvPr id="108" name="모서리가 둥근 직사각형 36">
              <a:extLst>
                <a:ext uri="{FF2B5EF4-FFF2-40B4-BE49-F238E27FC236}">
                  <a16:creationId xmlns:a16="http://schemas.microsoft.com/office/drawing/2014/main" id="{9500283F-836C-1942-EC95-4B585F445825}"/>
                </a:ext>
              </a:extLst>
            </p:cNvPr>
            <p:cNvSpPr/>
            <p:nvPr/>
          </p:nvSpPr>
          <p:spPr>
            <a:xfrm>
              <a:off x="9284729" y="2585224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9" name="모서리가 둥근 직사각형 36">
              <a:extLst>
                <a:ext uri="{FF2B5EF4-FFF2-40B4-BE49-F238E27FC236}">
                  <a16:creationId xmlns:a16="http://schemas.microsoft.com/office/drawing/2014/main" id="{0A3F4706-473C-5826-0B7D-0C1F2BC65DE8}"/>
                </a:ext>
              </a:extLst>
            </p:cNvPr>
            <p:cNvSpPr/>
            <p:nvPr/>
          </p:nvSpPr>
          <p:spPr>
            <a:xfrm>
              <a:off x="9289297" y="2279196"/>
              <a:ext cx="2482065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4C2224B0-9B3C-C326-D959-B0481C91EDFB}"/>
                </a:ext>
              </a:extLst>
            </p:cNvPr>
            <p:cNvSpPr txBox="1"/>
            <p:nvPr/>
          </p:nvSpPr>
          <p:spPr>
            <a:xfrm>
              <a:off x="10134285" y="2274101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rgbClr val="00B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4</a:t>
              </a:r>
              <a:r>
                <a:rPr lang="ko-KR" altLang="en-US" sz="1100" dirty="0">
                  <a:solidFill>
                    <a:srgbClr val="00B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11" name="Picture 5">
              <a:extLst>
                <a:ext uri="{FF2B5EF4-FFF2-40B4-BE49-F238E27FC236}">
                  <a16:creationId xmlns:a16="http://schemas.microsoft.com/office/drawing/2014/main" id="{9397ACD0-4703-3C0A-3A1C-56A5434EF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9499637" y="2934191"/>
              <a:ext cx="2061385" cy="4895"/>
            </a:xfrm>
            <a:prstGeom prst="rect">
              <a:avLst/>
            </a:prstGeom>
          </p:spPr>
        </p:pic>
        <p:sp>
          <p:nvSpPr>
            <p:cNvPr id="112" name="TextBox 31">
              <a:extLst>
                <a:ext uri="{FF2B5EF4-FFF2-40B4-BE49-F238E27FC236}">
                  <a16:creationId xmlns:a16="http://schemas.microsoft.com/office/drawing/2014/main" id="{EBED1723-6C2D-A03E-5B40-C8BADE80FEE2}"/>
                </a:ext>
              </a:extLst>
            </p:cNvPr>
            <p:cNvSpPr txBox="1"/>
            <p:nvPr/>
          </p:nvSpPr>
          <p:spPr>
            <a:xfrm>
              <a:off x="9434129" y="2555278"/>
              <a:ext cx="2192400" cy="3672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Discovery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Cloud Infrastructure Discovery</a:t>
              </a:r>
            </a:p>
          </p:txBody>
        </p:sp>
        <p:sp>
          <p:nvSpPr>
            <p:cNvPr id="113" name="pt104">
              <a:extLst>
                <a:ext uri="{FF2B5EF4-FFF2-40B4-BE49-F238E27FC236}">
                  <a16:creationId xmlns:a16="http://schemas.microsoft.com/office/drawing/2014/main" id="{26BB475C-B0A3-E099-69E0-FE03E11CD969}"/>
                </a:ext>
              </a:extLst>
            </p:cNvPr>
            <p:cNvSpPr txBox="1"/>
            <p:nvPr/>
          </p:nvSpPr>
          <p:spPr>
            <a:xfrm>
              <a:off x="9453023" y="2962720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en-US" altLang="ko-KR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DB </a:t>
              </a: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서버 및 관리자 페이지 접근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14" name="dt105">
              <a:extLst>
                <a:ext uri="{FF2B5EF4-FFF2-40B4-BE49-F238E27FC236}">
                  <a16:creationId xmlns:a16="http://schemas.microsoft.com/office/drawing/2014/main" id="{08CFC225-FD68-89DF-FFA1-8486334796AB}"/>
                </a:ext>
              </a:extLst>
            </p:cNvPr>
            <p:cNvSpPr txBox="1"/>
            <p:nvPr/>
          </p:nvSpPr>
          <p:spPr>
            <a:xfrm>
              <a:off x="9434129" y="3190315"/>
              <a:ext cx="2192400" cy="50231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rgbClr val="00B05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N089_Server_Status_Outbound_Alert N192_Server_Status_Inbound_Alert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55E9E8A6-79F1-8862-E99B-18EEFE30E186}"/>
              </a:ext>
            </a:extLst>
          </p:cNvPr>
          <p:cNvGrpSpPr/>
          <p:nvPr/>
        </p:nvGrpSpPr>
        <p:grpSpPr>
          <a:xfrm>
            <a:off x="2013970" y="3783854"/>
            <a:ext cx="2491200" cy="1419923"/>
            <a:chOff x="2126110" y="3802461"/>
            <a:chExt cx="2491200" cy="1419923"/>
          </a:xfrm>
        </p:grpSpPr>
        <p:sp>
          <p:nvSpPr>
            <p:cNvPr id="116" name="모서리가 둥근 직사각형 36">
              <a:extLst>
                <a:ext uri="{FF2B5EF4-FFF2-40B4-BE49-F238E27FC236}">
                  <a16:creationId xmlns:a16="http://schemas.microsoft.com/office/drawing/2014/main" id="{70C6787A-19CD-E2CB-80A4-AE0FD705346E}"/>
                </a:ext>
              </a:extLst>
            </p:cNvPr>
            <p:cNvSpPr/>
            <p:nvPr/>
          </p:nvSpPr>
          <p:spPr>
            <a:xfrm>
              <a:off x="2126110" y="4113584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17" name="모서리가 둥근 직사각형 36">
              <a:extLst>
                <a:ext uri="{FF2B5EF4-FFF2-40B4-BE49-F238E27FC236}">
                  <a16:creationId xmlns:a16="http://schemas.microsoft.com/office/drawing/2014/main" id="{2930798E-7C52-F75E-2970-9D081B3E37E5}"/>
                </a:ext>
              </a:extLst>
            </p:cNvPr>
            <p:cNvSpPr/>
            <p:nvPr/>
          </p:nvSpPr>
          <p:spPr>
            <a:xfrm>
              <a:off x="2130678" y="3807556"/>
              <a:ext cx="2482064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8752CA58-0FAF-809E-E4F9-215B1F266156}"/>
                </a:ext>
              </a:extLst>
            </p:cNvPr>
            <p:cNvSpPr txBox="1"/>
            <p:nvPr/>
          </p:nvSpPr>
          <p:spPr>
            <a:xfrm>
              <a:off x="2975666" y="3802461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chemeClr val="accent5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5</a:t>
              </a:r>
              <a:r>
                <a:rPr lang="ko-KR" altLang="en-US" sz="1100" dirty="0">
                  <a:solidFill>
                    <a:schemeClr val="accent5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chemeClr val="accent5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19" name="Picture 5">
              <a:extLst>
                <a:ext uri="{FF2B5EF4-FFF2-40B4-BE49-F238E27FC236}">
                  <a16:creationId xmlns:a16="http://schemas.microsoft.com/office/drawing/2014/main" id="{0880B453-45E7-9955-C420-987DCD9CA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2341018" y="4462551"/>
              <a:ext cx="2061385" cy="4895"/>
            </a:xfrm>
            <a:prstGeom prst="rect">
              <a:avLst/>
            </a:prstGeom>
          </p:spPr>
        </p:pic>
        <p:sp>
          <p:nvSpPr>
            <p:cNvPr id="120" name="TextBox 31">
              <a:extLst>
                <a:ext uri="{FF2B5EF4-FFF2-40B4-BE49-F238E27FC236}">
                  <a16:creationId xmlns:a16="http://schemas.microsoft.com/office/drawing/2014/main" id="{6239C25B-E02E-7D6F-8C97-DBF18BE071CF}"/>
                </a:ext>
              </a:extLst>
            </p:cNvPr>
            <p:cNvSpPr txBox="1"/>
            <p:nvPr/>
          </p:nvSpPr>
          <p:spPr>
            <a:xfrm>
              <a:off x="2275510" y="4083638"/>
              <a:ext cx="2192400" cy="3672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Collection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Data from Cloud Storage</a:t>
              </a:r>
            </a:p>
          </p:txBody>
        </p:sp>
        <p:sp>
          <p:nvSpPr>
            <p:cNvPr id="121" name="pt104">
              <a:extLst>
                <a:ext uri="{FF2B5EF4-FFF2-40B4-BE49-F238E27FC236}">
                  <a16:creationId xmlns:a16="http://schemas.microsoft.com/office/drawing/2014/main" id="{1E14A84C-8ECA-DC27-B512-336E7363E8B5}"/>
                </a:ext>
              </a:extLst>
            </p:cNvPr>
            <p:cNvSpPr txBox="1"/>
            <p:nvPr/>
          </p:nvSpPr>
          <p:spPr>
            <a:xfrm>
              <a:off x="2294404" y="4491080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en-US" altLang="ko-KR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DB </a:t>
              </a: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데이터 수집 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22" name="dt105">
              <a:extLst>
                <a:ext uri="{FF2B5EF4-FFF2-40B4-BE49-F238E27FC236}">
                  <a16:creationId xmlns:a16="http://schemas.microsoft.com/office/drawing/2014/main" id="{5A52CCDD-4063-756C-6D17-58CC946408EE}"/>
                </a:ext>
              </a:extLst>
            </p:cNvPr>
            <p:cNvSpPr txBox="1"/>
            <p:nvPr/>
          </p:nvSpPr>
          <p:spPr>
            <a:xfrm>
              <a:off x="2275510" y="4718675"/>
              <a:ext cx="2192400" cy="36227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chemeClr val="accent5">
                      <a:lumMod val="7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chemeClr val="accent5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N057_Critical_SQL_Injection_Alert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9B541963-1EF9-A320-80EB-8298B22559BB}"/>
              </a:ext>
            </a:extLst>
          </p:cNvPr>
          <p:cNvGrpSpPr/>
          <p:nvPr/>
        </p:nvGrpSpPr>
        <p:grpSpPr>
          <a:xfrm>
            <a:off x="4859380" y="3796109"/>
            <a:ext cx="2491200" cy="1419924"/>
            <a:chOff x="5036126" y="3823825"/>
            <a:chExt cx="2491200" cy="1419924"/>
          </a:xfrm>
        </p:grpSpPr>
        <p:sp>
          <p:nvSpPr>
            <p:cNvPr id="124" name="모서리가 둥근 직사각형 36">
              <a:extLst>
                <a:ext uri="{FF2B5EF4-FFF2-40B4-BE49-F238E27FC236}">
                  <a16:creationId xmlns:a16="http://schemas.microsoft.com/office/drawing/2014/main" id="{CA727EA7-2A2D-A9F3-9A67-A7C24A9EDA7F}"/>
                </a:ext>
              </a:extLst>
            </p:cNvPr>
            <p:cNvSpPr/>
            <p:nvPr/>
          </p:nvSpPr>
          <p:spPr>
            <a:xfrm>
              <a:off x="5036126" y="4134949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25" name="모서리가 둥근 직사각형 36">
              <a:extLst>
                <a:ext uri="{FF2B5EF4-FFF2-40B4-BE49-F238E27FC236}">
                  <a16:creationId xmlns:a16="http://schemas.microsoft.com/office/drawing/2014/main" id="{3CF2A22D-FDD3-4CBC-B42B-62C2A1DBB360}"/>
                </a:ext>
              </a:extLst>
            </p:cNvPr>
            <p:cNvSpPr/>
            <p:nvPr/>
          </p:nvSpPr>
          <p:spPr>
            <a:xfrm>
              <a:off x="5036127" y="3828920"/>
              <a:ext cx="2491199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2707269C-3BEA-446B-07A7-B21B18C2A908}"/>
                </a:ext>
              </a:extLst>
            </p:cNvPr>
            <p:cNvSpPr txBox="1"/>
            <p:nvPr/>
          </p:nvSpPr>
          <p:spPr>
            <a:xfrm>
              <a:off x="5885682" y="3823825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chemeClr val="tx2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6</a:t>
              </a:r>
              <a:r>
                <a:rPr lang="ko-KR" altLang="en-US" sz="1100" dirty="0">
                  <a:solidFill>
                    <a:schemeClr val="tx2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chemeClr val="tx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27" name="Picture 5">
              <a:extLst>
                <a:ext uri="{FF2B5EF4-FFF2-40B4-BE49-F238E27FC236}">
                  <a16:creationId xmlns:a16="http://schemas.microsoft.com/office/drawing/2014/main" id="{042AD35F-EA69-3792-CCFF-4F02B4A56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5251034" y="4483915"/>
              <a:ext cx="2061385" cy="4895"/>
            </a:xfrm>
            <a:prstGeom prst="rect">
              <a:avLst/>
            </a:prstGeom>
          </p:spPr>
        </p:pic>
        <p:sp>
          <p:nvSpPr>
            <p:cNvPr id="128" name="TextBox 31">
              <a:extLst>
                <a:ext uri="{FF2B5EF4-FFF2-40B4-BE49-F238E27FC236}">
                  <a16:creationId xmlns:a16="http://schemas.microsoft.com/office/drawing/2014/main" id="{95F09DAA-D0C0-E5D8-61F7-8D07EEC0D9DD}"/>
                </a:ext>
              </a:extLst>
            </p:cNvPr>
            <p:cNvSpPr txBox="1"/>
            <p:nvPr/>
          </p:nvSpPr>
          <p:spPr>
            <a:xfrm>
              <a:off x="5185526" y="4154515"/>
              <a:ext cx="2192400" cy="3201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Exfiltration </a:t>
              </a:r>
            </a:p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Exfiltration Over Web Service</a:t>
              </a:r>
              <a:endParaRPr lang="en-US" sz="900" b="0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endParaRPr>
            </a:p>
          </p:txBody>
        </p:sp>
        <p:sp>
          <p:nvSpPr>
            <p:cNvPr id="129" name="pt104">
              <a:extLst>
                <a:ext uri="{FF2B5EF4-FFF2-40B4-BE49-F238E27FC236}">
                  <a16:creationId xmlns:a16="http://schemas.microsoft.com/office/drawing/2014/main" id="{7DE61D22-E39B-9A63-067B-E7187404163E}"/>
                </a:ext>
              </a:extLst>
            </p:cNvPr>
            <p:cNvSpPr txBox="1"/>
            <p:nvPr/>
          </p:nvSpPr>
          <p:spPr>
            <a:xfrm>
              <a:off x="5204420" y="4512444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en-US" altLang="ko-KR" sz="900" dirty="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wget</a:t>
              </a:r>
              <a:r>
                <a:rPr lang="en-US" altLang="ko-KR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 </a:t>
              </a:r>
              <a:r>
                <a:rPr lang="en-US" altLang="ko-KR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curl</a:t>
              </a: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을 사용한 대량 데이터 탈취 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0" name="dt105">
              <a:extLst>
                <a:ext uri="{FF2B5EF4-FFF2-40B4-BE49-F238E27FC236}">
                  <a16:creationId xmlns:a16="http://schemas.microsoft.com/office/drawing/2014/main" id="{28F6A99A-A17C-024D-6CA1-F2FADFF8E03D}"/>
                </a:ext>
              </a:extLst>
            </p:cNvPr>
            <p:cNvSpPr txBox="1"/>
            <p:nvPr/>
          </p:nvSpPr>
          <p:spPr>
            <a:xfrm>
              <a:off x="5185526" y="4740039"/>
              <a:ext cx="2192400" cy="50231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chemeClr val="tx2">
                      <a:lumMod val="7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chemeClr val="tx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N147_wget_Critical_Outbound_Alert N148_curl_Critical_Outbound_Alert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68BD2C38-9221-6A91-6C43-041791B545A1}"/>
              </a:ext>
            </a:extLst>
          </p:cNvPr>
          <p:cNvGrpSpPr/>
          <p:nvPr/>
        </p:nvGrpSpPr>
        <p:grpSpPr>
          <a:xfrm>
            <a:off x="7711602" y="3796109"/>
            <a:ext cx="2491200" cy="1419923"/>
            <a:chOff x="7956555" y="3802461"/>
            <a:chExt cx="2491200" cy="1419923"/>
          </a:xfrm>
        </p:grpSpPr>
        <p:sp>
          <p:nvSpPr>
            <p:cNvPr id="132" name="모서리가 둥근 직사각형 36">
              <a:extLst>
                <a:ext uri="{FF2B5EF4-FFF2-40B4-BE49-F238E27FC236}">
                  <a16:creationId xmlns:a16="http://schemas.microsoft.com/office/drawing/2014/main" id="{7BE16B3F-5901-6C3B-9581-D8EC0A4D99AB}"/>
                </a:ext>
              </a:extLst>
            </p:cNvPr>
            <p:cNvSpPr/>
            <p:nvPr/>
          </p:nvSpPr>
          <p:spPr>
            <a:xfrm>
              <a:off x="7956555" y="4113584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3" name="모서리가 둥근 직사각형 36">
              <a:extLst>
                <a:ext uri="{FF2B5EF4-FFF2-40B4-BE49-F238E27FC236}">
                  <a16:creationId xmlns:a16="http://schemas.microsoft.com/office/drawing/2014/main" id="{F935F1A7-CB2A-4EE6-847E-C4D5B19B5D42}"/>
                </a:ext>
              </a:extLst>
            </p:cNvPr>
            <p:cNvSpPr/>
            <p:nvPr/>
          </p:nvSpPr>
          <p:spPr>
            <a:xfrm>
              <a:off x="7961646" y="3807556"/>
              <a:ext cx="2481019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CAFAFE34-AFA5-C895-A51E-FF1933EFEB3C}"/>
                </a:ext>
              </a:extLst>
            </p:cNvPr>
            <p:cNvSpPr txBox="1"/>
            <p:nvPr/>
          </p:nvSpPr>
          <p:spPr>
            <a:xfrm>
              <a:off x="8806111" y="3802461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7</a:t>
              </a:r>
              <a:r>
                <a:rPr lang="ko-KR" altLang="en-US" sz="1100" dirty="0">
                  <a:solidFill>
                    <a:srgbClr val="7030A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35" name="Picture 5">
              <a:extLst>
                <a:ext uri="{FF2B5EF4-FFF2-40B4-BE49-F238E27FC236}">
                  <a16:creationId xmlns:a16="http://schemas.microsoft.com/office/drawing/2014/main" id="{049D8BD4-BE8F-D2D7-0A30-2BB2FC86D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8171463" y="4462551"/>
              <a:ext cx="2061385" cy="4895"/>
            </a:xfrm>
            <a:prstGeom prst="rect">
              <a:avLst/>
            </a:prstGeom>
          </p:spPr>
        </p:pic>
        <p:sp>
          <p:nvSpPr>
            <p:cNvPr id="136" name="TextBox 31">
              <a:extLst>
                <a:ext uri="{FF2B5EF4-FFF2-40B4-BE49-F238E27FC236}">
                  <a16:creationId xmlns:a16="http://schemas.microsoft.com/office/drawing/2014/main" id="{5465B580-FF08-9443-50C8-CDDFCAD0866A}"/>
                </a:ext>
              </a:extLst>
            </p:cNvPr>
            <p:cNvSpPr txBox="1"/>
            <p:nvPr/>
          </p:nvSpPr>
          <p:spPr>
            <a:xfrm>
              <a:off x="8105955" y="4083638"/>
              <a:ext cx="2192400" cy="3672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Impact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Financial Theft</a:t>
              </a:r>
            </a:p>
          </p:txBody>
        </p:sp>
        <p:sp>
          <p:nvSpPr>
            <p:cNvPr id="137" name="pt104">
              <a:extLst>
                <a:ext uri="{FF2B5EF4-FFF2-40B4-BE49-F238E27FC236}">
                  <a16:creationId xmlns:a16="http://schemas.microsoft.com/office/drawing/2014/main" id="{44B04FA2-847E-46D6-E95A-DCA63044E90A}"/>
                </a:ext>
              </a:extLst>
            </p:cNvPr>
            <p:cNvSpPr txBox="1"/>
            <p:nvPr/>
          </p:nvSpPr>
          <p:spPr>
            <a:xfrm>
              <a:off x="8124849" y="4491080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랜섬</a:t>
              </a: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요구 관련 악성 이벤트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38" name="dt105">
              <a:extLst>
                <a:ext uri="{FF2B5EF4-FFF2-40B4-BE49-F238E27FC236}">
                  <a16:creationId xmlns:a16="http://schemas.microsoft.com/office/drawing/2014/main" id="{FC12998B-F697-ACF6-211F-B92F26DEFFC3}"/>
                </a:ext>
              </a:extLst>
            </p:cNvPr>
            <p:cNvSpPr txBox="1"/>
            <p:nvPr/>
          </p:nvSpPr>
          <p:spPr>
            <a:xfrm>
              <a:off x="8105955" y="4718675"/>
              <a:ext cx="2192400" cy="36227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rgbClr val="7030A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rgbClr val="7030A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N4002_ISSUE_UDC_Event_Alert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sp>
        <p:nvSpPr>
          <p:cNvPr id="3" name="TextBox 31">
            <a:extLst>
              <a:ext uri="{FF2B5EF4-FFF2-40B4-BE49-F238E27FC236}">
                <a16:creationId xmlns:a16="http://schemas.microsoft.com/office/drawing/2014/main" id="{A809AA1D-3031-6CCD-AA60-ADC55114EE42}"/>
              </a:ext>
            </a:extLst>
          </p:cNvPr>
          <p:cNvSpPr txBox="1"/>
          <p:nvPr/>
        </p:nvSpPr>
        <p:spPr>
          <a:xfrm>
            <a:off x="517071" y="6221024"/>
            <a:ext cx="11275921" cy="275273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en-US" altLang="ko-KR" sz="900" b="1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rPr>
              <a:t>※ Snowflake</a:t>
            </a:r>
            <a:r>
              <a:rPr lang="ko-KR" altLang="en-US" sz="900" b="1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rPr>
              <a:t>는 전 세계적으로 가장 널리 쓰이는 클라우드 기반 데이터 </a:t>
            </a:r>
            <a:r>
              <a:rPr lang="ko-KR" altLang="en-US" sz="900" b="1" i="0" u="none" strike="noStrike" dirty="0" err="1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rPr>
              <a:t>웨어하우징</a:t>
            </a:r>
            <a:r>
              <a:rPr lang="en-US" altLang="ko-KR" sz="900" b="1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rPr>
              <a:t>(Data Warehousing) </a:t>
            </a:r>
            <a:r>
              <a:rPr lang="ko-KR" altLang="en-US" sz="900" b="1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rPr>
              <a:t>플랫폼</a:t>
            </a:r>
            <a:r>
              <a:rPr lang="en-US" altLang="ko-KR" sz="900" b="1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rPr>
              <a:t>. </a:t>
            </a:r>
            <a:r>
              <a:rPr lang="ko-KR" altLang="en-US" sz="900" b="1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rPr>
              <a:t>기업들이 방대한 양의 데이터를 클라우드에 저장하고</a:t>
            </a:r>
            <a:r>
              <a:rPr lang="en-US" altLang="ko-KR" sz="900" b="1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rPr>
              <a:t>, </a:t>
            </a:r>
            <a:r>
              <a:rPr lang="ko-KR" altLang="en-US" sz="900" b="1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rPr>
              <a:t>이를 분석하거나 공유할 수 있게 해주는 가상 데이터 창고</a:t>
            </a:r>
            <a:r>
              <a:rPr lang="en-US" altLang="ko-KR" sz="900" b="1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rPr>
              <a:t>.</a:t>
            </a:r>
            <a:endParaRPr lang="en-US" sz="900" b="1" i="0" u="none" strike="noStrike" dirty="0">
              <a:latin typeface="나눔스퀘어" panose="020B0600000101010101" pitchFamily="50" charset="-127"/>
              <a:ea typeface="나눔스퀘어" panose="020B0600000101010101" pitchFamily="50" charset="-127"/>
              <a:cs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28762077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오른쪽 화살표[R] 3">
            <a:extLst>
              <a:ext uri="{FF2B5EF4-FFF2-40B4-BE49-F238E27FC236}">
                <a16:creationId xmlns:a16="http://schemas.microsoft.com/office/drawing/2014/main" id="{7CEA229B-612D-94F8-04B9-032F03FE152C}"/>
              </a:ext>
            </a:extLst>
          </p:cNvPr>
          <p:cNvSpPr/>
          <p:nvPr/>
        </p:nvSpPr>
        <p:spPr>
          <a:xfrm>
            <a:off x="444080" y="4261414"/>
            <a:ext cx="6158154" cy="548640"/>
          </a:xfrm>
          <a:prstGeom prst="rightArrow">
            <a:avLst/>
          </a:prstGeom>
          <a:gradFill flip="none" rotWithShape="1">
            <a:gsLst>
              <a:gs pos="0">
                <a:srgbClr val="009F0F">
                  <a:alpha val="0"/>
                </a:srgbClr>
              </a:gs>
              <a:gs pos="33000">
                <a:srgbClr val="009F0F">
                  <a:alpha val="40000"/>
                </a:srgbClr>
              </a:gs>
              <a:gs pos="67000">
                <a:srgbClr val="009F0F">
                  <a:alpha val="70000"/>
                </a:srgbClr>
              </a:gs>
              <a:gs pos="100000">
                <a:srgbClr val="009F0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75" name="오른쪽 화살표[R] 3">
            <a:extLst>
              <a:ext uri="{FF2B5EF4-FFF2-40B4-BE49-F238E27FC236}">
                <a16:creationId xmlns:a16="http://schemas.microsoft.com/office/drawing/2014/main" id="{4F2B3994-EA01-93DE-EB1A-D5966A4B5D23}"/>
              </a:ext>
            </a:extLst>
          </p:cNvPr>
          <p:cNvSpPr/>
          <p:nvPr/>
        </p:nvSpPr>
        <p:spPr>
          <a:xfrm>
            <a:off x="444078" y="2707626"/>
            <a:ext cx="11339935" cy="548640"/>
          </a:xfrm>
          <a:prstGeom prst="rightArrow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09F0F">
                  <a:alpha val="0"/>
                </a:srgbClr>
              </a:gs>
              <a:gs pos="33000">
                <a:srgbClr val="009F0F">
                  <a:alpha val="40000"/>
                </a:srgbClr>
              </a:gs>
              <a:gs pos="67000">
                <a:srgbClr val="009F0F">
                  <a:alpha val="70000"/>
                </a:srgbClr>
              </a:gs>
              <a:gs pos="100000">
                <a:srgbClr val="009F0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6" name="모서리가 둥근 직사각형 24">
            <a:extLst>
              <a:ext uri="{FF2B5EF4-FFF2-40B4-BE49-F238E27FC236}">
                <a16:creationId xmlns:a16="http://schemas.microsoft.com/office/drawing/2014/main" id="{F3DE5139-D888-A2B6-2823-73A29EC5CF13}"/>
              </a:ext>
            </a:extLst>
          </p:cNvPr>
          <p:cNvSpPr/>
          <p:nvPr/>
        </p:nvSpPr>
        <p:spPr>
          <a:xfrm>
            <a:off x="407348" y="1960594"/>
            <a:ext cx="11376663" cy="3356405"/>
          </a:xfrm>
          <a:prstGeom prst="roundRect">
            <a:avLst>
              <a:gd name="adj" fmla="val 9988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5.1 CLOUD MITRE ATT&amp;CK -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 사건으로 보는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CLOUD MITRE ATT&amp;CK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1A9B04-71F7-4D77-67D3-85D6D53C9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884165"/>
              </p:ext>
            </p:extLst>
          </p:nvPr>
        </p:nvGraphicFramePr>
        <p:xfrm>
          <a:off x="407988" y="1052737"/>
          <a:ext cx="11376023" cy="70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898">
                  <a:extLst>
                    <a:ext uri="{9D8B030D-6E8A-4147-A177-3AD203B41FA5}">
                      <a16:colId xmlns:a16="http://schemas.microsoft.com/office/drawing/2014/main" val="3105677795"/>
                    </a:ext>
                  </a:extLst>
                </a:gridCol>
                <a:gridCol w="2740042">
                  <a:extLst>
                    <a:ext uri="{9D8B030D-6E8A-4147-A177-3AD203B41FA5}">
                      <a16:colId xmlns:a16="http://schemas.microsoft.com/office/drawing/2014/main" val="3871487324"/>
                    </a:ext>
                  </a:extLst>
                </a:gridCol>
                <a:gridCol w="2602821">
                  <a:extLst>
                    <a:ext uri="{9D8B030D-6E8A-4147-A177-3AD203B41FA5}">
                      <a16:colId xmlns:a16="http://schemas.microsoft.com/office/drawing/2014/main" val="2053544255"/>
                    </a:ext>
                  </a:extLst>
                </a:gridCol>
                <a:gridCol w="2511467">
                  <a:extLst>
                    <a:ext uri="{9D8B030D-6E8A-4147-A177-3AD203B41FA5}">
                      <a16:colId xmlns:a16="http://schemas.microsoft.com/office/drawing/2014/main" val="4167920948"/>
                    </a:ext>
                  </a:extLst>
                </a:gridCol>
                <a:gridCol w="1221795">
                  <a:extLst>
                    <a:ext uri="{9D8B030D-6E8A-4147-A177-3AD203B41FA5}">
                      <a16:colId xmlns:a16="http://schemas.microsoft.com/office/drawing/2014/main" val="2650612031"/>
                    </a:ext>
                  </a:extLst>
                </a:gridCol>
              </a:tblGrid>
              <a:tr h="2783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사건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설명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핵심 원인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</a:t>
                      </a:r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Tactic 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흐름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탐지 공백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832"/>
                  </a:ext>
                </a:extLst>
              </a:tr>
              <a:tr h="30699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CrowdStrike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업데이트 장애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QA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부족으로 잘못된 업데이트가 배포 되면서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수천 개 기업 시스템 다운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공급망 오류 배포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Credential Access → Exfiltration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정상 배포 채널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338161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BB0E5329-AC6D-433D-6429-FA9679D86288}"/>
              </a:ext>
            </a:extLst>
          </p:cNvPr>
          <p:cNvGrpSpPr/>
          <p:nvPr/>
        </p:nvGrpSpPr>
        <p:grpSpPr>
          <a:xfrm>
            <a:off x="945970" y="1832698"/>
            <a:ext cx="1349065" cy="289211"/>
            <a:chOff x="1568078" y="2059979"/>
            <a:chExt cx="1596469" cy="342249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6" name="모서리가 둥근 직사각형 8">
              <a:extLst>
                <a:ext uri="{FF2B5EF4-FFF2-40B4-BE49-F238E27FC236}">
                  <a16:creationId xmlns:a16="http://schemas.microsoft.com/office/drawing/2014/main" id="{0C666E4E-13B5-2ED6-B246-F4F66CBF8B4D}"/>
                </a:ext>
              </a:extLst>
            </p:cNvPr>
            <p:cNvSpPr/>
            <p:nvPr/>
          </p:nvSpPr>
          <p:spPr>
            <a:xfrm>
              <a:off x="1568078" y="2059979"/>
              <a:ext cx="1596469" cy="34224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F4867788-CE43-D237-C3A4-5ADC357AA23C}"/>
                </a:ext>
              </a:extLst>
            </p:cNvPr>
            <p:cNvSpPr/>
            <p:nvPr/>
          </p:nvSpPr>
          <p:spPr>
            <a:xfrm>
              <a:off x="1975823" y="2077215"/>
              <a:ext cx="780983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주요 흐름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20" name="모서리가 둥근 직사각형 24">
            <a:extLst>
              <a:ext uri="{FF2B5EF4-FFF2-40B4-BE49-F238E27FC236}">
                <a16:creationId xmlns:a16="http://schemas.microsoft.com/office/drawing/2014/main" id="{FC306303-CB26-930C-5564-93CC7E7BB0F5}"/>
              </a:ext>
            </a:extLst>
          </p:cNvPr>
          <p:cNvSpPr/>
          <p:nvPr/>
        </p:nvSpPr>
        <p:spPr>
          <a:xfrm>
            <a:off x="407988" y="5478137"/>
            <a:ext cx="11376025" cy="971585"/>
          </a:xfrm>
          <a:prstGeom prst="roundRect">
            <a:avLst>
              <a:gd name="adj" fmla="val 13909"/>
            </a:avLst>
          </a:prstGeom>
          <a:solidFill>
            <a:schemeClr val="bg1">
              <a:lumMod val="9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제목 1">
            <a:extLst>
              <a:ext uri="{FF2B5EF4-FFF2-40B4-BE49-F238E27FC236}">
                <a16:creationId xmlns:a16="http://schemas.microsoft.com/office/drawing/2014/main" id="{53F8F5BA-C481-2E9F-7C05-BBF7A3D9F711}"/>
              </a:ext>
            </a:extLst>
          </p:cNvPr>
          <p:cNvSpPr txBox="1">
            <a:spLocks/>
          </p:cNvSpPr>
          <p:nvPr/>
        </p:nvSpPr>
        <p:spPr>
          <a:xfrm>
            <a:off x="622781" y="5746832"/>
            <a:ext cx="6913379" cy="296428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공급망 신뢰 관계 탐지 불가 → </a:t>
            </a:r>
            <a:r>
              <a:rPr lang="ko-KR" altLang="en-US" sz="1100" dirty="0">
                <a:solidFill>
                  <a:schemeClr val="tx1"/>
                </a:solidFill>
              </a:rPr>
              <a:t>벤더 접근 자체가 허가된 트래픽으로 처리되어 네트워크 레벨에서 탐지 불가</a:t>
            </a:r>
            <a:endParaRPr lang="ko-KR" altLang="ko-KR" sz="1100" dirty="0">
              <a:solidFill>
                <a:schemeClr val="tx1"/>
              </a:solidFill>
            </a:endParaRP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C2C4FD9B-8A7B-17C6-0B20-9A2C5A894DCB}"/>
              </a:ext>
            </a:extLst>
          </p:cNvPr>
          <p:cNvSpPr txBox="1">
            <a:spLocks/>
          </p:cNvSpPr>
          <p:nvPr/>
        </p:nvSpPr>
        <p:spPr>
          <a:xfrm>
            <a:off x="622781" y="6063734"/>
            <a:ext cx="8209523" cy="296428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정상 업데이트 채널을 통한 배포이며</a:t>
            </a:r>
            <a:r>
              <a:rPr lang="en-US" altLang="ko-KR" sz="1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시스템 </a:t>
            </a:r>
            <a:r>
              <a:rPr lang="ko-KR" altLang="en-US" sz="11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크래시</a:t>
            </a:r>
            <a:r>
              <a:rPr lang="ko-KR" altLang="en-US" sz="1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시점에서 규칙 트리거</a:t>
            </a:r>
            <a:endParaRPr lang="ko-KR" altLang="ko-KR" sz="1100" dirty="0">
              <a:solidFill>
                <a:schemeClr val="tx1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2F9A110-E775-BFA2-B3DB-401ABB1E3EE4}"/>
              </a:ext>
            </a:extLst>
          </p:cNvPr>
          <p:cNvGrpSpPr/>
          <p:nvPr/>
        </p:nvGrpSpPr>
        <p:grpSpPr>
          <a:xfrm>
            <a:off x="769844" y="2249805"/>
            <a:ext cx="2491470" cy="1418530"/>
            <a:chOff x="435972" y="2354450"/>
            <a:chExt cx="2491470" cy="1418530"/>
          </a:xfrm>
        </p:grpSpPr>
        <p:sp>
          <p:nvSpPr>
            <p:cNvPr id="3" name="모서리가 둥근 직사각형 36">
              <a:extLst>
                <a:ext uri="{FF2B5EF4-FFF2-40B4-BE49-F238E27FC236}">
                  <a16:creationId xmlns:a16="http://schemas.microsoft.com/office/drawing/2014/main" id="{E24A0341-ADE8-0709-CC8E-5FF0C7403D3E}"/>
                </a:ext>
              </a:extLst>
            </p:cNvPr>
            <p:cNvSpPr/>
            <p:nvPr/>
          </p:nvSpPr>
          <p:spPr>
            <a:xfrm>
              <a:off x="435972" y="2665573"/>
              <a:ext cx="2491470" cy="1107407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8" name="모서리가 둥근 직사각형 36">
              <a:extLst>
                <a:ext uri="{FF2B5EF4-FFF2-40B4-BE49-F238E27FC236}">
                  <a16:creationId xmlns:a16="http://schemas.microsoft.com/office/drawing/2014/main" id="{57D29280-15F5-ECFC-60BF-E35E5FB361DC}"/>
                </a:ext>
              </a:extLst>
            </p:cNvPr>
            <p:cNvSpPr/>
            <p:nvPr/>
          </p:nvSpPr>
          <p:spPr>
            <a:xfrm>
              <a:off x="437717" y="2359545"/>
              <a:ext cx="2487981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26D0378-6930-75F5-D147-B6A843BA5B64}"/>
                </a:ext>
              </a:extLst>
            </p:cNvPr>
            <p:cNvSpPr txBox="1"/>
            <p:nvPr/>
          </p:nvSpPr>
          <p:spPr>
            <a:xfrm>
              <a:off x="1285663" y="2354450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0" name="Picture 5">
              <a:extLst>
                <a:ext uri="{FF2B5EF4-FFF2-40B4-BE49-F238E27FC236}">
                  <a16:creationId xmlns:a16="http://schemas.microsoft.com/office/drawing/2014/main" id="{DE98B8FF-1CC2-269D-EC8E-9CA14E6C45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547945" y="3014295"/>
              <a:ext cx="2267524" cy="5385"/>
            </a:xfrm>
            <a:prstGeom prst="rect">
              <a:avLst/>
            </a:prstGeom>
          </p:spPr>
        </p:pic>
        <p:sp>
          <p:nvSpPr>
            <p:cNvPr id="11" name="TextBox 31">
              <a:extLst>
                <a:ext uri="{FF2B5EF4-FFF2-40B4-BE49-F238E27FC236}">
                  <a16:creationId xmlns:a16="http://schemas.microsoft.com/office/drawing/2014/main" id="{34047865-89BB-394E-F115-77D9A4006793}"/>
                </a:ext>
              </a:extLst>
            </p:cNvPr>
            <p:cNvSpPr txBox="1"/>
            <p:nvPr/>
          </p:nvSpPr>
          <p:spPr>
            <a:xfrm>
              <a:off x="585507" y="2699693"/>
              <a:ext cx="2192400" cy="291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Initial Access </a:t>
              </a:r>
              <a:b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Supply Chain Compromise (T1195)</a:t>
              </a:r>
              <a:endParaRPr lang="en-US" sz="900" b="0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endParaRPr>
            </a:p>
          </p:txBody>
        </p:sp>
        <p:sp>
          <p:nvSpPr>
            <p:cNvPr id="13" name="pt104">
              <a:extLst>
                <a:ext uri="{FF2B5EF4-FFF2-40B4-BE49-F238E27FC236}">
                  <a16:creationId xmlns:a16="http://schemas.microsoft.com/office/drawing/2014/main" id="{CC1C5A38-71E8-AD94-75DE-0B76357111C7}"/>
                </a:ext>
              </a:extLst>
            </p:cNvPr>
            <p:cNvSpPr txBox="1"/>
            <p:nvPr/>
          </p:nvSpPr>
          <p:spPr>
            <a:xfrm>
              <a:off x="520311" y="3043069"/>
              <a:ext cx="2322792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공급망 소프트웨어 취약점 악용</a:t>
              </a:r>
              <a:endPara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5" name="dt105">
              <a:extLst>
                <a:ext uri="{FF2B5EF4-FFF2-40B4-BE49-F238E27FC236}">
                  <a16:creationId xmlns:a16="http://schemas.microsoft.com/office/drawing/2014/main" id="{208B2B4A-F722-08A2-EEDF-ADBC956577D4}"/>
                </a:ext>
              </a:extLst>
            </p:cNvPr>
            <p:cNvSpPr txBox="1"/>
            <p:nvPr/>
          </p:nvSpPr>
          <p:spPr>
            <a:xfrm>
              <a:off x="520311" y="3270664"/>
              <a:ext cx="2322792" cy="36227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N4009_ISSUE_OpenSSL_Vuln_Alert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97D92A6-D887-8AFA-32F8-087503BE1E18}"/>
              </a:ext>
            </a:extLst>
          </p:cNvPr>
          <p:cNvGrpSpPr/>
          <p:nvPr/>
        </p:nvGrpSpPr>
        <p:grpSpPr>
          <a:xfrm>
            <a:off x="3542502" y="2279196"/>
            <a:ext cx="2538477" cy="1419923"/>
            <a:chOff x="3148955" y="2279196"/>
            <a:chExt cx="2538477" cy="1419923"/>
          </a:xfrm>
        </p:grpSpPr>
        <p:sp>
          <p:nvSpPr>
            <p:cNvPr id="27" name="모서리가 둥근 직사각형 36">
              <a:extLst>
                <a:ext uri="{FF2B5EF4-FFF2-40B4-BE49-F238E27FC236}">
                  <a16:creationId xmlns:a16="http://schemas.microsoft.com/office/drawing/2014/main" id="{2A2267D0-E233-CEC5-2319-F4F339F49EF7}"/>
                </a:ext>
              </a:extLst>
            </p:cNvPr>
            <p:cNvSpPr/>
            <p:nvPr/>
          </p:nvSpPr>
          <p:spPr>
            <a:xfrm>
              <a:off x="3172593" y="2590319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8" name="모서리가 둥근 직사각형 36">
              <a:extLst>
                <a:ext uri="{FF2B5EF4-FFF2-40B4-BE49-F238E27FC236}">
                  <a16:creationId xmlns:a16="http://schemas.microsoft.com/office/drawing/2014/main" id="{0E3FBDD4-2A53-EB16-16F4-71AC931E3CBF}"/>
                </a:ext>
              </a:extLst>
            </p:cNvPr>
            <p:cNvSpPr/>
            <p:nvPr/>
          </p:nvSpPr>
          <p:spPr>
            <a:xfrm>
              <a:off x="3172593" y="2284291"/>
              <a:ext cx="2491201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376DA3D-AB46-4415-3714-5209DFD8D5CC}"/>
                </a:ext>
              </a:extLst>
            </p:cNvPr>
            <p:cNvSpPr txBox="1"/>
            <p:nvPr/>
          </p:nvSpPr>
          <p:spPr>
            <a:xfrm>
              <a:off x="3959633" y="2279196"/>
              <a:ext cx="917121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30" name="Picture 5">
              <a:extLst>
                <a:ext uri="{FF2B5EF4-FFF2-40B4-BE49-F238E27FC236}">
                  <a16:creationId xmlns:a16="http://schemas.microsoft.com/office/drawing/2014/main" id="{F349476F-B75A-3A8D-92DB-975D12315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3224803" y="2939286"/>
              <a:ext cx="2386781" cy="4895"/>
            </a:xfrm>
            <a:prstGeom prst="rect">
              <a:avLst/>
            </a:prstGeom>
          </p:spPr>
        </p:pic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11805D3D-51F9-5F0A-D9EA-3A1DAEA6901B}"/>
                </a:ext>
              </a:extLst>
            </p:cNvPr>
            <p:cNvSpPr txBox="1"/>
            <p:nvPr/>
          </p:nvSpPr>
          <p:spPr>
            <a:xfrm>
              <a:off x="3148955" y="2577064"/>
              <a:ext cx="2538477" cy="333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Initial Access </a:t>
              </a:r>
              <a:b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Trusted Relationship (T1199)</a:t>
              </a:r>
              <a:endParaRPr lang="en-US" altLang="ko-KR" sz="900" b="0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endParaRPr>
            </a:p>
          </p:txBody>
        </p:sp>
        <p:sp>
          <p:nvSpPr>
            <p:cNvPr id="32" name="pt104">
              <a:extLst>
                <a:ext uri="{FF2B5EF4-FFF2-40B4-BE49-F238E27FC236}">
                  <a16:creationId xmlns:a16="http://schemas.microsoft.com/office/drawing/2014/main" id="{B7AF40D3-CECB-5965-6C24-7E5B18D98EB5}"/>
                </a:ext>
              </a:extLst>
            </p:cNvPr>
            <p:cNvSpPr txBox="1"/>
            <p:nvPr/>
          </p:nvSpPr>
          <p:spPr>
            <a:xfrm>
              <a:off x="3170831" y="2967815"/>
              <a:ext cx="2494725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신뢰관계를 이용한 침투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3" name="dt105">
              <a:extLst>
                <a:ext uri="{FF2B5EF4-FFF2-40B4-BE49-F238E27FC236}">
                  <a16:creationId xmlns:a16="http://schemas.microsoft.com/office/drawing/2014/main" id="{4FC4EEDA-805B-659D-B261-B92BD1430EFA}"/>
                </a:ext>
              </a:extLst>
            </p:cNvPr>
            <p:cNvSpPr txBox="1"/>
            <p:nvPr/>
          </p:nvSpPr>
          <p:spPr>
            <a:xfrm>
              <a:off x="3224803" y="3195410"/>
              <a:ext cx="2386781" cy="36227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N274_Frp_Proxy_Connection_Alert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6463B99-DBBA-AE00-0581-45E361C97A05}"/>
              </a:ext>
            </a:extLst>
          </p:cNvPr>
          <p:cNvGrpSpPr/>
          <p:nvPr/>
        </p:nvGrpSpPr>
        <p:grpSpPr>
          <a:xfrm>
            <a:off x="6338662" y="2281383"/>
            <a:ext cx="2491200" cy="1419924"/>
            <a:chOff x="6298793" y="2286231"/>
            <a:chExt cx="2491200" cy="1419924"/>
          </a:xfrm>
        </p:grpSpPr>
        <p:sp>
          <p:nvSpPr>
            <p:cNvPr id="34" name="모서리가 둥근 직사각형 36">
              <a:extLst>
                <a:ext uri="{FF2B5EF4-FFF2-40B4-BE49-F238E27FC236}">
                  <a16:creationId xmlns:a16="http://schemas.microsoft.com/office/drawing/2014/main" id="{A2F4A39A-698D-27EB-AFFB-0B6A62BEDD49}"/>
                </a:ext>
              </a:extLst>
            </p:cNvPr>
            <p:cNvSpPr/>
            <p:nvPr/>
          </p:nvSpPr>
          <p:spPr>
            <a:xfrm>
              <a:off x="6298793" y="2597355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5" name="모서리가 둥근 직사각형 36">
              <a:extLst>
                <a:ext uri="{FF2B5EF4-FFF2-40B4-BE49-F238E27FC236}">
                  <a16:creationId xmlns:a16="http://schemas.microsoft.com/office/drawing/2014/main" id="{D1B62D1F-EA32-AEEE-AA7B-469E96D91DA8}"/>
                </a:ext>
              </a:extLst>
            </p:cNvPr>
            <p:cNvSpPr/>
            <p:nvPr/>
          </p:nvSpPr>
          <p:spPr>
            <a:xfrm>
              <a:off x="6303361" y="2291326"/>
              <a:ext cx="2482065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17433A2-FEBF-4D84-DD3C-002962C804BF}"/>
                </a:ext>
              </a:extLst>
            </p:cNvPr>
            <p:cNvSpPr txBox="1"/>
            <p:nvPr/>
          </p:nvSpPr>
          <p:spPr>
            <a:xfrm>
              <a:off x="7148349" y="2286231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chemeClr val="accent6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</a:t>
              </a:r>
              <a:r>
                <a:rPr lang="ko-KR" altLang="en-US" sz="1100" dirty="0">
                  <a:solidFill>
                    <a:schemeClr val="accent6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chemeClr val="accent6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37" name="Picture 5">
              <a:extLst>
                <a:ext uri="{FF2B5EF4-FFF2-40B4-BE49-F238E27FC236}">
                  <a16:creationId xmlns:a16="http://schemas.microsoft.com/office/drawing/2014/main" id="{52BDABBF-9C37-D794-727F-47C555FFC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6513701" y="2946321"/>
              <a:ext cx="2061385" cy="4895"/>
            </a:xfrm>
            <a:prstGeom prst="rect">
              <a:avLst/>
            </a:prstGeom>
          </p:spPr>
        </p:pic>
        <p:sp>
          <p:nvSpPr>
            <p:cNvPr id="38" name="TextBox 31">
              <a:extLst>
                <a:ext uri="{FF2B5EF4-FFF2-40B4-BE49-F238E27FC236}">
                  <a16:creationId xmlns:a16="http://schemas.microsoft.com/office/drawing/2014/main" id="{DCB06B1C-08EC-BFA0-2E0A-AF4B86B14FE0}"/>
                </a:ext>
              </a:extLst>
            </p:cNvPr>
            <p:cNvSpPr txBox="1"/>
            <p:nvPr/>
          </p:nvSpPr>
          <p:spPr>
            <a:xfrm>
              <a:off x="6448193" y="2616921"/>
              <a:ext cx="2192400" cy="3201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Execution </a:t>
              </a:r>
            </a:p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Software Deployment Tools (T1072)</a:t>
              </a:r>
              <a:endParaRPr lang="en-US" sz="900" b="0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endParaRPr>
            </a:p>
          </p:txBody>
        </p:sp>
        <p:sp>
          <p:nvSpPr>
            <p:cNvPr id="39" name="pt104">
              <a:extLst>
                <a:ext uri="{FF2B5EF4-FFF2-40B4-BE49-F238E27FC236}">
                  <a16:creationId xmlns:a16="http://schemas.microsoft.com/office/drawing/2014/main" id="{E683EEAD-3026-202D-5A6A-F812D7078411}"/>
                </a:ext>
              </a:extLst>
            </p:cNvPr>
            <p:cNvSpPr txBox="1"/>
            <p:nvPr/>
          </p:nvSpPr>
          <p:spPr>
            <a:xfrm>
              <a:off x="6467087" y="2974850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악성 배포 파일 배포 및 실행</a:t>
              </a:r>
              <a:endPara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0" name="dt105">
              <a:extLst>
                <a:ext uri="{FF2B5EF4-FFF2-40B4-BE49-F238E27FC236}">
                  <a16:creationId xmlns:a16="http://schemas.microsoft.com/office/drawing/2014/main" id="{3D563611-E9C2-7E8D-B6D5-A64F04851AF6}"/>
                </a:ext>
              </a:extLst>
            </p:cNvPr>
            <p:cNvSpPr txBox="1"/>
            <p:nvPr/>
          </p:nvSpPr>
          <p:spPr>
            <a:xfrm>
              <a:off x="6448193" y="3202445"/>
              <a:ext cx="2192400" cy="50231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chemeClr val="accent6">
                      <a:lumMod val="7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chemeClr val="accent6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N024_Critical_Tomcat_war_File_Upload_Alert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N067_Critical_JBoss_Deploy_Alert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8F8E45E-2191-700B-310A-BF703B5DC17A}"/>
              </a:ext>
            </a:extLst>
          </p:cNvPr>
          <p:cNvGrpSpPr/>
          <p:nvPr/>
        </p:nvGrpSpPr>
        <p:grpSpPr>
          <a:xfrm>
            <a:off x="8949650" y="2257853"/>
            <a:ext cx="2491200" cy="1419923"/>
            <a:chOff x="9284729" y="2274101"/>
            <a:chExt cx="2491200" cy="1419923"/>
          </a:xfrm>
        </p:grpSpPr>
        <p:sp>
          <p:nvSpPr>
            <p:cNvPr id="41" name="모서리가 둥근 직사각형 36">
              <a:extLst>
                <a:ext uri="{FF2B5EF4-FFF2-40B4-BE49-F238E27FC236}">
                  <a16:creationId xmlns:a16="http://schemas.microsoft.com/office/drawing/2014/main" id="{31048D71-8043-1A8F-E2EF-CBB49295D37F}"/>
                </a:ext>
              </a:extLst>
            </p:cNvPr>
            <p:cNvSpPr/>
            <p:nvPr/>
          </p:nvSpPr>
          <p:spPr>
            <a:xfrm>
              <a:off x="9284729" y="2585224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2" name="모서리가 둥근 직사각형 36">
              <a:extLst>
                <a:ext uri="{FF2B5EF4-FFF2-40B4-BE49-F238E27FC236}">
                  <a16:creationId xmlns:a16="http://schemas.microsoft.com/office/drawing/2014/main" id="{546DA3F2-71D0-D3E8-604C-8B7513A33258}"/>
                </a:ext>
              </a:extLst>
            </p:cNvPr>
            <p:cNvSpPr/>
            <p:nvPr/>
          </p:nvSpPr>
          <p:spPr>
            <a:xfrm>
              <a:off x="9289297" y="2279196"/>
              <a:ext cx="2482065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0AE5BD3-1B5F-5620-0FE5-98EF1C85037E}"/>
                </a:ext>
              </a:extLst>
            </p:cNvPr>
            <p:cNvSpPr txBox="1"/>
            <p:nvPr/>
          </p:nvSpPr>
          <p:spPr>
            <a:xfrm>
              <a:off x="10134285" y="2274101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rgbClr val="00B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4</a:t>
              </a:r>
              <a:r>
                <a:rPr lang="ko-KR" altLang="en-US" sz="1100" dirty="0">
                  <a:solidFill>
                    <a:srgbClr val="00B05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44" name="Picture 5">
              <a:extLst>
                <a:ext uri="{FF2B5EF4-FFF2-40B4-BE49-F238E27FC236}">
                  <a16:creationId xmlns:a16="http://schemas.microsoft.com/office/drawing/2014/main" id="{40822120-9C99-2E33-C15D-3FA7A579E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9499637" y="2934191"/>
              <a:ext cx="2061385" cy="4895"/>
            </a:xfrm>
            <a:prstGeom prst="rect">
              <a:avLst/>
            </a:prstGeom>
          </p:spPr>
        </p:pic>
        <p:sp>
          <p:nvSpPr>
            <p:cNvPr id="45" name="TextBox 31">
              <a:extLst>
                <a:ext uri="{FF2B5EF4-FFF2-40B4-BE49-F238E27FC236}">
                  <a16:creationId xmlns:a16="http://schemas.microsoft.com/office/drawing/2014/main" id="{1EE8BAC3-DF0F-EFCA-06F5-9FC0D7664B41}"/>
                </a:ext>
              </a:extLst>
            </p:cNvPr>
            <p:cNvSpPr txBox="1"/>
            <p:nvPr/>
          </p:nvSpPr>
          <p:spPr>
            <a:xfrm>
              <a:off x="9434129" y="2571969"/>
              <a:ext cx="2192400" cy="333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Execution </a:t>
              </a:r>
            </a:p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Poisoned Pipeline Execution (T1677)</a:t>
              </a:r>
              <a:endParaRPr lang="en-US" altLang="ko-KR" sz="900" b="0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endParaRPr>
            </a:p>
          </p:txBody>
        </p:sp>
        <p:sp>
          <p:nvSpPr>
            <p:cNvPr id="46" name="pt104">
              <a:extLst>
                <a:ext uri="{FF2B5EF4-FFF2-40B4-BE49-F238E27FC236}">
                  <a16:creationId xmlns:a16="http://schemas.microsoft.com/office/drawing/2014/main" id="{59C84E47-EB05-F05F-2518-AC88391A666C}"/>
                </a:ext>
              </a:extLst>
            </p:cNvPr>
            <p:cNvSpPr txBox="1"/>
            <p:nvPr/>
          </p:nvSpPr>
          <p:spPr>
            <a:xfrm>
              <a:off x="9453023" y="2962720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파이프라인을 통한 악성 배포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7" name="dt105">
              <a:extLst>
                <a:ext uri="{FF2B5EF4-FFF2-40B4-BE49-F238E27FC236}">
                  <a16:creationId xmlns:a16="http://schemas.microsoft.com/office/drawing/2014/main" id="{8E23E0E1-9874-474E-F78E-CE52EC68DE02}"/>
                </a:ext>
              </a:extLst>
            </p:cNvPr>
            <p:cNvSpPr txBox="1"/>
            <p:nvPr/>
          </p:nvSpPr>
          <p:spPr>
            <a:xfrm>
              <a:off x="9434129" y="3190315"/>
              <a:ext cx="2192400" cy="50231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rgbClr val="00B05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rgbClr val="00B05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pt-BR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N114_Jenkins_Exploit_Alert</a:t>
              </a:r>
            </a:p>
            <a:p>
              <a:pPr algn="ctr">
                <a:lnSpc>
                  <a:spcPct val="130000"/>
                </a:lnSpc>
              </a:pPr>
              <a:r>
                <a:rPr lang="pt-BR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N198_Jenkins_via_NodeJS_RCE_Alert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5BA3BEE1-CBF3-C2D6-60A8-FD30E2AC60B7}"/>
              </a:ext>
            </a:extLst>
          </p:cNvPr>
          <p:cNvGrpSpPr/>
          <p:nvPr/>
        </p:nvGrpSpPr>
        <p:grpSpPr>
          <a:xfrm>
            <a:off x="3098569" y="3765415"/>
            <a:ext cx="2491200" cy="1419923"/>
            <a:chOff x="2126110" y="3802461"/>
            <a:chExt cx="2491200" cy="1419923"/>
          </a:xfrm>
        </p:grpSpPr>
        <p:sp>
          <p:nvSpPr>
            <p:cNvPr id="48" name="모서리가 둥근 직사각형 36">
              <a:extLst>
                <a:ext uri="{FF2B5EF4-FFF2-40B4-BE49-F238E27FC236}">
                  <a16:creationId xmlns:a16="http://schemas.microsoft.com/office/drawing/2014/main" id="{5ADAD07D-FAA4-F36D-2ECA-F2443293EADD}"/>
                </a:ext>
              </a:extLst>
            </p:cNvPr>
            <p:cNvSpPr/>
            <p:nvPr/>
          </p:nvSpPr>
          <p:spPr>
            <a:xfrm>
              <a:off x="2126110" y="4113584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49" name="모서리가 둥근 직사각형 36">
              <a:extLst>
                <a:ext uri="{FF2B5EF4-FFF2-40B4-BE49-F238E27FC236}">
                  <a16:creationId xmlns:a16="http://schemas.microsoft.com/office/drawing/2014/main" id="{25E2B701-7D32-AE9A-BE46-6E89E7B38044}"/>
                </a:ext>
              </a:extLst>
            </p:cNvPr>
            <p:cNvSpPr/>
            <p:nvPr/>
          </p:nvSpPr>
          <p:spPr>
            <a:xfrm>
              <a:off x="2130678" y="3807556"/>
              <a:ext cx="2482064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ADDC123-F612-3438-F093-CCD7475EE7E6}"/>
                </a:ext>
              </a:extLst>
            </p:cNvPr>
            <p:cNvSpPr txBox="1"/>
            <p:nvPr/>
          </p:nvSpPr>
          <p:spPr>
            <a:xfrm>
              <a:off x="2975666" y="3802461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chemeClr val="accent5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5</a:t>
              </a:r>
              <a:r>
                <a:rPr lang="ko-KR" altLang="en-US" sz="1100" dirty="0">
                  <a:solidFill>
                    <a:schemeClr val="accent5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chemeClr val="accent5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51" name="Picture 5">
              <a:extLst>
                <a:ext uri="{FF2B5EF4-FFF2-40B4-BE49-F238E27FC236}">
                  <a16:creationId xmlns:a16="http://schemas.microsoft.com/office/drawing/2014/main" id="{C0347A65-53D8-5CD0-08B8-DE4C6CED97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2341018" y="4462551"/>
              <a:ext cx="2061385" cy="4895"/>
            </a:xfrm>
            <a:prstGeom prst="rect">
              <a:avLst/>
            </a:prstGeom>
          </p:spPr>
        </p:pic>
        <p:sp>
          <p:nvSpPr>
            <p:cNvPr id="52" name="TextBox 31">
              <a:extLst>
                <a:ext uri="{FF2B5EF4-FFF2-40B4-BE49-F238E27FC236}">
                  <a16:creationId xmlns:a16="http://schemas.microsoft.com/office/drawing/2014/main" id="{B3324B04-E0F8-391A-375D-A5547FD501A4}"/>
                </a:ext>
              </a:extLst>
            </p:cNvPr>
            <p:cNvSpPr txBox="1"/>
            <p:nvPr/>
          </p:nvSpPr>
          <p:spPr>
            <a:xfrm>
              <a:off x="2275510" y="4083638"/>
              <a:ext cx="2192400" cy="3672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Persistence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Implant Internal Image (T1525)</a:t>
              </a:r>
            </a:p>
          </p:txBody>
        </p:sp>
        <p:sp>
          <p:nvSpPr>
            <p:cNvPr id="53" name="pt104">
              <a:extLst>
                <a:ext uri="{FF2B5EF4-FFF2-40B4-BE49-F238E27FC236}">
                  <a16:creationId xmlns:a16="http://schemas.microsoft.com/office/drawing/2014/main" id="{6EE1184A-DAD4-8140-9FA4-B7648AD49447}"/>
                </a:ext>
              </a:extLst>
            </p:cNvPr>
            <p:cNvSpPr txBox="1"/>
            <p:nvPr/>
          </p:nvSpPr>
          <p:spPr>
            <a:xfrm>
              <a:off x="2294404" y="4491080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웹쉘</a:t>
              </a: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배포 및 </a:t>
              </a:r>
              <a:r>
                <a:rPr lang="ko-KR" altLang="en-US" sz="900" dirty="0" err="1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백도어</a:t>
              </a: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실행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54" name="dt105">
              <a:extLst>
                <a:ext uri="{FF2B5EF4-FFF2-40B4-BE49-F238E27FC236}">
                  <a16:creationId xmlns:a16="http://schemas.microsoft.com/office/drawing/2014/main" id="{3920FB73-7223-E386-4452-E2EF6E517F40}"/>
                </a:ext>
              </a:extLst>
            </p:cNvPr>
            <p:cNvSpPr txBox="1"/>
            <p:nvPr/>
          </p:nvSpPr>
          <p:spPr>
            <a:xfrm>
              <a:off x="2275510" y="4718675"/>
              <a:ext cx="2192400" cy="50231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chemeClr val="accent5">
                      <a:lumMod val="7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chemeClr val="accent5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N047_WebShell_Alert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N050_Critical_WebShell_Alert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240323AA-A59D-54AF-E412-F7C636107D09}"/>
              </a:ext>
            </a:extLst>
          </p:cNvPr>
          <p:cNvGrpSpPr/>
          <p:nvPr/>
        </p:nvGrpSpPr>
        <p:grpSpPr>
          <a:xfrm>
            <a:off x="6581507" y="3775660"/>
            <a:ext cx="2491200" cy="1419924"/>
            <a:chOff x="5036126" y="3823825"/>
            <a:chExt cx="2491200" cy="1419924"/>
          </a:xfrm>
        </p:grpSpPr>
        <p:sp>
          <p:nvSpPr>
            <p:cNvPr id="58" name="모서리가 둥근 직사각형 36">
              <a:extLst>
                <a:ext uri="{FF2B5EF4-FFF2-40B4-BE49-F238E27FC236}">
                  <a16:creationId xmlns:a16="http://schemas.microsoft.com/office/drawing/2014/main" id="{C4F52CB0-4380-A53C-E5D3-E63B93A32B6E}"/>
                </a:ext>
              </a:extLst>
            </p:cNvPr>
            <p:cNvSpPr/>
            <p:nvPr/>
          </p:nvSpPr>
          <p:spPr>
            <a:xfrm>
              <a:off x="5036126" y="4134949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59" name="모서리가 둥근 직사각형 36">
              <a:extLst>
                <a:ext uri="{FF2B5EF4-FFF2-40B4-BE49-F238E27FC236}">
                  <a16:creationId xmlns:a16="http://schemas.microsoft.com/office/drawing/2014/main" id="{BCE7E2B5-88AB-9B41-CC32-09CCD1F9FCC2}"/>
                </a:ext>
              </a:extLst>
            </p:cNvPr>
            <p:cNvSpPr/>
            <p:nvPr/>
          </p:nvSpPr>
          <p:spPr>
            <a:xfrm>
              <a:off x="5036127" y="3828920"/>
              <a:ext cx="2491199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A2B57FE-6873-0DE9-7C31-122F26D99656}"/>
                </a:ext>
              </a:extLst>
            </p:cNvPr>
            <p:cNvSpPr txBox="1"/>
            <p:nvPr/>
          </p:nvSpPr>
          <p:spPr>
            <a:xfrm>
              <a:off x="5885682" y="3823825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chemeClr val="tx2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6</a:t>
              </a:r>
              <a:r>
                <a:rPr lang="ko-KR" altLang="en-US" sz="1100" dirty="0">
                  <a:solidFill>
                    <a:schemeClr val="tx2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chemeClr val="tx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61" name="Picture 5">
              <a:extLst>
                <a:ext uri="{FF2B5EF4-FFF2-40B4-BE49-F238E27FC236}">
                  <a16:creationId xmlns:a16="http://schemas.microsoft.com/office/drawing/2014/main" id="{18179A2C-F28B-041A-52A3-C1F4B55CAA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5251034" y="4483915"/>
              <a:ext cx="2061385" cy="4895"/>
            </a:xfrm>
            <a:prstGeom prst="rect">
              <a:avLst/>
            </a:prstGeom>
          </p:spPr>
        </p:pic>
        <p:sp>
          <p:nvSpPr>
            <p:cNvPr id="62" name="TextBox 31">
              <a:extLst>
                <a:ext uri="{FF2B5EF4-FFF2-40B4-BE49-F238E27FC236}">
                  <a16:creationId xmlns:a16="http://schemas.microsoft.com/office/drawing/2014/main" id="{FDD2DCF9-7CEF-8B92-4200-BD0561FDA55C}"/>
                </a:ext>
              </a:extLst>
            </p:cNvPr>
            <p:cNvSpPr txBox="1"/>
            <p:nvPr/>
          </p:nvSpPr>
          <p:spPr>
            <a:xfrm>
              <a:off x="5185526" y="4169068"/>
              <a:ext cx="2192400" cy="291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Impact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Endpoint Denial of Service</a:t>
              </a:r>
            </a:p>
          </p:txBody>
        </p:sp>
        <p:sp>
          <p:nvSpPr>
            <p:cNvPr id="63" name="pt104">
              <a:extLst>
                <a:ext uri="{FF2B5EF4-FFF2-40B4-BE49-F238E27FC236}">
                  <a16:creationId xmlns:a16="http://schemas.microsoft.com/office/drawing/2014/main" id="{62C10077-5F51-C68A-D05C-24CDBECF7923}"/>
                </a:ext>
              </a:extLst>
            </p:cNvPr>
            <p:cNvSpPr txBox="1"/>
            <p:nvPr/>
          </p:nvSpPr>
          <p:spPr>
            <a:xfrm>
              <a:off x="5204420" y="4512444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시스템 다운 유발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64" name="dt105">
              <a:extLst>
                <a:ext uri="{FF2B5EF4-FFF2-40B4-BE49-F238E27FC236}">
                  <a16:creationId xmlns:a16="http://schemas.microsoft.com/office/drawing/2014/main" id="{3686CB36-7214-9143-9277-E2CF4F9DB8D9}"/>
                </a:ext>
              </a:extLst>
            </p:cNvPr>
            <p:cNvSpPr txBox="1"/>
            <p:nvPr/>
          </p:nvSpPr>
          <p:spPr>
            <a:xfrm>
              <a:off x="5185526" y="4740039"/>
              <a:ext cx="2192400" cy="50231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chemeClr val="tx2">
                      <a:lumMod val="7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chemeClr val="tx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N008_Denial_of_Service_Alert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N060_DDoS_Slowloris_Inbound_Alert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E33A62F2-B049-30DB-2921-A45A06D37460}"/>
              </a:ext>
            </a:extLst>
          </p:cNvPr>
          <p:cNvGrpSpPr/>
          <p:nvPr/>
        </p:nvGrpSpPr>
        <p:grpSpPr>
          <a:xfrm>
            <a:off x="945970" y="5373335"/>
            <a:ext cx="1349065" cy="291564"/>
            <a:chOff x="1568078" y="2059979"/>
            <a:chExt cx="1596469" cy="345033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72" name="모서리가 둥근 직사각형 8">
              <a:extLst>
                <a:ext uri="{FF2B5EF4-FFF2-40B4-BE49-F238E27FC236}">
                  <a16:creationId xmlns:a16="http://schemas.microsoft.com/office/drawing/2014/main" id="{81A4FDAD-BBA7-7E5B-833D-67A915136978}"/>
                </a:ext>
              </a:extLst>
            </p:cNvPr>
            <p:cNvSpPr/>
            <p:nvPr/>
          </p:nvSpPr>
          <p:spPr>
            <a:xfrm>
              <a:off x="1568078" y="2059979"/>
              <a:ext cx="1596469" cy="34224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2FFE2A6F-1491-3E1D-4A78-120AFD9E0A93}"/>
                </a:ext>
              </a:extLst>
            </p:cNvPr>
            <p:cNvSpPr/>
            <p:nvPr/>
          </p:nvSpPr>
          <p:spPr>
            <a:xfrm>
              <a:off x="1904213" y="2077215"/>
              <a:ext cx="924207" cy="3277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탐지 공백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8101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5.1 CLOUD MITRE ATT&amp;CK -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실제 사건으로 보는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CLOUD MITRE ATT&amp;CK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EC1A9B04-71F7-4D77-67D3-85D6D53C9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79115"/>
              </p:ext>
            </p:extLst>
          </p:nvPr>
        </p:nvGraphicFramePr>
        <p:xfrm>
          <a:off x="407988" y="1052737"/>
          <a:ext cx="11376023" cy="705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898">
                  <a:extLst>
                    <a:ext uri="{9D8B030D-6E8A-4147-A177-3AD203B41FA5}">
                      <a16:colId xmlns:a16="http://schemas.microsoft.com/office/drawing/2014/main" val="3105677795"/>
                    </a:ext>
                  </a:extLst>
                </a:gridCol>
                <a:gridCol w="2740042">
                  <a:extLst>
                    <a:ext uri="{9D8B030D-6E8A-4147-A177-3AD203B41FA5}">
                      <a16:colId xmlns:a16="http://schemas.microsoft.com/office/drawing/2014/main" val="3871487324"/>
                    </a:ext>
                  </a:extLst>
                </a:gridCol>
                <a:gridCol w="2602821">
                  <a:extLst>
                    <a:ext uri="{9D8B030D-6E8A-4147-A177-3AD203B41FA5}">
                      <a16:colId xmlns:a16="http://schemas.microsoft.com/office/drawing/2014/main" val="2053544255"/>
                    </a:ext>
                  </a:extLst>
                </a:gridCol>
                <a:gridCol w="2511467">
                  <a:extLst>
                    <a:ext uri="{9D8B030D-6E8A-4147-A177-3AD203B41FA5}">
                      <a16:colId xmlns:a16="http://schemas.microsoft.com/office/drawing/2014/main" val="4167920948"/>
                    </a:ext>
                  </a:extLst>
                </a:gridCol>
                <a:gridCol w="1221795">
                  <a:extLst>
                    <a:ext uri="{9D8B030D-6E8A-4147-A177-3AD203B41FA5}">
                      <a16:colId xmlns:a16="http://schemas.microsoft.com/office/drawing/2014/main" val="2650612031"/>
                    </a:ext>
                  </a:extLst>
                </a:gridCol>
              </a:tblGrid>
              <a:tr h="27833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사건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설명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핵심 원인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주요 </a:t>
                      </a:r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Tactic 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흐름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탐지 공백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832"/>
                  </a:ext>
                </a:extLst>
              </a:tr>
              <a:tr h="306994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Toyota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 panose="020B0600000101010101" pitchFamily="50" charset="-127"/>
                        </a:rPr>
                        <a:t>개인정보 유출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 panose="020B0600000101010101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F3FF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클라우드 시스템이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'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공개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'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상태로 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년간 방치되어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누구나 데이터 열람 가능</a:t>
                      </a:r>
                      <a:endParaRPr lang="en-US" altLang="ko-KR" sz="110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클라우드 설정 </a:t>
                      </a:r>
                      <a:r>
                        <a:rPr lang="en-US" altLang="ko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10</a:t>
                      </a:r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년 방치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Discovery → Collection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100" b="0" i="0" spc="-30" baseline="0" dirty="0">
                          <a:solidFill>
                            <a:schemeClr val="tx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설정 오류 자체</a:t>
                      </a:r>
                      <a:endParaRPr lang="ko-Kore-KR" altLang="en-US" sz="1100" b="0" i="0" spc="-30" baseline="0" dirty="0">
                        <a:solidFill>
                          <a:schemeClr val="tx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338161"/>
                  </a:ext>
                </a:extLst>
              </a:tr>
            </a:tbl>
          </a:graphicData>
        </a:graphic>
      </p:graphicFrame>
      <p:sp>
        <p:nvSpPr>
          <p:cNvPr id="2" name="오른쪽 화살표[R] 3">
            <a:extLst>
              <a:ext uri="{FF2B5EF4-FFF2-40B4-BE49-F238E27FC236}">
                <a16:creationId xmlns:a16="http://schemas.microsoft.com/office/drawing/2014/main" id="{8D331C79-C6DA-FA47-E69B-D9075DB84E58}"/>
              </a:ext>
            </a:extLst>
          </p:cNvPr>
          <p:cNvSpPr/>
          <p:nvPr/>
        </p:nvSpPr>
        <p:spPr>
          <a:xfrm>
            <a:off x="444079" y="4261414"/>
            <a:ext cx="7242753" cy="548640"/>
          </a:xfrm>
          <a:prstGeom prst="rightArrow">
            <a:avLst/>
          </a:prstGeom>
          <a:gradFill flip="none" rotWithShape="1">
            <a:gsLst>
              <a:gs pos="0">
                <a:srgbClr val="009F0F">
                  <a:alpha val="0"/>
                </a:srgbClr>
              </a:gs>
              <a:gs pos="33000">
                <a:srgbClr val="009F0F">
                  <a:alpha val="40000"/>
                </a:srgbClr>
              </a:gs>
              <a:gs pos="67000">
                <a:srgbClr val="009F0F">
                  <a:alpha val="70000"/>
                </a:srgbClr>
              </a:gs>
              <a:gs pos="100000">
                <a:srgbClr val="009F0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9" name="오른쪽 화살표[R] 3">
            <a:extLst>
              <a:ext uri="{FF2B5EF4-FFF2-40B4-BE49-F238E27FC236}">
                <a16:creationId xmlns:a16="http://schemas.microsoft.com/office/drawing/2014/main" id="{84D22B44-2E24-9341-03AC-335E804A2559}"/>
              </a:ext>
            </a:extLst>
          </p:cNvPr>
          <p:cNvSpPr/>
          <p:nvPr/>
        </p:nvSpPr>
        <p:spPr>
          <a:xfrm>
            <a:off x="444078" y="2707626"/>
            <a:ext cx="11339935" cy="548640"/>
          </a:xfrm>
          <a:prstGeom prst="rightArrow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09F0F">
                  <a:alpha val="0"/>
                </a:srgbClr>
              </a:gs>
              <a:gs pos="33000">
                <a:srgbClr val="009F0F">
                  <a:alpha val="40000"/>
                </a:srgbClr>
              </a:gs>
              <a:gs pos="67000">
                <a:srgbClr val="009F0F">
                  <a:alpha val="70000"/>
                </a:srgbClr>
              </a:gs>
              <a:gs pos="100000">
                <a:srgbClr val="009F0F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1" name="모서리가 둥근 직사각형 24">
            <a:extLst>
              <a:ext uri="{FF2B5EF4-FFF2-40B4-BE49-F238E27FC236}">
                <a16:creationId xmlns:a16="http://schemas.microsoft.com/office/drawing/2014/main" id="{4235DA57-B8AD-248E-94DB-B722D8EE5831}"/>
              </a:ext>
            </a:extLst>
          </p:cNvPr>
          <p:cNvSpPr/>
          <p:nvPr/>
        </p:nvSpPr>
        <p:spPr>
          <a:xfrm>
            <a:off x="407348" y="1960594"/>
            <a:ext cx="11376663" cy="3356405"/>
          </a:xfrm>
          <a:prstGeom prst="roundRect">
            <a:avLst>
              <a:gd name="adj" fmla="val 9988"/>
            </a:avLst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EA15A4D-7DBB-D706-51C6-78CF94EDEB5E}"/>
              </a:ext>
            </a:extLst>
          </p:cNvPr>
          <p:cNvGrpSpPr/>
          <p:nvPr/>
        </p:nvGrpSpPr>
        <p:grpSpPr>
          <a:xfrm>
            <a:off x="945970" y="1832698"/>
            <a:ext cx="1349065" cy="289211"/>
            <a:chOff x="1568078" y="2059979"/>
            <a:chExt cx="1596469" cy="342249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모서리가 둥근 직사각형 8">
              <a:extLst>
                <a:ext uri="{FF2B5EF4-FFF2-40B4-BE49-F238E27FC236}">
                  <a16:creationId xmlns:a16="http://schemas.microsoft.com/office/drawing/2014/main" id="{196FAD2E-7137-54FC-36C4-ED7AF60974D1}"/>
                </a:ext>
              </a:extLst>
            </p:cNvPr>
            <p:cNvSpPr/>
            <p:nvPr/>
          </p:nvSpPr>
          <p:spPr>
            <a:xfrm>
              <a:off x="1568078" y="2059979"/>
              <a:ext cx="1596469" cy="34224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F6526BDF-E23C-48DD-5DC9-B3D1C23448ED}"/>
                </a:ext>
              </a:extLst>
            </p:cNvPr>
            <p:cNvSpPr/>
            <p:nvPr/>
          </p:nvSpPr>
          <p:spPr>
            <a:xfrm>
              <a:off x="1975823" y="2077215"/>
              <a:ext cx="780983" cy="276999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주요 흐름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66" name="모서리가 둥근 직사각형 24">
            <a:extLst>
              <a:ext uri="{FF2B5EF4-FFF2-40B4-BE49-F238E27FC236}">
                <a16:creationId xmlns:a16="http://schemas.microsoft.com/office/drawing/2014/main" id="{41C37215-7D19-1FBD-7312-8BD161C06DC2}"/>
              </a:ext>
            </a:extLst>
          </p:cNvPr>
          <p:cNvSpPr/>
          <p:nvPr/>
        </p:nvSpPr>
        <p:spPr>
          <a:xfrm>
            <a:off x="407988" y="5478137"/>
            <a:ext cx="11376025" cy="971585"/>
          </a:xfrm>
          <a:prstGeom prst="roundRect">
            <a:avLst>
              <a:gd name="adj" fmla="val 13909"/>
            </a:avLst>
          </a:prstGeom>
          <a:solidFill>
            <a:schemeClr val="bg1">
              <a:lumMod val="9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제목 1">
            <a:extLst>
              <a:ext uri="{FF2B5EF4-FFF2-40B4-BE49-F238E27FC236}">
                <a16:creationId xmlns:a16="http://schemas.microsoft.com/office/drawing/2014/main" id="{6288740E-F104-95AF-7CD6-53F15EEAF3E6}"/>
              </a:ext>
            </a:extLst>
          </p:cNvPr>
          <p:cNvSpPr txBox="1">
            <a:spLocks/>
          </p:cNvSpPr>
          <p:nvPr/>
        </p:nvSpPr>
        <p:spPr>
          <a:xfrm>
            <a:off x="622781" y="5746832"/>
            <a:ext cx="6913379" cy="296428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단일 사용자의 소량 접근은 임계치 탐지로의 </a:t>
            </a:r>
            <a:r>
              <a:rPr lang="ko-KR" altLang="en-US" sz="11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미발생</a:t>
            </a:r>
            <a:r>
              <a:rPr lang="ko-KR" altLang="en-US" sz="1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가능성</a:t>
            </a:r>
            <a:endParaRPr lang="ko-KR" altLang="ko-KR" sz="1100" dirty="0">
              <a:solidFill>
                <a:schemeClr val="tx1"/>
              </a:solidFill>
            </a:endParaRPr>
          </a:p>
        </p:txBody>
      </p:sp>
      <p:sp>
        <p:nvSpPr>
          <p:cNvPr id="68" name="제목 1">
            <a:extLst>
              <a:ext uri="{FF2B5EF4-FFF2-40B4-BE49-F238E27FC236}">
                <a16:creationId xmlns:a16="http://schemas.microsoft.com/office/drawing/2014/main" id="{5EE60969-A2A4-CAFC-ED7E-00D67CF7650E}"/>
              </a:ext>
            </a:extLst>
          </p:cNvPr>
          <p:cNvSpPr txBox="1">
            <a:spLocks/>
          </p:cNvSpPr>
          <p:nvPr/>
        </p:nvSpPr>
        <p:spPr>
          <a:xfrm>
            <a:off x="622781" y="6063734"/>
            <a:ext cx="8209523" cy="296428"/>
          </a:xfrm>
          <a:prstGeom prst="rect">
            <a:avLst/>
          </a:prstGeom>
        </p:spPr>
        <p:txBody>
          <a:bodyPr vert="horz" wrap="square" lIns="91440" tIns="45720" rIns="91440" bIns="45720" numCol="1" anchor="ctr">
            <a:spAutoFit/>
          </a:bodyPr>
          <a:lstStyle>
            <a:defPPr>
              <a:defRPr lang="ko-KR"/>
            </a:defPPr>
            <a:lvl1pPr marL="171450" indent="-171450" latinLnBrk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 sz="1200" b="0" spc="-2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pPr>
              <a:lnSpc>
                <a:spcPct val="13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 오류 자체의 탐지 공백 </a:t>
            </a:r>
            <a:endParaRPr lang="ko-KR" altLang="ko-KR" sz="1100" dirty="0">
              <a:solidFill>
                <a:schemeClr val="tx1"/>
              </a:solidFill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16369539-C1B7-FAAE-2DEF-8741D06DBD86}"/>
              </a:ext>
            </a:extLst>
          </p:cNvPr>
          <p:cNvGrpSpPr/>
          <p:nvPr/>
        </p:nvGrpSpPr>
        <p:grpSpPr>
          <a:xfrm>
            <a:off x="769844" y="2249805"/>
            <a:ext cx="2491470" cy="1418530"/>
            <a:chOff x="435972" y="2354450"/>
            <a:chExt cx="2491470" cy="1418530"/>
          </a:xfrm>
        </p:grpSpPr>
        <p:sp>
          <p:nvSpPr>
            <p:cNvPr id="70" name="모서리가 둥근 직사각형 36">
              <a:extLst>
                <a:ext uri="{FF2B5EF4-FFF2-40B4-BE49-F238E27FC236}">
                  <a16:creationId xmlns:a16="http://schemas.microsoft.com/office/drawing/2014/main" id="{D8988993-C84A-03EC-43B2-6DBFD307BA5F}"/>
                </a:ext>
              </a:extLst>
            </p:cNvPr>
            <p:cNvSpPr/>
            <p:nvPr/>
          </p:nvSpPr>
          <p:spPr>
            <a:xfrm>
              <a:off x="435972" y="2665573"/>
              <a:ext cx="2491470" cy="1107407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71" name="모서리가 둥근 직사각형 36">
              <a:extLst>
                <a:ext uri="{FF2B5EF4-FFF2-40B4-BE49-F238E27FC236}">
                  <a16:creationId xmlns:a16="http://schemas.microsoft.com/office/drawing/2014/main" id="{0A7A7FCA-2EC8-68E0-E2EF-7F5FF25E1699}"/>
                </a:ext>
              </a:extLst>
            </p:cNvPr>
            <p:cNvSpPr/>
            <p:nvPr/>
          </p:nvSpPr>
          <p:spPr>
            <a:xfrm>
              <a:off x="437717" y="2359545"/>
              <a:ext cx="2487981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CCE76525-E46A-EBD7-EEAE-9A052907E8C5}"/>
                </a:ext>
              </a:extLst>
            </p:cNvPr>
            <p:cNvSpPr txBox="1"/>
            <p:nvPr/>
          </p:nvSpPr>
          <p:spPr>
            <a:xfrm>
              <a:off x="1285663" y="2354450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77" name="Picture 5">
              <a:extLst>
                <a:ext uri="{FF2B5EF4-FFF2-40B4-BE49-F238E27FC236}">
                  <a16:creationId xmlns:a16="http://schemas.microsoft.com/office/drawing/2014/main" id="{D03F74AF-03ED-00E1-D653-F8A67AC68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547945" y="3014295"/>
              <a:ext cx="2267524" cy="5385"/>
            </a:xfrm>
            <a:prstGeom prst="rect">
              <a:avLst/>
            </a:prstGeom>
          </p:spPr>
        </p:pic>
        <p:sp>
          <p:nvSpPr>
            <p:cNvPr id="78" name="TextBox 31">
              <a:extLst>
                <a:ext uri="{FF2B5EF4-FFF2-40B4-BE49-F238E27FC236}">
                  <a16:creationId xmlns:a16="http://schemas.microsoft.com/office/drawing/2014/main" id="{B5DA6057-295F-9F68-6DB0-AF0F71F47311}"/>
                </a:ext>
              </a:extLst>
            </p:cNvPr>
            <p:cNvSpPr txBox="1"/>
            <p:nvPr/>
          </p:nvSpPr>
          <p:spPr>
            <a:xfrm>
              <a:off x="585507" y="2669131"/>
              <a:ext cx="2192400" cy="352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Discovery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Cloud Service Dashboard</a:t>
              </a:r>
            </a:p>
          </p:txBody>
        </p:sp>
        <p:sp>
          <p:nvSpPr>
            <p:cNvPr id="79" name="pt104">
              <a:extLst>
                <a:ext uri="{FF2B5EF4-FFF2-40B4-BE49-F238E27FC236}">
                  <a16:creationId xmlns:a16="http://schemas.microsoft.com/office/drawing/2014/main" id="{F7F9EC19-E75C-DBFF-03BE-DA8CC3B170DD}"/>
                </a:ext>
              </a:extLst>
            </p:cNvPr>
            <p:cNvSpPr txBox="1"/>
            <p:nvPr/>
          </p:nvSpPr>
          <p:spPr>
            <a:xfrm>
              <a:off x="520311" y="3043069"/>
              <a:ext cx="2322792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어플리케이션 정보 외부 노출</a:t>
              </a:r>
              <a:endPara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80" name="dt105">
              <a:extLst>
                <a:ext uri="{FF2B5EF4-FFF2-40B4-BE49-F238E27FC236}">
                  <a16:creationId xmlns:a16="http://schemas.microsoft.com/office/drawing/2014/main" id="{B82368B4-BDED-8FE0-9710-76E85A8A892B}"/>
                </a:ext>
              </a:extLst>
            </p:cNvPr>
            <p:cNvSpPr txBox="1"/>
            <p:nvPr/>
          </p:nvSpPr>
          <p:spPr>
            <a:xfrm>
              <a:off x="443635" y="3270664"/>
              <a:ext cx="2482064" cy="36227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fr-FR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N269_Application_Information_Exposure_Success_Alert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44DB351-646C-1E93-3034-2A2BF607EC3E}"/>
              </a:ext>
            </a:extLst>
          </p:cNvPr>
          <p:cNvGrpSpPr/>
          <p:nvPr/>
        </p:nvGrpSpPr>
        <p:grpSpPr>
          <a:xfrm>
            <a:off x="3542502" y="2279196"/>
            <a:ext cx="2538477" cy="1419923"/>
            <a:chOff x="3148955" y="2279196"/>
            <a:chExt cx="2538477" cy="1419923"/>
          </a:xfrm>
        </p:grpSpPr>
        <p:sp>
          <p:nvSpPr>
            <p:cNvPr id="82" name="모서리가 둥근 직사각형 36">
              <a:extLst>
                <a:ext uri="{FF2B5EF4-FFF2-40B4-BE49-F238E27FC236}">
                  <a16:creationId xmlns:a16="http://schemas.microsoft.com/office/drawing/2014/main" id="{6AAF4978-13A8-6790-5C25-7C7380D60799}"/>
                </a:ext>
              </a:extLst>
            </p:cNvPr>
            <p:cNvSpPr/>
            <p:nvPr/>
          </p:nvSpPr>
          <p:spPr>
            <a:xfrm>
              <a:off x="3172593" y="2590319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83" name="모서리가 둥근 직사각형 36">
              <a:extLst>
                <a:ext uri="{FF2B5EF4-FFF2-40B4-BE49-F238E27FC236}">
                  <a16:creationId xmlns:a16="http://schemas.microsoft.com/office/drawing/2014/main" id="{0E272253-B226-AEBA-D8FB-F526AFBC6FEB}"/>
                </a:ext>
              </a:extLst>
            </p:cNvPr>
            <p:cNvSpPr/>
            <p:nvPr/>
          </p:nvSpPr>
          <p:spPr>
            <a:xfrm>
              <a:off x="3172593" y="2284291"/>
              <a:ext cx="2491201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BD2C45D-6AF0-D89D-DC47-21EFC00C6D26}"/>
                </a:ext>
              </a:extLst>
            </p:cNvPr>
            <p:cNvSpPr txBox="1"/>
            <p:nvPr/>
          </p:nvSpPr>
          <p:spPr>
            <a:xfrm>
              <a:off x="3959633" y="2279196"/>
              <a:ext cx="917121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2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85" name="Picture 5">
              <a:extLst>
                <a:ext uri="{FF2B5EF4-FFF2-40B4-BE49-F238E27FC236}">
                  <a16:creationId xmlns:a16="http://schemas.microsoft.com/office/drawing/2014/main" id="{2A37B161-A48A-2F7C-8CBB-D8AC4A9A3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3224803" y="2939286"/>
              <a:ext cx="2386781" cy="4895"/>
            </a:xfrm>
            <a:prstGeom prst="rect">
              <a:avLst/>
            </a:prstGeom>
          </p:spPr>
        </p:pic>
        <p:sp>
          <p:nvSpPr>
            <p:cNvPr id="86" name="TextBox 31">
              <a:extLst>
                <a:ext uri="{FF2B5EF4-FFF2-40B4-BE49-F238E27FC236}">
                  <a16:creationId xmlns:a16="http://schemas.microsoft.com/office/drawing/2014/main" id="{2779F6D6-FA24-36A6-7702-44412D812CB3}"/>
                </a:ext>
              </a:extLst>
            </p:cNvPr>
            <p:cNvSpPr txBox="1"/>
            <p:nvPr/>
          </p:nvSpPr>
          <p:spPr>
            <a:xfrm>
              <a:off x="3148955" y="2577064"/>
              <a:ext cx="2538477" cy="333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Discovery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Cloud Infrastructure Discovery</a:t>
              </a:r>
            </a:p>
          </p:txBody>
        </p:sp>
        <p:sp>
          <p:nvSpPr>
            <p:cNvPr id="87" name="pt104">
              <a:extLst>
                <a:ext uri="{FF2B5EF4-FFF2-40B4-BE49-F238E27FC236}">
                  <a16:creationId xmlns:a16="http://schemas.microsoft.com/office/drawing/2014/main" id="{29CA269D-F662-C35C-4AC1-EBA3B1A829DA}"/>
                </a:ext>
              </a:extLst>
            </p:cNvPr>
            <p:cNvSpPr txBox="1"/>
            <p:nvPr/>
          </p:nvSpPr>
          <p:spPr>
            <a:xfrm>
              <a:off x="3170831" y="2967815"/>
              <a:ext cx="2494725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서버 상태</a:t>
              </a:r>
              <a:r>
                <a:rPr lang="en-US" altLang="ko-KR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/</a:t>
              </a: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설정 정보 응답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88" name="dt105">
              <a:extLst>
                <a:ext uri="{FF2B5EF4-FFF2-40B4-BE49-F238E27FC236}">
                  <a16:creationId xmlns:a16="http://schemas.microsoft.com/office/drawing/2014/main" id="{AC9BC6CD-A845-0305-1643-3D96BA84A709}"/>
                </a:ext>
              </a:extLst>
            </p:cNvPr>
            <p:cNvSpPr txBox="1"/>
            <p:nvPr/>
          </p:nvSpPr>
          <p:spPr>
            <a:xfrm>
              <a:off x="3148955" y="3195410"/>
              <a:ext cx="2538477" cy="36227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N089_Server_Status_Outbound_Alert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4B617B30-8FDE-1E22-15EC-95A97E61714C}"/>
              </a:ext>
            </a:extLst>
          </p:cNvPr>
          <p:cNvGrpSpPr/>
          <p:nvPr/>
        </p:nvGrpSpPr>
        <p:grpSpPr>
          <a:xfrm>
            <a:off x="6280722" y="2281383"/>
            <a:ext cx="2607081" cy="1419924"/>
            <a:chOff x="6240853" y="2286231"/>
            <a:chExt cx="2607081" cy="1419924"/>
          </a:xfrm>
        </p:grpSpPr>
        <p:sp>
          <p:nvSpPr>
            <p:cNvPr id="90" name="모서리가 둥근 직사각형 36">
              <a:extLst>
                <a:ext uri="{FF2B5EF4-FFF2-40B4-BE49-F238E27FC236}">
                  <a16:creationId xmlns:a16="http://schemas.microsoft.com/office/drawing/2014/main" id="{AE8D1EB8-F128-1326-6D1B-63EE917CD2B8}"/>
                </a:ext>
              </a:extLst>
            </p:cNvPr>
            <p:cNvSpPr/>
            <p:nvPr/>
          </p:nvSpPr>
          <p:spPr>
            <a:xfrm>
              <a:off x="6298793" y="2597355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1" name="모서리가 둥근 직사각형 36">
              <a:extLst>
                <a:ext uri="{FF2B5EF4-FFF2-40B4-BE49-F238E27FC236}">
                  <a16:creationId xmlns:a16="http://schemas.microsoft.com/office/drawing/2014/main" id="{61AF8188-0374-12D4-8403-7DFA5035B69E}"/>
                </a:ext>
              </a:extLst>
            </p:cNvPr>
            <p:cNvSpPr/>
            <p:nvPr/>
          </p:nvSpPr>
          <p:spPr>
            <a:xfrm>
              <a:off x="6303361" y="2291326"/>
              <a:ext cx="2482065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7EFB1AB-0D77-887A-59C3-F6058132BAD2}"/>
                </a:ext>
              </a:extLst>
            </p:cNvPr>
            <p:cNvSpPr txBox="1"/>
            <p:nvPr/>
          </p:nvSpPr>
          <p:spPr>
            <a:xfrm>
              <a:off x="7148349" y="2286231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93" name="Picture 5">
              <a:extLst>
                <a:ext uri="{FF2B5EF4-FFF2-40B4-BE49-F238E27FC236}">
                  <a16:creationId xmlns:a16="http://schemas.microsoft.com/office/drawing/2014/main" id="{9CBCF85C-B273-45DD-7976-34086E1BB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6513701" y="2946321"/>
              <a:ext cx="2061385" cy="4895"/>
            </a:xfrm>
            <a:prstGeom prst="rect">
              <a:avLst/>
            </a:prstGeom>
          </p:spPr>
        </p:pic>
        <p:sp>
          <p:nvSpPr>
            <p:cNvPr id="94" name="TextBox 31">
              <a:extLst>
                <a:ext uri="{FF2B5EF4-FFF2-40B4-BE49-F238E27FC236}">
                  <a16:creationId xmlns:a16="http://schemas.microsoft.com/office/drawing/2014/main" id="{B71F507D-35C9-E560-2E57-7261B4E444BE}"/>
                </a:ext>
              </a:extLst>
            </p:cNvPr>
            <p:cNvSpPr txBox="1"/>
            <p:nvPr/>
          </p:nvSpPr>
          <p:spPr>
            <a:xfrm>
              <a:off x="6448193" y="2616921"/>
              <a:ext cx="2192400" cy="3201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Discovery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Log Enumeration / Local Storage</a:t>
              </a:r>
            </a:p>
          </p:txBody>
        </p:sp>
        <p:sp>
          <p:nvSpPr>
            <p:cNvPr id="95" name="pt104">
              <a:extLst>
                <a:ext uri="{FF2B5EF4-FFF2-40B4-BE49-F238E27FC236}">
                  <a16:creationId xmlns:a16="http://schemas.microsoft.com/office/drawing/2014/main" id="{DFD5E462-4A73-6E34-E785-8FC1E1D44817}"/>
                </a:ext>
              </a:extLst>
            </p:cNvPr>
            <p:cNvSpPr txBox="1"/>
            <p:nvPr/>
          </p:nvSpPr>
          <p:spPr>
            <a:xfrm>
              <a:off x="6240853" y="2974850"/>
              <a:ext cx="2607081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파일 및 디렉터리 목록 공개 노출</a:t>
              </a:r>
              <a:r>
                <a:rPr lang="en-US" altLang="ko-KR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 </a:t>
              </a: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 경로 탐색</a:t>
              </a:r>
              <a:endPara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6" name="dt105">
              <a:extLst>
                <a:ext uri="{FF2B5EF4-FFF2-40B4-BE49-F238E27FC236}">
                  <a16:creationId xmlns:a16="http://schemas.microsoft.com/office/drawing/2014/main" id="{702E6456-0ABE-BE98-8922-777C4D4D8FD4}"/>
                </a:ext>
              </a:extLst>
            </p:cNvPr>
            <p:cNvSpPr txBox="1"/>
            <p:nvPr/>
          </p:nvSpPr>
          <p:spPr>
            <a:xfrm>
              <a:off x="6448193" y="3202445"/>
              <a:ext cx="2192400" cy="50231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N102_Directory_Indexing_Alert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N069_Directory_Traversal_Alert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D587DEE6-E505-0F13-452C-2BFEA4730276}"/>
              </a:ext>
            </a:extLst>
          </p:cNvPr>
          <p:cNvGrpSpPr/>
          <p:nvPr/>
        </p:nvGrpSpPr>
        <p:grpSpPr>
          <a:xfrm>
            <a:off x="8949650" y="2257853"/>
            <a:ext cx="2491200" cy="1419923"/>
            <a:chOff x="9284729" y="2274101"/>
            <a:chExt cx="2491200" cy="1419923"/>
          </a:xfrm>
        </p:grpSpPr>
        <p:sp>
          <p:nvSpPr>
            <p:cNvPr id="98" name="모서리가 둥근 직사각형 36">
              <a:extLst>
                <a:ext uri="{FF2B5EF4-FFF2-40B4-BE49-F238E27FC236}">
                  <a16:creationId xmlns:a16="http://schemas.microsoft.com/office/drawing/2014/main" id="{5FB4866E-729F-47D7-E051-9134BBF94C49}"/>
                </a:ext>
              </a:extLst>
            </p:cNvPr>
            <p:cNvSpPr/>
            <p:nvPr/>
          </p:nvSpPr>
          <p:spPr>
            <a:xfrm>
              <a:off x="9284729" y="2585224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99" name="모서리가 둥근 직사각형 36">
              <a:extLst>
                <a:ext uri="{FF2B5EF4-FFF2-40B4-BE49-F238E27FC236}">
                  <a16:creationId xmlns:a16="http://schemas.microsoft.com/office/drawing/2014/main" id="{772E7BD0-80B4-1D96-F6C9-3B6B30C57C6B}"/>
                </a:ext>
              </a:extLst>
            </p:cNvPr>
            <p:cNvSpPr/>
            <p:nvPr/>
          </p:nvSpPr>
          <p:spPr>
            <a:xfrm>
              <a:off x="9289297" y="2279196"/>
              <a:ext cx="2482065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CA395DFB-74D6-D70D-9AF1-A7390AAD47D5}"/>
                </a:ext>
              </a:extLst>
            </p:cNvPr>
            <p:cNvSpPr txBox="1"/>
            <p:nvPr/>
          </p:nvSpPr>
          <p:spPr>
            <a:xfrm>
              <a:off x="10134285" y="2274101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4</a:t>
              </a:r>
              <a:r>
                <a:rPr lang="ko-KR" altLang="en-US" sz="11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01" name="Picture 5">
              <a:extLst>
                <a:ext uri="{FF2B5EF4-FFF2-40B4-BE49-F238E27FC236}">
                  <a16:creationId xmlns:a16="http://schemas.microsoft.com/office/drawing/2014/main" id="{F4FE5BDF-92E8-C8A5-77D3-69D112894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9499637" y="2934191"/>
              <a:ext cx="2061385" cy="4895"/>
            </a:xfrm>
            <a:prstGeom prst="rect">
              <a:avLst/>
            </a:prstGeom>
          </p:spPr>
        </p:pic>
        <p:sp>
          <p:nvSpPr>
            <p:cNvPr id="102" name="TextBox 31">
              <a:extLst>
                <a:ext uri="{FF2B5EF4-FFF2-40B4-BE49-F238E27FC236}">
                  <a16:creationId xmlns:a16="http://schemas.microsoft.com/office/drawing/2014/main" id="{C41C644A-29E6-6E5C-35E5-82CC4470DDAD}"/>
                </a:ext>
              </a:extLst>
            </p:cNvPr>
            <p:cNvSpPr txBox="1"/>
            <p:nvPr/>
          </p:nvSpPr>
          <p:spPr>
            <a:xfrm>
              <a:off x="9434129" y="2555278"/>
              <a:ext cx="2192400" cy="3672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Discovery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Software Discovery</a:t>
              </a:r>
            </a:p>
          </p:txBody>
        </p:sp>
        <p:sp>
          <p:nvSpPr>
            <p:cNvPr id="103" name="pt104">
              <a:extLst>
                <a:ext uri="{FF2B5EF4-FFF2-40B4-BE49-F238E27FC236}">
                  <a16:creationId xmlns:a16="http://schemas.microsoft.com/office/drawing/2014/main" id="{F220677C-28D9-D651-CBDB-45C8751FD5BD}"/>
                </a:ext>
              </a:extLst>
            </p:cNvPr>
            <p:cNvSpPr txBox="1"/>
            <p:nvPr/>
          </p:nvSpPr>
          <p:spPr>
            <a:xfrm>
              <a:off x="9453023" y="2962720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서버 소프트웨어 정보 노출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4" name="dt105">
              <a:extLst>
                <a:ext uri="{FF2B5EF4-FFF2-40B4-BE49-F238E27FC236}">
                  <a16:creationId xmlns:a16="http://schemas.microsoft.com/office/drawing/2014/main" id="{8A78C24D-33D7-CE1F-20AC-87E569F0BC3F}"/>
                </a:ext>
              </a:extLst>
            </p:cNvPr>
            <p:cNvSpPr txBox="1"/>
            <p:nvPr/>
          </p:nvSpPr>
          <p:spPr>
            <a:xfrm>
              <a:off x="9434129" y="3190315"/>
              <a:ext cx="2192400" cy="36227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rgbClr val="C00000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rgbClr val="C00000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N083_Critical_phpinfo_Alert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69564651-F1D6-5E84-ED80-E2E1B4516F7E}"/>
              </a:ext>
            </a:extLst>
          </p:cNvPr>
          <p:cNvGrpSpPr/>
          <p:nvPr/>
        </p:nvGrpSpPr>
        <p:grpSpPr>
          <a:xfrm>
            <a:off x="2013970" y="3783854"/>
            <a:ext cx="2491200" cy="1419923"/>
            <a:chOff x="2126110" y="3802461"/>
            <a:chExt cx="2491200" cy="1419923"/>
          </a:xfrm>
        </p:grpSpPr>
        <p:sp>
          <p:nvSpPr>
            <p:cNvPr id="106" name="모서리가 둥근 직사각형 36">
              <a:extLst>
                <a:ext uri="{FF2B5EF4-FFF2-40B4-BE49-F238E27FC236}">
                  <a16:creationId xmlns:a16="http://schemas.microsoft.com/office/drawing/2014/main" id="{0A489B85-22AC-9B95-73F2-72DECB86A2E9}"/>
                </a:ext>
              </a:extLst>
            </p:cNvPr>
            <p:cNvSpPr/>
            <p:nvPr/>
          </p:nvSpPr>
          <p:spPr>
            <a:xfrm>
              <a:off x="2126110" y="4113584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7" name="모서리가 둥근 직사각형 36">
              <a:extLst>
                <a:ext uri="{FF2B5EF4-FFF2-40B4-BE49-F238E27FC236}">
                  <a16:creationId xmlns:a16="http://schemas.microsoft.com/office/drawing/2014/main" id="{A8CE0805-8B8F-86F0-FFD5-AF010F242039}"/>
                </a:ext>
              </a:extLst>
            </p:cNvPr>
            <p:cNvSpPr/>
            <p:nvPr/>
          </p:nvSpPr>
          <p:spPr>
            <a:xfrm>
              <a:off x="2130678" y="3807556"/>
              <a:ext cx="2482064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008BB53-3EF6-7DDA-3BC0-A97960CC2BB8}"/>
                </a:ext>
              </a:extLst>
            </p:cNvPr>
            <p:cNvSpPr txBox="1"/>
            <p:nvPr/>
          </p:nvSpPr>
          <p:spPr>
            <a:xfrm>
              <a:off x="2975666" y="3802461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chemeClr val="accent6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5</a:t>
              </a:r>
              <a:r>
                <a:rPr lang="ko-KR" altLang="en-US" sz="1100" dirty="0">
                  <a:solidFill>
                    <a:schemeClr val="accent6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chemeClr val="accent6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09" name="Picture 5">
              <a:extLst>
                <a:ext uri="{FF2B5EF4-FFF2-40B4-BE49-F238E27FC236}">
                  <a16:creationId xmlns:a16="http://schemas.microsoft.com/office/drawing/2014/main" id="{C48DA7D8-5A89-3ED3-3AB7-03A1891A2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2341018" y="4462551"/>
              <a:ext cx="2061385" cy="4895"/>
            </a:xfrm>
            <a:prstGeom prst="rect">
              <a:avLst/>
            </a:prstGeom>
          </p:spPr>
        </p:pic>
        <p:sp>
          <p:nvSpPr>
            <p:cNvPr id="110" name="TextBox 31">
              <a:extLst>
                <a:ext uri="{FF2B5EF4-FFF2-40B4-BE49-F238E27FC236}">
                  <a16:creationId xmlns:a16="http://schemas.microsoft.com/office/drawing/2014/main" id="{B26ED760-8AED-EFF9-FF8D-620F6F8B7886}"/>
                </a:ext>
              </a:extLst>
            </p:cNvPr>
            <p:cNvSpPr txBox="1"/>
            <p:nvPr/>
          </p:nvSpPr>
          <p:spPr>
            <a:xfrm>
              <a:off x="2275510" y="4083638"/>
              <a:ext cx="2192400" cy="3672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Defense Evasion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Unused Cloud Regions (T1535)</a:t>
              </a:r>
            </a:p>
          </p:txBody>
        </p:sp>
        <p:sp>
          <p:nvSpPr>
            <p:cNvPr id="111" name="pt104">
              <a:extLst>
                <a:ext uri="{FF2B5EF4-FFF2-40B4-BE49-F238E27FC236}">
                  <a16:creationId xmlns:a16="http://schemas.microsoft.com/office/drawing/2014/main" id="{01EDF127-C41A-C71C-BBF2-99517A9FC1F4}"/>
                </a:ext>
              </a:extLst>
            </p:cNvPr>
            <p:cNvSpPr txBox="1"/>
            <p:nvPr/>
          </p:nvSpPr>
          <p:spPr>
            <a:xfrm>
              <a:off x="2294404" y="4491080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방치된 클라우드 리소스 스캔</a:t>
              </a:r>
              <a:endParaRPr lang="en-US" altLang="ko-KR" sz="900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12" name="dt105">
              <a:extLst>
                <a:ext uri="{FF2B5EF4-FFF2-40B4-BE49-F238E27FC236}">
                  <a16:creationId xmlns:a16="http://schemas.microsoft.com/office/drawing/2014/main" id="{35CDC314-4A2C-A787-F416-F0F04B57AE7F}"/>
                </a:ext>
              </a:extLst>
            </p:cNvPr>
            <p:cNvSpPr txBox="1"/>
            <p:nvPr/>
          </p:nvSpPr>
          <p:spPr>
            <a:xfrm>
              <a:off x="2275510" y="4718675"/>
              <a:ext cx="2192400" cy="36227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chemeClr val="accent6">
                      <a:lumMod val="7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chemeClr val="accent6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N215_NCP_MGMT_Service_Scan_Alert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299D4B33-FDE8-C84D-0B2D-30D80DCE3757}"/>
              </a:ext>
            </a:extLst>
          </p:cNvPr>
          <p:cNvGrpSpPr/>
          <p:nvPr/>
        </p:nvGrpSpPr>
        <p:grpSpPr>
          <a:xfrm>
            <a:off x="4859380" y="3796109"/>
            <a:ext cx="2491200" cy="1419924"/>
            <a:chOff x="5036126" y="3823825"/>
            <a:chExt cx="2491200" cy="1419924"/>
          </a:xfrm>
        </p:grpSpPr>
        <p:sp>
          <p:nvSpPr>
            <p:cNvPr id="114" name="모서리가 둥근 직사각형 36">
              <a:extLst>
                <a:ext uri="{FF2B5EF4-FFF2-40B4-BE49-F238E27FC236}">
                  <a16:creationId xmlns:a16="http://schemas.microsoft.com/office/drawing/2014/main" id="{D66CA26B-9474-4278-BCD5-3B07E2EC94B2}"/>
                </a:ext>
              </a:extLst>
            </p:cNvPr>
            <p:cNvSpPr/>
            <p:nvPr/>
          </p:nvSpPr>
          <p:spPr>
            <a:xfrm>
              <a:off x="5036126" y="4134949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15" name="모서리가 둥근 직사각형 36">
              <a:extLst>
                <a:ext uri="{FF2B5EF4-FFF2-40B4-BE49-F238E27FC236}">
                  <a16:creationId xmlns:a16="http://schemas.microsoft.com/office/drawing/2014/main" id="{A93B53AB-59EB-5B6B-E93B-ADCE27C97BE6}"/>
                </a:ext>
              </a:extLst>
            </p:cNvPr>
            <p:cNvSpPr/>
            <p:nvPr/>
          </p:nvSpPr>
          <p:spPr>
            <a:xfrm>
              <a:off x="5036127" y="3828920"/>
              <a:ext cx="2491199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3F55ECC2-EE60-EAE1-04FC-DADA076A236A}"/>
                </a:ext>
              </a:extLst>
            </p:cNvPr>
            <p:cNvSpPr txBox="1"/>
            <p:nvPr/>
          </p:nvSpPr>
          <p:spPr>
            <a:xfrm>
              <a:off x="5885682" y="3823825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chemeClr val="accent5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6</a:t>
              </a:r>
              <a:r>
                <a:rPr lang="ko-KR" altLang="en-US" sz="1100" dirty="0">
                  <a:solidFill>
                    <a:schemeClr val="accent5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chemeClr val="accent5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17" name="Picture 5">
              <a:extLst>
                <a:ext uri="{FF2B5EF4-FFF2-40B4-BE49-F238E27FC236}">
                  <a16:creationId xmlns:a16="http://schemas.microsoft.com/office/drawing/2014/main" id="{EE3EB40C-40E1-729E-BCCE-7B4A0605B6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5251034" y="4483915"/>
              <a:ext cx="2061385" cy="4895"/>
            </a:xfrm>
            <a:prstGeom prst="rect">
              <a:avLst/>
            </a:prstGeom>
          </p:spPr>
        </p:pic>
        <p:sp>
          <p:nvSpPr>
            <p:cNvPr id="118" name="TextBox 31">
              <a:extLst>
                <a:ext uri="{FF2B5EF4-FFF2-40B4-BE49-F238E27FC236}">
                  <a16:creationId xmlns:a16="http://schemas.microsoft.com/office/drawing/2014/main" id="{2C117ADE-51A0-645E-687F-D117FBC29C44}"/>
                </a:ext>
              </a:extLst>
            </p:cNvPr>
            <p:cNvSpPr txBox="1"/>
            <p:nvPr/>
          </p:nvSpPr>
          <p:spPr>
            <a:xfrm>
              <a:off x="5185526" y="4154515"/>
              <a:ext cx="2192400" cy="3201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Collection </a:t>
              </a:r>
            </a:p>
            <a:p>
              <a:pPr lvl="0" algn="ctr">
                <a:lnSpc>
                  <a:spcPct val="116199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Data from Cloud Storage (T1530)</a:t>
              </a:r>
              <a:endParaRPr lang="en-US" sz="900" b="0" i="0" u="none" strike="noStrike" dirty="0">
                <a:latin typeface="나눔스퀘어" panose="020B0600000101010101" pitchFamily="50" charset="-127"/>
                <a:ea typeface="나눔스퀘어" panose="020B0600000101010101" pitchFamily="50" charset="-127"/>
                <a:cs typeface="Pretendard Bold"/>
              </a:endParaRPr>
            </a:p>
          </p:txBody>
        </p:sp>
        <p:sp>
          <p:nvSpPr>
            <p:cNvPr id="119" name="pt104">
              <a:extLst>
                <a:ext uri="{FF2B5EF4-FFF2-40B4-BE49-F238E27FC236}">
                  <a16:creationId xmlns:a16="http://schemas.microsoft.com/office/drawing/2014/main" id="{D1138852-B673-F7A7-3D5A-C393F2386073}"/>
                </a:ext>
              </a:extLst>
            </p:cNvPr>
            <p:cNvSpPr txBox="1"/>
            <p:nvPr/>
          </p:nvSpPr>
          <p:spPr>
            <a:xfrm>
              <a:off x="5204420" y="4512444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클라우드 저장소 파일 읽기 및 노출</a:t>
              </a:r>
              <a:endPara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20" name="dt105">
              <a:extLst>
                <a:ext uri="{FF2B5EF4-FFF2-40B4-BE49-F238E27FC236}">
                  <a16:creationId xmlns:a16="http://schemas.microsoft.com/office/drawing/2014/main" id="{62061615-4681-6B78-B060-B65D06E6E0B0}"/>
                </a:ext>
              </a:extLst>
            </p:cNvPr>
            <p:cNvSpPr txBox="1"/>
            <p:nvPr/>
          </p:nvSpPr>
          <p:spPr>
            <a:xfrm>
              <a:off x="5185526" y="4740039"/>
              <a:ext cx="2192400" cy="362279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chemeClr val="accent5">
                      <a:lumMod val="7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chemeClr val="accent5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N107_Critical_LFI_Attack_Outbound_Alert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F6BE84EE-6C44-EFA7-FF16-0A6110A1442B}"/>
              </a:ext>
            </a:extLst>
          </p:cNvPr>
          <p:cNvGrpSpPr/>
          <p:nvPr/>
        </p:nvGrpSpPr>
        <p:grpSpPr>
          <a:xfrm>
            <a:off x="7711602" y="3796109"/>
            <a:ext cx="2491200" cy="1419923"/>
            <a:chOff x="7956555" y="3802461"/>
            <a:chExt cx="2491200" cy="1419923"/>
          </a:xfrm>
        </p:grpSpPr>
        <p:sp>
          <p:nvSpPr>
            <p:cNvPr id="122" name="모서리가 둥근 직사각형 36">
              <a:extLst>
                <a:ext uri="{FF2B5EF4-FFF2-40B4-BE49-F238E27FC236}">
                  <a16:creationId xmlns:a16="http://schemas.microsoft.com/office/drawing/2014/main" id="{60807E69-ACDB-C721-ABA0-C833C1F17055}"/>
                </a:ext>
              </a:extLst>
            </p:cNvPr>
            <p:cNvSpPr/>
            <p:nvPr/>
          </p:nvSpPr>
          <p:spPr>
            <a:xfrm>
              <a:off x="7956555" y="4113584"/>
              <a:ext cx="2491200" cy="1108800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23" name="모서리가 둥근 직사각형 36">
              <a:extLst>
                <a:ext uri="{FF2B5EF4-FFF2-40B4-BE49-F238E27FC236}">
                  <a16:creationId xmlns:a16="http://schemas.microsoft.com/office/drawing/2014/main" id="{32E4C345-3B59-488E-10D0-2BBBFF82E654}"/>
                </a:ext>
              </a:extLst>
            </p:cNvPr>
            <p:cNvSpPr/>
            <p:nvPr/>
          </p:nvSpPr>
          <p:spPr>
            <a:xfrm>
              <a:off x="7961646" y="3807556"/>
              <a:ext cx="2481019" cy="260846"/>
            </a:xfrm>
            <a:prstGeom prst="roundRect">
              <a:avLst>
                <a:gd name="adj" fmla="val 17210"/>
              </a:avLst>
            </a:prstGeom>
            <a:solidFill>
              <a:srgbClr val="D9D9D9">
                <a:alpha val="40000"/>
              </a:srgb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6C6883DC-F95E-7F7A-196D-D55A6145474F}"/>
                </a:ext>
              </a:extLst>
            </p:cNvPr>
            <p:cNvSpPr txBox="1"/>
            <p:nvPr/>
          </p:nvSpPr>
          <p:spPr>
            <a:xfrm>
              <a:off x="8806111" y="3802461"/>
              <a:ext cx="792088" cy="2710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100" dirty="0">
                  <a:solidFill>
                    <a:schemeClr val="tx2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7</a:t>
              </a:r>
              <a:r>
                <a:rPr lang="ko-KR" altLang="en-US" sz="1100" dirty="0">
                  <a:solidFill>
                    <a:schemeClr val="tx2">
                      <a:lumMod val="75000"/>
                    </a:schemeClr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단계</a:t>
              </a:r>
              <a:endParaRPr lang="en-US" altLang="ko-KR" sz="1100" dirty="0">
                <a:solidFill>
                  <a:schemeClr val="tx2">
                    <a:lumMod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pic>
          <p:nvPicPr>
            <p:cNvPr id="125" name="Picture 5">
              <a:extLst>
                <a:ext uri="{FF2B5EF4-FFF2-40B4-BE49-F238E27FC236}">
                  <a16:creationId xmlns:a16="http://schemas.microsoft.com/office/drawing/2014/main" id="{076C4F2B-ED1B-3529-9581-3A9A5A9D04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20000"/>
            </a:blip>
            <a:stretch>
              <a:fillRect/>
            </a:stretch>
          </p:blipFill>
          <p:spPr>
            <a:xfrm>
              <a:off x="8171463" y="4462551"/>
              <a:ext cx="2061385" cy="4895"/>
            </a:xfrm>
            <a:prstGeom prst="rect">
              <a:avLst/>
            </a:prstGeom>
          </p:spPr>
        </p:pic>
        <p:sp>
          <p:nvSpPr>
            <p:cNvPr id="126" name="TextBox 31">
              <a:extLst>
                <a:ext uri="{FF2B5EF4-FFF2-40B4-BE49-F238E27FC236}">
                  <a16:creationId xmlns:a16="http://schemas.microsoft.com/office/drawing/2014/main" id="{ACEEADF2-5A51-5819-8E68-8C3EBAA4F40C}"/>
                </a:ext>
              </a:extLst>
            </p:cNvPr>
            <p:cNvSpPr txBox="1"/>
            <p:nvPr/>
          </p:nvSpPr>
          <p:spPr>
            <a:xfrm>
              <a:off x="8105955" y="4083638"/>
              <a:ext cx="2192400" cy="3672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Exfiltration </a:t>
              </a:r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- Exfiltration Over Web Service</a:t>
              </a:r>
            </a:p>
          </p:txBody>
        </p:sp>
        <p:sp>
          <p:nvSpPr>
            <p:cNvPr id="127" name="pt104">
              <a:extLst>
                <a:ext uri="{FF2B5EF4-FFF2-40B4-BE49-F238E27FC236}">
                  <a16:creationId xmlns:a16="http://schemas.microsoft.com/office/drawing/2014/main" id="{DAE8CDF6-D3F4-CAE2-5D95-98E63702EA6D}"/>
                </a:ext>
              </a:extLst>
            </p:cNvPr>
            <p:cNvSpPr txBox="1"/>
            <p:nvPr/>
          </p:nvSpPr>
          <p:spPr>
            <a:xfrm>
              <a:off x="8124849" y="4491080"/>
              <a:ext cx="2154613" cy="2593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9388" indent="-95250" algn="ctr">
                <a:lnSpc>
                  <a:spcPct val="130000"/>
                </a:lnSpc>
                <a:tabLst>
                  <a:tab pos="179388" algn="l"/>
                </a:tabLst>
              </a:pPr>
              <a:r>
                <a:rPr lang="ko-KR" alt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반복 다운로드</a:t>
              </a:r>
              <a:endParaRPr lang="en-US" altLang="ko-KR" sz="9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28" name="dt105">
              <a:extLst>
                <a:ext uri="{FF2B5EF4-FFF2-40B4-BE49-F238E27FC236}">
                  <a16:creationId xmlns:a16="http://schemas.microsoft.com/office/drawing/2014/main" id="{13291EC5-3A3A-1C1B-DF4B-3D91D3EF7133}"/>
                </a:ext>
              </a:extLst>
            </p:cNvPr>
            <p:cNvSpPr txBox="1"/>
            <p:nvPr/>
          </p:nvSpPr>
          <p:spPr>
            <a:xfrm>
              <a:off x="8105955" y="4718675"/>
              <a:ext cx="2192400" cy="50231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700" dirty="0">
                  <a:solidFill>
                    <a:schemeClr val="tx2">
                      <a:lumMod val="75000"/>
                    </a:schemeClr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탐지 가능 규칙</a:t>
              </a:r>
              <a:endParaRPr lang="en-US" altLang="ko-KR" sz="700" dirty="0">
                <a:solidFill>
                  <a:schemeClr val="tx2">
                    <a:lumMod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700" b="1" dirty="0">
                  <a:solidFill>
                    <a:schemeClr val="accent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N147_wget_Critical_Outbound_Alert N148_curl_Critical_Outbound_Alert</a:t>
              </a:r>
              <a:endParaRPr lang="ko-KR" altLang="ko-KR" sz="700" b="1" dirty="0">
                <a:solidFill>
                  <a:schemeClr val="accent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73712A43-F404-EF5B-225E-2E2D6D2A96EB}"/>
              </a:ext>
            </a:extLst>
          </p:cNvPr>
          <p:cNvGrpSpPr/>
          <p:nvPr/>
        </p:nvGrpSpPr>
        <p:grpSpPr>
          <a:xfrm>
            <a:off x="945970" y="5373335"/>
            <a:ext cx="1349065" cy="291564"/>
            <a:chOff x="1568078" y="2059979"/>
            <a:chExt cx="1596469" cy="345033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30" name="모서리가 둥근 직사각형 8">
              <a:extLst>
                <a:ext uri="{FF2B5EF4-FFF2-40B4-BE49-F238E27FC236}">
                  <a16:creationId xmlns:a16="http://schemas.microsoft.com/office/drawing/2014/main" id="{03698256-31DF-9FA8-B2AC-521E4AED8233}"/>
                </a:ext>
              </a:extLst>
            </p:cNvPr>
            <p:cNvSpPr/>
            <p:nvPr/>
          </p:nvSpPr>
          <p:spPr>
            <a:xfrm>
              <a:off x="1568078" y="2059979"/>
              <a:ext cx="1596469" cy="342249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0D56D7C3-AD80-6582-DB4B-DB52AC6E604E}"/>
                </a:ext>
              </a:extLst>
            </p:cNvPr>
            <p:cNvSpPr/>
            <p:nvPr/>
          </p:nvSpPr>
          <p:spPr>
            <a:xfrm>
              <a:off x="1904213" y="2077215"/>
              <a:ext cx="924207" cy="3277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탐지 공백</a:t>
              </a:r>
              <a:endParaRPr lang="en-US" altLang="ko-KR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027145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24">
            <a:extLst>
              <a:ext uri="{FF2B5EF4-FFF2-40B4-BE49-F238E27FC236}">
                <a16:creationId xmlns:a16="http://schemas.microsoft.com/office/drawing/2014/main" id="{15E8563B-6711-EB6D-A398-D8924BE91EAA}"/>
              </a:ext>
            </a:extLst>
          </p:cNvPr>
          <p:cNvSpPr/>
          <p:nvPr/>
        </p:nvSpPr>
        <p:spPr>
          <a:xfrm>
            <a:off x="415242" y="2500914"/>
            <a:ext cx="11361516" cy="3477875"/>
          </a:xfrm>
          <a:prstGeom prst="roundRect">
            <a:avLst>
              <a:gd name="adj" fmla="val 9988"/>
            </a:avLst>
          </a:prstGeom>
          <a:solidFill>
            <a:schemeClr val="bg1">
              <a:lumMod val="9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0FE7385-08E6-76AC-4DBC-B1DFCABFE360}"/>
              </a:ext>
            </a:extLst>
          </p:cNvPr>
          <p:cNvSpPr/>
          <p:nvPr/>
        </p:nvSpPr>
        <p:spPr>
          <a:xfrm>
            <a:off x="408191" y="1049474"/>
            <a:ext cx="11351219" cy="1227398"/>
          </a:xfrm>
          <a:prstGeom prst="rect">
            <a:avLst/>
          </a:prstGeom>
          <a:solidFill>
            <a:srgbClr val="E9FBF6">
              <a:alpha val="40000"/>
            </a:srgbClr>
          </a:solidFill>
          <a:ln w="9525">
            <a:solidFill>
              <a:srgbClr val="03A94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5.2 MITRE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D3FEND</a:t>
            </a:r>
            <a:endParaRPr lang="ko-KR" altLang="en-US" sz="24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742466-27A4-12D3-9E33-0992FA7D5BF6}"/>
              </a:ext>
            </a:extLst>
          </p:cNvPr>
          <p:cNvSpPr txBox="1"/>
          <p:nvPr/>
        </p:nvSpPr>
        <p:spPr>
          <a:xfrm>
            <a:off x="605747" y="1469374"/>
            <a:ext cx="1961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 ExtraBold" panose="020B0600000101010101" pitchFamily="50" charset="-127"/>
                <a:ea typeface="NanumSquare ExtraBold" panose="020B0600000101010101" pitchFamily="50" charset="-127"/>
                <a:cs typeface="+mn-cs"/>
              </a:rPr>
              <a:t>MITRE D3FEND</a:t>
            </a:r>
            <a:endParaRPr kumimoji="0" lang="ko-KR" altLang="en-US" sz="1800" b="0" i="0" u="none" strike="noStrike" kern="1200" cap="none" spc="-6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 ExtraBold" panose="020B0600000101010101" pitchFamily="50" charset="-127"/>
              <a:ea typeface="NanumSquare ExtraBold" panose="020B0600000101010101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34376-EC40-BD95-CA85-CDAB5A70ADEF}"/>
              </a:ext>
            </a:extLst>
          </p:cNvPr>
          <p:cNvSpPr txBox="1"/>
          <p:nvPr/>
        </p:nvSpPr>
        <p:spPr>
          <a:xfrm>
            <a:off x="3125283" y="1209337"/>
            <a:ext cx="8460970" cy="847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ts val="2000"/>
              </a:lnSpc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pPr marL="144000" marR="0" lvl="0" indent="-144000" algn="l" defTabSz="914400" rtl="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D3FEND : Detection, Denial, and Disruption Framework Empowering Network Defense</a:t>
            </a:r>
          </a:p>
          <a:p>
            <a:pPr marR="0" lvl="0" algn="l" defTabSz="914400" rtl="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144000" marR="0" lvl="0" indent="-144000" algn="l" defTabSz="914400" rtl="0" eaLnBrk="1" fontAlgn="auto" latinLnBrk="1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사이버보안 대응 방법에 대한 백과사전적 지식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4F72A3-152C-7DD4-8C47-2BE500BA89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00" y="1150806"/>
            <a:ext cx="325260" cy="325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A85EA5-2F56-4EAF-A5E9-AFEAB864DF26}"/>
              </a:ext>
            </a:extLst>
          </p:cNvPr>
          <p:cNvSpPr txBox="1"/>
          <p:nvPr/>
        </p:nvSpPr>
        <p:spPr>
          <a:xfrm>
            <a:off x="605747" y="2662143"/>
            <a:ext cx="112469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개념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800100" marR="0" lvl="1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MITRE D3FEND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는 사이버 공격에 대응하기 위한 방어 기술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(Countermeasure)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을 체계적으로 분류하고 표준화한 기술 지식 베이스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(Knowledge Base)</a:t>
            </a:r>
          </a:p>
          <a:p>
            <a:pPr marL="800100" marR="0" lvl="1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circleNumDbPlain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공격자의 관점을 다루는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ATT&amp;CK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에 대응하여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방어자가 취해야 할 구체적인 기술적 조치를 정립한 프레임워크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457200" marR="0" lvl="1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Tactic</a:t>
            </a:r>
          </a:p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D3FEND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는 단순히 나열된 기술이 아니라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아티팩트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(Artifact)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와 기술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(Technique)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의 관계를 정의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디지털 </a:t>
            </a:r>
            <a:r>
              <a:rPr kumimoji="0" lang="ko-KR" alt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아티팩트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(Digital Artifact):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 네트워크 트래픽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파일 시스템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프로세스 등 공격이 흔적을 남기거나 영향을 주는 대상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742950" marR="0" lvl="1" indent="-2857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기술 전술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(Tactics):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 방어의 목적을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5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가지 대분류로 구분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1257300" marR="0" lvl="2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Model 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모델링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):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 자산 및 시스템 구조 파악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1257300" marR="0" lvl="2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Harden 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강화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):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 공격 표면 최소화 및 취약점 제거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1257300" marR="0" lvl="2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Detect 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탐지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):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 악의적인 활동 식별 및 실시간 모니터링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1257300" marR="0" lvl="2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Isolate 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격리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):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 공격 영향 범위 제한 및 차단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  <a:p>
            <a:pPr marL="1257300" marR="0" lvl="2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Deceive 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기만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):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 가짜 정보를 제공하여 공격자 유인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/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Square" panose="020B0600000101010101" pitchFamily="50" charset="-127"/>
                <a:ea typeface="NanumSquare" panose="020B0600000101010101" pitchFamily="50" charset="-127"/>
                <a:cs typeface="+mn-cs"/>
              </a:rPr>
              <a:t>혼란</a:t>
            </a:r>
          </a:p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anumSquare" panose="020B0600000101010101" pitchFamily="50" charset="-127"/>
              <a:ea typeface="NanumSquare" panose="020B0600000101010101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97568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5.2 MITRE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D3FEND</a:t>
            </a:r>
            <a:endParaRPr lang="ko-KR" altLang="en-US" sz="24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C875761-A9BE-9B29-4A5A-D623DDED06FD}"/>
              </a:ext>
            </a:extLst>
          </p:cNvPr>
          <p:cNvGrpSpPr/>
          <p:nvPr/>
        </p:nvGrpSpPr>
        <p:grpSpPr>
          <a:xfrm>
            <a:off x="446043" y="1195821"/>
            <a:ext cx="11337970" cy="5156910"/>
            <a:chOff x="446043" y="1195821"/>
            <a:chExt cx="11337970" cy="5156910"/>
          </a:xfrm>
        </p:grpSpPr>
        <p:sp>
          <p:nvSpPr>
            <p:cNvPr id="33" name="모서리가 둥근 직사각형 36">
              <a:extLst>
                <a:ext uri="{FF2B5EF4-FFF2-40B4-BE49-F238E27FC236}">
                  <a16:creationId xmlns:a16="http://schemas.microsoft.com/office/drawing/2014/main" id="{CCB21F3D-5A11-4B1D-9A67-9876AC4E0BB5}"/>
                </a:ext>
              </a:extLst>
            </p:cNvPr>
            <p:cNvSpPr/>
            <p:nvPr/>
          </p:nvSpPr>
          <p:spPr>
            <a:xfrm>
              <a:off x="459435" y="1204159"/>
              <a:ext cx="11324578" cy="5148572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6B92A08-476D-A9CD-0AAD-168A9C924BC5}"/>
                </a:ext>
              </a:extLst>
            </p:cNvPr>
            <p:cNvGrpSpPr/>
            <p:nvPr/>
          </p:nvGrpSpPr>
          <p:grpSpPr>
            <a:xfrm>
              <a:off x="446043" y="1195821"/>
              <a:ext cx="11324578" cy="541131"/>
              <a:chOff x="448780" y="1484785"/>
              <a:chExt cx="3414969" cy="461664"/>
            </a:xfrm>
          </p:grpSpPr>
          <p:sp>
            <p:nvSpPr>
              <p:cNvPr id="21" name="Shape 1">
                <a:extLst>
                  <a:ext uri="{FF2B5EF4-FFF2-40B4-BE49-F238E27FC236}">
                    <a16:creationId xmlns:a16="http://schemas.microsoft.com/office/drawing/2014/main" id="{1F1BF88A-9409-60B8-5A96-EA076A8F45A2}"/>
                  </a:ext>
                </a:extLst>
              </p:cNvPr>
              <p:cNvSpPr/>
              <p:nvPr/>
            </p:nvSpPr>
            <p:spPr>
              <a:xfrm>
                <a:off x="448781" y="1484785"/>
                <a:ext cx="3414968" cy="461664"/>
              </a:xfrm>
              <a:prstGeom prst="roundRect">
                <a:avLst>
                  <a:gd name="adj" fmla="val 41867"/>
                </a:avLst>
              </a:prstGeom>
              <a:solidFill>
                <a:srgbClr val="009F0F"/>
              </a:solidFill>
              <a:ln w="12700">
                <a:noFill/>
                <a:prstDash val="solid"/>
              </a:ln>
            </p:spPr>
          </p:sp>
          <p:sp>
            <p:nvSpPr>
              <p:cNvPr id="22" name="Shape 2">
                <a:extLst>
                  <a:ext uri="{FF2B5EF4-FFF2-40B4-BE49-F238E27FC236}">
                    <a16:creationId xmlns:a16="http://schemas.microsoft.com/office/drawing/2014/main" id="{1E374953-EC33-08B6-F02D-F9B3F2B674C5}"/>
                  </a:ext>
                </a:extLst>
              </p:cNvPr>
              <p:cNvSpPr/>
              <p:nvPr/>
            </p:nvSpPr>
            <p:spPr>
              <a:xfrm>
                <a:off x="448780" y="1681786"/>
                <a:ext cx="3414968" cy="264662"/>
              </a:xfrm>
              <a:prstGeom prst="rect">
                <a:avLst/>
              </a:prstGeom>
              <a:solidFill>
                <a:srgbClr val="009F0F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CECEC64-765E-48B2-F414-26A9A8F3A291}"/>
                </a:ext>
              </a:extLst>
            </p:cNvPr>
            <p:cNvSpPr txBox="1"/>
            <p:nvPr/>
          </p:nvSpPr>
          <p:spPr>
            <a:xfrm>
              <a:off x="4616086" y="1310242"/>
              <a:ext cx="3011276" cy="353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6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MITRE D3FEND </a:t>
              </a:r>
              <a:r>
                <a:rPr lang="ko-KR" altLang="en-US" sz="16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활용 방안</a:t>
              </a:r>
              <a:endParaRPr lang="en-US" altLang="ko-KR" sz="1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4" name="TextBox 34">
              <a:extLst>
                <a:ext uri="{FF2B5EF4-FFF2-40B4-BE49-F238E27FC236}">
                  <a16:creationId xmlns:a16="http://schemas.microsoft.com/office/drawing/2014/main" id="{A1D2337F-3B44-595A-F688-2BBD74985618}"/>
                </a:ext>
              </a:extLst>
            </p:cNvPr>
            <p:cNvSpPr txBox="1"/>
            <p:nvPr/>
          </p:nvSpPr>
          <p:spPr>
            <a:xfrm>
              <a:off x="4065441" y="1411068"/>
              <a:ext cx="5134945" cy="333785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l">
                <a:lnSpc>
                  <a:spcPct val="107899"/>
                </a:lnSpc>
              </a:pPr>
              <a:endParaRPr lang="en-US" sz="20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8268164-8545-B0E5-AC3C-9A1AE4C69DE8}"/>
                </a:ext>
              </a:extLst>
            </p:cNvPr>
            <p:cNvSpPr txBox="1"/>
            <p:nvPr/>
          </p:nvSpPr>
          <p:spPr>
            <a:xfrm>
              <a:off x="515070" y="1866418"/>
              <a:ext cx="1094521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SOC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보고서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침해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분석보고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취약점조치권고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내 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‘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공격유형 설명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’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 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‘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요청사항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’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에 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MITRE D3FEND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에서 보호하고자 하는 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artifacts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적용</a:t>
              </a:r>
            </a:p>
          </p:txBody>
        </p:sp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96EC6B5C-CFEC-EE8A-AC39-42CAE5BAC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4635" y="2750377"/>
              <a:ext cx="4991366" cy="2569871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A971E7C1-32D8-0EA9-5BE3-6352890B9D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25945" y="2750377"/>
              <a:ext cx="4991366" cy="2541756"/>
            </a:xfrm>
            <a:prstGeom prst="rect">
              <a:avLst/>
            </a:prstGeom>
          </p:spPr>
        </p:pic>
        <p:pic>
          <p:nvPicPr>
            <p:cNvPr id="34" name="Picture 4">
              <a:extLst>
                <a:ext uri="{FF2B5EF4-FFF2-40B4-BE49-F238E27FC236}">
                  <a16:creationId xmlns:a16="http://schemas.microsoft.com/office/drawing/2014/main" id="{3EB95FA0-92F8-1E86-915F-2221D34F0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09156" y="2248275"/>
              <a:ext cx="10225136" cy="437924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72ABCE1-D704-0BC1-5EE2-45F2D18A9A19}"/>
                </a:ext>
              </a:extLst>
            </p:cNvPr>
            <p:cNvSpPr txBox="1"/>
            <p:nvPr/>
          </p:nvSpPr>
          <p:spPr>
            <a:xfrm>
              <a:off x="4448745" y="2343118"/>
              <a:ext cx="3345958" cy="248238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en-US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MITRE</a:t>
              </a:r>
              <a:r>
                <a:rPr lang="ko-KR" altLang="en-US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 </a:t>
              </a:r>
              <a:r>
                <a:rPr lang="en-US" altLang="ko-KR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D3FEND</a:t>
              </a:r>
              <a:r>
                <a:rPr lang="ko-KR" altLang="en-US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의 </a:t>
              </a:r>
              <a:r>
                <a:rPr lang="en-US" altLang="ko-KR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Artifacts  </a:t>
              </a:r>
              <a:r>
                <a:rPr lang="ko-KR" altLang="en-US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확인 방법</a:t>
              </a:r>
              <a:endParaRPr lang="en-US" sz="1400" b="0" i="0" u="none" strike="noStrike" spc="-1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</p:grpSp>
      <p:sp>
        <p:nvSpPr>
          <p:cNvPr id="5" name="모서리가 둥근 직사각형 24">
            <a:extLst>
              <a:ext uri="{FF2B5EF4-FFF2-40B4-BE49-F238E27FC236}">
                <a16:creationId xmlns:a16="http://schemas.microsoft.com/office/drawing/2014/main" id="{A9FE546E-7D74-E7FA-2FDA-BF00E474A802}"/>
              </a:ext>
            </a:extLst>
          </p:cNvPr>
          <p:cNvSpPr/>
          <p:nvPr/>
        </p:nvSpPr>
        <p:spPr>
          <a:xfrm>
            <a:off x="1089662" y="5432874"/>
            <a:ext cx="10027649" cy="826795"/>
          </a:xfrm>
          <a:prstGeom prst="roundRect">
            <a:avLst>
              <a:gd name="adj" fmla="val 9988"/>
            </a:avLst>
          </a:prstGeom>
          <a:solidFill>
            <a:schemeClr val="bg1">
              <a:lumMod val="95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CDC0F5-D061-D132-DC8B-E8844E6D41BE}"/>
              </a:ext>
            </a:extLst>
          </p:cNvPr>
          <p:cNvSpPr txBox="1"/>
          <p:nvPr/>
        </p:nvSpPr>
        <p:spPr>
          <a:xfrm>
            <a:off x="1089662" y="5446932"/>
            <a:ext cx="10012676" cy="7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MITRE D3FEND 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페이지 접속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hlinkClick r:id="rId6"/>
              </a:rPr>
              <a:t>https://d3fend.mitre.org/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왼쪽 상단의 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ATT&amp;CK Lookup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에서 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MITRE ATT&amp;CK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Technique 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검색</a:t>
            </a:r>
            <a:endParaRPr kumimoji="1" lang="en-US" altLang="ko-KR" sz="13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해당하는 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Technique 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클릭하면 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MITRE ATT&amp;CK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의 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Technique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대응되는 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MITRE D3FEND </a:t>
            </a:r>
            <a:r>
              <a:rPr kumimoji="1" lang="ko-KR" alt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아티팩트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확인 가능</a:t>
            </a:r>
          </a:p>
        </p:txBody>
      </p:sp>
    </p:spTree>
    <p:extLst>
      <p:ext uri="{BB962C8B-B14F-4D97-AF65-F5344CB8AC3E}">
        <p14:creationId xmlns:p14="http://schemas.microsoft.com/office/powerpoint/2010/main" val="17349549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5.2 MITRE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D3FEND</a:t>
            </a:r>
            <a:endParaRPr lang="ko-KR" altLang="en-US" sz="24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227921F-69A2-3284-4D56-DC9089FE92E7}"/>
              </a:ext>
            </a:extLst>
          </p:cNvPr>
          <p:cNvGrpSpPr/>
          <p:nvPr/>
        </p:nvGrpSpPr>
        <p:grpSpPr>
          <a:xfrm>
            <a:off x="446043" y="1201507"/>
            <a:ext cx="11337970" cy="5156910"/>
            <a:chOff x="446043" y="1201507"/>
            <a:chExt cx="11337970" cy="5156910"/>
          </a:xfrm>
        </p:grpSpPr>
        <p:sp>
          <p:nvSpPr>
            <p:cNvPr id="19" name="모서리가 둥근 직사각형 36">
              <a:extLst>
                <a:ext uri="{FF2B5EF4-FFF2-40B4-BE49-F238E27FC236}">
                  <a16:creationId xmlns:a16="http://schemas.microsoft.com/office/drawing/2014/main" id="{6CF9EE38-97A3-5B6F-16B2-6B8A55977939}"/>
                </a:ext>
              </a:extLst>
            </p:cNvPr>
            <p:cNvSpPr/>
            <p:nvPr/>
          </p:nvSpPr>
          <p:spPr>
            <a:xfrm>
              <a:off x="459435" y="1209845"/>
              <a:ext cx="11324578" cy="5148572"/>
            </a:xfrm>
            <a:prstGeom prst="roundRect">
              <a:avLst>
                <a:gd name="adj" fmla="val 4167"/>
              </a:avLst>
            </a:prstGeom>
            <a:solidFill>
              <a:schemeClr val="bg1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36B92A08-476D-A9CD-0AAD-168A9C924BC5}"/>
                </a:ext>
              </a:extLst>
            </p:cNvPr>
            <p:cNvGrpSpPr/>
            <p:nvPr/>
          </p:nvGrpSpPr>
          <p:grpSpPr>
            <a:xfrm>
              <a:off x="446043" y="1201507"/>
              <a:ext cx="11324578" cy="541131"/>
              <a:chOff x="448780" y="1484785"/>
              <a:chExt cx="3414969" cy="461664"/>
            </a:xfrm>
          </p:grpSpPr>
          <p:sp>
            <p:nvSpPr>
              <p:cNvPr id="21" name="Shape 1">
                <a:extLst>
                  <a:ext uri="{FF2B5EF4-FFF2-40B4-BE49-F238E27FC236}">
                    <a16:creationId xmlns:a16="http://schemas.microsoft.com/office/drawing/2014/main" id="{1F1BF88A-9409-60B8-5A96-EA076A8F45A2}"/>
                  </a:ext>
                </a:extLst>
              </p:cNvPr>
              <p:cNvSpPr/>
              <p:nvPr/>
            </p:nvSpPr>
            <p:spPr>
              <a:xfrm>
                <a:off x="448781" y="1484785"/>
                <a:ext cx="3414968" cy="461664"/>
              </a:xfrm>
              <a:prstGeom prst="roundRect">
                <a:avLst>
                  <a:gd name="adj" fmla="val 41867"/>
                </a:avLst>
              </a:prstGeom>
              <a:solidFill>
                <a:srgbClr val="009F0F"/>
              </a:solidFill>
              <a:ln w="12700">
                <a:noFill/>
                <a:prstDash val="solid"/>
              </a:ln>
            </p:spPr>
          </p:sp>
          <p:sp>
            <p:nvSpPr>
              <p:cNvPr id="22" name="Shape 2">
                <a:extLst>
                  <a:ext uri="{FF2B5EF4-FFF2-40B4-BE49-F238E27FC236}">
                    <a16:creationId xmlns:a16="http://schemas.microsoft.com/office/drawing/2014/main" id="{1E374953-EC33-08B6-F02D-F9B3F2B674C5}"/>
                  </a:ext>
                </a:extLst>
              </p:cNvPr>
              <p:cNvSpPr/>
              <p:nvPr/>
            </p:nvSpPr>
            <p:spPr>
              <a:xfrm>
                <a:off x="448780" y="1681786"/>
                <a:ext cx="3414968" cy="264662"/>
              </a:xfrm>
              <a:prstGeom prst="rect">
                <a:avLst/>
              </a:prstGeom>
              <a:solidFill>
                <a:srgbClr val="009F0F"/>
              </a:solidFill>
              <a:ln w="12700">
                <a:noFill/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CECEC64-765E-48B2-F414-26A9A8F3A291}"/>
                </a:ext>
              </a:extLst>
            </p:cNvPr>
            <p:cNvSpPr txBox="1"/>
            <p:nvPr/>
          </p:nvSpPr>
          <p:spPr>
            <a:xfrm>
              <a:off x="4616086" y="1315928"/>
              <a:ext cx="3011276" cy="3538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ko-KR" sz="16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MITRE D3FEND </a:t>
              </a:r>
              <a:r>
                <a:rPr lang="ko-KR" altLang="en-US" sz="1600" dirty="0">
                  <a:solidFill>
                    <a:schemeClr val="bg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활용 방안</a:t>
              </a:r>
              <a:endParaRPr lang="en-US" altLang="ko-KR" sz="16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84" name="TextBox 34">
              <a:extLst>
                <a:ext uri="{FF2B5EF4-FFF2-40B4-BE49-F238E27FC236}">
                  <a16:creationId xmlns:a16="http://schemas.microsoft.com/office/drawing/2014/main" id="{A1D2337F-3B44-595A-F688-2BBD74985618}"/>
                </a:ext>
              </a:extLst>
            </p:cNvPr>
            <p:cNvSpPr txBox="1"/>
            <p:nvPr/>
          </p:nvSpPr>
          <p:spPr>
            <a:xfrm>
              <a:off x="4065441" y="1416754"/>
              <a:ext cx="5134945" cy="333785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l">
                <a:lnSpc>
                  <a:spcPct val="107899"/>
                </a:lnSpc>
              </a:pPr>
              <a:endParaRPr lang="en-US" sz="2000" b="0" i="0" u="none" strike="noStrike" spc="-100" dirty="0">
                <a:solidFill>
                  <a:srgbClr val="000000"/>
                </a:solidFill>
                <a:latin typeface="NanumSquare ExtraBold" panose="020B0600000101010101" pitchFamily="50" charset="-127"/>
                <a:ea typeface="NanumSquare ExtraBold" panose="020B0600000101010101" pitchFamily="50" charset="-127"/>
                <a:cs typeface="Pretendard Bold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3ED5802-8C80-42C2-9B73-EC64712921F3}"/>
                </a:ext>
              </a:extLst>
            </p:cNvPr>
            <p:cNvSpPr txBox="1"/>
            <p:nvPr/>
          </p:nvSpPr>
          <p:spPr>
            <a:xfrm>
              <a:off x="865140" y="1872104"/>
              <a:ext cx="10513168" cy="310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SOC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보고서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(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침해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분석보고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취약점조치권고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)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내 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‘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공격유형 설명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’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및 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‘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요청사항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’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에 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MITRE D3FEND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에서 보호하고자 하는 </a:t>
              </a:r>
              <a:r>
                <a:rPr lang="en-US" altLang="ko-KR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artifacts </a:t>
              </a:r>
              <a:r>
                <a:rPr lang="ko-KR" altLang="en-US" sz="1400" dirty="0"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적용</a:t>
              </a:r>
            </a:p>
          </p:txBody>
        </p:sp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8314F8DE-F0DC-086B-A272-2131358ED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9156" y="2253961"/>
              <a:ext cx="10225136" cy="437924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A2BC6C0-82B4-AF83-A251-C7AD4B4CE586}"/>
                </a:ext>
              </a:extLst>
            </p:cNvPr>
            <p:cNvSpPr txBox="1"/>
            <p:nvPr/>
          </p:nvSpPr>
          <p:spPr>
            <a:xfrm>
              <a:off x="4448745" y="2348804"/>
              <a:ext cx="3345958" cy="248238"/>
            </a:xfrm>
            <a:prstGeom prst="rect">
              <a:avLst/>
            </a:prstGeom>
          </p:spPr>
          <p:txBody>
            <a:bodyPr lIns="0" tIns="18626" rIns="0" bIns="18626" rtlCol="0" anchor="ctr"/>
            <a:lstStyle/>
            <a:p>
              <a:pPr lvl="0" algn="ctr">
                <a:lnSpc>
                  <a:spcPct val="107899"/>
                </a:lnSpc>
              </a:pPr>
              <a:r>
                <a:rPr lang="en-US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MITRE</a:t>
              </a:r>
              <a:r>
                <a:rPr lang="ko-KR" altLang="en-US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 </a:t>
              </a:r>
              <a:r>
                <a:rPr lang="en-US" altLang="ko-KR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D3FEND</a:t>
              </a:r>
              <a:r>
                <a:rPr lang="ko-KR" altLang="en-US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의 </a:t>
              </a:r>
              <a:r>
                <a:rPr lang="en-US" altLang="ko-KR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Artifacts  </a:t>
              </a:r>
              <a:r>
                <a:rPr lang="ko-KR" altLang="en-US" sz="1400" spc="-100" dirty="0">
                  <a:solidFill>
                    <a:srgbClr val="0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Pretendard Bold"/>
                </a:rPr>
                <a:t>적용 방안</a:t>
              </a:r>
              <a:endParaRPr lang="en-US" sz="1400" b="0" i="0" u="none" strike="noStrike" spc="-100" dirty="0"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Pretendard Bold"/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9A73ACF9-FA28-4C82-91D9-563915219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500" y="2746788"/>
            <a:ext cx="6146889" cy="61136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BFA4454-FD2E-4291-A2E6-C7255473CD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4500" y="3702106"/>
            <a:ext cx="6166962" cy="64674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4C61D98-B58E-422B-8F24-8D9A0653BD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3739" y="2718612"/>
            <a:ext cx="3629105" cy="88116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모서리가 둥근 직사각형 24">
            <a:extLst>
              <a:ext uri="{FF2B5EF4-FFF2-40B4-BE49-F238E27FC236}">
                <a16:creationId xmlns:a16="http://schemas.microsoft.com/office/drawing/2014/main" id="{EB1F8B6D-3214-476E-F2A9-2F44722BB3AC}"/>
              </a:ext>
            </a:extLst>
          </p:cNvPr>
          <p:cNvSpPr/>
          <p:nvPr/>
        </p:nvSpPr>
        <p:spPr>
          <a:xfrm>
            <a:off x="1064500" y="5248814"/>
            <a:ext cx="10118344" cy="1010472"/>
          </a:xfrm>
          <a:prstGeom prst="roundRect">
            <a:avLst>
              <a:gd name="adj" fmla="val 13909"/>
            </a:avLst>
          </a:prstGeom>
          <a:solidFill>
            <a:schemeClr val="bg1">
              <a:lumMod val="95000"/>
              <a:alpha val="7294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77C2EC27-BFCD-439B-807A-38F08C2654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3739" y="3854453"/>
            <a:ext cx="3629106" cy="118201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6" name="화살표: 줄무늬가 있는 오른쪽 25">
            <a:extLst>
              <a:ext uri="{FF2B5EF4-FFF2-40B4-BE49-F238E27FC236}">
                <a16:creationId xmlns:a16="http://schemas.microsoft.com/office/drawing/2014/main" id="{1EE46CDC-E93E-47D4-8249-9B7370118BE5}"/>
              </a:ext>
            </a:extLst>
          </p:cNvPr>
          <p:cNvSpPr/>
          <p:nvPr/>
        </p:nvSpPr>
        <p:spPr>
          <a:xfrm rot="5400000">
            <a:off x="3976334" y="3329925"/>
            <a:ext cx="323219" cy="408375"/>
          </a:xfrm>
          <a:prstGeom prst="stripedRightArrow">
            <a:avLst>
              <a:gd name="adj1" fmla="val 50000"/>
              <a:gd name="adj2" fmla="val 49221"/>
            </a:avLst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화살표: 줄무늬가 있는 오른쪽 26">
            <a:extLst>
              <a:ext uri="{FF2B5EF4-FFF2-40B4-BE49-F238E27FC236}">
                <a16:creationId xmlns:a16="http://schemas.microsoft.com/office/drawing/2014/main" id="{7DF8B652-0EA4-460E-A04A-D58A5DBB3285}"/>
              </a:ext>
            </a:extLst>
          </p:cNvPr>
          <p:cNvSpPr/>
          <p:nvPr/>
        </p:nvSpPr>
        <p:spPr>
          <a:xfrm rot="5400000">
            <a:off x="9243828" y="3590544"/>
            <a:ext cx="246335" cy="281482"/>
          </a:xfrm>
          <a:prstGeom prst="stripedRightArrow">
            <a:avLst>
              <a:gd name="adj1" fmla="val 50000"/>
              <a:gd name="adj2" fmla="val 49221"/>
            </a:avLst>
          </a:prstGeom>
          <a:solidFill>
            <a:schemeClr val="accent6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EA3F5-756F-5BE4-BEBE-C28B41E7E2F3}"/>
              </a:ext>
            </a:extLst>
          </p:cNvPr>
          <p:cNvSpPr txBox="1"/>
          <p:nvPr/>
        </p:nvSpPr>
        <p:spPr>
          <a:xfrm>
            <a:off x="1152854" y="5359075"/>
            <a:ext cx="8086216" cy="7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MITRE D3FEND </a:t>
            </a:r>
            <a:r>
              <a:rPr kumimoji="1" lang="ko-KR" alt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아티팩트를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보고서의 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공격유형 설명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 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및 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‘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요청사항</a:t>
            </a:r>
            <a:r>
              <a:rPr kumimoji="1" lang="en-US" altLang="ko-KR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’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 적용</a:t>
            </a:r>
            <a:endParaRPr kumimoji="1" lang="en-US" altLang="ko-KR" sz="13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16033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표준 프레임워크를 인용함으로써 분석가의 주장에 대한 근거 및 신뢰 확보</a:t>
            </a:r>
            <a:endParaRPr kumimoji="1" lang="en-US" altLang="ko-KR" sz="13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342900" indent="-16033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MITRE ATT&amp;CK</a:t>
            </a:r>
            <a:r>
              <a:rPr lang="ko-KR" altLang="en-US" sz="13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의 공격 기법과 직접적으로 </a:t>
            </a:r>
            <a:r>
              <a:rPr lang="ko-KR" altLang="en-US" sz="13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매핑</a:t>
            </a:r>
            <a:r>
              <a:rPr kumimoji="1" lang="ko-KR" altLang="en-US" sz="1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됨으로써</a:t>
            </a:r>
            <a:r>
              <a:rPr kumimoji="1" lang="ko-KR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고객이 방어해야 하는 지점을 명확히 제시</a:t>
            </a:r>
            <a:endParaRPr kumimoji="1" lang="en-US" altLang="ko-KR" sz="1300" dirty="0">
              <a:solidFill>
                <a:schemeClr val="tx1">
                  <a:lumMod val="85000"/>
                  <a:lumOff val="1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9F85B1D-5762-62A8-6222-FAE1E038A971}"/>
              </a:ext>
            </a:extLst>
          </p:cNvPr>
          <p:cNvSpPr/>
          <p:nvPr/>
        </p:nvSpPr>
        <p:spPr>
          <a:xfrm>
            <a:off x="1403899" y="5009836"/>
            <a:ext cx="1272332" cy="365911"/>
          </a:xfrm>
          <a:prstGeom prst="roundRect">
            <a:avLst>
              <a:gd name="adj" fmla="val 50000"/>
            </a:avLst>
          </a:prstGeom>
          <a:solidFill>
            <a:srgbClr val="009F0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NanumSquare" panose="020B0600000101010101" pitchFamily="50" charset="-127"/>
                <a:ea typeface="NanumSquare" panose="020B0600000101010101" pitchFamily="50" charset="-127"/>
              </a:rPr>
              <a:t>기대효과</a:t>
            </a:r>
          </a:p>
        </p:txBody>
      </p:sp>
    </p:spTree>
    <p:extLst>
      <p:ext uri="{BB962C8B-B14F-4D97-AF65-F5344CB8AC3E}">
        <p14:creationId xmlns:p14="http://schemas.microsoft.com/office/powerpoint/2010/main" val="15980496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5.3 Cloud-Native Top 10</a:t>
            </a:r>
            <a:endParaRPr lang="ko-KR" altLang="en-US" sz="2400" b="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E43CC2-3652-DA45-3357-BAB32EEC1B7B}"/>
              </a:ext>
            </a:extLst>
          </p:cNvPr>
          <p:cNvSpPr txBox="1"/>
          <p:nvPr/>
        </p:nvSpPr>
        <p:spPr>
          <a:xfrm>
            <a:off x="651532" y="1198493"/>
            <a:ext cx="10888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네이티브 환경에서는 애플리케이션 취약점</a:t>
            </a: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뿐 아니라 </a:t>
            </a:r>
            <a:endParaRPr lang="en-US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컨테이너, 오케스트레이션, 시크릿, 파이프라인까지 함께 보호해야 한다</a:t>
            </a:r>
          </a:p>
        </p:txBody>
      </p:sp>
      <p:sp>
        <p:nvSpPr>
          <p:cNvPr id="7" name="모서리가 둥근 직사각형 36">
            <a:extLst>
              <a:ext uri="{FF2B5EF4-FFF2-40B4-BE49-F238E27FC236}">
                <a16:creationId xmlns:a16="http://schemas.microsoft.com/office/drawing/2014/main" id="{D3DBF868-E8C3-ECC2-304F-849DB946CD28}"/>
              </a:ext>
            </a:extLst>
          </p:cNvPr>
          <p:cNvSpPr/>
          <p:nvPr/>
        </p:nvSpPr>
        <p:spPr>
          <a:xfrm>
            <a:off x="445936" y="2492139"/>
            <a:ext cx="2210670" cy="1185406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9" name="모서리가 둥근 직사각형 36">
            <a:extLst>
              <a:ext uri="{FF2B5EF4-FFF2-40B4-BE49-F238E27FC236}">
                <a16:creationId xmlns:a16="http://schemas.microsoft.com/office/drawing/2014/main" id="{0723539A-932E-B031-7C7F-5FA75A507E4F}"/>
              </a:ext>
            </a:extLst>
          </p:cNvPr>
          <p:cNvSpPr/>
          <p:nvPr/>
        </p:nvSpPr>
        <p:spPr>
          <a:xfrm>
            <a:off x="455071" y="2132856"/>
            <a:ext cx="2192400" cy="327222"/>
          </a:xfrm>
          <a:prstGeom prst="roundRect">
            <a:avLst>
              <a:gd name="adj" fmla="val 17210"/>
            </a:avLst>
          </a:prstGeom>
          <a:solidFill>
            <a:srgbClr val="00BC12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9D6021-5204-3DB3-0681-39DFF60B8BFC}"/>
              </a:ext>
            </a:extLst>
          </p:cNvPr>
          <p:cNvSpPr txBox="1"/>
          <p:nvPr/>
        </p:nvSpPr>
        <p:spPr>
          <a:xfrm>
            <a:off x="602800" y="2152806"/>
            <a:ext cx="1896943" cy="287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CNAS-1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1" name="Picture 5">
            <a:extLst>
              <a:ext uri="{FF2B5EF4-FFF2-40B4-BE49-F238E27FC236}">
                <a16:creationId xmlns:a16="http://schemas.microsoft.com/office/drawing/2014/main" id="{E617CF39-9662-C88D-1192-A27F898A3A2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96598" y="2802921"/>
            <a:ext cx="2061385" cy="4895"/>
          </a:xfrm>
          <a:prstGeom prst="rect">
            <a:avLst/>
          </a:prstGeom>
        </p:spPr>
      </p:pic>
      <p:sp>
        <p:nvSpPr>
          <p:cNvPr id="12" name="TextBox 31">
            <a:extLst>
              <a:ext uri="{FF2B5EF4-FFF2-40B4-BE49-F238E27FC236}">
                <a16:creationId xmlns:a16="http://schemas.microsoft.com/office/drawing/2014/main" id="{9B84D18E-DC3A-6A70-8158-78F58CD7643D}"/>
              </a:ext>
            </a:extLst>
          </p:cNvPr>
          <p:cNvSpPr txBox="1"/>
          <p:nvPr/>
        </p:nvSpPr>
        <p:spPr>
          <a:xfrm>
            <a:off x="455071" y="2534208"/>
            <a:ext cx="2192400" cy="19880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ko-KR" sz="9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클라우드·컨테이너·오케스트레이션</a:t>
            </a:r>
            <a:r>
              <a:rPr lang="ko-KR" altLang="ko-KR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설정 오류</a:t>
            </a:r>
            <a:endParaRPr lang="en-US" sz="900" b="0" i="0" u="none" strike="noStrike" dirty="0">
              <a:latin typeface="나눔스퀘어" panose="020B0600000101010101" pitchFamily="50" charset="-127"/>
              <a:ea typeface="나눔스퀘어" panose="020B0600000101010101" pitchFamily="50" charset="-127"/>
              <a:cs typeface="Pretendard Bold"/>
            </a:endParaRPr>
          </a:p>
        </p:txBody>
      </p:sp>
      <p:sp>
        <p:nvSpPr>
          <p:cNvPr id="13" name="pt104">
            <a:extLst>
              <a:ext uri="{FF2B5EF4-FFF2-40B4-BE49-F238E27FC236}">
                <a16:creationId xmlns:a16="http://schemas.microsoft.com/office/drawing/2014/main" id="{9F29A450-AF10-14AB-4EC8-994683BAC1A8}"/>
              </a:ext>
            </a:extLst>
          </p:cNvPr>
          <p:cNvSpPr txBox="1"/>
          <p:nvPr/>
        </p:nvSpPr>
        <p:spPr>
          <a:xfrm>
            <a:off x="473965" y="2831450"/>
            <a:ext cx="2154613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S3 공개 버킷, 컨테이너 root 실행, Kubernetes 기본 설정 그대로 사용</a:t>
            </a:r>
          </a:p>
        </p:txBody>
      </p:sp>
      <p:sp>
        <p:nvSpPr>
          <p:cNvPr id="14" name="dt105">
            <a:extLst>
              <a:ext uri="{FF2B5EF4-FFF2-40B4-BE49-F238E27FC236}">
                <a16:creationId xmlns:a16="http://schemas.microsoft.com/office/drawing/2014/main" id="{F40AF221-0433-39F3-970D-65252192BDB1}"/>
              </a:ext>
            </a:extLst>
          </p:cNvPr>
          <p:cNvSpPr txBox="1"/>
          <p:nvPr/>
        </p:nvSpPr>
        <p:spPr>
          <a:xfrm>
            <a:off x="608665" y="3178166"/>
            <a:ext cx="1885212" cy="34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sz="820" b="1" dirty="0">
                <a:solidFill>
                  <a:srgbClr val="C62828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탐지  </a:t>
            </a:r>
            <a:r>
              <a:rPr 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CSPM 자동 탐지, AWS Config Rule 위반, 공개 리소스 정기 스캔</a:t>
            </a:r>
          </a:p>
        </p:txBody>
      </p:sp>
      <p:sp>
        <p:nvSpPr>
          <p:cNvPr id="167" name="모서리가 둥근 직사각형 36">
            <a:extLst>
              <a:ext uri="{FF2B5EF4-FFF2-40B4-BE49-F238E27FC236}">
                <a16:creationId xmlns:a16="http://schemas.microsoft.com/office/drawing/2014/main" id="{09AAC536-3879-4A9D-DDD3-67C4DE8BB8AB}"/>
              </a:ext>
            </a:extLst>
          </p:cNvPr>
          <p:cNvSpPr/>
          <p:nvPr/>
        </p:nvSpPr>
        <p:spPr>
          <a:xfrm>
            <a:off x="2734773" y="2492139"/>
            <a:ext cx="2210670" cy="1185406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8" name="모서리가 둥근 직사각형 36">
            <a:extLst>
              <a:ext uri="{FF2B5EF4-FFF2-40B4-BE49-F238E27FC236}">
                <a16:creationId xmlns:a16="http://schemas.microsoft.com/office/drawing/2014/main" id="{84D0D1E1-991B-69E2-79C6-E510899D471D}"/>
              </a:ext>
            </a:extLst>
          </p:cNvPr>
          <p:cNvSpPr/>
          <p:nvPr/>
        </p:nvSpPr>
        <p:spPr>
          <a:xfrm>
            <a:off x="2743908" y="2132856"/>
            <a:ext cx="2192400" cy="327222"/>
          </a:xfrm>
          <a:prstGeom prst="roundRect">
            <a:avLst>
              <a:gd name="adj" fmla="val 17210"/>
            </a:avLst>
          </a:prstGeom>
          <a:solidFill>
            <a:srgbClr val="154975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1EA8448E-C992-FCE4-0CA2-E799AC2084D9}"/>
              </a:ext>
            </a:extLst>
          </p:cNvPr>
          <p:cNvSpPr txBox="1"/>
          <p:nvPr/>
        </p:nvSpPr>
        <p:spPr>
          <a:xfrm>
            <a:off x="2891637" y="2152806"/>
            <a:ext cx="1896943" cy="287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CNAS-2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70" name="Picture 5">
            <a:extLst>
              <a:ext uri="{FF2B5EF4-FFF2-40B4-BE49-F238E27FC236}">
                <a16:creationId xmlns:a16="http://schemas.microsoft.com/office/drawing/2014/main" id="{28701F3E-8C5B-2D7F-EDA9-3ACE29FC5EA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785435" y="2802921"/>
            <a:ext cx="2061385" cy="4895"/>
          </a:xfrm>
          <a:prstGeom prst="rect">
            <a:avLst/>
          </a:prstGeom>
        </p:spPr>
      </p:pic>
      <p:sp>
        <p:nvSpPr>
          <p:cNvPr id="171" name="TextBox 31">
            <a:extLst>
              <a:ext uri="{FF2B5EF4-FFF2-40B4-BE49-F238E27FC236}">
                <a16:creationId xmlns:a16="http://schemas.microsoft.com/office/drawing/2014/main" id="{B2212D7E-9F86-2425-139A-500E6F52A484}"/>
              </a:ext>
            </a:extLst>
          </p:cNvPr>
          <p:cNvSpPr txBox="1"/>
          <p:nvPr/>
        </p:nvSpPr>
        <p:spPr>
          <a:xfrm>
            <a:off x="2743908" y="2534208"/>
            <a:ext cx="2192400" cy="19880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900" b="1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인젝션</a:t>
            </a: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취약점 </a:t>
            </a:r>
            <a:r>
              <a:rPr lang="en-US" altLang="ko-KR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</a:t>
            </a:r>
            <a:r>
              <a:rPr lang="en-US" altLang="ko-KR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서비스 포함</a:t>
            </a:r>
            <a:r>
              <a:rPr lang="en-US" altLang="ko-KR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endParaRPr lang="en-US" sz="900" b="0" i="0" u="none" strike="noStrike" dirty="0">
              <a:latin typeface="나눔스퀘어" panose="020B0600000101010101" pitchFamily="50" charset="-127"/>
              <a:ea typeface="나눔스퀘어" panose="020B0600000101010101" pitchFamily="50" charset="-127"/>
              <a:cs typeface="Pretendard Bold"/>
            </a:endParaRPr>
          </a:p>
        </p:txBody>
      </p:sp>
      <p:sp>
        <p:nvSpPr>
          <p:cNvPr id="172" name="pt104">
            <a:extLst>
              <a:ext uri="{FF2B5EF4-FFF2-40B4-BE49-F238E27FC236}">
                <a16:creationId xmlns:a16="http://schemas.microsoft.com/office/drawing/2014/main" id="{6A487DDF-35E6-2102-5210-83457BF7AFFF}"/>
              </a:ext>
            </a:extLst>
          </p:cNvPr>
          <p:cNvSpPr txBox="1"/>
          <p:nvPr/>
        </p:nvSpPr>
        <p:spPr>
          <a:xfrm>
            <a:off x="2762802" y="2831450"/>
            <a:ext cx="2154613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서버리스 이벤트 데이터 </a:t>
            </a:r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인젝션</a:t>
            </a:r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클라우드 서비스 파라미터 </a:t>
            </a:r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인젝션</a:t>
            </a:r>
            <a:endParaRPr lang="ko-KR" altLang="ko-KR" sz="87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3" name="dt105">
            <a:extLst>
              <a:ext uri="{FF2B5EF4-FFF2-40B4-BE49-F238E27FC236}">
                <a16:creationId xmlns:a16="http://schemas.microsoft.com/office/drawing/2014/main" id="{518AA7C0-58A9-7F66-2364-A3BA574BC40D}"/>
              </a:ext>
            </a:extLst>
          </p:cNvPr>
          <p:cNvSpPr txBox="1"/>
          <p:nvPr/>
        </p:nvSpPr>
        <p:spPr>
          <a:xfrm>
            <a:off x="2897502" y="3178166"/>
            <a:ext cx="1885212" cy="470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20" b="1" dirty="0">
                <a:solidFill>
                  <a:srgbClr val="D84315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탐지  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WAF 규칙 알림,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Lambda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Function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실행 로그 이상, 비정상 API 파라미터 탐지</a:t>
            </a:r>
          </a:p>
        </p:txBody>
      </p:sp>
      <p:sp>
        <p:nvSpPr>
          <p:cNvPr id="174" name="모서리가 둥근 직사각형 36">
            <a:extLst>
              <a:ext uri="{FF2B5EF4-FFF2-40B4-BE49-F238E27FC236}">
                <a16:creationId xmlns:a16="http://schemas.microsoft.com/office/drawing/2014/main" id="{21E761A5-CA41-6B8F-DAB2-C140B4327FAA}"/>
              </a:ext>
            </a:extLst>
          </p:cNvPr>
          <p:cNvSpPr/>
          <p:nvPr/>
        </p:nvSpPr>
        <p:spPr>
          <a:xfrm>
            <a:off x="5023610" y="2492139"/>
            <a:ext cx="2210670" cy="1185406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5" name="모서리가 둥근 직사각형 36">
            <a:extLst>
              <a:ext uri="{FF2B5EF4-FFF2-40B4-BE49-F238E27FC236}">
                <a16:creationId xmlns:a16="http://schemas.microsoft.com/office/drawing/2014/main" id="{75BDA15F-0816-BBBA-E0A8-C5D267168AE8}"/>
              </a:ext>
            </a:extLst>
          </p:cNvPr>
          <p:cNvSpPr/>
          <p:nvPr/>
        </p:nvSpPr>
        <p:spPr>
          <a:xfrm>
            <a:off x="5032745" y="2132856"/>
            <a:ext cx="2192400" cy="327222"/>
          </a:xfrm>
          <a:prstGeom prst="roundRect">
            <a:avLst>
              <a:gd name="adj" fmla="val 17210"/>
            </a:avLst>
          </a:prstGeom>
          <a:solidFill>
            <a:srgbClr val="00BC12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AC0AABE-A349-70BB-7FC3-1926B854B693}"/>
              </a:ext>
            </a:extLst>
          </p:cNvPr>
          <p:cNvSpPr txBox="1"/>
          <p:nvPr/>
        </p:nvSpPr>
        <p:spPr>
          <a:xfrm>
            <a:off x="5180474" y="2152806"/>
            <a:ext cx="1896943" cy="287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CNAS-3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77" name="Picture 5">
            <a:extLst>
              <a:ext uri="{FF2B5EF4-FFF2-40B4-BE49-F238E27FC236}">
                <a16:creationId xmlns:a16="http://schemas.microsoft.com/office/drawing/2014/main" id="{918F942A-3291-E455-1C4F-FEF1476D3E7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074272" y="2802921"/>
            <a:ext cx="2061385" cy="4895"/>
          </a:xfrm>
          <a:prstGeom prst="rect">
            <a:avLst/>
          </a:prstGeom>
        </p:spPr>
      </p:pic>
      <p:sp>
        <p:nvSpPr>
          <p:cNvPr id="178" name="TextBox 31">
            <a:extLst>
              <a:ext uri="{FF2B5EF4-FFF2-40B4-BE49-F238E27FC236}">
                <a16:creationId xmlns:a16="http://schemas.microsoft.com/office/drawing/2014/main" id="{F0489D9E-B731-7A11-E4B2-B114E7F6D926}"/>
              </a:ext>
            </a:extLst>
          </p:cNvPr>
          <p:cNvSpPr txBox="1"/>
          <p:nvPr/>
        </p:nvSpPr>
        <p:spPr>
          <a:xfrm>
            <a:off x="5032745" y="2534208"/>
            <a:ext cx="2192400" cy="19880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인증</a:t>
            </a:r>
            <a:r>
              <a:rPr lang="en-US" altLang="ko-KR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인가 미흡</a:t>
            </a:r>
            <a:endParaRPr lang="en-US" sz="900" b="0" i="0" u="none" strike="noStrike" dirty="0">
              <a:latin typeface="나눔스퀘어" panose="020B0600000101010101" pitchFamily="50" charset="-127"/>
              <a:ea typeface="나눔스퀘어" panose="020B0600000101010101" pitchFamily="50" charset="-127"/>
              <a:cs typeface="Pretendard Bold"/>
            </a:endParaRPr>
          </a:p>
        </p:txBody>
      </p:sp>
      <p:sp>
        <p:nvSpPr>
          <p:cNvPr id="179" name="pt104">
            <a:extLst>
              <a:ext uri="{FF2B5EF4-FFF2-40B4-BE49-F238E27FC236}">
                <a16:creationId xmlns:a16="http://schemas.microsoft.com/office/drawing/2014/main" id="{209E006B-FC9F-FB1C-6823-317B027A909D}"/>
              </a:ext>
            </a:extLst>
          </p:cNvPr>
          <p:cNvSpPr txBox="1"/>
          <p:nvPr/>
        </p:nvSpPr>
        <p:spPr>
          <a:xfrm>
            <a:off x="5051639" y="2831450"/>
            <a:ext cx="2154613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API </a:t>
            </a:r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엔드포인트</a:t>
            </a:r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인증 누락, IAM 역할 남용, </a:t>
            </a:r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마이크로서비스</a:t>
            </a:r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간 인증 없는 통신</a:t>
            </a:r>
          </a:p>
        </p:txBody>
      </p:sp>
      <p:sp>
        <p:nvSpPr>
          <p:cNvPr id="180" name="dt105">
            <a:extLst>
              <a:ext uri="{FF2B5EF4-FFF2-40B4-BE49-F238E27FC236}">
                <a16:creationId xmlns:a16="http://schemas.microsoft.com/office/drawing/2014/main" id="{B7B6827A-E8A1-8ED7-1910-9D9EAFA14A9F}"/>
              </a:ext>
            </a:extLst>
          </p:cNvPr>
          <p:cNvSpPr txBox="1"/>
          <p:nvPr/>
        </p:nvSpPr>
        <p:spPr>
          <a:xfrm>
            <a:off x="5186339" y="3178166"/>
            <a:ext cx="1885212" cy="470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20" b="1" dirty="0">
                <a:solidFill>
                  <a:srgbClr val="E651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탐지  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IAM 정책 변경 이벤트,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비인증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API 호출 4xx 급증, 서비스 계정 이상 접근 탐지</a:t>
            </a:r>
          </a:p>
        </p:txBody>
      </p:sp>
      <p:sp>
        <p:nvSpPr>
          <p:cNvPr id="181" name="모서리가 둥근 직사각형 36">
            <a:extLst>
              <a:ext uri="{FF2B5EF4-FFF2-40B4-BE49-F238E27FC236}">
                <a16:creationId xmlns:a16="http://schemas.microsoft.com/office/drawing/2014/main" id="{EC4702D7-6A82-521F-7FF5-00EE91DA0A4C}"/>
              </a:ext>
            </a:extLst>
          </p:cNvPr>
          <p:cNvSpPr/>
          <p:nvPr/>
        </p:nvSpPr>
        <p:spPr>
          <a:xfrm>
            <a:off x="7312447" y="2492139"/>
            <a:ext cx="2210670" cy="1185406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2" name="모서리가 둥근 직사각형 36">
            <a:extLst>
              <a:ext uri="{FF2B5EF4-FFF2-40B4-BE49-F238E27FC236}">
                <a16:creationId xmlns:a16="http://schemas.microsoft.com/office/drawing/2014/main" id="{531E0C1A-5D64-CEEA-3EC2-394A5ECF3E39}"/>
              </a:ext>
            </a:extLst>
          </p:cNvPr>
          <p:cNvSpPr/>
          <p:nvPr/>
        </p:nvSpPr>
        <p:spPr>
          <a:xfrm>
            <a:off x="7321582" y="2132856"/>
            <a:ext cx="2192400" cy="327222"/>
          </a:xfrm>
          <a:prstGeom prst="roundRect">
            <a:avLst>
              <a:gd name="adj" fmla="val 17210"/>
            </a:avLst>
          </a:prstGeom>
          <a:solidFill>
            <a:srgbClr val="154975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2AFC51E-EAB5-A557-2A6A-E1968DFC11E5}"/>
              </a:ext>
            </a:extLst>
          </p:cNvPr>
          <p:cNvSpPr txBox="1"/>
          <p:nvPr/>
        </p:nvSpPr>
        <p:spPr>
          <a:xfrm>
            <a:off x="7469311" y="2152806"/>
            <a:ext cx="1896943" cy="287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CNAS-4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84" name="Picture 5">
            <a:extLst>
              <a:ext uri="{FF2B5EF4-FFF2-40B4-BE49-F238E27FC236}">
                <a16:creationId xmlns:a16="http://schemas.microsoft.com/office/drawing/2014/main" id="{DDC8DF52-810B-CCEC-9B04-60B522F0C5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363109" y="2802921"/>
            <a:ext cx="2061385" cy="4895"/>
          </a:xfrm>
          <a:prstGeom prst="rect">
            <a:avLst/>
          </a:prstGeom>
        </p:spPr>
      </p:pic>
      <p:sp>
        <p:nvSpPr>
          <p:cNvPr id="185" name="TextBox 31">
            <a:extLst>
              <a:ext uri="{FF2B5EF4-FFF2-40B4-BE49-F238E27FC236}">
                <a16:creationId xmlns:a16="http://schemas.microsoft.com/office/drawing/2014/main" id="{C7B5BF7E-CD38-E484-3B84-6EC8B0406729}"/>
              </a:ext>
            </a:extLst>
          </p:cNvPr>
          <p:cNvSpPr txBox="1"/>
          <p:nvPr/>
        </p:nvSpPr>
        <p:spPr>
          <a:xfrm>
            <a:off x="7321582" y="2534208"/>
            <a:ext cx="2192400" cy="19880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altLang="ko-KR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CI/CD </a:t>
            </a: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파이프라인</a:t>
            </a:r>
            <a:r>
              <a:rPr lang="en-US" altLang="ko-KR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소프트웨어 공급망 취약점</a:t>
            </a:r>
            <a:endParaRPr lang="en-US" sz="900" b="0" i="0" u="none" strike="noStrike" dirty="0">
              <a:latin typeface="나눔스퀘어" panose="020B0600000101010101" pitchFamily="50" charset="-127"/>
              <a:ea typeface="나눔스퀘어" panose="020B0600000101010101" pitchFamily="50" charset="-127"/>
              <a:cs typeface="Pretendard Bold"/>
            </a:endParaRPr>
          </a:p>
        </p:txBody>
      </p:sp>
      <p:sp>
        <p:nvSpPr>
          <p:cNvPr id="186" name="pt104">
            <a:extLst>
              <a:ext uri="{FF2B5EF4-FFF2-40B4-BE49-F238E27FC236}">
                <a16:creationId xmlns:a16="http://schemas.microsoft.com/office/drawing/2014/main" id="{F5F7FD4E-54DB-F6B8-1874-F60BE68D6D39}"/>
              </a:ext>
            </a:extLst>
          </p:cNvPr>
          <p:cNvSpPr txBox="1"/>
          <p:nvPr/>
        </p:nvSpPr>
        <p:spPr>
          <a:xfrm>
            <a:off x="7340476" y="2831450"/>
            <a:ext cx="2154613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악성 베이스 이미지</a:t>
            </a:r>
            <a:r>
              <a:rPr lang="en-US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레지스트리 인증 미흡</a:t>
            </a:r>
            <a:r>
              <a:rPr lang="en-US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빌드 환경에 시크릿 하드코딩</a:t>
            </a:r>
            <a:endParaRPr lang="ko-KR" sz="870" dirty="0">
              <a:solidFill>
                <a:schemeClr val="tx1">
                  <a:lumMod val="75000"/>
                  <a:lumOff val="25000"/>
                </a:schemeClr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7" name="dt105">
            <a:extLst>
              <a:ext uri="{FF2B5EF4-FFF2-40B4-BE49-F238E27FC236}">
                <a16:creationId xmlns:a16="http://schemas.microsoft.com/office/drawing/2014/main" id="{936CB89D-6A59-6730-F71F-43A007F0F1A8}"/>
              </a:ext>
            </a:extLst>
          </p:cNvPr>
          <p:cNvSpPr txBox="1"/>
          <p:nvPr/>
        </p:nvSpPr>
        <p:spPr>
          <a:xfrm>
            <a:off x="7475176" y="3178166"/>
            <a:ext cx="1885212" cy="470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20" b="1" dirty="0">
                <a:solidFill>
                  <a:srgbClr val="F57F17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탐지  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CI/CD 빌드 이벤트 이상(새 환경변수, 외부 URL 요청), 이미지 서명 검증 실패 알림</a:t>
            </a:r>
          </a:p>
        </p:txBody>
      </p:sp>
      <p:sp>
        <p:nvSpPr>
          <p:cNvPr id="188" name="모서리가 둥근 직사각형 36">
            <a:extLst>
              <a:ext uri="{FF2B5EF4-FFF2-40B4-BE49-F238E27FC236}">
                <a16:creationId xmlns:a16="http://schemas.microsoft.com/office/drawing/2014/main" id="{B6BAC671-30AB-2F2F-3FEB-61A717359956}"/>
              </a:ext>
            </a:extLst>
          </p:cNvPr>
          <p:cNvSpPr/>
          <p:nvPr/>
        </p:nvSpPr>
        <p:spPr>
          <a:xfrm>
            <a:off x="9573254" y="2492139"/>
            <a:ext cx="2210670" cy="1185406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89" name="모서리가 둥근 직사각형 36">
            <a:extLst>
              <a:ext uri="{FF2B5EF4-FFF2-40B4-BE49-F238E27FC236}">
                <a16:creationId xmlns:a16="http://schemas.microsoft.com/office/drawing/2014/main" id="{D3395251-1D10-022F-106E-F09299270DC5}"/>
              </a:ext>
            </a:extLst>
          </p:cNvPr>
          <p:cNvSpPr/>
          <p:nvPr/>
        </p:nvSpPr>
        <p:spPr>
          <a:xfrm>
            <a:off x="9582389" y="2132856"/>
            <a:ext cx="2192400" cy="327222"/>
          </a:xfrm>
          <a:prstGeom prst="roundRect">
            <a:avLst>
              <a:gd name="adj" fmla="val 17210"/>
            </a:avLst>
          </a:prstGeom>
          <a:solidFill>
            <a:srgbClr val="00BC12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2" name="TextBox 31">
            <a:extLst>
              <a:ext uri="{FF2B5EF4-FFF2-40B4-BE49-F238E27FC236}">
                <a16:creationId xmlns:a16="http://schemas.microsoft.com/office/drawing/2014/main" id="{3312F0D1-795E-89E5-9910-05278E7ACA48}"/>
              </a:ext>
            </a:extLst>
          </p:cNvPr>
          <p:cNvSpPr txBox="1"/>
          <p:nvPr/>
        </p:nvSpPr>
        <p:spPr>
          <a:xfrm>
            <a:off x="9582389" y="2534208"/>
            <a:ext cx="2192400" cy="19880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시크릿</a:t>
            </a:r>
            <a:r>
              <a:rPr lang="en-US" altLang="ko-KR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(Secrets) </a:t>
            </a: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 미흡</a:t>
            </a:r>
            <a:endParaRPr lang="en-US" sz="900" b="0" i="0" u="none" strike="noStrike" dirty="0">
              <a:latin typeface="나눔스퀘어" panose="020B0600000101010101" pitchFamily="50" charset="-127"/>
              <a:ea typeface="나눔스퀘어" panose="020B0600000101010101" pitchFamily="50" charset="-127"/>
              <a:cs typeface="Pretendard Bold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D3E51EB9-6D8F-F199-F5BB-AAFFFD1219BC}"/>
              </a:ext>
            </a:extLst>
          </p:cNvPr>
          <p:cNvSpPr txBox="1"/>
          <p:nvPr/>
        </p:nvSpPr>
        <p:spPr>
          <a:xfrm>
            <a:off x="9730118" y="2152806"/>
            <a:ext cx="1896943" cy="287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CNAS-5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191" name="Picture 5">
            <a:extLst>
              <a:ext uri="{FF2B5EF4-FFF2-40B4-BE49-F238E27FC236}">
                <a16:creationId xmlns:a16="http://schemas.microsoft.com/office/drawing/2014/main" id="{7B1CC1B3-CFCF-6D3B-52A8-CF8FA8FC287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23916" y="2802921"/>
            <a:ext cx="2061385" cy="4895"/>
          </a:xfrm>
          <a:prstGeom prst="rect">
            <a:avLst/>
          </a:prstGeom>
        </p:spPr>
      </p:pic>
      <p:sp>
        <p:nvSpPr>
          <p:cNvPr id="193" name="pt104">
            <a:extLst>
              <a:ext uri="{FF2B5EF4-FFF2-40B4-BE49-F238E27FC236}">
                <a16:creationId xmlns:a16="http://schemas.microsoft.com/office/drawing/2014/main" id="{8FD4E648-9A76-1CF9-8B90-D111710F9DC6}"/>
              </a:ext>
            </a:extLst>
          </p:cNvPr>
          <p:cNvSpPr txBox="1"/>
          <p:nvPr/>
        </p:nvSpPr>
        <p:spPr>
          <a:xfrm>
            <a:off x="9601283" y="2831450"/>
            <a:ext cx="2154613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환경변수·코드·컨테이너</a:t>
            </a:r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이미지에 API 키/비밀번호 하드코딩</a:t>
            </a:r>
          </a:p>
        </p:txBody>
      </p:sp>
      <p:sp>
        <p:nvSpPr>
          <p:cNvPr id="194" name="dt105">
            <a:extLst>
              <a:ext uri="{FF2B5EF4-FFF2-40B4-BE49-F238E27FC236}">
                <a16:creationId xmlns:a16="http://schemas.microsoft.com/office/drawing/2014/main" id="{53A34426-93AB-A405-C287-4F89FC232C67}"/>
              </a:ext>
            </a:extLst>
          </p:cNvPr>
          <p:cNvSpPr txBox="1"/>
          <p:nvPr/>
        </p:nvSpPr>
        <p:spPr>
          <a:xfrm>
            <a:off x="9735983" y="3178166"/>
            <a:ext cx="1885212" cy="470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20" b="1" dirty="0">
                <a:solidFill>
                  <a:srgbClr val="558B2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탐지  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코드 저장소 시크릿 스캔(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TruffleHog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GitLeaks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Secrets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Manager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비정상 조회</a:t>
            </a:r>
          </a:p>
        </p:txBody>
      </p:sp>
      <p:sp>
        <p:nvSpPr>
          <p:cNvPr id="200" name="모서리가 둥근 직사각형 36">
            <a:extLst>
              <a:ext uri="{FF2B5EF4-FFF2-40B4-BE49-F238E27FC236}">
                <a16:creationId xmlns:a16="http://schemas.microsoft.com/office/drawing/2014/main" id="{5CC9BF53-0045-E836-9D3A-09ACB8779C68}"/>
              </a:ext>
            </a:extLst>
          </p:cNvPr>
          <p:cNvSpPr/>
          <p:nvPr/>
        </p:nvSpPr>
        <p:spPr>
          <a:xfrm>
            <a:off x="445936" y="4309763"/>
            <a:ext cx="2210670" cy="1185406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1" name="모서리가 둥근 직사각형 36">
            <a:extLst>
              <a:ext uri="{FF2B5EF4-FFF2-40B4-BE49-F238E27FC236}">
                <a16:creationId xmlns:a16="http://schemas.microsoft.com/office/drawing/2014/main" id="{ACA563FD-E4B1-6D5B-4C4D-B6A296773C2E}"/>
              </a:ext>
            </a:extLst>
          </p:cNvPr>
          <p:cNvSpPr/>
          <p:nvPr/>
        </p:nvSpPr>
        <p:spPr>
          <a:xfrm>
            <a:off x="455071" y="3950480"/>
            <a:ext cx="2192400" cy="327222"/>
          </a:xfrm>
          <a:prstGeom prst="roundRect">
            <a:avLst>
              <a:gd name="adj" fmla="val 17210"/>
            </a:avLst>
          </a:prstGeom>
          <a:solidFill>
            <a:srgbClr val="154975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15CD7F73-8889-4EFD-8F20-5AEF7CAEE0FC}"/>
              </a:ext>
            </a:extLst>
          </p:cNvPr>
          <p:cNvSpPr txBox="1"/>
          <p:nvPr/>
        </p:nvSpPr>
        <p:spPr>
          <a:xfrm>
            <a:off x="602800" y="3970430"/>
            <a:ext cx="1896943" cy="287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CNAS-6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03" name="Picture 5">
            <a:extLst>
              <a:ext uri="{FF2B5EF4-FFF2-40B4-BE49-F238E27FC236}">
                <a16:creationId xmlns:a16="http://schemas.microsoft.com/office/drawing/2014/main" id="{FFA76C14-A247-2305-06B9-91E9F6EF4A3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496598" y="4620545"/>
            <a:ext cx="2061385" cy="4895"/>
          </a:xfrm>
          <a:prstGeom prst="rect">
            <a:avLst/>
          </a:prstGeom>
        </p:spPr>
      </p:pic>
      <p:sp>
        <p:nvSpPr>
          <p:cNvPr id="204" name="TextBox 31">
            <a:extLst>
              <a:ext uri="{FF2B5EF4-FFF2-40B4-BE49-F238E27FC236}">
                <a16:creationId xmlns:a16="http://schemas.microsoft.com/office/drawing/2014/main" id="{2AEABBBB-FE36-F706-7CC1-E33DF00B295B}"/>
              </a:ext>
            </a:extLst>
          </p:cNvPr>
          <p:cNvSpPr txBox="1"/>
          <p:nvPr/>
        </p:nvSpPr>
        <p:spPr>
          <a:xfrm>
            <a:off x="455071" y="4351832"/>
            <a:ext cx="2192400" cy="19880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과도하거나 불안전한 네트워크 정책</a:t>
            </a:r>
            <a:endParaRPr lang="en-US" sz="900" b="0" i="0" u="none" strike="noStrike" dirty="0">
              <a:latin typeface="나눔스퀘어" panose="020B0600000101010101" pitchFamily="50" charset="-127"/>
              <a:ea typeface="나눔스퀘어" panose="020B0600000101010101" pitchFamily="50" charset="-127"/>
              <a:cs typeface="Pretendard Bold"/>
            </a:endParaRPr>
          </a:p>
        </p:txBody>
      </p:sp>
      <p:sp>
        <p:nvSpPr>
          <p:cNvPr id="205" name="pt104">
            <a:extLst>
              <a:ext uri="{FF2B5EF4-FFF2-40B4-BE49-F238E27FC236}">
                <a16:creationId xmlns:a16="http://schemas.microsoft.com/office/drawing/2014/main" id="{AA5CE361-4ED0-F3E3-14E0-C1A09CBC6909}"/>
              </a:ext>
            </a:extLst>
          </p:cNvPr>
          <p:cNvSpPr txBox="1"/>
          <p:nvPr/>
        </p:nvSpPr>
        <p:spPr>
          <a:xfrm>
            <a:off x="473965" y="4649074"/>
            <a:ext cx="2154613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마이크로서비스</a:t>
            </a:r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간 통신 무제한 허용, 내부 청구/결제 서비스가 인터넷에 노출</a:t>
            </a:r>
          </a:p>
        </p:txBody>
      </p:sp>
      <p:sp>
        <p:nvSpPr>
          <p:cNvPr id="206" name="dt105">
            <a:extLst>
              <a:ext uri="{FF2B5EF4-FFF2-40B4-BE49-F238E27FC236}">
                <a16:creationId xmlns:a16="http://schemas.microsoft.com/office/drawing/2014/main" id="{33211BC1-1DFB-A3E4-165A-936C23FBCAE9}"/>
              </a:ext>
            </a:extLst>
          </p:cNvPr>
          <p:cNvSpPr txBox="1"/>
          <p:nvPr/>
        </p:nvSpPr>
        <p:spPr>
          <a:xfrm>
            <a:off x="608665" y="4995790"/>
            <a:ext cx="1885212" cy="470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20" b="1" dirty="0">
                <a:solidFill>
                  <a:srgbClr val="2E7D32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탐지  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VPC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Flow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Log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비정상 통신 탐지, K8s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NetworkPolicy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위반, 예상 외 서비스 간 통신</a:t>
            </a:r>
          </a:p>
        </p:txBody>
      </p:sp>
      <p:sp>
        <p:nvSpPr>
          <p:cNvPr id="207" name="모서리가 둥근 직사각형 36">
            <a:extLst>
              <a:ext uri="{FF2B5EF4-FFF2-40B4-BE49-F238E27FC236}">
                <a16:creationId xmlns:a16="http://schemas.microsoft.com/office/drawing/2014/main" id="{792FC774-A704-9DDA-D577-49199ED85C97}"/>
              </a:ext>
            </a:extLst>
          </p:cNvPr>
          <p:cNvSpPr/>
          <p:nvPr/>
        </p:nvSpPr>
        <p:spPr>
          <a:xfrm>
            <a:off x="2734773" y="4309763"/>
            <a:ext cx="2210670" cy="1185406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8" name="모서리가 둥근 직사각형 36">
            <a:extLst>
              <a:ext uri="{FF2B5EF4-FFF2-40B4-BE49-F238E27FC236}">
                <a16:creationId xmlns:a16="http://schemas.microsoft.com/office/drawing/2014/main" id="{8795D887-B5A1-1AF1-5922-5E978AF09FB0}"/>
              </a:ext>
            </a:extLst>
          </p:cNvPr>
          <p:cNvSpPr/>
          <p:nvPr/>
        </p:nvSpPr>
        <p:spPr>
          <a:xfrm>
            <a:off x="2743908" y="3950480"/>
            <a:ext cx="2192400" cy="327222"/>
          </a:xfrm>
          <a:prstGeom prst="roundRect">
            <a:avLst>
              <a:gd name="adj" fmla="val 17210"/>
            </a:avLst>
          </a:prstGeom>
          <a:solidFill>
            <a:srgbClr val="00BC12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261A251A-AB96-E07F-9FD8-110961C45EBC}"/>
              </a:ext>
            </a:extLst>
          </p:cNvPr>
          <p:cNvSpPr txBox="1"/>
          <p:nvPr/>
        </p:nvSpPr>
        <p:spPr>
          <a:xfrm>
            <a:off x="2891637" y="3970430"/>
            <a:ext cx="1896943" cy="287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CNAS-7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10" name="Picture 5">
            <a:extLst>
              <a:ext uri="{FF2B5EF4-FFF2-40B4-BE49-F238E27FC236}">
                <a16:creationId xmlns:a16="http://schemas.microsoft.com/office/drawing/2014/main" id="{E7D70E0B-B596-8792-B8D4-462C46F5477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2785435" y="4620545"/>
            <a:ext cx="2061385" cy="4895"/>
          </a:xfrm>
          <a:prstGeom prst="rect">
            <a:avLst/>
          </a:prstGeom>
        </p:spPr>
      </p:pic>
      <p:sp>
        <p:nvSpPr>
          <p:cNvPr id="211" name="TextBox 31">
            <a:extLst>
              <a:ext uri="{FF2B5EF4-FFF2-40B4-BE49-F238E27FC236}">
                <a16:creationId xmlns:a16="http://schemas.microsoft.com/office/drawing/2014/main" id="{159ED295-DCFC-225F-1763-91E0375D293E}"/>
              </a:ext>
            </a:extLst>
          </p:cNvPr>
          <p:cNvSpPr txBox="1"/>
          <p:nvPr/>
        </p:nvSpPr>
        <p:spPr>
          <a:xfrm>
            <a:off x="2743908" y="4351832"/>
            <a:ext cx="2192400" cy="19880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알려진 취약점이 있는 컴포넌트 사용</a:t>
            </a:r>
            <a:endParaRPr lang="en-US" sz="900" b="0" i="0" u="none" strike="noStrike" dirty="0">
              <a:latin typeface="나눔스퀘어" panose="020B0600000101010101" pitchFamily="50" charset="-127"/>
              <a:ea typeface="나눔스퀘어" panose="020B0600000101010101" pitchFamily="50" charset="-127"/>
              <a:cs typeface="Pretendard Bold"/>
            </a:endParaRPr>
          </a:p>
        </p:txBody>
      </p:sp>
      <p:sp>
        <p:nvSpPr>
          <p:cNvPr id="212" name="pt104">
            <a:extLst>
              <a:ext uri="{FF2B5EF4-FFF2-40B4-BE49-F238E27FC236}">
                <a16:creationId xmlns:a16="http://schemas.microsoft.com/office/drawing/2014/main" id="{A2AB94CC-7CC2-D735-498F-DCA15388D57A}"/>
              </a:ext>
            </a:extLst>
          </p:cNvPr>
          <p:cNvSpPr txBox="1"/>
          <p:nvPr/>
        </p:nvSpPr>
        <p:spPr>
          <a:xfrm>
            <a:off x="2762802" y="4649074"/>
            <a:ext cx="2154613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구버전</a:t>
            </a:r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컨테이너 이미지, 취약한 오픈소스 라이브러리 — Log4Shell 등 전파 가능</a:t>
            </a:r>
          </a:p>
        </p:txBody>
      </p:sp>
      <p:sp>
        <p:nvSpPr>
          <p:cNvPr id="213" name="dt105">
            <a:extLst>
              <a:ext uri="{FF2B5EF4-FFF2-40B4-BE49-F238E27FC236}">
                <a16:creationId xmlns:a16="http://schemas.microsoft.com/office/drawing/2014/main" id="{7074DF30-78CF-0C0B-39CB-3BDD591630AE}"/>
              </a:ext>
            </a:extLst>
          </p:cNvPr>
          <p:cNvSpPr txBox="1"/>
          <p:nvPr/>
        </p:nvSpPr>
        <p:spPr>
          <a:xfrm>
            <a:off x="2897502" y="4995790"/>
            <a:ext cx="1885212" cy="470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20" b="1" dirty="0">
                <a:solidFill>
                  <a:srgbClr val="1565C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탐지  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컨테이너 이미지 스캔(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Trivy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Grype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), CVE 신규 등록 시 영향 자산 자동 조회</a:t>
            </a:r>
          </a:p>
        </p:txBody>
      </p:sp>
      <p:sp>
        <p:nvSpPr>
          <p:cNvPr id="214" name="모서리가 둥근 직사각형 36">
            <a:extLst>
              <a:ext uri="{FF2B5EF4-FFF2-40B4-BE49-F238E27FC236}">
                <a16:creationId xmlns:a16="http://schemas.microsoft.com/office/drawing/2014/main" id="{2CEE0647-27A2-CF13-2D3B-E42F8902A8BB}"/>
              </a:ext>
            </a:extLst>
          </p:cNvPr>
          <p:cNvSpPr/>
          <p:nvPr/>
        </p:nvSpPr>
        <p:spPr>
          <a:xfrm>
            <a:off x="5023610" y="4309763"/>
            <a:ext cx="2210670" cy="1185406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5" name="모서리가 둥근 직사각형 36">
            <a:extLst>
              <a:ext uri="{FF2B5EF4-FFF2-40B4-BE49-F238E27FC236}">
                <a16:creationId xmlns:a16="http://schemas.microsoft.com/office/drawing/2014/main" id="{9F00A16A-268F-F21B-71EA-ABAFD9007CA1}"/>
              </a:ext>
            </a:extLst>
          </p:cNvPr>
          <p:cNvSpPr/>
          <p:nvPr/>
        </p:nvSpPr>
        <p:spPr>
          <a:xfrm>
            <a:off x="5032745" y="3950480"/>
            <a:ext cx="2192400" cy="327222"/>
          </a:xfrm>
          <a:prstGeom prst="roundRect">
            <a:avLst>
              <a:gd name="adj" fmla="val 17210"/>
            </a:avLst>
          </a:prstGeom>
          <a:solidFill>
            <a:srgbClr val="154975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C33D65D7-6296-102E-31A1-1F73006EFCE3}"/>
              </a:ext>
            </a:extLst>
          </p:cNvPr>
          <p:cNvSpPr txBox="1"/>
          <p:nvPr/>
        </p:nvSpPr>
        <p:spPr>
          <a:xfrm>
            <a:off x="5180474" y="3970430"/>
            <a:ext cx="1896943" cy="287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CNAS-8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17" name="Picture 5">
            <a:extLst>
              <a:ext uri="{FF2B5EF4-FFF2-40B4-BE49-F238E27FC236}">
                <a16:creationId xmlns:a16="http://schemas.microsoft.com/office/drawing/2014/main" id="{966596A0-EB19-3374-EC3C-51BA5E077B5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5074272" y="4620545"/>
            <a:ext cx="2061385" cy="4895"/>
          </a:xfrm>
          <a:prstGeom prst="rect">
            <a:avLst/>
          </a:prstGeom>
        </p:spPr>
      </p:pic>
      <p:sp>
        <p:nvSpPr>
          <p:cNvPr id="218" name="TextBox 31">
            <a:extLst>
              <a:ext uri="{FF2B5EF4-FFF2-40B4-BE49-F238E27FC236}">
                <a16:creationId xmlns:a16="http://schemas.microsoft.com/office/drawing/2014/main" id="{7CD8CEEE-F8EE-D1C9-0286-D6146B9D2DB0}"/>
              </a:ext>
            </a:extLst>
          </p:cNvPr>
          <p:cNvSpPr txBox="1"/>
          <p:nvPr/>
        </p:nvSpPr>
        <p:spPr>
          <a:xfrm>
            <a:off x="5032745" y="4351832"/>
            <a:ext cx="2192400" cy="19880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자산 관리 미흡 </a:t>
            </a:r>
            <a:r>
              <a:rPr lang="en-US" altLang="ko-KR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(Shadow IT)</a:t>
            </a:r>
            <a:endParaRPr lang="en-US" sz="900" b="0" i="0" u="none" strike="noStrike" dirty="0">
              <a:latin typeface="나눔스퀘어" panose="020B0600000101010101" pitchFamily="50" charset="-127"/>
              <a:ea typeface="나눔스퀘어" panose="020B0600000101010101" pitchFamily="50" charset="-127"/>
              <a:cs typeface="Pretendard Bold"/>
            </a:endParaRPr>
          </a:p>
        </p:txBody>
      </p:sp>
      <p:sp>
        <p:nvSpPr>
          <p:cNvPr id="219" name="pt104">
            <a:extLst>
              <a:ext uri="{FF2B5EF4-FFF2-40B4-BE49-F238E27FC236}">
                <a16:creationId xmlns:a16="http://schemas.microsoft.com/office/drawing/2014/main" id="{ECD4CF62-1188-B4B6-E2F4-495E53928B81}"/>
              </a:ext>
            </a:extLst>
          </p:cNvPr>
          <p:cNvSpPr txBox="1"/>
          <p:nvPr/>
        </p:nvSpPr>
        <p:spPr>
          <a:xfrm>
            <a:off x="5051639" y="4649074"/>
            <a:ext cx="2154613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잊혀진 EC2·Lambda·스토리지, 미사용 </a:t>
            </a:r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리전</a:t>
            </a:r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리소스 — 추적 안 되는 자산</a:t>
            </a:r>
          </a:p>
        </p:txBody>
      </p:sp>
      <p:sp>
        <p:nvSpPr>
          <p:cNvPr id="220" name="dt105">
            <a:extLst>
              <a:ext uri="{FF2B5EF4-FFF2-40B4-BE49-F238E27FC236}">
                <a16:creationId xmlns:a16="http://schemas.microsoft.com/office/drawing/2014/main" id="{781A993E-4842-D502-F586-442F43092345}"/>
              </a:ext>
            </a:extLst>
          </p:cNvPr>
          <p:cNvSpPr txBox="1"/>
          <p:nvPr/>
        </p:nvSpPr>
        <p:spPr>
          <a:xfrm>
            <a:off x="5186339" y="4995790"/>
            <a:ext cx="1885212" cy="470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20" b="1" dirty="0">
                <a:solidFill>
                  <a:srgbClr val="283593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탐지  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CSPM 전체 자산 인벤토리, 미사용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리전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리소스 주기 스캔, 태그 미적용 리소스 탐지</a:t>
            </a:r>
          </a:p>
        </p:txBody>
      </p:sp>
      <p:sp>
        <p:nvSpPr>
          <p:cNvPr id="221" name="모서리가 둥근 직사각형 36">
            <a:extLst>
              <a:ext uri="{FF2B5EF4-FFF2-40B4-BE49-F238E27FC236}">
                <a16:creationId xmlns:a16="http://schemas.microsoft.com/office/drawing/2014/main" id="{EE0B4CE7-1C11-07BD-C7D8-E90508C911B7}"/>
              </a:ext>
            </a:extLst>
          </p:cNvPr>
          <p:cNvSpPr/>
          <p:nvPr/>
        </p:nvSpPr>
        <p:spPr>
          <a:xfrm>
            <a:off x="7312447" y="4309763"/>
            <a:ext cx="2210670" cy="1185406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2" name="모서리가 둥근 직사각형 36">
            <a:extLst>
              <a:ext uri="{FF2B5EF4-FFF2-40B4-BE49-F238E27FC236}">
                <a16:creationId xmlns:a16="http://schemas.microsoft.com/office/drawing/2014/main" id="{8C0287B2-0B88-0929-7C4B-1936C0EB9563}"/>
              </a:ext>
            </a:extLst>
          </p:cNvPr>
          <p:cNvSpPr/>
          <p:nvPr/>
        </p:nvSpPr>
        <p:spPr>
          <a:xfrm>
            <a:off x="7321582" y="3950480"/>
            <a:ext cx="2192400" cy="327222"/>
          </a:xfrm>
          <a:prstGeom prst="roundRect">
            <a:avLst>
              <a:gd name="adj" fmla="val 17210"/>
            </a:avLst>
          </a:prstGeom>
          <a:solidFill>
            <a:srgbClr val="00BC12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3" name="TextBox 222">
            <a:extLst>
              <a:ext uri="{FF2B5EF4-FFF2-40B4-BE49-F238E27FC236}">
                <a16:creationId xmlns:a16="http://schemas.microsoft.com/office/drawing/2014/main" id="{700C9F58-B69D-9C60-319C-0EFEE0A075DA}"/>
              </a:ext>
            </a:extLst>
          </p:cNvPr>
          <p:cNvSpPr txBox="1"/>
          <p:nvPr/>
        </p:nvSpPr>
        <p:spPr>
          <a:xfrm>
            <a:off x="7469311" y="3970430"/>
            <a:ext cx="1896943" cy="287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CNAS-9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24" name="Picture 5">
            <a:extLst>
              <a:ext uri="{FF2B5EF4-FFF2-40B4-BE49-F238E27FC236}">
                <a16:creationId xmlns:a16="http://schemas.microsoft.com/office/drawing/2014/main" id="{7DF137F8-E901-B273-4561-C4D5BD5511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7363109" y="4620545"/>
            <a:ext cx="2061385" cy="4895"/>
          </a:xfrm>
          <a:prstGeom prst="rect">
            <a:avLst/>
          </a:prstGeom>
        </p:spPr>
      </p:pic>
      <p:sp>
        <p:nvSpPr>
          <p:cNvPr id="225" name="TextBox 31">
            <a:extLst>
              <a:ext uri="{FF2B5EF4-FFF2-40B4-BE49-F238E27FC236}">
                <a16:creationId xmlns:a16="http://schemas.microsoft.com/office/drawing/2014/main" id="{A6A86BAE-ED67-5854-FF3B-162795389B29}"/>
              </a:ext>
            </a:extLst>
          </p:cNvPr>
          <p:cNvSpPr txBox="1"/>
          <p:nvPr/>
        </p:nvSpPr>
        <p:spPr>
          <a:xfrm>
            <a:off x="7321582" y="4351832"/>
            <a:ext cx="2192400" cy="19880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컴퓨팅 리소스 할당량 제한 미흡</a:t>
            </a:r>
            <a:endParaRPr lang="en-US" sz="900" b="0" i="0" u="none" strike="noStrike" dirty="0">
              <a:latin typeface="나눔스퀘어" panose="020B0600000101010101" pitchFamily="50" charset="-127"/>
              <a:ea typeface="나눔스퀘어" panose="020B0600000101010101" pitchFamily="50" charset="-127"/>
              <a:cs typeface="Pretendard Bold"/>
            </a:endParaRPr>
          </a:p>
        </p:txBody>
      </p:sp>
      <p:sp>
        <p:nvSpPr>
          <p:cNvPr id="226" name="pt104">
            <a:extLst>
              <a:ext uri="{FF2B5EF4-FFF2-40B4-BE49-F238E27FC236}">
                <a16:creationId xmlns:a16="http://schemas.microsoft.com/office/drawing/2014/main" id="{F6C1B89E-7A06-56AF-D9C8-62DA18BC171F}"/>
              </a:ext>
            </a:extLst>
          </p:cNvPr>
          <p:cNvSpPr txBox="1"/>
          <p:nvPr/>
        </p:nvSpPr>
        <p:spPr>
          <a:xfrm>
            <a:off x="7340476" y="4649074"/>
            <a:ext cx="2154613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컨테이너/</a:t>
            </a:r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API에</a:t>
            </a:r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리소스 한도 </a:t>
            </a:r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미설정</a:t>
            </a:r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시 </a:t>
            </a:r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DoS·과금</a:t>
            </a:r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폭탄 — </a:t>
            </a:r>
            <a:r>
              <a:rPr lang="ko-KR" altLang="ko-KR" sz="87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코인마이닝</a:t>
            </a:r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등 가능</a:t>
            </a:r>
          </a:p>
        </p:txBody>
      </p:sp>
      <p:sp>
        <p:nvSpPr>
          <p:cNvPr id="227" name="dt105">
            <a:extLst>
              <a:ext uri="{FF2B5EF4-FFF2-40B4-BE49-F238E27FC236}">
                <a16:creationId xmlns:a16="http://schemas.microsoft.com/office/drawing/2014/main" id="{2121464B-7E98-7B8E-75B8-0609F16D7B14}"/>
              </a:ext>
            </a:extLst>
          </p:cNvPr>
          <p:cNvSpPr txBox="1"/>
          <p:nvPr/>
        </p:nvSpPr>
        <p:spPr>
          <a:xfrm>
            <a:off x="7475176" y="4995790"/>
            <a:ext cx="1885212" cy="34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20" b="1" dirty="0">
                <a:solidFill>
                  <a:srgbClr val="4527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탐지 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CloudWatch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비정상 CPU/메모리 급증 알림, 예상 외 과금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경계값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알림</a:t>
            </a:r>
          </a:p>
        </p:txBody>
      </p:sp>
      <p:sp>
        <p:nvSpPr>
          <p:cNvPr id="228" name="모서리가 둥근 직사각형 36">
            <a:extLst>
              <a:ext uri="{FF2B5EF4-FFF2-40B4-BE49-F238E27FC236}">
                <a16:creationId xmlns:a16="http://schemas.microsoft.com/office/drawing/2014/main" id="{D265442D-8002-8AED-A4BF-35FA47A91714}"/>
              </a:ext>
            </a:extLst>
          </p:cNvPr>
          <p:cNvSpPr/>
          <p:nvPr/>
        </p:nvSpPr>
        <p:spPr>
          <a:xfrm>
            <a:off x="9573254" y="4309763"/>
            <a:ext cx="2210670" cy="1185406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29" name="모서리가 둥근 직사각형 36">
            <a:extLst>
              <a:ext uri="{FF2B5EF4-FFF2-40B4-BE49-F238E27FC236}">
                <a16:creationId xmlns:a16="http://schemas.microsoft.com/office/drawing/2014/main" id="{921ED7CE-5EB3-1674-F8A0-04541C9ED5C0}"/>
              </a:ext>
            </a:extLst>
          </p:cNvPr>
          <p:cNvSpPr/>
          <p:nvPr/>
        </p:nvSpPr>
        <p:spPr>
          <a:xfrm>
            <a:off x="9582389" y="3950480"/>
            <a:ext cx="2192400" cy="327222"/>
          </a:xfrm>
          <a:prstGeom prst="roundRect">
            <a:avLst>
              <a:gd name="adj" fmla="val 17210"/>
            </a:avLst>
          </a:prstGeom>
          <a:solidFill>
            <a:srgbClr val="154975"/>
          </a:solidFill>
          <a:ln>
            <a:noFill/>
          </a:ln>
          <a:effectLst>
            <a:outerShdw blurRad="317500" sx="102000" sy="102000" algn="ctr" rotWithShape="0">
              <a:schemeClr val="bg1">
                <a:lumMod val="75000"/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30" name="TextBox 31">
            <a:extLst>
              <a:ext uri="{FF2B5EF4-FFF2-40B4-BE49-F238E27FC236}">
                <a16:creationId xmlns:a16="http://schemas.microsoft.com/office/drawing/2014/main" id="{B53FF33E-8C9B-9DA5-0C0F-8301317BFED1}"/>
              </a:ext>
            </a:extLst>
          </p:cNvPr>
          <p:cNvSpPr txBox="1"/>
          <p:nvPr/>
        </p:nvSpPr>
        <p:spPr>
          <a:xfrm>
            <a:off x="9582389" y="4351832"/>
            <a:ext cx="2192400" cy="19880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9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로깅 및 모니터링 미흡</a:t>
            </a:r>
            <a:endParaRPr lang="en-US" sz="900" b="0" i="0" u="none" strike="noStrike" dirty="0">
              <a:latin typeface="나눔스퀘어" panose="020B0600000101010101" pitchFamily="50" charset="-127"/>
              <a:ea typeface="나눔스퀘어" panose="020B0600000101010101" pitchFamily="50" charset="-127"/>
              <a:cs typeface="Pretendard Bold"/>
            </a:endParaRP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010E2BFE-3943-588C-12C9-BF2E13F70943}"/>
              </a:ext>
            </a:extLst>
          </p:cNvPr>
          <p:cNvSpPr txBox="1"/>
          <p:nvPr/>
        </p:nvSpPr>
        <p:spPr>
          <a:xfrm>
            <a:off x="9730118" y="3970430"/>
            <a:ext cx="1896943" cy="287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R" sz="1200" dirty="0">
                <a:solidFill>
                  <a:srgbClr val="FFFFF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CNAS-10</a:t>
            </a:r>
            <a:endParaRPr lang="en-US" altLang="ko-KR" sz="12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232" name="Picture 5">
            <a:extLst>
              <a:ext uri="{FF2B5EF4-FFF2-40B4-BE49-F238E27FC236}">
                <a16:creationId xmlns:a16="http://schemas.microsoft.com/office/drawing/2014/main" id="{1FE006A5-4E87-ED36-495B-12EDDF2F942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9623916" y="4620545"/>
            <a:ext cx="2061385" cy="4895"/>
          </a:xfrm>
          <a:prstGeom prst="rect">
            <a:avLst/>
          </a:prstGeom>
        </p:spPr>
      </p:pic>
      <p:sp>
        <p:nvSpPr>
          <p:cNvPr id="233" name="pt104">
            <a:extLst>
              <a:ext uri="{FF2B5EF4-FFF2-40B4-BE49-F238E27FC236}">
                <a16:creationId xmlns:a16="http://schemas.microsoft.com/office/drawing/2014/main" id="{26F0CBFA-7617-C485-A9D0-9926A657C44B}"/>
              </a:ext>
            </a:extLst>
          </p:cNvPr>
          <p:cNvSpPr txBox="1"/>
          <p:nvPr/>
        </p:nvSpPr>
        <p:spPr>
          <a:xfrm>
            <a:off x="9601283" y="4649074"/>
            <a:ext cx="2154613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7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런타임 모니터링 없음, 네트워크 트래픽 가시성 없음 — 침해 9개 탐지 불가</a:t>
            </a:r>
          </a:p>
        </p:txBody>
      </p:sp>
      <p:sp>
        <p:nvSpPr>
          <p:cNvPr id="234" name="dt105">
            <a:extLst>
              <a:ext uri="{FF2B5EF4-FFF2-40B4-BE49-F238E27FC236}">
                <a16:creationId xmlns:a16="http://schemas.microsoft.com/office/drawing/2014/main" id="{667EFDA3-7F3A-7386-0A4B-2C1474A463B2}"/>
              </a:ext>
            </a:extLst>
          </p:cNvPr>
          <p:cNvSpPr txBox="1"/>
          <p:nvPr/>
        </p:nvSpPr>
        <p:spPr>
          <a:xfrm>
            <a:off x="9735983" y="4995790"/>
            <a:ext cx="1885212" cy="59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ko-KR" sz="820" b="1" dirty="0">
                <a:solidFill>
                  <a:srgbClr val="37474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탐지  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로그 파이프라인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웹스체크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CloudTrail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/VPC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Flow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ko-KR" sz="82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Log</a:t>
            </a:r>
            <a:r>
              <a:rPr lang="ko-KR" altLang="ko-KR" sz="820" dirty="0">
                <a:solidFill>
                  <a:schemeClr val="tx1">
                    <a:lumMod val="60000"/>
                    <a:lumOff val="4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 수집 중단 즉시 알림, SIEM 이벤트 유입량 모니터링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F37B919-DD1C-738E-49B3-98FA244DDFEB}"/>
              </a:ext>
            </a:extLst>
          </p:cNvPr>
          <p:cNvSpPr/>
          <p:nvPr/>
        </p:nvSpPr>
        <p:spPr>
          <a:xfrm>
            <a:off x="500550" y="5707704"/>
            <a:ext cx="11376073" cy="300291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82AEEC-D6C9-3F06-DCCF-B6437454E604}"/>
              </a:ext>
            </a:extLst>
          </p:cNvPr>
          <p:cNvSpPr txBox="1"/>
          <p:nvPr/>
        </p:nvSpPr>
        <p:spPr>
          <a:xfrm>
            <a:off x="496598" y="5687216"/>
            <a:ext cx="11043870" cy="3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400">
                <a:latin typeface="NanumSquare" panose="020B0600000101010101" pitchFamily="50" charset="-127"/>
                <a:ea typeface="NanumSquare" panose="020B0600000101010101" pitchFamily="50" charset="-127"/>
              </a:defRPr>
            </a:lvl1pPr>
          </a:lstStyle>
          <a:p>
            <a:r>
              <a:rPr lang="en-US" altLang="ko-KR" sz="10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Cloud-Native Top 10</a:t>
            </a:r>
            <a:r>
              <a:rPr lang="en-US" altLang="ko-KR" sz="1000" dirty="0"/>
              <a:t>: OWASP</a:t>
            </a:r>
            <a:r>
              <a:rPr lang="ko-KR" altLang="en-US" sz="1000" dirty="0"/>
              <a:t>에서 클라우드 환경에서 발생하는 주요 보안 위험 </a:t>
            </a:r>
            <a:r>
              <a:rPr lang="en-US" altLang="ko-KR" sz="1000" dirty="0"/>
              <a:t>Top 10</a:t>
            </a:r>
            <a:r>
              <a:rPr lang="ko-KR" altLang="en-US" sz="1000" dirty="0"/>
              <a:t>을 정리한 기준</a:t>
            </a:r>
            <a:endParaRPr lang="en-US" altLang="ko-KR" sz="1000" dirty="0"/>
          </a:p>
        </p:txBody>
      </p:sp>
    </p:spTree>
    <p:extLst>
      <p:ext uri="{BB962C8B-B14F-4D97-AF65-F5344CB8AC3E}">
        <p14:creationId xmlns:p14="http://schemas.microsoft.com/office/powerpoint/2010/main" val="15077738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975A497-0931-134C-5875-3480CD270820}"/>
              </a:ext>
            </a:extLst>
          </p:cNvPr>
          <p:cNvSpPr/>
          <p:nvPr/>
        </p:nvSpPr>
        <p:spPr>
          <a:xfrm>
            <a:off x="694198" y="1058054"/>
            <a:ext cx="10427527" cy="589679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제목 1">
            <a:extLst>
              <a:ext uri="{FF2B5EF4-FFF2-40B4-BE49-F238E27FC236}">
                <a16:creationId xmlns:a16="http://schemas.microsoft.com/office/drawing/2014/main" id="{DCF82A72-F056-50C8-4DC1-AA2444FA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0" y="298450"/>
            <a:ext cx="11518900" cy="461665"/>
          </a:xfrm>
        </p:spPr>
        <p:txBody>
          <a:bodyPr/>
          <a:lstStyle/>
          <a:p>
            <a:pPr>
              <a:defRPr/>
            </a:pPr>
            <a:r>
              <a:rPr lang="en-US" altLang="ko-KR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6. </a:t>
            </a:r>
            <a:r>
              <a:rPr lang="ko-KR" altLang="en-US" sz="2400" b="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89E703-1D11-211F-B956-E96EBC5E171C}"/>
              </a:ext>
            </a:extLst>
          </p:cNvPr>
          <p:cNvSpPr txBox="1"/>
          <p:nvPr/>
        </p:nvSpPr>
        <p:spPr>
          <a:xfrm>
            <a:off x="759833" y="1184757"/>
            <a:ext cx="10361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클라우드 보안의 </a:t>
            </a:r>
            <a:r>
              <a:rPr lang="ko-KR" altLang="en-US" sz="18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핵심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은 인프라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뿐만 아니라</a:t>
            </a:r>
            <a:r>
              <a:rPr lang="en-US" altLang="ko-KR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8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접근</a:t>
            </a:r>
            <a:r>
              <a:rPr lang="en-US" altLang="ko-KR" sz="18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18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설정</a:t>
            </a:r>
            <a:r>
              <a:rPr lang="en-US" altLang="ko-KR" sz="18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·</a:t>
            </a:r>
            <a:r>
              <a:rPr lang="ko-KR" altLang="en-US" sz="18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행위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지속적인 </a:t>
            </a:r>
            <a:r>
              <a:rPr lang="ko-KR" altLang="en-US" sz="18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검증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 </a:t>
            </a:r>
            <a:r>
              <a:rPr lang="ko-KR" altLang="en-US" sz="1800" dirty="0">
                <a:solidFill>
                  <a:srgbClr val="00B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추적</a:t>
            </a:r>
            <a:r>
              <a:rPr lang="ko-KR" altLang="en-US" sz="1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하는 것이</a:t>
            </a:r>
            <a:r>
              <a:rPr lang="ko-KR" altLang="en-US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</a:t>
            </a:r>
            <a:r>
              <a:rPr lang="en-US" altLang="ko-KR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1800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b="1" dirty="0">
                <a:solidFill>
                  <a:srgbClr val="00B050"/>
                </a:solidFill>
              </a:rPr>
              <a:t>책임추적성</a:t>
            </a:r>
            <a:r>
              <a:rPr lang="en-US" altLang="ko-KR" b="1" dirty="0"/>
              <a:t>]</a:t>
            </a:r>
            <a:endParaRPr lang="en-US" altLang="ko-KR" sz="1800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ko-KR" altLang="ko-KR" sz="1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B8ABDB0-F0D8-2FD5-0CDD-049BA4E38ACD}"/>
              </a:ext>
            </a:extLst>
          </p:cNvPr>
          <p:cNvGrpSpPr/>
          <p:nvPr/>
        </p:nvGrpSpPr>
        <p:grpSpPr>
          <a:xfrm>
            <a:off x="520378" y="2051289"/>
            <a:ext cx="5401802" cy="4284853"/>
            <a:chOff x="520378" y="2051289"/>
            <a:chExt cx="5401802" cy="4284853"/>
          </a:xfrm>
        </p:grpSpPr>
        <p:sp>
          <p:nvSpPr>
            <p:cNvPr id="13" name="모서리가 둥근 직사각형 36">
              <a:extLst>
                <a:ext uri="{FF2B5EF4-FFF2-40B4-BE49-F238E27FC236}">
                  <a16:creationId xmlns:a16="http://schemas.microsoft.com/office/drawing/2014/main" id="{C766D30D-4152-FF85-BEF2-E118AD536874}"/>
                </a:ext>
              </a:extLst>
            </p:cNvPr>
            <p:cNvSpPr/>
            <p:nvPr/>
          </p:nvSpPr>
          <p:spPr>
            <a:xfrm>
              <a:off x="520378" y="2051289"/>
              <a:ext cx="5401802" cy="442111"/>
            </a:xfrm>
            <a:prstGeom prst="roundRect">
              <a:avLst>
                <a:gd name="adj" fmla="val 17210"/>
              </a:avLst>
            </a:prstGeom>
            <a:solidFill>
              <a:srgbClr val="00BC12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21E3BE0-229F-B3D6-1AF5-4937E558FE6A}"/>
                </a:ext>
              </a:extLst>
            </p:cNvPr>
            <p:cNvSpPr txBox="1"/>
            <p:nvPr/>
          </p:nvSpPr>
          <p:spPr>
            <a:xfrm>
              <a:off x="884363" y="2128736"/>
              <a:ext cx="4673832" cy="319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40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클라우드 보안 핵심 흐름</a:t>
              </a:r>
              <a:endParaRPr lang="en-US" altLang="ko-KR" sz="1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11" name="cb100">
              <a:extLst>
                <a:ext uri="{FF2B5EF4-FFF2-40B4-BE49-F238E27FC236}">
                  <a16:creationId xmlns:a16="http://schemas.microsoft.com/office/drawing/2014/main" id="{67937003-3DAC-8B23-F884-CF9D783DBE72}"/>
                </a:ext>
              </a:extLst>
            </p:cNvPr>
            <p:cNvSpPr/>
            <p:nvPr/>
          </p:nvSpPr>
          <p:spPr>
            <a:xfrm>
              <a:off x="520378" y="2570847"/>
              <a:ext cx="5401802" cy="3547410"/>
            </a:xfrm>
            <a:prstGeom prst="round2SameRect">
              <a:avLst>
                <a:gd name="adj1" fmla="val 2669"/>
                <a:gd name="adj2" fmla="val 0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42DF8653-57AA-C0BE-2F74-56992ADB6D4E}"/>
                </a:ext>
              </a:extLst>
            </p:cNvPr>
            <p:cNvSpPr txBox="1"/>
            <p:nvPr/>
          </p:nvSpPr>
          <p:spPr>
            <a:xfrm>
              <a:off x="520378" y="2618201"/>
              <a:ext cx="5401802" cy="37179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10000"/>
                </a:lnSpc>
                <a:spcBef>
                  <a:spcPts val="600"/>
                </a:spcBef>
              </a:pPr>
              <a:r>
                <a:rPr lang="ko-KR" altLang="ko-KR" sz="1200" b="1" dirty="0">
                  <a:solidFill>
                    <a:srgbClr val="009F0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① 클라우드 전환</a:t>
              </a:r>
            </a:p>
            <a:p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</a:t>
              </a:r>
              <a:r>
                <a:rPr lang="ko-KR" altLang="en-US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소유→사용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패러다임 전환과 함께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보안 책임도 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CSP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와 고객이 함께 나누는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공유 구조로 바뀌었으며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인프라는 </a:t>
              </a:r>
              <a: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CSP, </a:t>
              </a: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설정과 계정은 고객 책임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으로 분리됨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endPara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>
                <a:lnSpc>
                  <a:spcPct val="110000"/>
                </a:lnSpc>
                <a:spcBef>
                  <a:spcPts val="600"/>
                </a:spcBef>
              </a:pPr>
              <a:r>
                <a:rPr lang="ko-KR" altLang="ko-KR" sz="1200" b="1" dirty="0">
                  <a:solidFill>
                    <a:srgbClr val="009F0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② 핵심 보안 위협</a:t>
              </a:r>
            </a:p>
            <a:p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클라우드 환경에서는 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MFA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미적용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·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설정 오류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·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공급망 취약점이 실제 침해 사고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주 원인이었다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▸</a:t>
              </a:r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MFA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미적용 → </a:t>
              </a:r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Snowflake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계정 탈취</a:t>
              </a:r>
            </a:p>
            <a:p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▸ 설정 오류 → </a:t>
              </a:r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Toyota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데이터 </a:t>
              </a:r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10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년 노출</a:t>
              </a:r>
            </a:p>
            <a:p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▸ 공급망 공격 → </a:t>
              </a:r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CrowdStrike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장애</a:t>
              </a:r>
              <a:endParaRPr lang="en-US" altLang="ko-KR" sz="11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endPara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>
                <a:lnSpc>
                  <a:spcPct val="110000"/>
                </a:lnSpc>
                <a:spcBef>
                  <a:spcPts val="600"/>
                </a:spcBef>
              </a:pPr>
              <a:r>
                <a:rPr lang="ko-KR" altLang="ko-KR" sz="1200" b="1" dirty="0">
                  <a:solidFill>
                    <a:srgbClr val="009F0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③ 대응 방향</a:t>
              </a:r>
            </a:p>
            <a:p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클라우드 보안은 단일 장비가 아니라 접근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·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설정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·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행위 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3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축을 통합적으로 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통제하는 구조 필요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▸</a:t>
              </a:r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IAM / MFA →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계정 기반 접근 통제</a:t>
              </a:r>
            </a:p>
            <a:p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▸</a:t>
              </a:r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CSPM →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설정 오류 및 형상 관리</a:t>
              </a:r>
            </a:p>
            <a:p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▸</a:t>
              </a:r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로그</a:t>
              </a:r>
              <a:r>
                <a:rPr lang="en-US" altLang="ko-KR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·SIEM →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행위 기반 탐지 및 추적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→ Zero Trust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기반으로 모든 접근을 검증하는 구조 필요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endParaRPr lang="ko-KR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4C2EF384-630D-16B0-4488-73D021133E5E}"/>
              </a:ext>
            </a:extLst>
          </p:cNvPr>
          <p:cNvGrpSpPr/>
          <p:nvPr/>
        </p:nvGrpSpPr>
        <p:grpSpPr>
          <a:xfrm>
            <a:off x="6347286" y="2051289"/>
            <a:ext cx="5401802" cy="4217256"/>
            <a:chOff x="6196353" y="2051951"/>
            <a:chExt cx="5401802" cy="4217256"/>
          </a:xfrm>
        </p:grpSpPr>
        <p:sp>
          <p:nvSpPr>
            <p:cNvPr id="19" name="모서리가 둥근 직사각형 36">
              <a:extLst>
                <a:ext uri="{FF2B5EF4-FFF2-40B4-BE49-F238E27FC236}">
                  <a16:creationId xmlns:a16="http://schemas.microsoft.com/office/drawing/2014/main" id="{D8E282BC-BF2F-FF28-42E6-6254C388A8C6}"/>
                </a:ext>
              </a:extLst>
            </p:cNvPr>
            <p:cNvSpPr/>
            <p:nvPr/>
          </p:nvSpPr>
          <p:spPr>
            <a:xfrm>
              <a:off x="6196353" y="2051951"/>
              <a:ext cx="5401802" cy="442111"/>
            </a:xfrm>
            <a:prstGeom prst="roundRect">
              <a:avLst>
                <a:gd name="adj" fmla="val 17210"/>
              </a:avLst>
            </a:prstGeom>
            <a:solidFill>
              <a:srgbClr val="00BC12"/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dirty="0"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B2DF796-CAA5-71BD-7A26-2A09E6931DE0}"/>
                </a:ext>
              </a:extLst>
            </p:cNvPr>
            <p:cNvSpPr txBox="1"/>
            <p:nvPr/>
          </p:nvSpPr>
          <p:spPr>
            <a:xfrm>
              <a:off x="6560338" y="2117350"/>
              <a:ext cx="4673832" cy="319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400" dirty="0">
                  <a:solidFill>
                    <a:srgbClr val="FFFFF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클라우드 보안 관제 핵심 전략</a:t>
              </a:r>
              <a:endParaRPr lang="en-US" altLang="ko-KR" sz="14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1" name="cb100">
              <a:extLst>
                <a:ext uri="{FF2B5EF4-FFF2-40B4-BE49-F238E27FC236}">
                  <a16:creationId xmlns:a16="http://schemas.microsoft.com/office/drawing/2014/main" id="{ABB4BB83-29D3-8DA6-2C74-CFFCF37804F4}"/>
                </a:ext>
              </a:extLst>
            </p:cNvPr>
            <p:cNvSpPr/>
            <p:nvPr/>
          </p:nvSpPr>
          <p:spPr>
            <a:xfrm>
              <a:off x="6196353" y="2588028"/>
              <a:ext cx="5401802" cy="3530229"/>
            </a:xfrm>
            <a:prstGeom prst="round2SameRect">
              <a:avLst>
                <a:gd name="adj1" fmla="val 2669"/>
                <a:gd name="adj2" fmla="val 0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2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latin typeface="NanumSquare" panose="020B0600000101010101" pitchFamily="50" charset="-127"/>
                <a:ea typeface="NanumSquare" panose="020B060000010101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895D3A2-E0DB-0CF2-9E99-066BF41CFFCB}"/>
                </a:ext>
              </a:extLst>
            </p:cNvPr>
            <p:cNvSpPr txBox="1"/>
            <p:nvPr/>
          </p:nvSpPr>
          <p:spPr>
            <a:xfrm>
              <a:off x="6196353" y="2523566"/>
              <a:ext cx="5401802" cy="37456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>
                <a:lnSpc>
                  <a:spcPct val="110000"/>
                </a:lnSpc>
                <a:spcBef>
                  <a:spcPts val="600"/>
                </a:spcBef>
              </a:pPr>
              <a:r>
                <a:rPr lang="ko-KR" altLang="ko-KR" sz="1200" b="1" dirty="0">
                  <a:solidFill>
                    <a:srgbClr val="009F0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① 탐지 공백을 인식</a:t>
              </a:r>
            </a:p>
            <a:p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클라우드 공격은 </a:t>
              </a:r>
              <a:r>
                <a:rPr lang="ko-KR" altLang="en-US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네트워크 탐지만으로는 탐지 불가능한 영역 존재</a:t>
              </a:r>
              <a:br>
                <a:rPr lang="en-US" altLang="ko-KR" sz="12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11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▸</a:t>
              </a:r>
              <a:r>
                <a:rPr lang="en-US" altLang="ko-KR" sz="11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MFA </a:t>
              </a:r>
              <a:r>
                <a:rPr lang="ko-KR" altLang="en-US" sz="11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적용 여부 확인 불가</a:t>
              </a:r>
            </a:p>
            <a:p>
              <a:r>
                <a:rPr lang="ko-KR" altLang="en-US" sz="11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▸ </a:t>
              </a:r>
              <a:r>
                <a:rPr lang="ko-KR" altLang="en-US" sz="11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정상 계정 로그인 이후 행위 탐지 어려움</a:t>
              </a:r>
            </a:p>
            <a:p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▸ </a:t>
              </a:r>
              <a:r>
                <a:rPr lang="en-US" altLang="ko-KR" sz="11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API </a:t>
              </a:r>
              <a:r>
                <a:rPr lang="ko-KR" altLang="en-US" sz="1100" b="1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기반 공격은 트래픽만으로 식별 한계</a:t>
              </a:r>
              <a:r>
                <a:rPr lang="ko-KR" altLang="en-US" sz="11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→ 계정 행위 기반 탐지 규칙 보완 필요</a:t>
              </a:r>
            </a:p>
            <a:p>
              <a:endPara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ko-KR" altLang="ko-KR" sz="1200" b="1" dirty="0">
                  <a:solidFill>
                    <a:srgbClr val="009F0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② MITRE ATT&amp;CK &amp; D3FEND 활용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▸ 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ATT&amp;CK →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공격 흐름 표준화</a:t>
              </a:r>
            </a:p>
            <a:p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▸ 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D3FEND →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대응 기술 체계화</a:t>
              </a:r>
            </a:p>
            <a:p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→ 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ATT&amp;CK Technique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과 매핑하여 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SOC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보고서의 신뢰성과 대응 근거 강화 가능</a:t>
              </a:r>
            </a:p>
            <a:p>
              <a:endParaRPr lang="ko-KR" altLang="en-US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pPr>
                <a:lnSpc>
                  <a:spcPct val="110000"/>
                </a:lnSpc>
                <a:spcBef>
                  <a:spcPts val="600"/>
                </a:spcBef>
              </a:pPr>
              <a:r>
                <a:rPr lang="ko-KR" altLang="ko-KR" sz="1200" b="1" dirty="0">
                  <a:solidFill>
                    <a:srgbClr val="009F0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③ </a:t>
              </a:r>
              <a:r>
                <a:rPr lang="ko-KR" altLang="ko-KR" sz="1200" b="1" dirty="0" err="1">
                  <a:solidFill>
                    <a:srgbClr val="009F0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Cloud-Native</a:t>
              </a:r>
              <a:r>
                <a:rPr lang="ko-KR" altLang="ko-KR" sz="1200" b="1" dirty="0">
                  <a:solidFill>
                    <a:srgbClr val="009F0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ko-KR" altLang="ko-KR" sz="1200" b="1" dirty="0" err="1">
                  <a:solidFill>
                    <a:srgbClr val="009F0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Top</a:t>
              </a:r>
              <a:r>
                <a:rPr lang="ko-KR" altLang="ko-KR" sz="1200" b="1" dirty="0">
                  <a:solidFill>
                    <a:srgbClr val="009F0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10 (CNAS)</a:t>
              </a:r>
            </a:p>
            <a:p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클라우드 환경에서 가장 중요한 보안 영역은 설정 오류 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·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시크릿 관리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·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자산 가시성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▸ </a:t>
              </a:r>
              <a:r>
                <a:rPr lang="ko-KR" altLang="en-US" sz="1200" dirty="0" err="1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오구성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(Public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노출</a:t>
              </a: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</a:p>
            <a:p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▸ 시크릿 관리 실패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     </a:t>
              </a:r>
              <a:r>
                <a:rPr lang="ko-KR" altLang="en-US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→ 클라우드 사고의 대부분은 설정에서 발생</a:t>
              </a:r>
              <a:br>
                <a:rPr lang="en-US" altLang="ko-KR" sz="1200" dirty="0"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</a:br>
              <a:endParaRPr lang="ko-KR" altLang="ko-KR" sz="1200" dirty="0"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52937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 txBox="1">
            <a:spLocks/>
          </p:cNvSpPr>
          <p:nvPr/>
        </p:nvSpPr>
        <p:spPr>
          <a:xfrm>
            <a:off x="385200" y="288001"/>
            <a:ext cx="8280000" cy="2063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algn="l" defTabSz="914400" rtl="0" eaLnBrk="1" latinLnBrk="1" hangingPunct="1">
              <a:lnSpc>
                <a:spcPct val="110000"/>
              </a:lnSpc>
              <a:spcBef>
                <a:spcPct val="0"/>
              </a:spcBef>
              <a:buNone/>
              <a:defRPr lang="ko-KR" altLang="en-US" sz="3600" kern="1200" spc="-20" baseline="0" dirty="0">
                <a:gradFill>
                  <a:gsLst>
                    <a:gs pos="0">
                      <a:srgbClr val="00C73C"/>
                    </a:gs>
                    <a:gs pos="100000">
                      <a:srgbClr val="00C73C"/>
                    </a:gs>
                  </a:gsLst>
                  <a:lin ang="5400000" scaled="0"/>
                </a:gradFill>
                <a:latin typeface="나눔고딕" panose="020D0604000000000000" pitchFamily="50" charset="-127"/>
                <a:ea typeface="나눔고딕" panose="020D0604000000000000" pitchFamily="50" charset="-127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-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End of Document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-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Thank You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solidFill>
                  <a:srgbClr val="07C63C"/>
                </a:solidFill>
                <a:latin typeface="NanumSquare ExtraBold" charset="-127"/>
                <a:ea typeface="NanumSquare ExtraBold" charset="-127"/>
                <a:cs typeface="NanumSquare ExtraBold" charset="-127"/>
              </a:rPr>
              <a:t>-</a:t>
            </a:r>
            <a:endParaRPr lang="ko-KR" altLang="en-US" sz="2400" b="1" dirty="0">
              <a:solidFill>
                <a:srgbClr val="07C63C"/>
              </a:solidFill>
              <a:latin typeface="NanumSquare ExtraBold" charset="-127"/>
              <a:ea typeface="NanumSquare ExtraBold" charset="-127"/>
              <a:cs typeface="NanumSquare ExtraBold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452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7788</Words>
  <Application>Microsoft Office PowerPoint</Application>
  <PresentationFormat>와이드스크린</PresentationFormat>
  <Paragraphs>1294</Paragraphs>
  <Slides>48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48</vt:i4>
      </vt:variant>
    </vt:vector>
  </HeadingPairs>
  <TitlesOfParts>
    <vt:vector size="64" baseType="lpstr">
      <vt:lpstr>-apple-system</vt:lpstr>
      <vt:lpstr>NanumSquare</vt:lpstr>
      <vt:lpstr>NanumSquare Bold</vt:lpstr>
      <vt:lpstr>NanumSquare ExtraBold</vt:lpstr>
      <vt:lpstr>Paperlogy 5 Medium</vt:lpstr>
      <vt:lpstr>Paperlogy 6 SemiBold</vt:lpstr>
      <vt:lpstr>나눔고딕</vt:lpstr>
      <vt:lpstr>나눔스퀘어</vt:lpstr>
      <vt:lpstr>나눔스퀘어 Bold</vt:lpstr>
      <vt:lpstr>Malgun Gothic</vt:lpstr>
      <vt:lpstr>Malgun Gothic</vt:lpstr>
      <vt:lpstr>Arial</vt:lpstr>
      <vt:lpstr>Calibri</vt:lpstr>
      <vt:lpstr>Narkisim</vt:lpstr>
      <vt:lpstr>Wingdings</vt:lpstr>
      <vt:lpstr>Office 테마</vt:lpstr>
      <vt:lpstr>PowerPoint 프레젠테이션</vt:lpstr>
      <vt:lpstr>PowerPoint 프레젠테이션</vt:lpstr>
      <vt:lpstr>PowerPoint 프레젠테이션</vt:lpstr>
      <vt:lpstr>1.1 클라우드 개요</vt:lpstr>
      <vt:lpstr>1.1 클라우드 개요</vt:lpstr>
      <vt:lpstr>1.1 클라우드 개요</vt:lpstr>
      <vt:lpstr>1.1 클라우드 개요</vt:lpstr>
      <vt:lpstr>1.2 클라우드 특징</vt:lpstr>
      <vt:lpstr>1.3 클라우드 유형</vt:lpstr>
      <vt:lpstr>1.4 클라우드 장점과 한계</vt:lpstr>
      <vt:lpstr>1.5 국내 클라우드 서비스 시장 현황</vt:lpstr>
      <vt:lpstr>PowerPoint 프레젠테이션</vt:lpstr>
      <vt:lpstr>2.1 온프레미스 vs 클라우드 보안</vt:lpstr>
      <vt:lpstr>2.1 온프레미스 vs 클라우드 보안 – 보안 관점 차이 </vt:lpstr>
      <vt:lpstr>2.2 보안의 3요소의 클라우드 확장</vt:lpstr>
      <vt:lpstr>2.2 보안의 3요소의 클라우드 확장</vt:lpstr>
      <vt:lpstr>2.3 클라우드 보안 책임 공유 모델</vt:lpstr>
      <vt:lpstr>PowerPoint 프레젠테이션</vt:lpstr>
      <vt:lpstr>3.1 클라우드 보안의 중요성</vt:lpstr>
      <vt:lpstr>3.2 클라우드 속성</vt:lpstr>
      <vt:lpstr>3.3 클라우드 보안 모델</vt:lpstr>
      <vt:lpstr>3.4 클라우드 보안 핵심 4요소</vt:lpstr>
      <vt:lpstr>3.4 클라우드 보안 핵심 4요소</vt:lpstr>
      <vt:lpstr>PowerPoint 프레젠테이션</vt:lpstr>
      <vt:lpstr>4.1 클라우드 보안 아키텍쳐 구성 영역</vt:lpstr>
      <vt:lpstr>4.2 구성도</vt:lpstr>
      <vt:lpstr>4.2 구성도</vt:lpstr>
      <vt:lpstr>4.2 구성도</vt:lpstr>
      <vt:lpstr>4.2 NCP 구성 보안 아키텍처</vt:lpstr>
      <vt:lpstr>4.2 NCP 구성 보안 아키텍처 – VPC 네트워크 구성</vt:lpstr>
      <vt:lpstr>4.2 NCP 구성 보안 아키텍처 –계정·권한 통제</vt:lpstr>
      <vt:lpstr>4.2 NCP 구성 보안 아키텍처 – 로그·감사 체계 </vt:lpstr>
      <vt:lpstr>4.2 NCP 구성 보안 아키텍처 – 보안 운영 체계</vt:lpstr>
      <vt:lpstr>PowerPoint 프레젠테이션</vt:lpstr>
      <vt:lpstr>5.1 MITRE ATT&amp;CK</vt:lpstr>
      <vt:lpstr>5.1 CLOUD MITRE ATT&amp;CK</vt:lpstr>
      <vt:lpstr>5.1 CLOUD MITRE ATT&amp;CK</vt:lpstr>
      <vt:lpstr>5.1 CLOUD MITRE ATT&amp;CK</vt:lpstr>
      <vt:lpstr>5.1 CLOUD ATT&amp;CK vs Enterprise ATT&amp;CK</vt:lpstr>
      <vt:lpstr>5.1 CLOUD MITRE ATT&amp;CK - 실제 사건으로 보는 CLOUD MITRE ATT&amp;CK </vt:lpstr>
      <vt:lpstr>5.1 CLOUD MITRE ATT&amp;CK - 실제 사건으로 보는 CLOUD MITRE ATT&amp;CK </vt:lpstr>
      <vt:lpstr>5.1 CLOUD MITRE ATT&amp;CK - 실제 사건으로 보는 CLOUD MITRE ATT&amp;CK </vt:lpstr>
      <vt:lpstr>5.2 MITRE D3FEND</vt:lpstr>
      <vt:lpstr>5.2 MITRE D3FEND</vt:lpstr>
      <vt:lpstr>5.2 MITRE D3FEND</vt:lpstr>
      <vt:lpstr>5.3 Cloud-Native Top 10</vt:lpstr>
      <vt:lpstr>6. 결론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26</cp:revision>
  <dcterms:created xsi:type="dcterms:W3CDTF">2026-03-26T15:19:32Z</dcterms:created>
  <dcterms:modified xsi:type="dcterms:W3CDTF">2026-03-29T23:54:42Z</dcterms:modified>
</cp:coreProperties>
</file>