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2" r:id="rId2"/>
    <p:sldId id="285" r:id="rId3"/>
    <p:sldId id="286" r:id="rId4"/>
    <p:sldId id="322" r:id="rId5"/>
    <p:sldId id="312" r:id="rId6"/>
    <p:sldId id="297" r:id="rId7"/>
    <p:sldId id="317" r:id="rId8"/>
    <p:sldId id="315" r:id="rId9"/>
    <p:sldId id="316" r:id="rId10"/>
    <p:sldId id="318" r:id="rId11"/>
    <p:sldId id="314" r:id="rId12"/>
    <p:sldId id="323" r:id="rId13"/>
    <p:sldId id="300" r:id="rId14"/>
    <p:sldId id="324" r:id="rId15"/>
    <p:sldId id="325" r:id="rId16"/>
    <p:sldId id="305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7478" autoAdjust="0"/>
  </p:normalViewPr>
  <p:slideViewPr>
    <p:cSldViewPr>
      <p:cViewPr varScale="1">
        <p:scale>
          <a:sx n="127" d="100"/>
          <a:sy n="127" d="100"/>
        </p:scale>
        <p:origin x="24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64" y="3691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2832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 전용 규칙 발생량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Reflected XSS</c:v>
                </c:pt>
                <c:pt idx="1">
                  <c:v>SQL Injection</c:v>
                </c:pt>
                <c:pt idx="2">
                  <c:v>phpmyadmin login</c:v>
                </c:pt>
                <c:pt idx="3">
                  <c:v>njrat Malware</c:v>
                </c:pt>
                <c:pt idx="4">
                  <c:v>Critical SQL Injection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1123</c:v>
                </c:pt>
                <c:pt idx="2">
                  <c:v>178</c:v>
                </c:pt>
                <c:pt idx="3">
                  <c:v>0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2A-437C-92F0-C8F3A46211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기존 상관 규칙 발생량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Reflected XSS</c:v>
                </c:pt>
                <c:pt idx="1">
                  <c:v>SQL Injection</c:v>
                </c:pt>
                <c:pt idx="2">
                  <c:v>phpmyadmin login</c:v>
                </c:pt>
                <c:pt idx="3">
                  <c:v>njrat Malware</c:v>
                </c:pt>
                <c:pt idx="4">
                  <c:v>Critical SQL Injection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611</c:v>
                </c:pt>
                <c:pt idx="1">
                  <c:v>2030</c:v>
                </c:pt>
                <c:pt idx="2">
                  <c:v>567</c:v>
                </c:pt>
                <c:pt idx="3">
                  <c:v>6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2A-437C-92F0-C8F3A4621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614610432"/>
        <c:axId val="85348864"/>
      </c:barChart>
      <c:catAx>
        <c:axId val="61461043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85348864"/>
        <c:crosses val="autoZero"/>
        <c:auto val="1"/>
        <c:lblAlgn val="ctr"/>
        <c:lblOffset val="100"/>
        <c:noMultiLvlLbl val="0"/>
      </c:catAx>
      <c:valAx>
        <c:axId val="8534886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614610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l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0.24193</cdr:x>
      <cdr:y>0.17035</cdr:y>
    </cdr:from>
    <cdr:to>
      <cdr:x>0.37097</cdr:x>
      <cdr:y>0.24488</cdr:y>
    </cdr:to>
    <cdr:sp macro="" textlink="">
      <cdr:nvSpPr>
        <cdr:cNvPr id="2" name="TextBox 6"/>
        <cdr:cNvSpPr txBox="1"/>
      </cdr:nvSpPr>
      <cdr:spPr>
        <a:xfrm xmlns:a="http://schemas.openxmlformats.org/drawingml/2006/main">
          <a:off x="1890082" y="562764"/>
          <a:ext cx="1008139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90% </a:t>
          </a:r>
          <a:r>
            <a:rPr lang="ko-KR" altLang="en-US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감소 </a:t>
          </a:r>
          <a:endParaRPr lang="ko-KR" altLang="en-US" sz="1000" b="1" dirty="0">
            <a:solidFill>
              <a:schemeClr val="bg1"/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</cdr:txBody>
    </cdr:sp>
  </cdr:relSizeAnchor>
  <cdr:relSizeAnchor xmlns:cdr="http://schemas.openxmlformats.org/drawingml/2006/chartDrawing">
    <cdr:from>
      <cdr:x>0.41312</cdr:x>
      <cdr:y>0.79514</cdr:y>
    </cdr:from>
    <cdr:to>
      <cdr:x>0.54216</cdr:x>
      <cdr:y>0.86967</cdr:y>
    </cdr:to>
    <cdr:sp macro="" textlink="">
      <cdr:nvSpPr>
        <cdr:cNvPr id="3" name="TextBox 6"/>
        <cdr:cNvSpPr txBox="1"/>
      </cdr:nvSpPr>
      <cdr:spPr>
        <a:xfrm xmlns:a="http://schemas.openxmlformats.org/drawingml/2006/main">
          <a:off x="3227522" y="2626776"/>
          <a:ext cx="10081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50% </a:t>
          </a:r>
          <a:r>
            <a:rPr lang="ko-KR" altLang="en-US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감</a:t>
          </a:r>
          <a:r>
            <a: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소</a:t>
          </a:r>
        </a:p>
      </cdr:txBody>
    </cdr:sp>
  </cdr:relSizeAnchor>
  <cdr:relSizeAnchor xmlns:cdr="http://schemas.openxmlformats.org/drawingml/2006/chartDrawing">
    <cdr:from>
      <cdr:x>0.24193</cdr:x>
      <cdr:y>0.32293</cdr:y>
    </cdr:from>
    <cdr:to>
      <cdr:x>0.38411</cdr:x>
      <cdr:y>0.39746</cdr:y>
    </cdr:to>
    <cdr:sp macro="" textlink="">
      <cdr:nvSpPr>
        <cdr:cNvPr id="4" name="TextBox 6"/>
        <cdr:cNvSpPr txBox="1"/>
      </cdr:nvSpPr>
      <cdr:spPr>
        <a:xfrm xmlns:a="http://schemas.openxmlformats.org/drawingml/2006/main">
          <a:off x="1890082" y="1066820"/>
          <a:ext cx="1110797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100% </a:t>
          </a:r>
          <a:r>
            <a:rPr lang="ko-KR" altLang="en-US" sz="1000" b="1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감소 </a:t>
          </a:r>
          <a:endParaRPr lang="ko-KR" altLang="en-US" sz="1000" b="1" dirty="0">
            <a:solidFill>
              <a:schemeClr val="bg1"/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EE508-E6D0-4648-B6D2-38C44CE8FAAB}" type="datetimeFigureOut">
              <a:rPr lang="ko-KR" altLang="en-US" smtClean="0"/>
              <a:t>2019-11-19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ko-KR" altLang="en-US" smtClean="0"/>
              <a:t>ㅂ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4F163-CEA8-49D6-BAEB-CFF7E3C984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16375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CF068-DEA1-4643-B807-89A7146A4070}" type="datetimeFigureOut">
              <a:rPr lang="ko-KR" altLang="en-US" smtClean="0"/>
              <a:t>2019-11-19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ko-KR" altLang="en-US" smtClean="0"/>
              <a:t>ㅂ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BCD24-FD72-452C-8969-09628A5F2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122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25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421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334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79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ctrTitle" hasCustomPrompt="1"/>
          </p:nvPr>
        </p:nvSpPr>
        <p:spPr>
          <a:xfrm>
            <a:off x="252000" y="308691"/>
            <a:ext cx="86400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500" spc="-20" baseline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문서의 제목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나눔고딕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L, 45pt</a:t>
            </a:r>
            <a:endParaRPr lang="ko-KR" altLang="en-US" dirty="0"/>
          </a:p>
        </p:txBody>
      </p:sp>
      <p:sp>
        <p:nvSpPr>
          <p:cNvPr id="4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2000" y="2291708"/>
            <a:ext cx="8640000" cy="1108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 spc="-20" baseline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aseline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나눔고딕</a:t>
            </a: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R, 10pt</a:t>
            </a:r>
          </a:p>
          <a:p>
            <a:pPr>
              <a:lnSpc>
                <a:spcPct val="150000"/>
              </a:lnSpc>
            </a:pP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소속팀 </a:t>
            </a:r>
            <a:r>
              <a:rPr lang="en-US" altLang="ko-KR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상위부서 </a:t>
            </a:r>
            <a:r>
              <a:rPr lang="en-US" altLang="ko-KR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aseline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나눔고딕</a:t>
            </a: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R, 10pt</a:t>
            </a:r>
          </a:p>
          <a:p>
            <a:pPr>
              <a:lnSpc>
                <a:spcPct val="150000"/>
              </a:lnSpc>
            </a:pPr>
            <a:r>
              <a:rPr lang="ko-KR" altLang="en-US" sz="10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대외비</a:t>
            </a:r>
            <a:endParaRPr lang="ko-KR" alt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934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74638"/>
            <a:ext cx="8640000" cy="33840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1" hangingPunct="1">
              <a:spcBef>
                <a:spcPct val="0"/>
              </a:spcBef>
              <a:buNone/>
              <a:defRPr lang="ko-KR" altLang="en-US" sz="1600" b="1" kern="1200" spc="-20" baseline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52000" y="980728"/>
            <a:ext cx="8640000" cy="4525963"/>
          </a:xfrm>
          <a:prstGeom prst="rect">
            <a:avLst/>
          </a:prstGeom>
        </p:spPr>
        <p:txBody>
          <a:bodyPr/>
          <a:lstStyle>
            <a:lvl1pPr marL="0" indent="-1800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sz="1400" b="1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180000" indent="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sz="1200" kern="120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360000" indent="0">
              <a:lnSpc>
                <a:spcPct val="150000"/>
              </a:lnSpc>
              <a:spcBef>
                <a:spcPts val="30"/>
              </a:spcBef>
              <a:buFontTx/>
              <a:buNone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540000" indent="0">
              <a:lnSpc>
                <a:spcPct val="150000"/>
              </a:lnSpc>
              <a:spcBef>
                <a:spcPts val="10"/>
              </a:spcBef>
              <a:buFontTx/>
              <a:buNone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648000" indent="0">
              <a:lnSpc>
                <a:spcPct val="150000"/>
              </a:lnSpc>
              <a:spcBef>
                <a:spcPts val="10"/>
              </a:spcBef>
              <a:buFontTx/>
              <a:buNone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828000" indent="0">
              <a:lnSpc>
                <a:spcPct val="150000"/>
              </a:lnSpc>
              <a:spcBef>
                <a:spcPts val="10"/>
              </a:spcBef>
              <a:buFontTx/>
              <a:buNone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  <a:p>
            <a:pPr lvl="4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70945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375786"/>
            <a:ext cx="8640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altLang="ko-KR" sz="3600" spc="-20" baseline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1.</a:t>
            </a:r>
            <a:r>
              <a:rPr lang="ko-KR" altLang="en-US" dirty="0" err="1" smtClean="0"/>
              <a:t>챕터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체목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나눔고딕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R, 36pt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610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일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98748"/>
            <a:ext cx="864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6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1.1  </a:t>
            </a:r>
            <a:r>
              <a:rPr lang="ko-KR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페이지 제목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: </a:t>
            </a:r>
            <a:r>
              <a:rPr lang="ko-KR" altLang="ko-KR" sz="1600" b="1" kern="1200" spc="-20" baseline="0" dirty="0" err="1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나눔고딕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 B, 16pt</a:t>
            </a:r>
            <a:endParaRPr lang="ko-KR" altLang="en-US" sz="1600" b="1" kern="1200" spc="-20" baseline="0" dirty="0">
              <a:solidFill>
                <a:schemeClr val="tx1"/>
              </a:solidFill>
              <a:latin typeface="+mj-lt"/>
              <a:ea typeface="나눔고딕" panose="020D0604000000000000" pitchFamily="50" charset="-127"/>
              <a:cs typeface="+mj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 Raw-data 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활용방안</a:t>
            </a:r>
            <a:endParaRPr kumimoji="0" lang="en-US" altLang="ko-KR" sz="800" b="0" i="0" u="none" strike="noStrike" kern="1200" cap="none" spc="-2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12000" y="1233852"/>
            <a:ext cx="7920000" cy="4525963"/>
          </a:xfrm>
          <a:prstGeom prst="rect">
            <a:avLst/>
          </a:prstGeom>
        </p:spPr>
        <p:txBody>
          <a:bodyPr/>
          <a:lstStyle>
            <a:lvl1pPr marL="0" indent="0" algn="l" defTabSz="180000" rtl="0" eaLnBrk="1" latinLnBrk="1" hangingPunct="1">
              <a:lnSpc>
                <a:spcPct val="150000"/>
              </a:lnSpc>
              <a:spcBef>
                <a:spcPts val="300"/>
              </a:spcBef>
              <a:buFontTx/>
              <a:buNone/>
              <a:tabLst>
                <a:tab pos="180000" algn="l"/>
              </a:tabLst>
              <a:defRPr lang="ko-KR" altLang="en-US" sz="1000" b="0" i="0" spc="0" baseline="0" smtClean="0">
                <a:solidFill>
                  <a:schemeClr val="tx1"/>
                </a:solidFill>
                <a:latin typeface="+mn-lt"/>
                <a:ea typeface="+mn-ea"/>
              </a:defRPr>
            </a:lvl1pPr>
            <a:lvl2pPr marL="180000" indent="-180000" algn="l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2pPr>
            <a:lvl3pPr marL="360000" indent="-180000" algn="l">
              <a:lnSpc>
                <a:spcPct val="150000"/>
              </a:lnSpc>
              <a:spcBef>
                <a:spcPts val="10"/>
              </a:spcBef>
              <a:buFont typeface="+mj-lt"/>
              <a:buAutoNum type="arabicParenR"/>
              <a:defRPr sz="1000">
                <a:solidFill>
                  <a:schemeClr val="tx1"/>
                </a:solidFill>
              </a:defRPr>
            </a:lvl3pPr>
            <a:lvl4pPr marL="648000" indent="-180000" algn="l">
              <a:lnSpc>
                <a:spcPct val="150000"/>
              </a:lnSpc>
              <a:spcBef>
                <a:spcPts val="10"/>
              </a:spcBef>
              <a:buFont typeface="+mj-ea"/>
              <a:buAutoNum type="circleNumDbPlain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4pPr>
            <a:lvl5pPr marL="648000" indent="10800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</a:defRPr>
            </a:lvl5pPr>
            <a:lvl6pPr marL="900000" indent="0" algn="l">
              <a:lnSpc>
                <a:spcPct val="150000"/>
              </a:lnSpc>
              <a:spcBef>
                <a:spcPts val="10"/>
              </a:spcBef>
              <a:buFontTx/>
              <a:buNone/>
              <a:defRPr sz="1000">
                <a:solidFill>
                  <a:schemeClr val="tx1"/>
                </a:solidFill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  <a:p>
            <a:pPr lvl="4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0410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대외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98748"/>
            <a:ext cx="864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6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1.1  </a:t>
            </a:r>
            <a:r>
              <a:rPr lang="ko-KR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페이지 제목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: </a:t>
            </a:r>
            <a:r>
              <a:rPr lang="ko-KR" altLang="ko-KR" sz="1600" b="1" kern="1200" spc="-20" baseline="0" dirty="0" err="1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나눔고딕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 B, 16pt</a:t>
            </a:r>
            <a:endParaRPr lang="ko-KR" altLang="en-US" sz="1600" b="1" kern="1200" spc="-20" baseline="0" dirty="0">
              <a:solidFill>
                <a:schemeClr val="tx1"/>
              </a:solidFill>
              <a:latin typeface="+mj-lt"/>
              <a:ea typeface="나눔고딕" panose="020D0604000000000000" pitchFamily="50" charset="-127"/>
              <a:cs typeface="+mj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대외비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 Raw-data 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활용방안</a:t>
            </a:r>
            <a:endParaRPr kumimoji="0" lang="en-US" altLang="ko-KR" sz="800" b="0" i="0" u="none" strike="noStrike" kern="1200" cap="none" spc="-2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12000" y="1233852"/>
            <a:ext cx="7920000" cy="4525963"/>
          </a:xfrm>
          <a:prstGeom prst="rect">
            <a:avLst/>
          </a:prstGeom>
        </p:spPr>
        <p:txBody>
          <a:bodyPr/>
          <a:lstStyle>
            <a:lvl1pPr marL="0" indent="0" algn="l" defTabSz="180000" rtl="0" eaLnBrk="1" latinLnBrk="1" hangingPunct="1">
              <a:lnSpc>
                <a:spcPct val="150000"/>
              </a:lnSpc>
              <a:spcBef>
                <a:spcPts val="300"/>
              </a:spcBef>
              <a:buFontTx/>
              <a:buNone/>
              <a:tabLst>
                <a:tab pos="180000" algn="l"/>
              </a:tabLst>
              <a:defRPr lang="ko-KR" altLang="en-US" sz="1000" b="0" i="0" spc="0" baseline="0" smtClean="0">
                <a:solidFill>
                  <a:schemeClr val="tx1"/>
                </a:solidFill>
                <a:latin typeface="+mn-lt"/>
                <a:ea typeface="+mn-ea"/>
              </a:defRPr>
            </a:lvl1pPr>
            <a:lvl2pPr marL="180000" indent="-180000" algn="l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2pPr>
            <a:lvl3pPr marL="360000" indent="-180000" algn="l">
              <a:lnSpc>
                <a:spcPct val="150000"/>
              </a:lnSpc>
              <a:spcBef>
                <a:spcPts val="10"/>
              </a:spcBef>
              <a:buFont typeface="+mj-lt"/>
              <a:buAutoNum type="arabicParenR"/>
              <a:defRPr sz="1000">
                <a:solidFill>
                  <a:schemeClr val="tx1"/>
                </a:solidFill>
              </a:defRPr>
            </a:lvl3pPr>
            <a:lvl4pPr marL="648000" indent="-180000" algn="l">
              <a:lnSpc>
                <a:spcPct val="150000"/>
              </a:lnSpc>
              <a:spcBef>
                <a:spcPts val="10"/>
              </a:spcBef>
              <a:buFont typeface="+mj-ea"/>
              <a:buAutoNum type="circleNumDbPlain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4pPr>
            <a:lvl5pPr marL="648000" indent="10800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</a:defRPr>
            </a:lvl5pPr>
            <a:lvl6pPr marL="900000" indent="0" algn="l">
              <a:lnSpc>
                <a:spcPct val="150000"/>
              </a:lnSpc>
              <a:spcBef>
                <a:spcPts val="10"/>
              </a:spcBef>
              <a:buFontTx/>
              <a:buNone/>
              <a:defRPr sz="1000">
                <a:solidFill>
                  <a:schemeClr val="tx1"/>
                </a:solidFill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  <a:p>
            <a:pPr lvl="4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5908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기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98748"/>
            <a:ext cx="864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6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1.1  </a:t>
            </a:r>
            <a:r>
              <a:rPr lang="ko-KR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페이지 제목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: </a:t>
            </a:r>
            <a:r>
              <a:rPr lang="ko-KR" altLang="ko-KR" sz="1600" b="1" kern="1200" spc="-20" baseline="0" dirty="0" err="1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나눔고딕</a:t>
            </a:r>
            <a:r>
              <a:rPr lang="en-US" altLang="ko-KR" sz="1600" b="1" kern="1200" spc="-20" baseline="0" dirty="0" smtClean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 B, 16pt</a:t>
            </a:r>
            <a:endParaRPr lang="ko-KR" altLang="en-US" sz="1600" b="1" kern="1200" spc="-20" baseline="0" dirty="0">
              <a:solidFill>
                <a:schemeClr val="tx1"/>
              </a:solidFill>
              <a:latin typeface="+mj-lt"/>
              <a:ea typeface="나눔고딕" panose="020D0604000000000000" pitchFamily="50" charset="-127"/>
              <a:cs typeface="+mj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기밀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-2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12000" y="1233852"/>
            <a:ext cx="7920000" cy="4525963"/>
          </a:xfrm>
          <a:prstGeom prst="rect">
            <a:avLst/>
          </a:prstGeom>
        </p:spPr>
        <p:txBody>
          <a:bodyPr/>
          <a:lstStyle>
            <a:lvl1pPr marL="0" indent="0" algn="l" defTabSz="180000" rtl="0" eaLnBrk="1" latinLnBrk="1" hangingPunct="1">
              <a:lnSpc>
                <a:spcPct val="150000"/>
              </a:lnSpc>
              <a:spcBef>
                <a:spcPts val="300"/>
              </a:spcBef>
              <a:buFontTx/>
              <a:buNone/>
              <a:tabLst>
                <a:tab pos="180000" algn="l"/>
              </a:tabLst>
              <a:defRPr lang="ko-KR" altLang="en-US" sz="1000" b="0" i="0" spc="0" baseline="0" smtClean="0">
                <a:solidFill>
                  <a:schemeClr val="tx1"/>
                </a:solidFill>
                <a:latin typeface="+mn-lt"/>
                <a:ea typeface="+mn-ea"/>
              </a:defRPr>
            </a:lvl1pPr>
            <a:lvl2pPr marL="180000" indent="-180000" algn="l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2pPr>
            <a:lvl3pPr marL="360000" indent="-180000" algn="l">
              <a:lnSpc>
                <a:spcPct val="150000"/>
              </a:lnSpc>
              <a:spcBef>
                <a:spcPts val="10"/>
              </a:spcBef>
              <a:buFont typeface="+mj-lt"/>
              <a:buAutoNum type="arabicParenR"/>
              <a:defRPr sz="1000">
                <a:solidFill>
                  <a:schemeClr val="tx1"/>
                </a:solidFill>
              </a:defRPr>
            </a:lvl3pPr>
            <a:lvl4pPr marL="648000" indent="-180000" algn="l">
              <a:lnSpc>
                <a:spcPct val="150000"/>
              </a:lnSpc>
              <a:spcBef>
                <a:spcPts val="10"/>
              </a:spcBef>
              <a:buFont typeface="+mj-ea"/>
              <a:buAutoNum type="circleNumDbPlain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4pPr>
            <a:lvl5pPr marL="648000" indent="10800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</a:defRPr>
            </a:lvl5pPr>
            <a:lvl6pPr marL="900000" indent="0" algn="l">
              <a:lnSpc>
                <a:spcPct val="150000"/>
              </a:lnSpc>
              <a:spcBef>
                <a:spcPts val="10"/>
              </a:spcBef>
              <a:buFontTx/>
              <a:buNone/>
              <a:defRPr sz="1000">
                <a:solidFill>
                  <a:schemeClr val="tx1"/>
                </a:solidFill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  <a:p>
            <a:pPr lvl="4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86600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375786"/>
            <a:ext cx="8640000" cy="648000"/>
          </a:xfrm>
          <a:prstGeom prst="rect">
            <a:avLst/>
          </a:prstGeom>
        </p:spPr>
        <p:txBody>
          <a:bodyPr/>
          <a:lstStyle>
            <a:lvl1pPr algn="l">
              <a:defRPr lang="en-US" altLang="ko-KR" sz="4500" spc="-20" baseline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sz="45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End of Document</a:t>
            </a:r>
            <a:endParaRPr lang="ko-KR" altLang="en-US" sz="4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966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60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13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2" r:id="rId2"/>
    <p:sldLayoutId id="2147483652" r:id="rId3"/>
    <p:sldLayoutId id="2147483673" r:id="rId4"/>
    <p:sldLayoutId id="2147483664" r:id="rId5"/>
    <p:sldLayoutId id="2147483674" r:id="rId6"/>
    <p:sldLayoutId id="2147483661" r:id="rId7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10.95.106.46/board/range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IDS Event </a:t>
            </a:r>
            <a:r>
              <a:rPr lang="en-US" altLang="ko-KR" dirty="0"/>
              <a:t>Raw-Data </a:t>
            </a:r>
            <a:r>
              <a:rPr lang="ko-KR" altLang="en-US" dirty="0" smtClean="0"/>
              <a:t>활용한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분석 간소화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en-US" spc="-20" dirty="0" smtClean="0">
                <a:solidFill>
                  <a:schemeClr val="tx1"/>
                </a:solidFill>
              </a:rPr>
              <a:t>소속팀</a:t>
            </a:r>
            <a:r>
              <a:rPr lang="en-US" altLang="ko-KR" spc="-20" dirty="0" smtClean="0">
                <a:solidFill>
                  <a:schemeClr val="tx1"/>
                </a:solidFill>
              </a:rPr>
              <a:t>/ </a:t>
            </a:r>
            <a:r>
              <a:rPr lang="ko-KR" altLang="en-US" spc="-20" dirty="0" err="1" smtClean="0">
                <a:solidFill>
                  <a:schemeClr val="tx1"/>
                </a:solidFill>
              </a:rPr>
              <a:t>상위부서</a:t>
            </a:r>
            <a:r>
              <a:rPr lang="ko-KR" altLang="en-US" spc="-20" dirty="0" smtClean="0">
                <a:solidFill>
                  <a:schemeClr val="tx1"/>
                </a:solidFill>
              </a:rPr>
              <a:t> </a:t>
            </a:r>
            <a:r>
              <a:rPr lang="en-US" altLang="ko-KR" spc="-20" dirty="0" smtClean="0">
                <a:solidFill>
                  <a:schemeClr val="tx1"/>
                </a:solidFill>
              </a:rPr>
              <a:t>: </a:t>
            </a:r>
            <a:r>
              <a:rPr lang="ko-KR" altLang="en-US" spc="-20" dirty="0" err="1" smtClean="0">
                <a:solidFill>
                  <a:schemeClr val="tx1"/>
                </a:solidFill>
              </a:rPr>
              <a:t>서비스보안</a:t>
            </a:r>
            <a:r>
              <a:rPr lang="en-US" altLang="ko-KR" dirty="0" smtClean="0"/>
              <a:t>1</a:t>
            </a:r>
            <a:r>
              <a:rPr lang="ko-KR" altLang="en-US" dirty="0" smtClean="0"/>
              <a:t>팀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서비스보안실</a:t>
            </a:r>
            <a:endParaRPr lang="en-US" altLang="ko-KR" spc="-20" dirty="0" smtClean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ko-KR" altLang="en-US" spc="-20" dirty="0" smtClean="0">
                <a:solidFill>
                  <a:schemeClr val="tx1"/>
                </a:solidFill>
              </a:rPr>
              <a:t>대외비</a:t>
            </a:r>
            <a:endParaRPr lang="ko-KR" altLang="en-US" spc="-20" dirty="0">
              <a:solidFill>
                <a:schemeClr val="tx1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51499" y="2214554"/>
            <a:ext cx="342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2544" y="6482288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ⓒ </a:t>
            </a:r>
            <a:r>
              <a:rPr lang="en-US" altLang="ko-KR" sz="8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NAVER Corp</a:t>
            </a:r>
            <a:r>
              <a:rPr lang="en-US" altLang="ko-KR" sz="8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spc="-2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35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584775"/>
          </a:xfrm>
        </p:spPr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600" b="1" kern="1200" spc="-20" dirty="0" smtClean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  <a:endParaRPr lang="ko-KR" altLang="ko-KR" spc="-20" dirty="0" smtClean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pc="-2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2000" y="1233852"/>
            <a:ext cx="7920000" cy="5003460"/>
          </a:xfrm>
        </p:spPr>
        <p:txBody>
          <a:bodyPr/>
          <a:lstStyle/>
          <a:p>
            <a:pPr lvl="1"/>
            <a:r>
              <a:rPr lang="ko-KR" altLang="en-US" b="1" spc="-20" dirty="0" smtClean="0"/>
              <a:t>목적</a:t>
            </a:r>
            <a:endParaRPr lang="en-US" altLang="ko-KR" b="1" spc="-20" dirty="0" smtClean="0"/>
          </a:p>
          <a:p>
            <a:pPr lvl="2"/>
            <a:r>
              <a:rPr lang="ko-KR" altLang="en-US" spc="-20" smtClean="0"/>
              <a:t>보안 이벤트 통계</a:t>
            </a:r>
            <a:r>
              <a:rPr lang="en-US" altLang="ko-KR" spc="-20" smtClean="0"/>
              <a:t>, </a:t>
            </a:r>
            <a:r>
              <a:rPr lang="ko-KR" altLang="en-US" spc="-20" smtClean="0"/>
              <a:t>정</a:t>
            </a:r>
            <a:r>
              <a:rPr lang="en-US" altLang="ko-KR" spc="-20" smtClean="0"/>
              <a:t>/</a:t>
            </a:r>
            <a:r>
              <a:rPr lang="ko-KR" altLang="en-US" spc="-20" smtClean="0"/>
              <a:t>오탐 검증 강화</a:t>
            </a:r>
            <a:endParaRPr lang="en-US" altLang="ko-KR" spc="-20" smtClean="0"/>
          </a:p>
          <a:p>
            <a:pPr lvl="3"/>
            <a:r>
              <a:rPr lang="ko-KR" altLang="en-US" spc="-20"/>
              <a:t>영향력 없는 오탐은 제외하고 확인이 필요한 이벤트에 집중하기 위해 </a:t>
            </a:r>
            <a:r>
              <a:rPr lang="ko-KR" altLang="en-US" spc="-20" smtClean="0"/>
              <a:t>자동화 된 </a:t>
            </a:r>
            <a:r>
              <a:rPr lang="ko-KR" altLang="en-US" spc="-20"/>
              <a:t>영향력 검증 시스템 구축</a:t>
            </a:r>
            <a:endParaRPr lang="en-US" altLang="ko-KR" spc="-20"/>
          </a:p>
          <a:p>
            <a:pPr lvl="3"/>
            <a:r>
              <a:rPr lang="ko-KR" altLang="en-US" spc="-20" smtClean="0"/>
              <a:t>보안 이벤트 통계</a:t>
            </a:r>
            <a:r>
              <a:rPr lang="en-US" altLang="ko-KR" spc="-20" smtClean="0"/>
              <a:t>, </a:t>
            </a:r>
            <a:r>
              <a:rPr lang="ko-KR" altLang="en-US" spc="-20" smtClean="0"/>
              <a:t>정책 효율화 등을 위한 공격 데이터와 영향력 검증 결과 수집 및 저장</a:t>
            </a:r>
            <a:endParaRPr lang="en-US" altLang="ko-KR" spc="-20" smtClean="0"/>
          </a:p>
          <a:p>
            <a:pPr lvl="3"/>
            <a:endParaRPr lang="en-US" altLang="ko-KR" spc="-20" smtClean="0"/>
          </a:p>
          <a:p>
            <a:pPr lvl="2"/>
            <a:r>
              <a:rPr lang="ko-KR" altLang="en-US" spc="-20" smtClean="0"/>
              <a:t>영향력 분석 간소화 및 분석 속도 향상</a:t>
            </a:r>
            <a:endParaRPr lang="en-US" altLang="ko-KR" spc="-20" smtClean="0"/>
          </a:p>
          <a:p>
            <a:pPr lvl="3"/>
            <a:r>
              <a:rPr lang="ko-KR" altLang="en-US" spc="-20" smtClean="0"/>
              <a:t>장비에 </a:t>
            </a:r>
            <a:r>
              <a:rPr lang="ko-KR" altLang="en-US" spc="-20"/>
              <a:t>접속 후 확인해야 했던 </a:t>
            </a:r>
            <a:r>
              <a:rPr lang="en-US" altLang="ko-KR" spc="-20"/>
              <a:t>Raw-data</a:t>
            </a:r>
            <a:r>
              <a:rPr lang="ko-KR" altLang="en-US" spc="-20"/>
              <a:t>를 </a:t>
            </a:r>
            <a:r>
              <a:rPr lang="en-US" altLang="ko-KR" spc="-20"/>
              <a:t>ESM</a:t>
            </a:r>
            <a:r>
              <a:rPr lang="ko-KR" altLang="en-US" spc="-20"/>
              <a:t>에서 바로 확인 및 </a:t>
            </a:r>
            <a:r>
              <a:rPr lang="en-US" altLang="ko-KR" spc="-20"/>
              <a:t>Replay</a:t>
            </a:r>
            <a:r>
              <a:rPr lang="ko-KR" altLang="en-US" spc="-20"/>
              <a:t>하여 영향력 분석 간소화 및 속도 향상</a:t>
            </a:r>
            <a:endParaRPr lang="en-US" altLang="ko-KR" spc="-20"/>
          </a:p>
          <a:p>
            <a:pPr lvl="3"/>
            <a:endParaRPr lang="en-US" altLang="ko-KR" spc="-20" dirty="0"/>
          </a:p>
          <a:p>
            <a:pPr lvl="1"/>
            <a:r>
              <a:rPr lang="ko-KR" altLang="en-US" b="1" spc="-20" smtClean="0">
                <a:solidFill>
                  <a:schemeClr val="tx1"/>
                </a:solidFill>
              </a:rPr>
              <a:t>활용 목표</a:t>
            </a:r>
            <a:endParaRPr lang="en-US" altLang="ko-KR" b="1" spc="-20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spc="-20" smtClean="0"/>
              <a:t>정</a:t>
            </a:r>
            <a:r>
              <a:rPr lang="en-US" altLang="ko-KR" spc="-20" smtClean="0"/>
              <a:t>/</a:t>
            </a:r>
            <a:r>
              <a:rPr lang="ko-KR" altLang="en-US" spc="-20" smtClean="0"/>
              <a:t>오탐 검증 강화</a:t>
            </a:r>
            <a:endParaRPr lang="en-US" altLang="ko-KR" spc="-20" smtClean="0"/>
          </a:p>
          <a:p>
            <a:pPr lvl="3"/>
            <a:r>
              <a:rPr lang="ko-KR" altLang="en-US" spc="-20" smtClean="0"/>
              <a:t>자동으로 분석이 가능한 규칙를 선별하고 영향력 검증 시스템에 적용하여 영향력 없는 이벤트 제거 </a:t>
            </a:r>
            <a:r>
              <a:rPr lang="en-US" altLang="ko-KR" spc="-20" smtClean="0"/>
              <a:t>(</a:t>
            </a:r>
            <a:r>
              <a:rPr lang="ko-KR" altLang="en-US" spc="-20" smtClean="0"/>
              <a:t>대상 규칙의 약 </a:t>
            </a:r>
            <a:r>
              <a:rPr lang="en-US" altLang="ko-KR" spc="-20"/>
              <a:t>4</a:t>
            </a:r>
            <a:r>
              <a:rPr lang="en-US" altLang="ko-KR" spc="-20" smtClean="0"/>
              <a:t>0% </a:t>
            </a:r>
            <a:r>
              <a:rPr lang="ko-KR" altLang="en-US" spc="-20" smtClean="0"/>
              <a:t>감소 기대</a:t>
            </a:r>
            <a:r>
              <a:rPr lang="en-US" altLang="ko-KR" spc="-20" smtClean="0"/>
              <a:t>)</a:t>
            </a:r>
          </a:p>
          <a:p>
            <a:pPr lvl="3"/>
            <a:r>
              <a:rPr lang="ko-KR" altLang="en-US" spc="-20" smtClean="0"/>
              <a:t>자동 분석 후 트리거 된 영향력 확인이 필요한 이벤트에 집중</a:t>
            </a:r>
            <a:endParaRPr lang="en-US" altLang="ko-KR" spc="-20" smtClean="0"/>
          </a:p>
          <a:p>
            <a:pPr lvl="3"/>
            <a:endParaRPr lang="en-US" altLang="ko-KR" spc="-20"/>
          </a:p>
          <a:p>
            <a:pPr lvl="2"/>
            <a:r>
              <a:rPr lang="ko-KR" altLang="en-US" spc="-20" smtClean="0"/>
              <a:t>보안 이벤트 통계</a:t>
            </a:r>
            <a:endParaRPr lang="en-US" altLang="ko-KR" spc="-20" smtClean="0"/>
          </a:p>
          <a:p>
            <a:pPr lvl="3"/>
            <a:r>
              <a:rPr lang="ko-KR" altLang="en-US" spc="-20" smtClean="0"/>
              <a:t>트리거 된 모든 이벤트와 자동 영향력 분석 결과를 저장하여 시각화 된 보안 이벤트 정보 제공</a:t>
            </a:r>
            <a:endParaRPr lang="en-US" altLang="ko-KR" spc="-20" smtClean="0"/>
          </a:p>
          <a:p>
            <a:pPr lvl="3"/>
            <a:endParaRPr lang="en-US" altLang="ko-KR" spc="-20" smtClean="0"/>
          </a:p>
          <a:p>
            <a:pPr lvl="2"/>
            <a:r>
              <a:rPr lang="ko-KR" altLang="en-US" spc="-20" smtClean="0"/>
              <a:t>영향력 분석 </a:t>
            </a:r>
            <a:r>
              <a:rPr lang="ko-KR" altLang="en-US" spc="-20" dirty="0" smtClean="0"/>
              <a:t>간소화 </a:t>
            </a:r>
            <a:r>
              <a:rPr lang="ko-KR" altLang="en-US" spc="-20" smtClean="0"/>
              <a:t>및 분석 속도 향상</a:t>
            </a:r>
            <a:endParaRPr lang="en-US" altLang="ko-KR" spc="-20" dirty="0" smtClean="0">
              <a:solidFill>
                <a:schemeClr val="tx1"/>
              </a:solidFill>
            </a:endParaRPr>
          </a:p>
          <a:p>
            <a:pPr lvl="3"/>
            <a:r>
              <a:rPr lang="en-US" altLang="ko-KR" spc="-20" smtClean="0">
                <a:solidFill>
                  <a:schemeClr val="tx1"/>
                </a:solidFill>
              </a:rPr>
              <a:t>ESM</a:t>
            </a:r>
            <a:r>
              <a:rPr lang="ko-KR" altLang="en-US" spc="-20" smtClean="0">
                <a:solidFill>
                  <a:schemeClr val="tx1"/>
                </a:solidFill>
              </a:rPr>
              <a:t>으로 수신 된 </a:t>
            </a:r>
            <a:r>
              <a:rPr lang="en-US" altLang="ko-KR" spc="-20" smtClean="0">
                <a:solidFill>
                  <a:schemeClr val="tx1"/>
                </a:solidFill>
              </a:rPr>
              <a:t>Raw-data</a:t>
            </a:r>
            <a:r>
              <a:rPr lang="ko-KR" altLang="en-US" spc="-20" smtClean="0"/>
              <a:t>를 장비에 접속하지 않고 영향력 분석 및 공격 유형에 맞는 </a:t>
            </a:r>
            <a:r>
              <a:rPr lang="en-US" altLang="ko-KR" spc="-20" smtClean="0"/>
              <a:t>POC </a:t>
            </a:r>
            <a:r>
              <a:rPr lang="ko-KR" altLang="en-US" spc="-20" smtClean="0"/>
              <a:t>재생</a:t>
            </a:r>
            <a:endParaRPr lang="en-US" altLang="ko-KR" spc="-20" smtClean="0"/>
          </a:p>
          <a:p>
            <a:pPr lvl="4"/>
            <a:r>
              <a:rPr lang="en-US" altLang="ko-KR" spc="-20" smtClean="0"/>
              <a:t>HTTP </a:t>
            </a:r>
            <a:r>
              <a:rPr lang="ko-KR" altLang="en-US" spc="-20" dirty="0" smtClean="0"/>
              <a:t>패킷에 대해 </a:t>
            </a:r>
            <a:r>
              <a:rPr lang="en-US" altLang="ko-KR" spc="-20" dirty="0" smtClean="0"/>
              <a:t>Raw-data</a:t>
            </a:r>
            <a:r>
              <a:rPr lang="ko-KR" altLang="en-US" spc="-20" dirty="0" smtClean="0"/>
              <a:t>를 </a:t>
            </a:r>
            <a:r>
              <a:rPr lang="ko-KR" altLang="en-US" spc="-20" smtClean="0"/>
              <a:t>즉시 </a:t>
            </a:r>
            <a:r>
              <a:rPr lang="en-US" altLang="ko-KR" spc="-20" smtClean="0"/>
              <a:t>Replay</a:t>
            </a:r>
            <a:r>
              <a:rPr lang="ko-KR" altLang="en-US" spc="-20" dirty="0" smtClean="0"/>
              <a:t>하여 </a:t>
            </a:r>
            <a:r>
              <a:rPr lang="ko-KR" altLang="en-US" spc="-20" smtClean="0"/>
              <a:t>영향력 확인</a:t>
            </a:r>
            <a:endParaRPr lang="en-US" altLang="ko-KR" spc="-20" dirty="0" smtClean="0"/>
          </a:p>
          <a:p>
            <a:pPr lvl="4"/>
            <a:r>
              <a:rPr lang="en-US" altLang="ko-KR" spc="-20" dirty="0" err="1" smtClean="0"/>
              <a:t>Bruteforce</a:t>
            </a:r>
            <a:r>
              <a:rPr lang="en-US" altLang="ko-KR" spc="-20" dirty="0" smtClean="0"/>
              <a:t>, Scan </a:t>
            </a:r>
            <a:r>
              <a:rPr lang="ko-KR" altLang="en-US" spc="-20" dirty="0" smtClean="0"/>
              <a:t>및 </a:t>
            </a:r>
            <a:r>
              <a:rPr lang="en-US" altLang="ko-KR" spc="-20" dirty="0" smtClean="0"/>
              <a:t>POC</a:t>
            </a:r>
            <a:r>
              <a:rPr lang="ko-KR" altLang="en-US" spc="-20" dirty="0" smtClean="0"/>
              <a:t>가 확보된 된 공격 유형의 경우</a:t>
            </a:r>
            <a:r>
              <a:rPr lang="en-US" altLang="ko-KR" spc="-20" dirty="0" smtClean="0"/>
              <a:t>,  </a:t>
            </a:r>
            <a:r>
              <a:rPr lang="ko-KR" altLang="en-US" spc="-20" dirty="0" smtClean="0"/>
              <a:t>실제 서비스에 영향을 주지 않도록 </a:t>
            </a:r>
            <a:r>
              <a:rPr lang="en-US" altLang="ko-KR" spc="-20" dirty="0" smtClean="0"/>
              <a:t>POC</a:t>
            </a:r>
            <a:r>
              <a:rPr lang="ko-KR" altLang="en-US" spc="-20" dirty="0" smtClean="0"/>
              <a:t>를 이용하여 </a:t>
            </a:r>
            <a:r>
              <a:rPr lang="ko-KR" altLang="en-US" spc="-20" smtClean="0"/>
              <a:t>영향력 확인</a:t>
            </a:r>
            <a:endParaRPr lang="en-US" altLang="ko-KR" spc="-20" dirty="0" smtClean="0"/>
          </a:p>
          <a:p>
            <a:pPr lvl="0"/>
            <a:endParaRPr lang="ko-KR" altLang="en-US" spc="-2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52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</a:t>
            </a:r>
            <a:r>
              <a:rPr lang="ko-KR" altLang="en-US" dirty="0"/>
              <a:t> </a:t>
            </a:r>
            <a:r>
              <a:rPr lang="ko-KR" altLang="en-US" dirty="0" smtClean="0"/>
              <a:t>활용계획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12000" y="1233852"/>
            <a:ext cx="7920000" cy="4931452"/>
          </a:xfrm>
        </p:spPr>
        <p:txBody>
          <a:bodyPr/>
          <a:lstStyle/>
          <a:p>
            <a:pPr lvl="1"/>
            <a:r>
              <a:rPr lang="en-US" altLang="ko-KR" b="1" dirty="0" smtClean="0"/>
              <a:t>ARA(Automatic </a:t>
            </a:r>
            <a:r>
              <a:rPr lang="en-US" altLang="ko-KR" b="1" dirty="0"/>
              <a:t>Raw-data Analysis</a:t>
            </a:r>
            <a:r>
              <a:rPr lang="en-US" altLang="ko-KR" b="1" dirty="0" smtClean="0"/>
              <a:t>) – </a:t>
            </a:r>
            <a:r>
              <a:rPr lang="ko-KR" altLang="en-US" b="1" dirty="0" smtClean="0"/>
              <a:t>영향력 검증 자동화 모듈</a:t>
            </a:r>
            <a:endParaRPr lang="en-US" altLang="ko-KR" b="1" dirty="0"/>
          </a:p>
          <a:p>
            <a:pPr lvl="2"/>
            <a:r>
              <a:rPr lang="ko-KR" altLang="en-US" spc="-20" dirty="0" smtClean="0"/>
              <a:t>선별된 상관이벤트를 기준으로 </a:t>
            </a:r>
            <a:r>
              <a:rPr lang="en-US" altLang="ko-KR" spc="-20" dirty="0" smtClean="0"/>
              <a:t>Base </a:t>
            </a:r>
            <a:r>
              <a:rPr lang="ko-KR" altLang="en-US" spc="-20" dirty="0" smtClean="0"/>
              <a:t>이벤트의 공격 유형별 자동으로 영향력 확인</a:t>
            </a:r>
            <a:endParaRPr lang="en-US" altLang="ko-KR" spc="-20" dirty="0" smtClean="0"/>
          </a:p>
          <a:p>
            <a:pPr lvl="3"/>
            <a:r>
              <a:rPr lang="en-US" altLang="ko-KR" u="sng" spc="-20" dirty="0" smtClean="0">
                <a:solidFill>
                  <a:schemeClr val="tx1"/>
                </a:solidFill>
              </a:rPr>
              <a:t>Web Scan / HTTP Attack : HTTP Request / Response Code</a:t>
            </a:r>
          </a:p>
          <a:p>
            <a:pPr lvl="3"/>
            <a:r>
              <a:rPr lang="en-US" altLang="ko-KR" spc="-20" dirty="0" err="1"/>
              <a:t>Webshell</a:t>
            </a:r>
            <a:r>
              <a:rPr lang="en-US" altLang="ko-KR" spc="-20" dirty="0"/>
              <a:t> / </a:t>
            </a:r>
            <a:r>
              <a:rPr lang="en-US" altLang="ko-KR" spc="-20" dirty="0" smtClean="0"/>
              <a:t>Gain info: </a:t>
            </a:r>
            <a:r>
              <a:rPr lang="en-US" altLang="ko-KR" spc="-20" dirty="0"/>
              <a:t>Web Screenshot(</a:t>
            </a:r>
            <a:r>
              <a:rPr lang="ko-KR" altLang="en-US" spc="-20" dirty="0"/>
              <a:t>추후 계획</a:t>
            </a:r>
            <a:r>
              <a:rPr lang="en-US" altLang="ko-KR" spc="-20" dirty="0" smtClean="0"/>
              <a:t>)</a:t>
            </a:r>
            <a:endParaRPr lang="en-US" altLang="ko-KR" spc="-20" dirty="0"/>
          </a:p>
          <a:p>
            <a:pPr lvl="3"/>
            <a:r>
              <a:rPr lang="en-US" altLang="ko-KR" spc="-20" dirty="0"/>
              <a:t>Malware : </a:t>
            </a:r>
            <a:r>
              <a:rPr lang="en-US" altLang="ko-KR" spc="-20" dirty="0" err="1"/>
              <a:t>Fireeye</a:t>
            </a:r>
            <a:r>
              <a:rPr lang="en-US" altLang="ko-KR" spc="-20" dirty="0"/>
              <a:t> / VT / CC Sandbox Data(</a:t>
            </a:r>
            <a:r>
              <a:rPr lang="ko-KR" altLang="en-US" spc="-20" dirty="0"/>
              <a:t>추후 계획</a:t>
            </a:r>
            <a:r>
              <a:rPr lang="en-US" altLang="ko-KR" spc="-20" dirty="0"/>
              <a:t>)</a:t>
            </a:r>
          </a:p>
          <a:p>
            <a:pPr marL="468000" lvl="3" indent="0">
              <a:buNone/>
            </a:pPr>
            <a:endParaRPr lang="en-US" altLang="ko-KR" spc="-20" dirty="0" smtClean="0">
              <a:solidFill>
                <a:schemeClr val="tx1"/>
              </a:solidFill>
            </a:endParaRPr>
          </a:p>
          <a:p>
            <a:pPr lvl="1"/>
            <a:r>
              <a:rPr lang="en-US" altLang="ko-KR" b="1" dirty="0"/>
              <a:t>RR </a:t>
            </a:r>
            <a:r>
              <a:rPr lang="en-US" altLang="ko-KR" b="1" dirty="0" smtClean="0"/>
              <a:t>DB(Raw </a:t>
            </a:r>
            <a:r>
              <a:rPr lang="en-US" altLang="ko-KR" b="1" dirty="0"/>
              <a:t>result DB</a:t>
            </a:r>
            <a:r>
              <a:rPr lang="en-US" altLang="ko-KR" b="1" dirty="0" smtClean="0"/>
              <a:t>) </a:t>
            </a:r>
            <a:endParaRPr lang="en-US" altLang="ko-KR" b="1" dirty="0"/>
          </a:p>
          <a:p>
            <a:pPr lvl="2"/>
            <a:r>
              <a:rPr lang="ko-KR" altLang="en-US" spc="-20" dirty="0" smtClean="0"/>
              <a:t>탐지된 </a:t>
            </a:r>
            <a:r>
              <a:rPr lang="ko-KR" altLang="en-US" spc="-20" dirty="0"/>
              <a:t>이벤트의 </a:t>
            </a:r>
            <a:r>
              <a:rPr lang="en-US" altLang="ko-KR" spc="-20" dirty="0" smtClean="0"/>
              <a:t>Raw-data</a:t>
            </a:r>
            <a:r>
              <a:rPr lang="ko-KR" altLang="en-US" spc="-20" dirty="0" smtClean="0"/>
              <a:t> 정보 영향력 분석결과 수집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탐지된 이벤트의 정보와 응답 결과</a:t>
            </a:r>
            <a:endParaRPr lang="en-US" altLang="ko-KR" spc="-20" dirty="0" smtClean="0"/>
          </a:p>
          <a:p>
            <a:pPr lvl="2"/>
            <a:r>
              <a:rPr lang="ko-KR" altLang="en-US" spc="-20" dirty="0" smtClean="0"/>
              <a:t>수집된 결과로 이벤트 분석에 대한 보조 정보 제공</a:t>
            </a:r>
            <a:endParaRPr lang="en-US" altLang="ko-KR" spc="-20" dirty="0" smtClean="0"/>
          </a:p>
          <a:p>
            <a:pPr lvl="3"/>
            <a:r>
              <a:rPr lang="ko-KR" altLang="en-US" spc="-20" dirty="0" err="1" smtClean="0"/>
              <a:t>오탐이</a:t>
            </a:r>
            <a:r>
              <a:rPr lang="ko-KR" altLang="en-US" spc="-20" dirty="0" smtClean="0"/>
              <a:t> 다수 발생하는 이벤트의 </a:t>
            </a:r>
            <a:r>
              <a:rPr lang="en-US" altLang="ko-KR" spc="-20" dirty="0" smtClean="0"/>
              <a:t>Raw-data </a:t>
            </a:r>
            <a:r>
              <a:rPr lang="ko-KR" altLang="en-US" spc="-20" dirty="0" smtClean="0"/>
              <a:t>확보로 정책효율화에 활용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공격 추이 및 형태에 대한 통계자료 제공</a:t>
            </a:r>
            <a:r>
              <a:rPr lang="en-US" altLang="ko-KR" spc="-20" dirty="0" smtClean="0"/>
              <a:t>(</a:t>
            </a:r>
            <a:r>
              <a:rPr lang="ko-KR" altLang="en-US" spc="-20" dirty="0" smtClean="0"/>
              <a:t>공격 </a:t>
            </a:r>
            <a:r>
              <a:rPr lang="en-US" altLang="ko-KR" spc="-20" dirty="0" smtClean="0"/>
              <a:t>Data </a:t>
            </a:r>
            <a:r>
              <a:rPr lang="ko-KR" altLang="en-US" spc="-20" dirty="0" smtClean="0"/>
              <a:t>컬럼 별 수집 </a:t>
            </a:r>
            <a:r>
              <a:rPr lang="en-US" altLang="ko-KR" spc="-20" dirty="0" smtClean="0"/>
              <a:t>)</a:t>
            </a:r>
          </a:p>
          <a:p>
            <a:pPr lvl="3"/>
            <a:r>
              <a:rPr lang="en-US" altLang="ko-KR" spc="-20" dirty="0" smtClean="0"/>
              <a:t>ARA</a:t>
            </a:r>
            <a:r>
              <a:rPr lang="ko-KR" altLang="en-US" spc="-20" dirty="0" smtClean="0"/>
              <a:t>에서 공격 정보를 실시간으로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조회하여 관련 정보 제공</a:t>
            </a:r>
            <a:endParaRPr lang="en-US" altLang="ko-KR" spc="-20" dirty="0" smtClean="0"/>
          </a:p>
          <a:p>
            <a:pPr marL="468000" lvl="3" indent="0">
              <a:buNone/>
            </a:pPr>
            <a:endParaRPr lang="en-US" altLang="ko-KR" spc="-20" dirty="0" smtClean="0"/>
          </a:p>
          <a:p>
            <a:pPr lvl="1"/>
            <a:r>
              <a:rPr lang="en-US" altLang="ko-KR" b="1" dirty="0" err="1"/>
              <a:t>ReAPI</a:t>
            </a:r>
            <a:r>
              <a:rPr lang="en-US" altLang="ko-KR" b="1" dirty="0"/>
              <a:t>  - </a:t>
            </a:r>
            <a:r>
              <a:rPr lang="ko-KR" altLang="en-US" b="1" dirty="0"/>
              <a:t>영향력 확인 간소화 </a:t>
            </a:r>
            <a:r>
              <a:rPr lang="ko-KR" altLang="en-US" b="1" dirty="0" smtClean="0"/>
              <a:t>모듈 </a:t>
            </a:r>
            <a:r>
              <a:rPr lang="en-US" altLang="ko-KR" b="1" dirty="0" smtClean="0"/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추후 진행</a:t>
            </a:r>
            <a:r>
              <a:rPr lang="en-US" altLang="ko-KR" b="1" dirty="0" smtClean="0"/>
              <a:t>)</a:t>
            </a:r>
            <a:endParaRPr lang="en-US" altLang="ko-KR" b="1" dirty="0"/>
          </a:p>
          <a:p>
            <a:pPr lvl="2"/>
            <a:r>
              <a:rPr lang="en-US" altLang="ko-KR" spc="-20" dirty="0"/>
              <a:t> API </a:t>
            </a:r>
            <a:r>
              <a:rPr lang="ko-KR" altLang="en-US" spc="-20" dirty="0"/>
              <a:t>활용한 이벤트 재생</a:t>
            </a:r>
            <a:endParaRPr lang="en-US" altLang="ko-KR" spc="-20" dirty="0"/>
          </a:p>
          <a:p>
            <a:pPr lvl="3"/>
            <a:r>
              <a:rPr lang="en-US" altLang="ko-KR" spc="-20" dirty="0"/>
              <a:t>IAC </a:t>
            </a:r>
            <a:r>
              <a:rPr lang="ko-KR" altLang="en-US" spc="-20" dirty="0"/>
              <a:t>서버에 </a:t>
            </a:r>
            <a:r>
              <a:rPr lang="en-US" altLang="ko-KR" spc="-20" dirty="0"/>
              <a:t>API App</a:t>
            </a:r>
            <a:r>
              <a:rPr lang="ko-KR" altLang="en-US" spc="-20" dirty="0"/>
              <a:t>를 기능을 추가</a:t>
            </a:r>
            <a:endParaRPr lang="en-US" altLang="ko-KR" spc="-20" dirty="0"/>
          </a:p>
          <a:p>
            <a:pPr lvl="3"/>
            <a:r>
              <a:rPr lang="en-US" altLang="ko-KR" spc="-20" dirty="0"/>
              <a:t>ESM </a:t>
            </a:r>
            <a:r>
              <a:rPr lang="ko-KR" altLang="en-US" spc="-20" dirty="0"/>
              <a:t>통합 명령을 통해 </a:t>
            </a:r>
            <a:r>
              <a:rPr lang="en-US" altLang="ko-KR" spc="-20" dirty="0"/>
              <a:t> Raw-data</a:t>
            </a:r>
            <a:r>
              <a:rPr lang="ko-KR" altLang="en-US" spc="-20" dirty="0"/>
              <a:t>를 전송하여  재생 검증 진행</a:t>
            </a:r>
            <a:endParaRPr lang="en-US" altLang="ko-KR" spc="-20" dirty="0"/>
          </a:p>
          <a:p>
            <a:pPr lvl="2"/>
            <a:r>
              <a:rPr lang="ko-KR" altLang="en-US" spc="-20" dirty="0"/>
              <a:t>각 공격 유형별 </a:t>
            </a:r>
            <a:r>
              <a:rPr lang="en-US" altLang="ko-KR" spc="-20" dirty="0"/>
              <a:t>POC </a:t>
            </a:r>
            <a:r>
              <a:rPr lang="ko-KR" altLang="en-US" spc="-20" dirty="0"/>
              <a:t>데이터 활용</a:t>
            </a:r>
            <a:endParaRPr lang="en-US" altLang="ko-KR" spc="-20" dirty="0"/>
          </a:p>
          <a:p>
            <a:pPr lvl="3"/>
            <a:r>
              <a:rPr lang="en-US" altLang="ko-KR" spc="-20" dirty="0" err="1"/>
              <a:t>Bruteforce</a:t>
            </a:r>
            <a:r>
              <a:rPr lang="en-US" altLang="ko-KR" spc="-20" dirty="0"/>
              <a:t>, Scan </a:t>
            </a:r>
            <a:r>
              <a:rPr lang="ko-KR" altLang="en-US" spc="-20" dirty="0"/>
              <a:t>등의 행동 기반에 공격 형태에 대한 효율적인 영향력 분석</a:t>
            </a:r>
            <a:endParaRPr lang="en-US" altLang="ko-KR" spc="-20" dirty="0"/>
          </a:p>
          <a:p>
            <a:pPr lvl="3"/>
            <a:r>
              <a:rPr lang="en-US" altLang="ko-KR" spc="-20" dirty="0"/>
              <a:t>POC</a:t>
            </a:r>
            <a:r>
              <a:rPr lang="ko-KR" altLang="en-US" spc="-20" dirty="0"/>
              <a:t>가 확보된 이벤트를 선별하여 </a:t>
            </a:r>
            <a:r>
              <a:rPr lang="en-US" altLang="ko-KR" spc="-20" dirty="0"/>
              <a:t>Raw-data </a:t>
            </a:r>
            <a:r>
              <a:rPr lang="ko-KR" altLang="en-US" spc="-20" dirty="0"/>
              <a:t>정보를 토대로 취약점에 맞는 </a:t>
            </a:r>
            <a:r>
              <a:rPr lang="en-US" altLang="ko-KR" spc="-20" dirty="0"/>
              <a:t>POC </a:t>
            </a:r>
            <a:r>
              <a:rPr lang="ko-KR" altLang="en-US" spc="-20" dirty="0"/>
              <a:t>재생하여 영향력 확인</a:t>
            </a:r>
            <a:endParaRPr lang="en-US" altLang="ko-KR" spc="-20" dirty="0"/>
          </a:p>
          <a:p>
            <a:pPr marL="468000" lvl="3" indent="0">
              <a:buNone/>
            </a:pPr>
            <a:r>
              <a:rPr lang="en-US" altLang="ko-KR" spc="-20" dirty="0"/>
              <a:t>     </a:t>
            </a:r>
            <a:endParaRPr lang="en-US" altLang="ko-KR" b="1" spc="-20" dirty="0"/>
          </a:p>
          <a:p>
            <a:pPr marL="468000" lvl="3" indent="0">
              <a:buNone/>
            </a:pPr>
            <a:endParaRPr lang="en-US" altLang="ko-KR" spc="-20" dirty="0"/>
          </a:p>
          <a:p>
            <a:pPr lvl="3"/>
            <a:endParaRPr lang="en-US" altLang="ko-KR" spc="-20" dirty="0" smtClean="0"/>
          </a:p>
        </p:txBody>
      </p:sp>
    </p:spTree>
    <p:extLst>
      <p:ext uri="{BB962C8B-B14F-4D97-AF65-F5344CB8AC3E}">
        <p14:creationId xmlns:p14="http://schemas.microsoft.com/office/powerpoint/2010/main" val="242825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아래로 구부러진 화살표 126"/>
          <p:cNvSpPr/>
          <p:nvPr/>
        </p:nvSpPr>
        <p:spPr>
          <a:xfrm rot="5025320">
            <a:off x="6517198" y="1723141"/>
            <a:ext cx="976413" cy="877374"/>
          </a:xfrm>
          <a:prstGeom prst="curvedDownArrow">
            <a:avLst>
              <a:gd name="adj1" fmla="val 15664"/>
              <a:gd name="adj2" fmla="val 38093"/>
              <a:gd name="adj3" fmla="val 3991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구름 28"/>
          <p:cNvSpPr/>
          <p:nvPr/>
        </p:nvSpPr>
        <p:spPr>
          <a:xfrm>
            <a:off x="4873251" y="1244616"/>
            <a:ext cx="3649668" cy="2060263"/>
          </a:xfrm>
          <a:prstGeom prst="cloud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584775"/>
          </a:xfrm>
        </p:spPr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" dirty="0" smtClean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구성도</a:t>
            </a:r>
            <a:endParaRPr lang="ko-KR" altLang="ko-KR" spc="-20" dirty="0" smtClean="0"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endParaRPr lang="ko-KR" altLang="en-US" spc="-2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82" y="2605070"/>
            <a:ext cx="784771" cy="971154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/>
        </p:nvSpPr>
        <p:spPr>
          <a:xfrm>
            <a:off x="624537" y="2372624"/>
            <a:ext cx="2124637" cy="154677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720698" y="3148142"/>
            <a:ext cx="1169509" cy="695524"/>
            <a:chOff x="799349" y="2999138"/>
            <a:chExt cx="1159502" cy="695524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673" y="2999138"/>
              <a:ext cx="579031" cy="53999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99349" y="3479218"/>
              <a:ext cx="11595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>
                  <a:latin typeface="+mn-ea"/>
                </a:rPr>
                <a:t>connector</a:t>
              </a:r>
              <a:endParaRPr lang="ko-KR" altLang="en-US" sz="800" b="1" dirty="0">
                <a:latin typeface="+mn-ea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142217" y="1911646"/>
            <a:ext cx="1108940" cy="1227762"/>
            <a:chOff x="5857162" y="2295969"/>
            <a:chExt cx="1193171" cy="1308586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7162" y="2295969"/>
              <a:ext cx="1193171" cy="1145444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6270687" y="3389111"/>
              <a:ext cx="5626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>
                  <a:latin typeface="+mn-ea"/>
                </a:rPr>
                <a:t>ARA</a:t>
              </a:r>
              <a:endParaRPr lang="ko-KR" altLang="en-US" sz="800" b="1" dirty="0">
                <a:latin typeface="+mn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438903" y="5246125"/>
            <a:ext cx="668392" cy="825045"/>
            <a:chOff x="6260200" y="4125348"/>
            <a:chExt cx="668392" cy="825045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0200" y="4125348"/>
              <a:ext cx="668392" cy="66839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6327424" y="4734949"/>
              <a:ext cx="5626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>
                  <a:latin typeface="+mn-ea"/>
                </a:rPr>
                <a:t>SOC</a:t>
              </a:r>
            </a:p>
          </p:txBody>
        </p:sp>
      </p:grpSp>
      <p:cxnSp>
        <p:nvCxnSpPr>
          <p:cNvPr id="44" name="꺾인 연결선 43"/>
          <p:cNvCxnSpPr>
            <a:stCxn id="22" idx="2"/>
            <a:endCxn id="59" idx="1"/>
          </p:cNvCxnSpPr>
          <p:nvPr/>
        </p:nvCxnSpPr>
        <p:spPr>
          <a:xfrm rot="16200000" flipH="1">
            <a:off x="2793740" y="3355378"/>
            <a:ext cx="408169" cy="1384743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20" idx="3"/>
          </p:cNvCxnSpPr>
          <p:nvPr/>
        </p:nvCxnSpPr>
        <p:spPr>
          <a:xfrm flipV="1">
            <a:off x="2549262" y="2312488"/>
            <a:ext cx="2592955" cy="3918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8" name="그룹 107"/>
          <p:cNvGrpSpPr/>
          <p:nvPr/>
        </p:nvGrpSpPr>
        <p:grpSpPr>
          <a:xfrm>
            <a:off x="3690196" y="3800488"/>
            <a:ext cx="846150" cy="1119314"/>
            <a:chOff x="6084168" y="4077072"/>
            <a:chExt cx="846150" cy="1119314"/>
          </a:xfrm>
        </p:grpSpPr>
        <p:sp>
          <p:nvSpPr>
            <p:cNvPr id="14" name="TextBox 13"/>
            <p:cNvSpPr txBox="1"/>
            <p:nvPr/>
          </p:nvSpPr>
          <p:spPr>
            <a:xfrm>
              <a:off x="6088770" y="4980942"/>
              <a:ext cx="8012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>
                  <a:latin typeface="+mn-ea"/>
                </a:rPr>
                <a:t>RR DB</a:t>
              </a:r>
              <a:endParaRPr lang="ko-KR" altLang="en-US" sz="800" b="1" dirty="0">
                <a:latin typeface="+mn-ea"/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4168" y="4077072"/>
              <a:ext cx="846150" cy="902694"/>
            </a:xfrm>
            <a:prstGeom prst="rect">
              <a:avLst/>
            </a:prstGeom>
          </p:spPr>
        </p:pic>
      </p:grpSp>
      <p:cxnSp>
        <p:nvCxnSpPr>
          <p:cNvPr id="74" name="꺾인 연결선 73"/>
          <p:cNvCxnSpPr>
            <a:stCxn id="59" idx="0"/>
            <a:endCxn id="26" idx="1"/>
          </p:cNvCxnSpPr>
          <p:nvPr/>
        </p:nvCxnSpPr>
        <p:spPr>
          <a:xfrm rot="5400000" flipH="1" flipV="1">
            <a:off x="3951997" y="2610268"/>
            <a:ext cx="1351494" cy="1028946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endCxn id="16" idx="2"/>
          </p:cNvCxnSpPr>
          <p:nvPr/>
        </p:nvCxnSpPr>
        <p:spPr>
          <a:xfrm rot="10800000">
            <a:off x="1261269" y="3576224"/>
            <a:ext cx="2395979" cy="891488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>
            <a:off x="2001241" y="2434361"/>
            <a:ext cx="562627" cy="705045"/>
            <a:chOff x="2560102" y="3049532"/>
            <a:chExt cx="562627" cy="705045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74709" y="3049532"/>
              <a:ext cx="533414" cy="5400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102" y="3539133"/>
              <a:ext cx="5626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>
                  <a:latin typeface="+mn-ea"/>
                </a:rPr>
                <a:t>console</a:t>
              </a:r>
              <a:endParaRPr lang="ko-KR" altLang="en-US" sz="800" b="1" dirty="0">
                <a:latin typeface="+mn-ea"/>
              </a:endParaRPr>
            </a:p>
          </p:txBody>
        </p:sp>
      </p:grpSp>
      <p:cxnSp>
        <p:nvCxnSpPr>
          <p:cNvPr id="110" name="꺾인 연결선 109"/>
          <p:cNvCxnSpPr>
            <a:stCxn id="27" idx="2"/>
            <a:endCxn id="59" idx="3"/>
          </p:cNvCxnSpPr>
          <p:nvPr/>
        </p:nvCxnSpPr>
        <p:spPr>
          <a:xfrm rot="5400000">
            <a:off x="4605963" y="3069792"/>
            <a:ext cx="1112427" cy="1251659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타원 114"/>
          <p:cNvSpPr/>
          <p:nvPr/>
        </p:nvSpPr>
        <p:spPr>
          <a:xfrm>
            <a:off x="2335879" y="3965060"/>
            <a:ext cx="133885" cy="1332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1</a:t>
            </a:r>
            <a:endParaRPr lang="ko-KR" altLang="en-US" sz="600" dirty="0">
              <a:latin typeface="+mn-ea"/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4164809" y="3609637"/>
            <a:ext cx="133885" cy="1332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latin typeface="+mn-ea"/>
              </a:rPr>
              <a:t>2</a:t>
            </a:r>
            <a:endParaRPr lang="ko-KR" altLang="en-US" sz="600" dirty="0">
              <a:latin typeface="+mn-ea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6516216" y="2114961"/>
            <a:ext cx="133885" cy="1332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4</a:t>
            </a:r>
            <a:endParaRPr lang="ko-KR" altLang="en-US" sz="600" dirty="0">
              <a:latin typeface="+mn-ea"/>
            </a:endParaRPr>
          </a:p>
        </p:txBody>
      </p:sp>
      <p:pic>
        <p:nvPicPr>
          <p:cNvPr id="124" name="그림 1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9740" y="1522064"/>
            <a:ext cx="1381125" cy="333375"/>
          </a:xfrm>
          <a:prstGeom prst="rect">
            <a:avLst/>
          </a:prstGeom>
        </p:spPr>
      </p:pic>
      <p:pic>
        <p:nvPicPr>
          <p:cNvPr id="125" name="그림 1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548" y="1911646"/>
            <a:ext cx="619125" cy="266700"/>
          </a:xfrm>
          <a:prstGeom prst="rect">
            <a:avLst/>
          </a:prstGeom>
        </p:spPr>
      </p:pic>
      <p:pic>
        <p:nvPicPr>
          <p:cNvPr id="126" name="그림 1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8127" y="2234553"/>
            <a:ext cx="1257300" cy="323850"/>
          </a:xfrm>
          <a:prstGeom prst="rect">
            <a:avLst/>
          </a:prstGeom>
        </p:spPr>
      </p:pic>
      <p:sp>
        <p:nvSpPr>
          <p:cNvPr id="131" name="타원 130"/>
          <p:cNvSpPr/>
          <p:nvPr/>
        </p:nvSpPr>
        <p:spPr>
          <a:xfrm>
            <a:off x="5827807" y="3236459"/>
            <a:ext cx="133885" cy="1332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5</a:t>
            </a:r>
            <a:endParaRPr lang="ko-KR" altLang="en-US" sz="600" dirty="0">
              <a:latin typeface="+mn-ea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833892" y="1269027"/>
            <a:ext cx="936104" cy="306000"/>
          </a:xfrm>
          <a:prstGeom prst="round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외부망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3469522" y="4521695"/>
            <a:ext cx="133885" cy="1332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6</a:t>
            </a:r>
            <a:endParaRPr lang="ko-KR" altLang="en-US" sz="600" dirty="0">
              <a:latin typeface="+mn-ea"/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2796142" y="2532139"/>
            <a:ext cx="133885" cy="1332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latin typeface="+mn-ea"/>
              </a:rPr>
              <a:t>3</a:t>
            </a:r>
            <a:endParaRPr lang="ko-KR" altLang="en-US" sz="600" dirty="0">
              <a:latin typeface="+mn-ea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30672" y="2121286"/>
            <a:ext cx="703309" cy="306000"/>
          </a:xfrm>
          <a:prstGeom prst="round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ESM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166" name="꺾인 연결선 165"/>
          <p:cNvCxnSpPr>
            <a:stCxn id="14" idx="2"/>
            <a:endCxn id="32" idx="0"/>
          </p:cNvCxnSpPr>
          <p:nvPr/>
        </p:nvCxnSpPr>
        <p:spPr>
          <a:xfrm rot="5400000">
            <a:off x="2771108" y="3921793"/>
            <a:ext cx="326323" cy="232234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" idx="2"/>
            <a:endCxn id="16" idx="1"/>
          </p:cNvCxnSpPr>
          <p:nvPr/>
        </p:nvCxnSpPr>
        <p:spPr>
          <a:xfrm rot="5400000" flipH="1">
            <a:off x="1567583" y="2391947"/>
            <a:ext cx="1829155" cy="3226557"/>
          </a:xfrm>
          <a:prstGeom prst="bentConnector4">
            <a:avLst>
              <a:gd name="adj1" fmla="val -8927"/>
              <a:gd name="adj2" fmla="val 10509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타원 187"/>
          <p:cNvSpPr/>
          <p:nvPr/>
        </p:nvSpPr>
        <p:spPr>
          <a:xfrm>
            <a:off x="4147491" y="4937448"/>
            <a:ext cx="133885" cy="1332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7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203" name="그룹 202"/>
          <p:cNvGrpSpPr/>
          <p:nvPr/>
        </p:nvGrpSpPr>
        <p:grpSpPr>
          <a:xfrm>
            <a:off x="1419115" y="1277132"/>
            <a:ext cx="736649" cy="755262"/>
            <a:chOff x="2570523" y="1312063"/>
            <a:chExt cx="736649" cy="755262"/>
          </a:xfrm>
        </p:grpSpPr>
        <p:pic>
          <p:nvPicPr>
            <p:cNvPr id="193" name="그림 192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0523" y="1312063"/>
              <a:ext cx="736649" cy="577964"/>
            </a:xfrm>
            <a:prstGeom prst="rect">
              <a:avLst/>
            </a:prstGeom>
          </p:spPr>
        </p:pic>
        <p:sp>
          <p:nvSpPr>
            <p:cNvPr id="194" name="TextBox 193"/>
            <p:cNvSpPr txBox="1"/>
            <p:nvPr/>
          </p:nvSpPr>
          <p:spPr>
            <a:xfrm>
              <a:off x="2652721" y="1851881"/>
              <a:ext cx="5626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latin typeface="+mn-ea"/>
                </a:rPr>
                <a:t>TESS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98" name="꺾인 연결선 197"/>
          <p:cNvCxnSpPr>
            <a:stCxn id="193" idx="1"/>
            <a:endCxn id="16" idx="0"/>
          </p:cNvCxnSpPr>
          <p:nvPr/>
        </p:nvCxnSpPr>
        <p:spPr>
          <a:xfrm rot="10800000" flipV="1">
            <a:off x="1261269" y="1566114"/>
            <a:ext cx="157847" cy="1038956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4587621" y="4585820"/>
            <a:ext cx="133885" cy="1332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9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69" name="직선 화살표 연결선 68"/>
          <p:cNvCxnSpPr>
            <a:stCxn id="32" idx="3"/>
            <a:endCxn id="3" idx="1"/>
          </p:cNvCxnSpPr>
          <p:nvPr/>
        </p:nvCxnSpPr>
        <p:spPr>
          <a:xfrm flipV="1">
            <a:off x="2107295" y="5580174"/>
            <a:ext cx="2498471" cy="1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4566540" y="5167974"/>
            <a:ext cx="966391" cy="972258"/>
            <a:chOff x="7468079" y="4835288"/>
            <a:chExt cx="966391" cy="97225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7305" y="4835288"/>
              <a:ext cx="824400" cy="82440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7468079" y="5592102"/>
              <a:ext cx="96639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>
                  <a:latin typeface="+mn-ea"/>
                </a:rPr>
                <a:t>통계 분석 시스템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76" name="타원 75"/>
          <p:cNvSpPr/>
          <p:nvPr/>
        </p:nvSpPr>
        <p:spPr>
          <a:xfrm>
            <a:off x="2156761" y="5396447"/>
            <a:ext cx="133885" cy="1332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latin typeface="+mn-ea"/>
              </a:rPr>
              <a:t>9</a:t>
            </a:r>
            <a:endParaRPr lang="ko-KR" altLang="en-US" sz="600" dirty="0">
              <a:latin typeface="+mn-ea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200010"/>
              </p:ext>
            </p:extLst>
          </p:nvPr>
        </p:nvGraphicFramePr>
        <p:xfrm>
          <a:off x="6360753" y="4099640"/>
          <a:ext cx="2156969" cy="19964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7452">
                  <a:extLst>
                    <a:ext uri="{9D8B030D-6E8A-4147-A177-3AD203B41FA5}">
                      <a16:colId xmlns:a16="http://schemas.microsoft.com/office/drawing/2014/main" val="1780808292"/>
                    </a:ext>
                  </a:extLst>
                </a:gridCol>
                <a:gridCol w="1889517">
                  <a:extLst>
                    <a:ext uri="{9D8B030D-6E8A-4147-A177-3AD203B41FA5}">
                      <a16:colId xmlns:a16="http://schemas.microsoft.com/office/drawing/2014/main" val="3853320928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23483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상관이벤트와 </a:t>
                      </a:r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Raw-data </a:t>
                      </a: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전송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85105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1" dirty="0">
                        <a:solidFill>
                          <a:schemeClr val="accent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Raw-data</a:t>
                      </a: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가 있는 이벤트 전송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98228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</a:rPr>
                        <a:t>Re-API </a:t>
                      </a:r>
                      <a:r>
                        <a:rPr lang="ko-KR" altLang="en-US" sz="700" dirty="0" smtClean="0">
                          <a:latin typeface="+mn-ea"/>
                        </a:rPr>
                        <a:t>실행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485489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1" dirty="0">
                        <a:solidFill>
                          <a:schemeClr val="accent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</a:rPr>
                        <a:t>Raw-data </a:t>
                      </a: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</a:rPr>
                        <a:t>기반 영향력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354965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1" dirty="0">
                        <a:solidFill>
                          <a:schemeClr val="accent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</a:rPr>
                        <a:t>영향력 확인 결과 전송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80720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b="1" dirty="0">
                        <a:solidFill>
                          <a:schemeClr val="accent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accent1"/>
                          </a:solidFill>
                          <a:latin typeface="+mn-ea"/>
                        </a:rPr>
                        <a:t>확인이 필요한 경우 상관 이벤트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391841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</a:rPr>
                        <a:t>이벤트 예외처리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074235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</a:rPr>
                        <a:t>분석 보고서 수집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09862"/>
                  </a:ext>
                </a:extLst>
              </a:tr>
              <a:tr h="124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</a:rPr>
                        <a:t>관제 </a:t>
                      </a:r>
                      <a:r>
                        <a:rPr lang="en-US" altLang="ko-KR" sz="700" dirty="0" smtClean="0">
                          <a:latin typeface="+mn-ea"/>
                        </a:rPr>
                        <a:t>IOC </a:t>
                      </a:r>
                      <a:r>
                        <a:rPr lang="ko-KR" altLang="en-US" sz="700" dirty="0" smtClean="0">
                          <a:latin typeface="+mn-ea"/>
                        </a:rPr>
                        <a:t>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227556"/>
                  </a:ext>
                </a:extLst>
              </a:tr>
            </a:tbl>
          </a:graphicData>
        </a:graphic>
      </p:graphicFrame>
      <p:cxnSp>
        <p:nvCxnSpPr>
          <p:cNvPr id="109" name="꺾인 연결선 108"/>
          <p:cNvCxnSpPr>
            <a:endCxn id="3" idx="0"/>
          </p:cNvCxnSpPr>
          <p:nvPr/>
        </p:nvCxnSpPr>
        <p:spPr>
          <a:xfrm rot="16200000" flipH="1">
            <a:off x="4482436" y="4632443"/>
            <a:ext cx="622389" cy="448671"/>
          </a:xfrm>
          <a:prstGeom prst="bentConnector3">
            <a:avLst>
              <a:gd name="adj1" fmla="val 64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6360753" y="3687301"/>
            <a:ext cx="1042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6360753" y="3920165"/>
            <a:ext cx="10423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36621" y="3576271"/>
            <a:ext cx="10784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accent1"/>
                </a:solidFill>
                <a:latin typeface="+mn-ea"/>
              </a:rPr>
              <a:t>2019</a:t>
            </a:r>
            <a:r>
              <a:rPr lang="ko-KR" altLang="en-US" sz="800" dirty="0" smtClean="0">
                <a:solidFill>
                  <a:schemeClr val="accent1"/>
                </a:solidFill>
                <a:latin typeface="+mn-ea"/>
              </a:rPr>
              <a:t>년</a:t>
            </a:r>
            <a:r>
              <a:rPr lang="ko-KR" altLang="en-US" sz="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chemeClr val="accent1"/>
                </a:solidFill>
                <a:latin typeface="+mn-ea"/>
              </a:rPr>
              <a:t>적용</a:t>
            </a:r>
            <a:endParaRPr lang="ko-KR" altLang="en-US" sz="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436621" y="3811681"/>
            <a:ext cx="10784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2020</a:t>
            </a:r>
            <a:r>
              <a:rPr lang="ko-KR" altLang="en-US" sz="800" dirty="0" smtClean="0">
                <a:latin typeface="+mn-ea"/>
              </a:rPr>
              <a:t>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ko-KR" altLang="en-US" sz="800" dirty="0" smtClean="0">
                <a:latin typeface="+mn-ea"/>
              </a:rPr>
              <a:t>적용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302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팀과 시스템 통합</a:t>
            </a:r>
            <a:endParaRPr lang="ko-KR" altLang="en-US" dirty="0"/>
          </a:p>
        </p:txBody>
      </p:sp>
      <p:sp>
        <p:nvSpPr>
          <p:cNvPr id="25" name="내용 개체 틀 2"/>
          <p:cNvSpPr>
            <a:spLocks noGrp="1"/>
          </p:cNvSpPr>
          <p:nvPr>
            <p:ph idx="1"/>
          </p:nvPr>
        </p:nvSpPr>
        <p:spPr>
          <a:xfrm>
            <a:off x="612000" y="1063480"/>
            <a:ext cx="7920000" cy="5424597"/>
          </a:xfrm>
        </p:spPr>
        <p:txBody>
          <a:bodyPr/>
          <a:lstStyle/>
          <a:p>
            <a:pPr lvl="1"/>
            <a:r>
              <a:rPr lang="ko-KR" altLang="en-US" b="1" dirty="0" smtClean="0"/>
              <a:t>유효성 검증 </a:t>
            </a:r>
            <a:r>
              <a:rPr lang="ko-KR" altLang="en-US" b="1" dirty="0" smtClean="0"/>
              <a:t>시스템 </a:t>
            </a:r>
            <a:r>
              <a:rPr lang="en-US" altLang="ko-KR" b="1" dirty="0" smtClean="0"/>
              <a:t>(2</a:t>
            </a:r>
            <a:r>
              <a:rPr lang="ko-KR" altLang="en-US" b="1" dirty="0" smtClean="0"/>
              <a:t>팀 사용중인 시스템</a:t>
            </a:r>
            <a:r>
              <a:rPr lang="en-US" altLang="ko-KR" b="1" dirty="0" smtClean="0"/>
              <a:t>)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dirty="0" smtClean="0"/>
              <a:t>1)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- SOC</a:t>
            </a:r>
            <a:r>
              <a:rPr lang="ko-KR" altLang="en-US" dirty="0" smtClean="0"/>
              <a:t> 이벤트 발생 시 </a:t>
            </a:r>
            <a:r>
              <a:rPr lang="en-US" altLang="ko-KR" dirty="0" smtClean="0"/>
              <a:t>TESS DB Data </a:t>
            </a:r>
            <a:r>
              <a:rPr lang="ko-KR" altLang="en-US" dirty="0" err="1" smtClean="0"/>
              <a:t>파싱</a:t>
            </a:r>
            <a:r>
              <a:rPr lang="ko-KR" altLang="en-US" dirty="0" smtClean="0"/>
              <a:t> 후 재생 검증을 실시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 값 </a:t>
            </a:r>
            <a:r>
              <a:rPr lang="en-US" altLang="ko-KR" dirty="0" smtClean="0"/>
              <a:t>View</a:t>
            </a:r>
            <a:r>
              <a:rPr lang="en-US" altLang="ko-KR" dirty="0"/>
              <a:t>,</a:t>
            </a:r>
            <a:r>
              <a:rPr lang="ko-KR" altLang="en-US" dirty="0" smtClean="0"/>
              <a:t> 반자동으로 </a:t>
            </a:r>
            <a:r>
              <a:rPr lang="en-US" altLang="ko-KR" dirty="0" smtClean="0"/>
              <a:t>ESM </a:t>
            </a:r>
            <a:r>
              <a:rPr lang="ko-KR" altLang="en-US" dirty="0" smtClean="0"/>
              <a:t>에서 예외 처리 할 수 있는 기능 지원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- </a:t>
            </a:r>
            <a:r>
              <a:rPr lang="ko-KR" altLang="en-US" dirty="0" smtClean="0"/>
              <a:t>실제 </a:t>
            </a:r>
            <a:r>
              <a:rPr lang="en-US" altLang="ko-KR" dirty="0" smtClean="0"/>
              <a:t> </a:t>
            </a:r>
            <a:r>
              <a:rPr lang="ko-KR" altLang="en-US" dirty="0" smtClean="0"/>
              <a:t>상관 이벤트 및 </a:t>
            </a:r>
            <a:r>
              <a:rPr lang="en-US" altLang="ko-KR" dirty="0" smtClean="0"/>
              <a:t>SOC </a:t>
            </a:r>
            <a:r>
              <a:rPr lang="ko-KR" altLang="en-US" dirty="0" smtClean="0"/>
              <a:t>티켓 발생 이벤트에 영향을 주지 않음</a:t>
            </a:r>
            <a:r>
              <a:rPr lang="en-US" altLang="ko-KR" dirty="0" smtClean="0"/>
              <a:t>. </a:t>
            </a:r>
            <a:r>
              <a:rPr lang="ko-KR" altLang="en-US" b="1" dirty="0" smtClean="0"/>
              <a:t>분석 보조 도구</a:t>
            </a:r>
            <a:r>
              <a:rPr lang="ko-KR" altLang="en-US" dirty="0" smtClean="0"/>
              <a:t>에 가까움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2) </a:t>
            </a:r>
            <a:r>
              <a:rPr lang="ko-KR" altLang="en-US" dirty="0" smtClean="0"/>
              <a:t>처리 </a:t>
            </a:r>
            <a:r>
              <a:rPr lang="en-US" altLang="ko-KR" dirty="0" smtClean="0"/>
              <a:t>Flow</a:t>
            </a:r>
            <a:br>
              <a:rPr lang="en-US" altLang="ko-KR" dirty="0" smtClean="0"/>
            </a:br>
            <a:r>
              <a:rPr lang="en-US" altLang="ko-KR" dirty="0" smtClean="0"/>
              <a:t>    - SOC</a:t>
            </a:r>
            <a:r>
              <a:rPr lang="ko-KR" altLang="en-US" dirty="0" smtClean="0"/>
              <a:t> 이벤트 발생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이벤트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값 기준 </a:t>
            </a:r>
            <a:r>
              <a:rPr lang="en-US" altLang="ko-KR" dirty="0" smtClean="0"/>
              <a:t>TESS DB </a:t>
            </a:r>
            <a:r>
              <a:rPr lang="ko-KR" altLang="en-US" dirty="0" smtClean="0"/>
              <a:t>값 </a:t>
            </a:r>
            <a:r>
              <a:rPr lang="ko-KR" altLang="en-US" dirty="0" err="1" smtClean="0"/>
              <a:t>파싱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>
                <a:solidFill>
                  <a:srgbClr val="FF0000"/>
                </a:solidFill>
              </a:rPr>
              <a:t>이벤트 재생 검증 </a:t>
            </a:r>
            <a:r>
              <a:rPr lang="ko-KR" altLang="en-US" dirty="0" smtClean="0"/>
              <a:t>진행 </a:t>
            </a:r>
            <a:r>
              <a:rPr lang="en-US" altLang="ko-KR" dirty="0" smtClean="0"/>
              <a:t>-&gt; Response 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View -&gt; </a:t>
            </a:r>
            <a:r>
              <a:rPr lang="ko-KR" altLang="en-US" dirty="0" smtClean="0">
                <a:solidFill>
                  <a:srgbClr val="FF0000"/>
                </a:solidFill>
              </a:rPr>
              <a:t>반자동 예외처리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lvl="1"/>
            <a:r>
              <a:rPr lang="en-US" altLang="ko-KR" b="1" dirty="0" smtClean="0"/>
              <a:t>ARA </a:t>
            </a:r>
            <a:r>
              <a:rPr lang="ko-KR" altLang="en-US" b="1" dirty="0" smtClean="0"/>
              <a:t>모듈 시스템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1)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-  ESM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인입되는</a:t>
            </a:r>
            <a:r>
              <a:rPr lang="ko-KR" altLang="en-US" dirty="0" smtClean="0"/>
              <a:t> 이벤트의 </a:t>
            </a:r>
            <a:r>
              <a:rPr lang="en-US" altLang="ko-KR" dirty="0" smtClean="0"/>
              <a:t>Raw-Data</a:t>
            </a:r>
            <a:r>
              <a:rPr lang="ko-KR" altLang="en-US" dirty="0" smtClean="0"/>
              <a:t>를 기준으로 이벤트 재생 및 모듈화 검증 실시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검증 결과를 통해 신규 상관 이벤트 발생</a:t>
            </a:r>
            <a:r>
              <a:rPr lang="en-US" altLang="ko-KR" dirty="0" smtClean="0"/>
              <a:t>,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 </a:t>
            </a:r>
            <a:r>
              <a:rPr lang="ko-KR" altLang="en-US" dirty="0" smtClean="0"/>
              <a:t>결과 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View, ELK </a:t>
            </a:r>
            <a:r>
              <a:rPr lang="ko-KR" altLang="en-US" dirty="0" smtClean="0"/>
              <a:t>통계 지원</a:t>
            </a:r>
            <a:r>
              <a:rPr lang="en-US" altLang="ko-KR" dirty="0" smtClean="0"/>
              <a:t>, </a:t>
            </a:r>
            <a:r>
              <a:rPr lang="ko-KR" altLang="en-US" dirty="0" smtClean="0"/>
              <a:t> 추후 자동 차단</a:t>
            </a:r>
            <a:r>
              <a:rPr lang="en-US" altLang="ko-KR" dirty="0"/>
              <a:t> </a:t>
            </a:r>
            <a:r>
              <a:rPr lang="ko-KR" altLang="en-US" dirty="0" smtClean="0"/>
              <a:t>시스템과의 연계 및 자동</a:t>
            </a:r>
            <a:r>
              <a:rPr lang="en-US" altLang="ko-KR" dirty="0" smtClean="0"/>
              <a:t>/</a:t>
            </a:r>
            <a:r>
              <a:rPr lang="ko-KR" altLang="en-US" dirty="0" smtClean="0"/>
              <a:t>반자동 예외처리 기능 지</a:t>
            </a:r>
            <a:r>
              <a:rPr lang="ko-KR" altLang="en-US" dirty="0"/>
              <a:t>원</a:t>
            </a:r>
            <a:r>
              <a:rPr lang="ko-KR" altLang="en-US" dirty="0" smtClean="0"/>
              <a:t> 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2) </a:t>
            </a:r>
            <a:r>
              <a:rPr lang="ko-KR" altLang="en-US" dirty="0" smtClean="0"/>
              <a:t>처리 </a:t>
            </a:r>
            <a:r>
              <a:rPr lang="en-US" altLang="ko-KR" dirty="0" smtClean="0"/>
              <a:t>Flow</a:t>
            </a:r>
            <a:br>
              <a:rPr lang="en-US" altLang="ko-KR" dirty="0" smtClean="0"/>
            </a:br>
            <a:r>
              <a:rPr lang="en-US" altLang="ko-KR" dirty="0" smtClean="0"/>
              <a:t>    -  ESM </a:t>
            </a:r>
            <a:r>
              <a:rPr lang="ko-KR" altLang="en-US" dirty="0" smtClean="0"/>
              <a:t>상관 이벤트 발생 </a:t>
            </a:r>
            <a:r>
              <a:rPr lang="en-US" altLang="ko-KR" dirty="0" smtClean="0"/>
              <a:t>-&gt; </a:t>
            </a:r>
            <a:r>
              <a:rPr lang="ko-KR" altLang="en-US" dirty="0" smtClean="0">
                <a:solidFill>
                  <a:srgbClr val="FF0000"/>
                </a:solidFill>
              </a:rPr>
              <a:t>재생</a:t>
            </a:r>
            <a:r>
              <a:rPr lang="en-US" altLang="ko-KR" dirty="0" smtClean="0">
                <a:solidFill>
                  <a:srgbClr val="FF0000"/>
                </a:solidFill>
              </a:rPr>
              <a:t>&amp;</a:t>
            </a:r>
            <a:r>
              <a:rPr lang="ko-KR" altLang="en-US" dirty="0" smtClean="0">
                <a:solidFill>
                  <a:srgbClr val="FF0000"/>
                </a:solidFill>
              </a:rPr>
              <a:t>모듈화 검증</a:t>
            </a:r>
            <a:r>
              <a:rPr lang="ko-KR" altLang="en-US" dirty="0" smtClean="0"/>
              <a:t> 실시</a:t>
            </a:r>
            <a:r>
              <a:rPr lang="en-US" altLang="ko-KR" dirty="0"/>
              <a:t> </a:t>
            </a:r>
            <a:r>
              <a:rPr lang="en-US" altLang="ko-KR" dirty="0" smtClean="0"/>
              <a:t>-&gt; DB </a:t>
            </a:r>
            <a:r>
              <a:rPr lang="ko-KR" altLang="en-US" dirty="0" smtClean="0"/>
              <a:t>저장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통계 </a:t>
            </a:r>
            <a:r>
              <a:rPr lang="ko-KR" altLang="en-US" dirty="0" smtClean="0"/>
              <a:t>구성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신규 상관 이벤트 발생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  (</a:t>
            </a:r>
            <a:r>
              <a:rPr lang="ko-KR" altLang="en-US" dirty="0" smtClean="0"/>
              <a:t>추후 개발</a:t>
            </a:r>
            <a:r>
              <a:rPr lang="en-US" altLang="ko-KR" dirty="0" smtClean="0"/>
              <a:t>/</a:t>
            </a:r>
            <a:r>
              <a:rPr lang="ko-KR" altLang="en-US" dirty="0" smtClean="0"/>
              <a:t>적용</a:t>
            </a:r>
            <a:r>
              <a:rPr lang="en-US" altLang="ko-KR" dirty="0" smtClean="0"/>
              <a:t>) -&gt; </a:t>
            </a:r>
            <a:r>
              <a:rPr lang="ko-KR" altLang="en-US" dirty="0" smtClean="0"/>
              <a:t>통계 값을 활용한 </a:t>
            </a:r>
            <a:r>
              <a:rPr lang="ko-KR" altLang="en-US" dirty="0" smtClean="0">
                <a:solidFill>
                  <a:srgbClr val="FF0000"/>
                </a:solidFill>
              </a:rPr>
              <a:t>자동</a:t>
            </a:r>
            <a:r>
              <a:rPr lang="en-US" altLang="ko-KR" dirty="0" smtClean="0">
                <a:solidFill>
                  <a:srgbClr val="FF0000"/>
                </a:solidFill>
              </a:rPr>
              <a:t>/</a:t>
            </a:r>
            <a:r>
              <a:rPr lang="ko-KR" altLang="en-US" dirty="0" smtClean="0">
                <a:solidFill>
                  <a:srgbClr val="FF0000"/>
                </a:solidFill>
              </a:rPr>
              <a:t>반자동 예외처리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자동 차단 시스템 연계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- </a:t>
            </a:r>
            <a:r>
              <a:rPr lang="ko-KR" altLang="en-US" dirty="0" smtClean="0"/>
              <a:t>상관 규칙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SOC</a:t>
            </a:r>
            <a:r>
              <a:rPr lang="ko-KR" altLang="en-US" dirty="0" smtClean="0"/>
              <a:t> 이벤트 발생 건을 핸들링을 </a:t>
            </a:r>
            <a:r>
              <a:rPr lang="ko-KR" altLang="en-US" dirty="0" smtClean="0"/>
              <a:t>함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 </a:t>
            </a:r>
            <a:r>
              <a:rPr lang="ko-KR" altLang="en-US" b="1" dirty="0" smtClean="0"/>
              <a:t>분석 간소화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자동화 도구 </a:t>
            </a:r>
            <a:r>
              <a:rPr lang="ko-KR" altLang="en-US" dirty="0" smtClean="0"/>
              <a:t>로 볼 수 있음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lvl="1"/>
            <a:r>
              <a:rPr lang="en-US" altLang="ko-KR" b="1" dirty="0" smtClean="0"/>
              <a:t>ARA &lt;&gt; </a:t>
            </a:r>
            <a:r>
              <a:rPr lang="ko-KR" altLang="en-US" b="1" dirty="0" smtClean="0"/>
              <a:t>유효성 검증 시스템 통합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1) </a:t>
            </a:r>
            <a:r>
              <a:rPr lang="ko-KR" altLang="en-US" dirty="0" smtClean="0"/>
              <a:t>필요 과제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- </a:t>
            </a:r>
            <a:r>
              <a:rPr lang="ko-KR" altLang="en-US" dirty="0" smtClean="0"/>
              <a:t>기획단계에서의 구조적인 차이 </a:t>
            </a:r>
            <a:r>
              <a:rPr lang="en-US" altLang="ko-KR" dirty="0" smtClean="0"/>
              <a:t>-&gt; 2</a:t>
            </a:r>
            <a:r>
              <a:rPr lang="ko-KR" altLang="en-US" dirty="0" smtClean="0"/>
              <a:t>팀 </a:t>
            </a:r>
            <a:r>
              <a:rPr lang="en-US" altLang="ko-KR" dirty="0" smtClean="0"/>
              <a:t>ESM</a:t>
            </a:r>
            <a:r>
              <a:rPr lang="ko-KR" altLang="en-US" dirty="0" smtClean="0"/>
              <a:t>으로 </a:t>
            </a:r>
            <a:r>
              <a:rPr lang="en-US" altLang="ko-KR" dirty="0" smtClean="0"/>
              <a:t>Raw-Data</a:t>
            </a:r>
            <a:r>
              <a:rPr lang="ko-KR" altLang="en-US" dirty="0" smtClean="0"/>
              <a:t>를 받을 수 있도록 협의가 필요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- </a:t>
            </a:r>
            <a:r>
              <a:rPr lang="ko-KR" altLang="en-US" dirty="0" smtClean="0"/>
              <a:t>단순 분석 보조 도구가 아닌 실제 이벤트를 </a:t>
            </a:r>
            <a:r>
              <a:rPr lang="ko-KR" altLang="en-US" dirty="0" err="1" smtClean="0"/>
              <a:t>핸들링하므로</a:t>
            </a:r>
            <a:r>
              <a:rPr lang="ko-KR" altLang="en-US" dirty="0" smtClean="0"/>
              <a:t> 업무프로세스</a:t>
            </a:r>
            <a:r>
              <a:rPr lang="en-US" altLang="ko-KR" dirty="0"/>
              <a:t> </a:t>
            </a:r>
            <a:r>
              <a:rPr lang="ko-KR" altLang="en-US" dirty="0" smtClean="0"/>
              <a:t>등을 라인 </a:t>
            </a:r>
            <a:r>
              <a:rPr lang="en-US" altLang="ko-KR" dirty="0" smtClean="0"/>
              <a:t>CERT</a:t>
            </a:r>
            <a:r>
              <a:rPr lang="ko-KR" altLang="en-US" dirty="0" smtClean="0"/>
              <a:t>와 협의 필요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spc="-20" dirty="0" smtClean="0"/>
          </a:p>
        </p:txBody>
      </p:sp>
    </p:spTree>
    <p:extLst>
      <p:ext uri="{BB962C8B-B14F-4D97-AF65-F5344CB8AC3E}">
        <p14:creationId xmlns:p14="http://schemas.microsoft.com/office/powerpoint/2010/main" val="183089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 </a:t>
            </a:r>
            <a:r>
              <a:rPr lang="ko-KR" altLang="en-US" dirty="0" smtClean="0"/>
              <a:t>진행 </a:t>
            </a:r>
            <a:r>
              <a:rPr lang="ko-KR" altLang="en-US" dirty="0" smtClean="0"/>
              <a:t>현황</a:t>
            </a:r>
            <a:endParaRPr lang="ko-KR" altLang="en-US" dirty="0"/>
          </a:p>
        </p:txBody>
      </p:sp>
      <p:sp>
        <p:nvSpPr>
          <p:cNvPr id="41" name="내용 개체 틀 2"/>
          <p:cNvSpPr>
            <a:spLocks noGrp="1"/>
          </p:cNvSpPr>
          <p:nvPr>
            <p:ph idx="1"/>
          </p:nvPr>
        </p:nvSpPr>
        <p:spPr>
          <a:xfrm>
            <a:off x="612000" y="1089836"/>
            <a:ext cx="7920000" cy="5147476"/>
          </a:xfrm>
        </p:spPr>
        <p:txBody>
          <a:bodyPr/>
          <a:lstStyle/>
          <a:p>
            <a:pPr marL="0" lvl="1" indent="0">
              <a:buNone/>
            </a:pPr>
            <a:r>
              <a:rPr lang="en-US" altLang="ko-KR" sz="1050" b="1" spc="-20" dirty="0" smtClean="0"/>
              <a:t>ESM </a:t>
            </a:r>
            <a:r>
              <a:rPr lang="ko-KR" altLang="en-US" sz="1050" b="1" spc="-20" dirty="0" smtClean="0"/>
              <a:t>연동 </a:t>
            </a:r>
            <a:r>
              <a:rPr lang="ko-KR" altLang="en-US" sz="1050" b="1" spc="-20" dirty="0" smtClean="0"/>
              <a:t>현황</a:t>
            </a:r>
            <a:endParaRPr lang="en-US" altLang="ko-KR" sz="1050" b="1" spc="-20" dirty="0" smtClean="0"/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en-US" altLang="ko-KR" spc="-20" dirty="0" smtClean="0"/>
              <a:t> </a:t>
            </a:r>
            <a:r>
              <a:rPr lang="en-US" altLang="ko-KR" spc="-20" dirty="0" err="1"/>
              <a:t>ARA_DBAgent</a:t>
            </a:r>
            <a:r>
              <a:rPr lang="en-US" altLang="ko-KR" spc="-20" dirty="0"/>
              <a:t> &lt;-&gt; RR DB </a:t>
            </a:r>
            <a:r>
              <a:rPr lang="ko-KR" altLang="en-US" spc="-20" dirty="0"/>
              <a:t>간에 </a:t>
            </a:r>
            <a:r>
              <a:rPr lang="ko-KR" altLang="en-US" b="1" spc="-20" dirty="0"/>
              <a:t>커넥션 문제</a:t>
            </a:r>
            <a:r>
              <a:rPr lang="ko-KR" altLang="en-US" spc="-20" dirty="0"/>
              <a:t>가 </a:t>
            </a:r>
            <a:r>
              <a:rPr lang="ko-KR" altLang="en-US" spc="-20" dirty="0" smtClean="0"/>
              <a:t>발생하여 벤더 사 </a:t>
            </a:r>
            <a:r>
              <a:rPr lang="ko-KR" altLang="en-US" spc="-20" dirty="0"/>
              <a:t>문의 및 원인 파악 </a:t>
            </a:r>
            <a:r>
              <a:rPr lang="ko-KR" altLang="en-US" spc="-20" dirty="0" smtClean="0"/>
              <a:t>진행</a:t>
            </a:r>
            <a:r>
              <a:rPr lang="en-US" altLang="ko-KR" spc="-20" dirty="0" smtClean="0"/>
              <a:t/>
            </a:r>
            <a:br>
              <a:rPr lang="en-US" altLang="ko-KR" spc="-20" dirty="0" smtClean="0"/>
            </a:br>
            <a:r>
              <a:rPr lang="en-US" altLang="ko-KR" spc="-20" dirty="0" smtClean="0"/>
              <a:t>   </a:t>
            </a:r>
            <a:r>
              <a:rPr lang="en-US" altLang="ko-KR" spc="-20" dirty="0" smtClean="0"/>
              <a:t>* </a:t>
            </a:r>
            <a:r>
              <a:rPr lang="ko-KR" altLang="en-US" spc="-20" dirty="0" smtClean="0"/>
              <a:t>벤더 측에서 기술 지원 </a:t>
            </a:r>
            <a:r>
              <a:rPr lang="ko-KR" altLang="en-US" spc="-20" dirty="0" smtClean="0"/>
              <a:t>불가 통보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임시로 </a:t>
            </a:r>
            <a:r>
              <a:rPr lang="en-US" altLang="ko-KR" spc="-20" dirty="0" smtClean="0"/>
              <a:t>DB </a:t>
            </a:r>
            <a:r>
              <a:rPr lang="ko-KR" altLang="en-US" spc="-20" dirty="0" err="1" smtClean="0"/>
              <a:t>쿼리문</a:t>
            </a:r>
            <a:r>
              <a:rPr lang="ko-KR" altLang="en-US" spc="-20" dirty="0" smtClean="0"/>
              <a:t> 변경 진행</a:t>
            </a:r>
            <a:r>
              <a:rPr lang="en-US" altLang="ko-KR" spc="-20" dirty="0" smtClean="0"/>
              <a:t>(</a:t>
            </a:r>
            <a:r>
              <a:rPr lang="ko-KR" altLang="en-US" spc="-20" dirty="0" smtClean="0"/>
              <a:t>부하 감소 방향</a:t>
            </a:r>
            <a:r>
              <a:rPr lang="en-US" altLang="ko-KR" spc="-20" dirty="0" smtClean="0"/>
              <a:t>)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/>
              <a:t> </a:t>
            </a:r>
            <a:r>
              <a:rPr lang="en-US" altLang="ko-KR" spc="-20" dirty="0" smtClean="0"/>
              <a:t>       * Response </a:t>
            </a:r>
            <a:r>
              <a:rPr lang="ko-KR" altLang="en-US" spc="-20" dirty="0" smtClean="0"/>
              <a:t>데이터 최대 사이즈 </a:t>
            </a:r>
            <a:r>
              <a:rPr lang="en-US" altLang="ko-KR" spc="-20" dirty="0" smtClean="0"/>
              <a:t>4000byte</a:t>
            </a:r>
            <a:r>
              <a:rPr lang="ko-KR" altLang="en-US" spc="-20" dirty="0" smtClean="0"/>
              <a:t>로 고정하여 </a:t>
            </a:r>
            <a:r>
              <a:rPr lang="en-US" altLang="ko-KR" spc="-20" dirty="0" smtClean="0"/>
              <a:t>DB</a:t>
            </a:r>
            <a:r>
              <a:rPr lang="ko-KR" altLang="en-US" spc="-20" dirty="0" smtClean="0"/>
              <a:t>에 저장 </a:t>
            </a:r>
            <a:r>
              <a:rPr lang="en-US" altLang="ko-KR" spc="-20" dirty="0" smtClean="0"/>
              <a:t>-&gt; ESM</a:t>
            </a:r>
            <a:r>
              <a:rPr lang="ko-KR" altLang="en-US" spc="-20" dirty="0" smtClean="0"/>
              <a:t>에서 약 </a:t>
            </a:r>
            <a:r>
              <a:rPr lang="en-US" altLang="ko-KR" spc="-20" dirty="0" smtClean="0"/>
              <a:t>5000Byte</a:t>
            </a:r>
            <a:r>
              <a:rPr lang="ko-KR" altLang="en-US" spc="-20" dirty="0" smtClean="0"/>
              <a:t>까지 </a:t>
            </a:r>
            <a:r>
              <a:rPr lang="ko-KR" altLang="en-US" spc="-20" dirty="0" err="1" smtClean="0"/>
              <a:t>파싱</a:t>
            </a:r>
            <a:r>
              <a:rPr lang="ko-KR" altLang="en-US" spc="-20" dirty="0" smtClean="0"/>
              <a:t> 가능</a:t>
            </a:r>
            <a:r>
              <a:rPr lang="en-US" altLang="ko-KR" spc="-20" dirty="0" smtClean="0"/>
              <a:t>,</a:t>
            </a:r>
            <a:r>
              <a:rPr lang="ko-KR" altLang="en-US" spc="-20" dirty="0" smtClean="0"/>
              <a:t> </a:t>
            </a:r>
            <a:r>
              <a:rPr lang="ko-KR" altLang="en-US" spc="-20" dirty="0" err="1" smtClean="0"/>
              <a:t>부하감소를</a:t>
            </a:r>
            <a:r>
              <a:rPr lang="ko-KR" altLang="en-US" spc="-20" dirty="0" smtClean="0"/>
              <a:t> 위해 사이즈 고정 </a:t>
            </a:r>
            <a:r>
              <a:rPr lang="en-US" altLang="ko-KR" spc="-20" dirty="0" smtClean="0"/>
              <a:t/>
            </a:r>
            <a:br>
              <a:rPr lang="en-US" altLang="ko-KR" spc="-20" dirty="0" smtClean="0"/>
            </a:br>
            <a:r>
              <a:rPr lang="en-US" altLang="ko-KR" spc="-20" dirty="0" smtClean="0"/>
              <a:t>        * </a:t>
            </a:r>
            <a:r>
              <a:rPr lang="ko-KR" altLang="en-US" spc="-20" dirty="0" smtClean="0"/>
              <a:t>이슈 </a:t>
            </a:r>
            <a:r>
              <a:rPr lang="ko-KR" altLang="en-US" spc="-20" dirty="0" smtClean="0"/>
              <a:t>추가 발생 시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데이터를 </a:t>
            </a:r>
            <a:r>
              <a:rPr lang="ko-KR" altLang="en-US" spc="-20" dirty="0" smtClean="0"/>
              <a:t>파일 </a:t>
            </a:r>
            <a:r>
              <a:rPr lang="ko-KR" altLang="en-US" spc="-20" dirty="0" smtClean="0"/>
              <a:t>저장하여 </a:t>
            </a:r>
            <a:r>
              <a:rPr lang="en-US" altLang="ko-KR" spc="-20" dirty="0" smtClean="0"/>
              <a:t>Agent </a:t>
            </a:r>
            <a:r>
              <a:rPr lang="ko-KR" altLang="en-US" spc="-20" dirty="0" smtClean="0"/>
              <a:t>에서 </a:t>
            </a:r>
            <a:r>
              <a:rPr lang="ko-KR" altLang="en-US" spc="-20" dirty="0" err="1" smtClean="0"/>
              <a:t>파싱하도록</a:t>
            </a:r>
            <a:r>
              <a:rPr lang="ko-KR" altLang="en-US" spc="-20" dirty="0" smtClean="0"/>
              <a:t> 변경 </a:t>
            </a:r>
            <a:r>
              <a:rPr lang="ko-KR" altLang="en-US" spc="-20" dirty="0" smtClean="0"/>
              <a:t>예정</a:t>
            </a:r>
            <a:r>
              <a:rPr lang="en-US" altLang="ko-KR" spc="-20" dirty="0" smtClean="0"/>
              <a:t>,</a:t>
            </a:r>
            <a:r>
              <a:rPr lang="ko-KR" altLang="en-US" spc="-20" dirty="0" smtClean="0"/>
              <a:t> 벤더측 </a:t>
            </a:r>
            <a:r>
              <a:rPr lang="ko-KR" altLang="en-US" spc="-20" dirty="0" smtClean="0"/>
              <a:t>및 담당자와 논의 </a:t>
            </a:r>
            <a:r>
              <a:rPr lang="ko-KR" altLang="en-US" spc="-20" dirty="0"/>
              <a:t>중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/>
              <a:t> </a:t>
            </a:r>
            <a:r>
              <a:rPr lang="en-US" altLang="ko-KR" spc="-20" dirty="0" smtClean="0"/>
              <a:t>         </a:t>
            </a:r>
            <a:r>
              <a:rPr lang="en-US" altLang="ko-KR" spc="-20" dirty="0" smtClean="0"/>
              <a:t> </a:t>
            </a:r>
            <a:r>
              <a:rPr lang="en-US" altLang="ko-KR" spc="-20" dirty="0" smtClean="0">
                <a:sym typeface="Wingdings" panose="05000000000000000000" pitchFamily="2" charset="2"/>
              </a:rPr>
              <a:t></a:t>
            </a:r>
            <a:r>
              <a:rPr lang="en-US" altLang="ko-KR" spc="-20" dirty="0" smtClean="0"/>
              <a:t> </a:t>
            </a:r>
            <a:r>
              <a:rPr lang="ko-KR" altLang="en-US" spc="-20" dirty="0" smtClean="0"/>
              <a:t>사이즈 고정 수정 </a:t>
            </a:r>
            <a:r>
              <a:rPr lang="ko-KR" altLang="en-US" spc="-20" dirty="0" smtClean="0"/>
              <a:t>이후 </a:t>
            </a:r>
            <a:r>
              <a:rPr lang="ko-KR" altLang="en-US" spc="-20" dirty="0" smtClean="0"/>
              <a:t>현재까지 커넥션 </a:t>
            </a:r>
            <a:r>
              <a:rPr lang="ko-KR" altLang="en-US" spc="-20" dirty="0" smtClean="0"/>
              <a:t>문제 확인되지 않음</a:t>
            </a:r>
            <a:r>
              <a:rPr lang="en-US" altLang="ko-KR" spc="-20" dirty="0" smtClean="0"/>
              <a:t>.</a:t>
            </a:r>
            <a:br>
              <a:rPr lang="en-US" altLang="ko-KR" spc="-20" dirty="0" smtClean="0"/>
            </a:b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z="1050" b="1" spc="-20" dirty="0" smtClean="0"/>
              <a:t>ARA </a:t>
            </a:r>
            <a:r>
              <a:rPr lang="ko-KR" altLang="en-US" sz="1050" b="1" spc="-20" dirty="0" smtClean="0"/>
              <a:t>기능 </a:t>
            </a:r>
            <a:r>
              <a:rPr lang="ko-KR" altLang="en-US" sz="1050" b="1" spc="-20" dirty="0" smtClean="0"/>
              <a:t>구현</a:t>
            </a:r>
            <a:r>
              <a:rPr lang="en-US" altLang="ko-KR" sz="1050" b="1" spc="-20" dirty="0" smtClean="0"/>
              <a:t>&amp;</a:t>
            </a:r>
            <a:r>
              <a:rPr lang="ko-KR" altLang="en-US" sz="1050" b="1" spc="-20" dirty="0" smtClean="0"/>
              <a:t>유지보수</a:t>
            </a:r>
            <a:endParaRPr lang="en-US" altLang="ko-KR" sz="1050" b="1" spc="-20" dirty="0"/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ko-KR" altLang="en-US" spc="-20" dirty="0" smtClean="0"/>
              <a:t>기본적인 </a:t>
            </a:r>
            <a:r>
              <a:rPr lang="ko-KR" altLang="en-US" spc="-20" dirty="0" err="1" smtClean="0"/>
              <a:t>아키텍쳐</a:t>
            </a:r>
            <a:r>
              <a:rPr lang="ko-KR" altLang="en-US" spc="-20" dirty="0" smtClean="0"/>
              <a:t> 구현 및 트러블 슈팅 완료</a:t>
            </a:r>
            <a:r>
              <a:rPr lang="en-US" altLang="ko-KR" spc="-20" dirty="0" smtClean="0"/>
              <a:t>.</a:t>
            </a:r>
          </a:p>
          <a:p>
            <a:pPr marL="0" lvl="1" indent="0">
              <a:buNone/>
            </a:pPr>
            <a:r>
              <a:rPr lang="en-US" altLang="ko-KR" spc="-20" dirty="0" smtClean="0"/>
              <a:t>   -  </a:t>
            </a:r>
            <a:r>
              <a:rPr lang="ko-KR" altLang="en-US" spc="-20" dirty="0" smtClean="0"/>
              <a:t>모든 </a:t>
            </a:r>
            <a:r>
              <a:rPr lang="ko-KR" altLang="en-US" spc="-20" dirty="0" smtClean="0"/>
              <a:t>데이터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저장 구현 완료</a:t>
            </a:r>
            <a:r>
              <a:rPr lang="en-US" altLang="ko-KR" spc="-20" dirty="0" smtClean="0"/>
              <a:t>, DB Join</a:t>
            </a:r>
            <a:r>
              <a:rPr lang="ko-KR" altLang="en-US" spc="-20" dirty="0" smtClean="0"/>
              <a:t> 페이지  생성하여 필요한 정보만  </a:t>
            </a:r>
            <a:r>
              <a:rPr lang="en-US" altLang="ko-KR" spc="-20" dirty="0" smtClean="0"/>
              <a:t>ESM</a:t>
            </a:r>
            <a:r>
              <a:rPr lang="ko-KR" altLang="en-US" spc="-20" dirty="0" smtClean="0"/>
              <a:t>에서 </a:t>
            </a:r>
            <a:r>
              <a:rPr lang="ko-KR" altLang="en-US" spc="-20" dirty="0" err="1" smtClean="0"/>
              <a:t>파싱</a:t>
            </a:r>
            <a:r>
              <a:rPr lang="ko-KR" altLang="en-US" spc="-20" dirty="0" smtClean="0"/>
              <a:t> 하도록 구현 완료   </a:t>
            </a:r>
            <a:r>
              <a:rPr lang="en-US" altLang="ko-KR" spc="-20" dirty="0" smtClean="0"/>
              <a:t/>
            </a:r>
            <a:br>
              <a:rPr lang="en-US" altLang="ko-KR" spc="-20" dirty="0" smtClean="0"/>
            </a:br>
            <a:r>
              <a:rPr lang="en-US" altLang="ko-KR" spc="-20" dirty="0" smtClean="0"/>
              <a:t>      + </a:t>
            </a:r>
            <a:r>
              <a:rPr lang="ko-KR" altLang="en-US" spc="-20" dirty="0" smtClean="0"/>
              <a:t>모든 </a:t>
            </a:r>
            <a:r>
              <a:rPr lang="en-US" altLang="ko-KR" spc="-20" dirty="0" smtClean="0"/>
              <a:t>Request </a:t>
            </a:r>
            <a:r>
              <a:rPr lang="ko-KR" altLang="en-US" spc="-20" dirty="0" smtClean="0"/>
              <a:t>패킷을 </a:t>
            </a:r>
            <a:r>
              <a:rPr lang="ko-KR" altLang="en-US" spc="-20" dirty="0" err="1" smtClean="0"/>
              <a:t>헤더별로</a:t>
            </a:r>
            <a:r>
              <a:rPr lang="ko-KR" altLang="en-US" spc="-20" dirty="0" smtClean="0"/>
              <a:t> 분리 저장 구현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향후 </a:t>
            </a:r>
            <a:r>
              <a:rPr lang="en-US" altLang="ko-KR" spc="-20" dirty="0" smtClean="0"/>
              <a:t>ELK </a:t>
            </a:r>
            <a:r>
              <a:rPr lang="ko-KR" altLang="en-US" spc="-20" dirty="0" smtClean="0"/>
              <a:t>를 통해 통계 생성 가능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/>
              <a:t> </a:t>
            </a:r>
            <a:r>
              <a:rPr lang="en-US" altLang="ko-KR" spc="-20" dirty="0" smtClean="0"/>
              <a:t>  -  </a:t>
            </a:r>
            <a:r>
              <a:rPr lang="ko-KR" altLang="en-US" spc="-20" dirty="0" smtClean="0"/>
              <a:t>외부 </a:t>
            </a:r>
            <a:r>
              <a:rPr lang="en-US" altLang="ko-KR" spc="-20" dirty="0" smtClean="0"/>
              <a:t>IAC</a:t>
            </a:r>
            <a:r>
              <a:rPr lang="ko-KR" altLang="en-US" spc="-20" dirty="0" smtClean="0"/>
              <a:t>서버 활용 및 </a:t>
            </a:r>
            <a:r>
              <a:rPr lang="en-US" altLang="ko-KR" spc="-20" dirty="0" smtClean="0"/>
              <a:t>API </a:t>
            </a:r>
            <a:r>
              <a:rPr lang="ko-KR" altLang="en-US" spc="-20" dirty="0" smtClean="0"/>
              <a:t>기능을 통한 트래픽 릴레이 구현 완료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 smtClean="0"/>
              <a:t>   -</a:t>
            </a:r>
            <a:r>
              <a:rPr lang="ko-KR" altLang="en-US" spc="-20" dirty="0"/>
              <a:t> </a:t>
            </a:r>
            <a:r>
              <a:rPr lang="en-US" altLang="ko-KR" spc="-20" dirty="0" err="1" smtClean="0"/>
              <a:t>logstash</a:t>
            </a:r>
            <a:r>
              <a:rPr lang="en-US" altLang="ko-KR" spc="-20" dirty="0" smtClean="0"/>
              <a:t> &lt;-&gt; API &lt;-&gt; ARA  </a:t>
            </a:r>
            <a:r>
              <a:rPr lang="ko-KR" altLang="en-US" spc="-20" dirty="0" smtClean="0"/>
              <a:t>세션 연결 횟수 제한으로  인한 </a:t>
            </a:r>
            <a:r>
              <a:rPr lang="en-US" altLang="ko-KR" spc="-20" dirty="0" smtClean="0"/>
              <a:t>link Down </a:t>
            </a:r>
            <a:r>
              <a:rPr lang="ko-KR" altLang="en-US" spc="-20" dirty="0" smtClean="0"/>
              <a:t>현상 확인 및 개선 작업 </a:t>
            </a:r>
            <a:r>
              <a:rPr lang="ko-KR" altLang="en-US" spc="-20" dirty="0" smtClean="0"/>
              <a:t>진행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/>
              <a:t> </a:t>
            </a:r>
            <a:r>
              <a:rPr lang="en-US" altLang="ko-KR" spc="-20" dirty="0" smtClean="0"/>
              <a:t>      * </a:t>
            </a:r>
            <a:r>
              <a:rPr lang="ko-KR" altLang="en-US" spc="-20" dirty="0" smtClean="0"/>
              <a:t>내부 </a:t>
            </a:r>
            <a:r>
              <a:rPr lang="en-US" altLang="ko-KR" spc="-20" dirty="0" smtClean="0"/>
              <a:t>API </a:t>
            </a:r>
            <a:r>
              <a:rPr lang="ko-KR" altLang="en-US" spc="-20" dirty="0" smtClean="0"/>
              <a:t>서버 컨테이너 이중화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라운드로빈 방식으로 </a:t>
            </a:r>
            <a:r>
              <a:rPr lang="ko-KR" altLang="en-US" spc="-20" dirty="0" err="1" smtClean="0"/>
              <a:t>로드밸런싱</a:t>
            </a:r>
            <a:r>
              <a:rPr lang="ko-KR" altLang="en-US" spc="-20" dirty="0" smtClean="0"/>
              <a:t> 되도록 변경하여 세션 문제 개선 </a:t>
            </a:r>
            <a:r>
              <a:rPr lang="en-US" altLang="ko-KR" spc="-20" dirty="0" smtClean="0"/>
              <a:t>TEST </a:t>
            </a:r>
            <a:r>
              <a:rPr lang="ko-KR" altLang="en-US" spc="-20" dirty="0" smtClean="0"/>
              <a:t>중 </a:t>
            </a:r>
            <a:endParaRPr lang="en-US" altLang="ko-KR" spc="-20" dirty="0" smtClean="0"/>
          </a:p>
          <a:p>
            <a:pPr marL="0" lvl="1" indent="0">
              <a:buNone/>
            </a:pPr>
            <a:r>
              <a:rPr lang="en-US" altLang="ko-KR" spc="-20" dirty="0"/>
              <a:t> </a:t>
            </a:r>
            <a:r>
              <a:rPr lang="en-US" altLang="ko-KR" spc="-20" dirty="0" smtClean="0"/>
              <a:t>  - </a:t>
            </a:r>
            <a:r>
              <a:rPr lang="ko-KR" altLang="en-US" spc="-20" dirty="0" smtClean="0"/>
              <a:t>모듈화</a:t>
            </a:r>
            <a:r>
              <a:rPr lang="en-US" altLang="ko-KR" spc="-20" dirty="0" smtClean="0"/>
              <a:t>, ESM </a:t>
            </a:r>
            <a:r>
              <a:rPr lang="ko-KR" altLang="en-US" spc="-20" dirty="0" smtClean="0"/>
              <a:t>자동 예외처리 및 </a:t>
            </a:r>
            <a:r>
              <a:rPr lang="ko-KR" altLang="en-US" spc="-20" dirty="0" err="1" smtClean="0"/>
              <a:t>활성리스트</a:t>
            </a:r>
            <a:r>
              <a:rPr lang="ko-KR" altLang="en-US" spc="-20" dirty="0" smtClean="0"/>
              <a:t> 추가 등의 부가적인 기능 구현은 </a:t>
            </a:r>
            <a:r>
              <a:rPr lang="en-US" altLang="ko-KR" spc="-20" dirty="0" smtClean="0"/>
              <a:t>Stop(</a:t>
            </a:r>
            <a:r>
              <a:rPr lang="ko-KR" altLang="en-US" spc="-20" dirty="0" smtClean="0"/>
              <a:t>업무 투입 이후에  순차적으로 개발 예정</a:t>
            </a:r>
            <a:r>
              <a:rPr lang="en-US" altLang="ko-KR" spc="-20" dirty="0" smtClean="0"/>
              <a:t>)</a:t>
            </a:r>
            <a:endParaRPr lang="en-US" altLang="ko-KR" spc="-20" dirty="0"/>
          </a:p>
          <a:p>
            <a:pPr marL="0" lvl="1" indent="0">
              <a:buNone/>
            </a:pPr>
            <a:endParaRPr lang="en-US" altLang="ko-KR" sz="800" spc="-20" dirty="0" smtClean="0"/>
          </a:p>
        </p:txBody>
      </p:sp>
    </p:spTree>
    <p:extLst>
      <p:ext uri="{BB962C8B-B14F-4D97-AF65-F5344CB8AC3E}">
        <p14:creationId xmlns:p14="http://schemas.microsoft.com/office/powerpoint/2010/main" val="216531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 </a:t>
            </a:r>
            <a:r>
              <a:rPr lang="ko-KR" altLang="en-US" dirty="0" smtClean="0"/>
              <a:t>진행 현황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전용 </a:t>
            </a:r>
            <a:r>
              <a:rPr lang="ko-KR" altLang="en-US" dirty="0" err="1" smtClean="0"/>
              <a:t>상관규칙</a:t>
            </a:r>
            <a:endParaRPr lang="ko-KR" altLang="en-US" dirty="0"/>
          </a:p>
        </p:txBody>
      </p:sp>
      <p:sp>
        <p:nvSpPr>
          <p:cNvPr id="41" name="내용 개체 틀 2"/>
          <p:cNvSpPr>
            <a:spLocks noGrp="1"/>
          </p:cNvSpPr>
          <p:nvPr>
            <p:ph idx="1"/>
          </p:nvPr>
        </p:nvSpPr>
        <p:spPr>
          <a:xfrm>
            <a:off x="612000" y="1052736"/>
            <a:ext cx="7920000" cy="5400600"/>
          </a:xfrm>
        </p:spPr>
        <p:txBody>
          <a:bodyPr/>
          <a:lstStyle/>
          <a:p>
            <a:pPr marL="0" lvl="1" indent="0">
              <a:buNone/>
            </a:pPr>
            <a:r>
              <a:rPr lang="ko-KR" altLang="en-US" sz="1050" b="1" spc="-20" dirty="0" smtClean="0"/>
              <a:t>정책 선별</a:t>
            </a:r>
            <a:endParaRPr lang="en-US" altLang="ko-KR" sz="1050" b="1" spc="-20" dirty="0" smtClean="0"/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ko-KR" altLang="en-US" spc="-20" dirty="0" smtClean="0"/>
              <a:t>총 </a:t>
            </a:r>
            <a:r>
              <a:rPr lang="en-US" altLang="ko-KR" spc="-20" dirty="0" smtClean="0"/>
              <a:t>4</a:t>
            </a:r>
            <a:r>
              <a:rPr lang="ko-KR" altLang="en-US" spc="-20" dirty="0" smtClean="0"/>
              <a:t>개의 </a:t>
            </a:r>
            <a:r>
              <a:rPr lang="ko-KR" altLang="en-US" spc="-20" dirty="0" smtClean="0"/>
              <a:t>상관 </a:t>
            </a:r>
            <a:r>
              <a:rPr lang="ko-KR" altLang="en-US" spc="-20" dirty="0" smtClean="0"/>
              <a:t>정책을 </a:t>
            </a:r>
            <a:r>
              <a:rPr lang="ko-KR" altLang="en-US" spc="-20" dirty="0" smtClean="0"/>
              <a:t>생성</a:t>
            </a:r>
            <a:r>
              <a:rPr lang="en-US" altLang="ko-KR" spc="-20" dirty="0" smtClean="0"/>
              <a:t>,</a:t>
            </a:r>
            <a:r>
              <a:rPr lang="ko-KR" altLang="en-US" spc="-20" dirty="0" smtClean="0"/>
              <a:t> </a:t>
            </a:r>
            <a:r>
              <a:rPr lang="ko-KR" altLang="en-US" spc="-20" dirty="0" smtClean="0"/>
              <a:t>정</a:t>
            </a:r>
            <a:r>
              <a:rPr lang="en-US" altLang="ko-KR" spc="-20" dirty="0" smtClean="0"/>
              <a:t>/</a:t>
            </a:r>
            <a:r>
              <a:rPr lang="ko-KR" altLang="en-US" spc="-20" dirty="0" err="1" smtClean="0"/>
              <a:t>오탐</a:t>
            </a:r>
            <a:r>
              <a:rPr lang="ko-KR" altLang="en-US" spc="-20" dirty="0" smtClean="0"/>
              <a:t> </a:t>
            </a:r>
            <a:r>
              <a:rPr lang="ko-KR" altLang="en-US" spc="-20" dirty="0" smtClean="0"/>
              <a:t>통계 및 트러블 슈팅 </a:t>
            </a:r>
            <a:r>
              <a:rPr lang="ko-KR" altLang="en-US" spc="-20" dirty="0" smtClean="0"/>
              <a:t>진행</a:t>
            </a:r>
            <a:endParaRPr lang="en-US" altLang="ko-KR" spc="-20" dirty="0"/>
          </a:p>
          <a:p>
            <a:pPr marL="0" lvl="1" indent="0">
              <a:buNone/>
            </a:pPr>
            <a:r>
              <a:rPr lang="en-US" altLang="ko-KR" sz="900" spc="-20" dirty="0" smtClean="0"/>
              <a:t>   </a:t>
            </a:r>
            <a:r>
              <a:rPr lang="ko-KR" altLang="en-US" sz="900" spc="-20" dirty="0"/>
              <a:t> </a:t>
            </a:r>
            <a:r>
              <a:rPr lang="en-US" altLang="ko-KR" sz="900" spc="-20" dirty="0" smtClean="0"/>
              <a:t>- </a:t>
            </a:r>
            <a:r>
              <a:rPr lang="en-US" altLang="ko-KR" sz="900" spc="-20" dirty="0" err="1" smtClean="0"/>
              <a:t>phpMyAdmin_Login_Attempt</a:t>
            </a:r>
            <a:r>
              <a:rPr lang="en-US" altLang="ko-KR" sz="900" spc="-20" dirty="0" smtClean="0"/>
              <a:t>  </a:t>
            </a:r>
            <a:r>
              <a:rPr lang="en-US" altLang="ko-KR" sz="900" spc="-20" dirty="0" smtClean="0"/>
              <a:t>-&gt; </a:t>
            </a:r>
            <a:r>
              <a:rPr lang="ko-KR" altLang="en-US" sz="900" spc="-20" dirty="0" smtClean="0"/>
              <a:t>모듈화 완료</a:t>
            </a:r>
            <a:endParaRPr lang="en-US" altLang="ko-KR" sz="900" spc="-20" dirty="0" smtClean="0"/>
          </a:p>
          <a:p>
            <a:pPr marL="0" lvl="1" indent="0">
              <a:buNone/>
            </a:pPr>
            <a:r>
              <a:rPr lang="ko-KR" altLang="en-US" sz="900" spc="-20" dirty="0" smtClean="0"/>
              <a:t>    </a:t>
            </a:r>
            <a:r>
              <a:rPr lang="en-US" altLang="ko-KR" sz="900" spc="-20" dirty="0"/>
              <a:t>- </a:t>
            </a:r>
            <a:r>
              <a:rPr lang="en-US" altLang="ko-KR" sz="900" dirty="0" err="1" smtClean="0"/>
              <a:t>nj_RAT_Response</a:t>
            </a:r>
            <a:r>
              <a:rPr lang="en-US" altLang="ko-KR" sz="900" dirty="0" smtClean="0"/>
              <a:t> </a:t>
            </a:r>
            <a:r>
              <a:rPr lang="en-US" altLang="ko-KR" sz="900" spc="-20" dirty="0"/>
              <a:t>-&gt; </a:t>
            </a:r>
            <a:r>
              <a:rPr lang="ko-KR" altLang="en-US" sz="900" spc="-20" dirty="0"/>
              <a:t>모듈화 완료</a:t>
            </a:r>
            <a:endParaRPr lang="en-US" altLang="ko-KR" sz="900" spc="-20" dirty="0" smtClean="0"/>
          </a:p>
          <a:p>
            <a:pPr marL="0" lvl="1" indent="0">
              <a:buNone/>
            </a:pPr>
            <a:r>
              <a:rPr lang="en-US" altLang="ko-KR" sz="900" spc="-20" dirty="0" smtClean="0"/>
              <a:t>    - </a:t>
            </a:r>
            <a:r>
              <a:rPr lang="en-US" altLang="ko-KR" sz="900" spc="-20" dirty="0" err="1" smtClean="0"/>
              <a:t>SQL_injection_Union_select</a:t>
            </a:r>
            <a:r>
              <a:rPr lang="en-US" altLang="ko-KR" sz="900" spc="-20" dirty="0" smtClean="0"/>
              <a:t> </a:t>
            </a:r>
            <a:r>
              <a:rPr lang="ko-KR" altLang="en-US" sz="900" spc="-20" dirty="0" smtClean="0"/>
              <a:t>외 </a:t>
            </a:r>
            <a:r>
              <a:rPr lang="en-US" altLang="ko-KR" sz="900" spc="-20" dirty="0" smtClean="0"/>
              <a:t>SQL injection </a:t>
            </a:r>
            <a:r>
              <a:rPr lang="ko-KR" altLang="en-US" sz="900" spc="-20" dirty="0" smtClean="0"/>
              <a:t>관련 </a:t>
            </a:r>
            <a:r>
              <a:rPr lang="en-US" altLang="ko-KR" sz="900" spc="-20" dirty="0" smtClean="0"/>
              <a:t>Inbound </a:t>
            </a:r>
            <a:r>
              <a:rPr lang="ko-KR" altLang="en-US" sz="900" spc="-20" dirty="0" smtClean="0"/>
              <a:t>정책</a:t>
            </a:r>
            <a:r>
              <a:rPr lang="en-US" altLang="ko-KR" sz="900" spc="-20" dirty="0"/>
              <a:t/>
            </a:r>
            <a:br>
              <a:rPr lang="en-US" altLang="ko-KR" sz="900" spc="-20" dirty="0"/>
            </a:br>
            <a:r>
              <a:rPr lang="en-US" altLang="ko-KR" sz="900" spc="-20" dirty="0" smtClean="0"/>
              <a:t>    - </a:t>
            </a:r>
            <a:r>
              <a:rPr lang="en-US" altLang="ko-KR" sz="900" spc="-20" dirty="0" err="1" smtClean="0"/>
              <a:t>XSS_http</a:t>
            </a:r>
            <a:r>
              <a:rPr lang="en-US" altLang="ko-KR" sz="900" spc="-20" dirty="0" smtClean="0"/>
              <a:t> </a:t>
            </a:r>
            <a:r>
              <a:rPr lang="en-US" altLang="ko-KR" sz="900" spc="-20" dirty="0"/>
              <a:t>simple cross site </a:t>
            </a:r>
            <a:r>
              <a:rPr lang="en-US" altLang="ko-KR" sz="900" spc="-20" dirty="0" smtClean="0"/>
              <a:t>scripting </a:t>
            </a:r>
            <a:r>
              <a:rPr lang="ko-KR" altLang="en-US" sz="900" spc="-20" dirty="0" smtClean="0"/>
              <a:t>외 </a:t>
            </a:r>
            <a:r>
              <a:rPr lang="en-US" altLang="ko-KR" sz="900" spc="-20" dirty="0" smtClean="0"/>
              <a:t>XSS </a:t>
            </a:r>
            <a:r>
              <a:rPr lang="ko-KR" altLang="en-US" sz="900" spc="-20" dirty="0" smtClean="0"/>
              <a:t>관련 </a:t>
            </a:r>
            <a:r>
              <a:rPr lang="en-US" altLang="ko-KR" sz="900" spc="-20" dirty="0" smtClean="0"/>
              <a:t>Inbound </a:t>
            </a:r>
            <a:r>
              <a:rPr lang="ko-KR" altLang="en-US" sz="900" spc="-20" dirty="0" smtClean="0"/>
              <a:t>정책</a:t>
            </a:r>
            <a:endParaRPr lang="en-US" altLang="ko-KR" sz="900" spc="-20" dirty="0"/>
          </a:p>
          <a:p>
            <a:pPr marL="0" lvl="1" indent="0">
              <a:buNone/>
            </a:pPr>
            <a:r>
              <a:rPr lang="en-US" altLang="ko-KR" sz="900" spc="-20" dirty="0"/>
              <a:t> </a:t>
            </a:r>
            <a:r>
              <a:rPr lang="en-US" altLang="ko-KR" sz="900" spc="-20" dirty="0" smtClean="0"/>
              <a:t>  </a:t>
            </a:r>
            <a:endParaRPr lang="en-US" altLang="ko-KR" sz="800" spc="-20" dirty="0" smtClean="0"/>
          </a:p>
          <a:p>
            <a:pPr marL="0" lvl="1" indent="0">
              <a:buNone/>
            </a:pPr>
            <a:r>
              <a:rPr lang="en-US" altLang="ko-KR" sz="1050" b="1" spc="-20" dirty="0" smtClean="0">
                <a:solidFill>
                  <a:prstClr val="black"/>
                </a:solidFill>
              </a:rPr>
              <a:t>ARA </a:t>
            </a:r>
            <a:r>
              <a:rPr lang="ko-KR" altLang="en-US" sz="1050" b="1" spc="-20" dirty="0" smtClean="0">
                <a:solidFill>
                  <a:prstClr val="black"/>
                </a:solidFill>
              </a:rPr>
              <a:t>규칙 구성</a:t>
            </a:r>
            <a:endParaRPr lang="en-US" altLang="ko-KR" sz="1050" b="1" spc="-20" dirty="0" smtClean="0">
              <a:solidFill>
                <a:prstClr val="black"/>
              </a:solidFill>
            </a:endParaRPr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ko-KR" altLang="en-US" spc="-20" dirty="0" smtClean="0">
                <a:solidFill>
                  <a:prstClr val="black"/>
                </a:solidFill>
              </a:rPr>
              <a:t>기존 상관 </a:t>
            </a:r>
            <a:r>
              <a:rPr lang="ko-KR" altLang="en-US" spc="-20" dirty="0" smtClean="0">
                <a:solidFill>
                  <a:prstClr val="black"/>
                </a:solidFill>
              </a:rPr>
              <a:t>규칙은 </a:t>
            </a:r>
            <a:r>
              <a:rPr lang="ko-KR" altLang="en-US" spc="-20" dirty="0" err="1" smtClean="0">
                <a:solidFill>
                  <a:prstClr val="black"/>
                </a:solidFill>
              </a:rPr>
              <a:t>범주화를</a:t>
            </a:r>
            <a:r>
              <a:rPr lang="ko-KR" altLang="en-US" spc="-20" dirty="0" smtClean="0">
                <a:solidFill>
                  <a:prstClr val="black"/>
                </a:solidFill>
              </a:rPr>
              <a:t> </a:t>
            </a:r>
            <a:r>
              <a:rPr lang="ko-KR" altLang="en-US" spc="-20" dirty="0" smtClean="0">
                <a:solidFill>
                  <a:prstClr val="black"/>
                </a:solidFill>
              </a:rPr>
              <a:t>활용</a:t>
            </a:r>
            <a:r>
              <a:rPr lang="en-US" altLang="ko-KR" spc="-20" dirty="0" smtClean="0">
                <a:solidFill>
                  <a:prstClr val="black"/>
                </a:solidFill>
              </a:rPr>
              <a:t>,</a:t>
            </a:r>
            <a:r>
              <a:rPr lang="ko-KR" altLang="en-US" spc="-20" dirty="0" smtClean="0">
                <a:solidFill>
                  <a:prstClr val="black"/>
                </a:solidFill>
              </a:rPr>
              <a:t> 카테고리 별로 세분화된 </a:t>
            </a:r>
            <a:r>
              <a:rPr lang="en-US" altLang="ko-KR" spc="-20" dirty="0" smtClean="0">
                <a:solidFill>
                  <a:prstClr val="black"/>
                </a:solidFill>
              </a:rPr>
              <a:t>Base </a:t>
            </a:r>
            <a:r>
              <a:rPr lang="ko-KR" altLang="en-US" spc="-20" dirty="0" smtClean="0">
                <a:solidFill>
                  <a:prstClr val="black"/>
                </a:solidFill>
              </a:rPr>
              <a:t>정책에 따라 </a:t>
            </a:r>
            <a:r>
              <a:rPr lang="en-US" altLang="ko-KR" spc="-20" dirty="0" smtClean="0">
                <a:solidFill>
                  <a:prstClr val="black"/>
                </a:solidFill>
              </a:rPr>
              <a:t>1:N </a:t>
            </a:r>
            <a:r>
              <a:rPr lang="ko-KR" altLang="en-US" spc="-20" dirty="0" smtClean="0">
                <a:solidFill>
                  <a:prstClr val="black"/>
                </a:solidFill>
              </a:rPr>
              <a:t>형태로 </a:t>
            </a:r>
            <a:r>
              <a:rPr lang="ko-KR" altLang="en-US" spc="-20" dirty="0" smtClean="0">
                <a:solidFill>
                  <a:prstClr val="black"/>
                </a:solidFill>
              </a:rPr>
              <a:t>상관 규칙  </a:t>
            </a:r>
            <a:r>
              <a:rPr lang="ko-KR" altLang="en-US" spc="-20" dirty="0" smtClean="0">
                <a:solidFill>
                  <a:prstClr val="black"/>
                </a:solidFill>
              </a:rPr>
              <a:t>동작</a:t>
            </a:r>
            <a:endParaRPr lang="en-US" altLang="ko-KR" spc="-20" dirty="0" smtClean="0">
              <a:solidFill>
                <a:prstClr val="black"/>
              </a:solidFill>
            </a:endParaRPr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en-US" altLang="ko-KR" spc="-20" dirty="0" smtClean="0">
                <a:solidFill>
                  <a:prstClr val="black"/>
                </a:solidFill>
              </a:rPr>
              <a:t>ARA </a:t>
            </a:r>
            <a:r>
              <a:rPr lang="ko-KR" altLang="en-US" spc="-20" dirty="0" smtClean="0">
                <a:solidFill>
                  <a:prstClr val="black"/>
                </a:solidFill>
              </a:rPr>
              <a:t>상관 규칙 또한</a:t>
            </a:r>
            <a:r>
              <a:rPr lang="ko-KR" altLang="en-US" spc="-20" dirty="0" smtClean="0">
                <a:solidFill>
                  <a:prstClr val="black"/>
                </a:solidFill>
              </a:rPr>
              <a:t> </a:t>
            </a:r>
            <a:r>
              <a:rPr lang="ko-KR" altLang="en-US" spc="-20" dirty="0" err="1" smtClean="0">
                <a:solidFill>
                  <a:prstClr val="black"/>
                </a:solidFill>
              </a:rPr>
              <a:t>범주화를</a:t>
            </a:r>
            <a:r>
              <a:rPr lang="ko-KR" altLang="en-US" spc="-20" dirty="0" smtClean="0">
                <a:solidFill>
                  <a:prstClr val="black"/>
                </a:solidFill>
              </a:rPr>
              <a:t> </a:t>
            </a:r>
            <a:r>
              <a:rPr lang="ko-KR" altLang="en-US" spc="-20" dirty="0" smtClean="0">
                <a:solidFill>
                  <a:prstClr val="black"/>
                </a:solidFill>
              </a:rPr>
              <a:t>적용</a:t>
            </a:r>
            <a:r>
              <a:rPr lang="en-US" altLang="ko-KR" spc="-20" dirty="0" smtClean="0">
                <a:solidFill>
                  <a:prstClr val="black"/>
                </a:solidFill>
              </a:rPr>
              <a:t>, </a:t>
            </a:r>
            <a:r>
              <a:rPr lang="ko-KR" altLang="en-US" spc="-20" dirty="0" smtClean="0">
                <a:solidFill>
                  <a:prstClr val="black"/>
                </a:solidFill>
              </a:rPr>
              <a:t>기존 </a:t>
            </a:r>
            <a:r>
              <a:rPr lang="ko-KR" altLang="en-US" spc="-20" dirty="0" smtClean="0">
                <a:solidFill>
                  <a:prstClr val="black"/>
                </a:solidFill>
              </a:rPr>
              <a:t>규칙과 동일하게 </a:t>
            </a:r>
            <a:r>
              <a:rPr lang="en-US" altLang="ko-KR" spc="-20" dirty="0" smtClean="0">
                <a:solidFill>
                  <a:prstClr val="black"/>
                </a:solidFill>
              </a:rPr>
              <a:t>1:N </a:t>
            </a:r>
            <a:r>
              <a:rPr lang="ko-KR" altLang="en-US" spc="-20" dirty="0" smtClean="0">
                <a:solidFill>
                  <a:prstClr val="black"/>
                </a:solidFill>
              </a:rPr>
              <a:t>형태로 상관 규칙 동작</a:t>
            </a:r>
            <a:endParaRPr lang="en-US" altLang="ko-KR" spc="-20" dirty="0" smtClean="0">
              <a:solidFill>
                <a:prstClr val="black"/>
              </a:solidFill>
            </a:endParaRPr>
          </a:p>
          <a:p>
            <a:pPr marL="171450" lvl="1" indent="-171450">
              <a:buFont typeface="Wingdings" panose="05000000000000000000" pitchFamily="2" charset="2"/>
              <a:buChar char="ü"/>
            </a:pPr>
            <a:r>
              <a:rPr lang="ko-KR" altLang="en-US" spc="-20" dirty="0" smtClean="0">
                <a:solidFill>
                  <a:prstClr val="black"/>
                </a:solidFill>
              </a:rPr>
              <a:t>범주화 활용 시 </a:t>
            </a:r>
            <a:r>
              <a:rPr lang="en-US" altLang="ko-KR" spc="-20" dirty="0" smtClean="0">
                <a:solidFill>
                  <a:prstClr val="black"/>
                </a:solidFill>
              </a:rPr>
              <a:t>IDS </a:t>
            </a:r>
            <a:r>
              <a:rPr lang="en-US" altLang="ko-KR" spc="-20" dirty="0" smtClean="0">
                <a:solidFill>
                  <a:prstClr val="black"/>
                </a:solidFill>
              </a:rPr>
              <a:t>event </a:t>
            </a:r>
            <a:r>
              <a:rPr lang="ko-KR" altLang="en-US" spc="-20" dirty="0" smtClean="0">
                <a:solidFill>
                  <a:prstClr val="black"/>
                </a:solidFill>
              </a:rPr>
              <a:t>에 대해 </a:t>
            </a:r>
            <a:r>
              <a:rPr lang="ko-KR" altLang="en-US" spc="-20" dirty="0" err="1" smtClean="0">
                <a:solidFill>
                  <a:prstClr val="black"/>
                </a:solidFill>
              </a:rPr>
              <a:t>일일히</a:t>
            </a:r>
            <a:r>
              <a:rPr lang="ko-KR" altLang="en-US" spc="-20" dirty="0" smtClean="0">
                <a:solidFill>
                  <a:prstClr val="black"/>
                </a:solidFill>
              </a:rPr>
              <a:t> 지정하지 않아도 되므로 추후 정책이 추가</a:t>
            </a:r>
            <a:r>
              <a:rPr lang="en-US" altLang="ko-KR" spc="-20" dirty="0" smtClean="0">
                <a:solidFill>
                  <a:prstClr val="black"/>
                </a:solidFill>
              </a:rPr>
              <a:t>/</a:t>
            </a:r>
            <a:r>
              <a:rPr lang="ko-KR" altLang="en-US" spc="-20" dirty="0" smtClean="0">
                <a:solidFill>
                  <a:prstClr val="black"/>
                </a:solidFill>
              </a:rPr>
              <a:t>삭제 되어도 자동 적용됨</a:t>
            </a:r>
            <a:endParaRPr lang="en-US" altLang="ko-KR" spc="-20" dirty="0">
              <a:solidFill>
                <a:prstClr val="black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766180"/>
            <a:ext cx="3790565" cy="25922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344" y="4005064"/>
            <a:ext cx="3695238" cy="2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5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진행 현황 </a:t>
            </a:r>
            <a:r>
              <a:rPr lang="en-US" altLang="ko-KR" dirty="0" smtClean="0"/>
              <a:t>- WEB</a:t>
            </a:r>
            <a:r>
              <a:rPr lang="ko-KR" altLang="en-US" dirty="0" smtClean="0"/>
              <a:t>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2000" y="998724"/>
            <a:ext cx="8064896" cy="29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 smtClean="0"/>
              <a:t>URL </a:t>
            </a:r>
            <a:r>
              <a:rPr lang="en-US" altLang="ko-KR" sz="1000" b="1" dirty="0"/>
              <a:t>: </a:t>
            </a:r>
            <a:r>
              <a:rPr lang="en-US" altLang="ko-KR" sz="1000" b="1" dirty="0">
                <a:hlinkClick r:id="rId2"/>
              </a:rPr>
              <a:t>https://10.95.106.46/board/range/</a:t>
            </a:r>
            <a:endParaRPr lang="en-US" altLang="ko-KR" sz="1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2856"/>
            <a:ext cx="8485212" cy="3478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6180" y="5611306"/>
            <a:ext cx="1331640" cy="29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 smtClean="0"/>
              <a:t>검증 결과 </a:t>
            </a:r>
            <a:r>
              <a:rPr lang="en-US" altLang="ko-KR" sz="1000" b="1" dirty="0" smtClean="0"/>
              <a:t>View </a:t>
            </a:r>
            <a:r>
              <a:rPr lang="ko-KR" altLang="en-US" sz="1000" b="1" dirty="0" smtClean="0"/>
              <a:t>구성 </a:t>
            </a:r>
            <a:endParaRPr lang="en-US" altLang="ko-KR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1604689"/>
            <a:ext cx="7871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 smtClean="0"/>
              <a:t>RR_DB</a:t>
            </a:r>
            <a:r>
              <a:rPr lang="ko-KR" altLang="en-US" sz="1000" dirty="0" smtClean="0"/>
              <a:t> 값을</a:t>
            </a:r>
            <a:r>
              <a:rPr lang="en-US" altLang="ko-KR" sz="1000" dirty="0"/>
              <a:t> </a:t>
            </a:r>
            <a:r>
              <a:rPr lang="ko-KR" altLang="en-US" sz="1000" dirty="0" err="1" smtClean="0"/>
              <a:t>파싱</a:t>
            </a:r>
            <a:r>
              <a:rPr lang="en-US" altLang="ko-KR" sz="1000" dirty="0" smtClean="0"/>
              <a:t>,</a:t>
            </a:r>
            <a:r>
              <a:rPr lang="ko-KR" altLang="en-US" sz="1000" dirty="0" smtClean="0"/>
              <a:t> 내부 웹 페이지를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통해 분석된 이벤트 확인 가능 </a:t>
            </a:r>
            <a:endParaRPr lang="en-US" altLang="ko-KR" sz="10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 smtClean="0"/>
              <a:t>트리거 된 상관 규칙에 연관된 모든 </a:t>
            </a:r>
            <a:r>
              <a:rPr lang="ko-KR" altLang="en-US" sz="1000" dirty="0" smtClean="0"/>
              <a:t>이벤트 확인 가능</a:t>
            </a:r>
            <a:endParaRPr lang="en-US" altLang="ko-KR" sz="1000" dirty="0"/>
          </a:p>
        </p:txBody>
      </p:sp>
      <p:sp>
        <p:nvSpPr>
          <p:cNvPr id="3" name="직사각형 2"/>
          <p:cNvSpPr/>
          <p:nvPr/>
        </p:nvSpPr>
        <p:spPr>
          <a:xfrm>
            <a:off x="8460432" y="2492896"/>
            <a:ext cx="420316" cy="3118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1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858238"/>
            <a:ext cx="6840760" cy="40910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5576" y="1218818"/>
            <a:ext cx="7871360" cy="527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 smtClean="0"/>
              <a:t>각 </a:t>
            </a:r>
            <a:r>
              <a:rPr lang="ko-KR" altLang="en-US" sz="1000" dirty="0" err="1" smtClean="0"/>
              <a:t>이벤트별로</a:t>
            </a:r>
            <a:r>
              <a:rPr lang="ko-KR" altLang="en-US" sz="1000" dirty="0" smtClean="0"/>
              <a:t> 상세 </a:t>
            </a:r>
            <a:r>
              <a:rPr lang="ko-KR" altLang="en-US" sz="1000" dirty="0" smtClean="0"/>
              <a:t>분석 내용 확인 </a:t>
            </a:r>
            <a:r>
              <a:rPr lang="ko-KR" altLang="en-US" sz="1000" dirty="0" smtClean="0"/>
              <a:t>가능</a:t>
            </a:r>
            <a:endParaRPr lang="en-US" altLang="ko-KR" sz="10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 err="1" smtClean="0"/>
              <a:t>RawData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및 </a:t>
            </a:r>
            <a:r>
              <a:rPr lang="en-US" altLang="ko-KR" sz="1000" dirty="0" smtClean="0"/>
              <a:t>Response </a:t>
            </a:r>
            <a:r>
              <a:rPr lang="ko-KR" altLang="en-US" sz="1000" dirty="0" smtClean="0"/>
              <a:t>데이터의 경우 </a:t>
            </a:r>
            <a:r>
              <a:rPr lang="ko-KR" altLang="en-US" sz="1000" dirty="0" smtClean="0"/>
              <a:t>확인이 쉽도록 자동 </a:t>
            </a:r>
            <a:r>
              <a:rPr lang="ko-KR" altLang="en-US" sz="1000" dirty="0" err="1" smtClean="0"/>
              <a:t>디코딩</a:t>
            </a:r>
            <a:r>
              <a:rPr lang="ko-KR" altLang="en-US" sz="1000" dirty="0" smtClean="0"/>
              <a:t> 후 </a:t>
            </a:r>
            <a:r>
              <a:rPr lang="ko-KR" altLang="en-US" sz="1000" dirty="0" smtClean="0"/>
              <a:t>결과 표시</a:t>
            </a:r>
            <a:endParaRPr lang="en-US" altLang="ko-KR" sz="1000" dirty="0"/>
          </a:p>
        </p:txBody>
      </p:sp>
      <p:sp>
        <p:nvSpPr>
          <p:cNvPr id="2" name="직사각형 1"/>
          <p:cNvSpPr/>
          <p:nvPr/>
        </p:nvSpPr>
        <p:spPr>
          <a:xfrm>
            <a:off x="827584" y="5445224"/>
            <a:ext cx="496855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27584" y="2996952"/>
            <a:ext cx="6840760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진행 현황 </a:t>
            </a:r>
            <a:r>
              <a:rPr lang="en-US" altLang="ko-KR" dirty="0" smtClean="0"/>
              <a:t>- WEB</a:t>
            </a:r>
            <a:r>
              <a:rPr lang="ko-KR" altLang="en-US" dirty="0" smtClean="0"/>
              <a:t>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80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55576" y="1218818"/>
            <a:ext cx="78713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 smtClean="0"/>
              <a:t>ESM</a:t>
            </a:r>
            <a:r>
              <a:rPr lang="ko-KR" altLang="en-US" sz="1000" dirty="0" smtClean="0"/>
              <a:t>을 통해 전달되는 </a:t>
            </a:r>
            <a:r>
              <a:rPr lang="en-US" altLang="ko-KR" sz="1000" dirty="0" err="1" smtClean="0"/>
              <a:t>RawData</a:t>
            </a:r>
            <a:r>
              <a:rPr lang="en-US" altLang="ko-KR" sz="1000" dirty="0" smtClean="0"/>
              <a:t> </a:t>
            </a:r>
            <a:r>
              <a:rPr lang="en-US" altLang="ko-KR" sz="1000" dirty="0" smtClean="0"/>
              <a:t>Packet </a:t>
            </a:r>
            <a:r>
              <a:rPr lang="ko-KR" altLang="en-US" sz="1000" dirty="0" smtClean="0"/>
              <a:t>중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HTTP </a:t>
            </a:r>
            <a:r>
              <a:rPr lang="ko-KR" altLang="en-US" sz="1000" dirty="0" smtClean="0"/>
              <a:t>에 한하여</a:t>
            </a:r>
            <a:r>
              <a:rPr lang="en-US" altLang="ko-KR" sz="1000" dirty="0" smtClean="0"/>
              <a:t> </a:t>
            </a:r>
            <a:r>
              <a:rPr lang="en-US" altLang="ko-KR" sz="1000" dirty="0" smtClean="0"/>
              <a:t>Header Data </a:t>
            </a:r>
            <a:r>
              <a:rPr lang="ko-KR" altLang="en-US" sz="1000" dirty="0" smtClean="0"/>
              <a:t>확보 </a:t>
            </a:r>
            <a:endParaRPr lang="en-US" altLang="ko-KR" sz="10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 smtClean="0"/>
              <a:t>RR DB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내</a:t>
            </a:r>
            <a:r>
              <a:rPr lang="ko-KR" altLang="en-US" sz="1000" dirty="0" smtClean="0"/>
              <a:t> </a:t>
            </a:r>
            <a:r>
              <a:rPr lang="en-US" altLang="ko-KR" sz="1000" dirty="0" err="1" smtClean="0"/>
              <a:t>baseid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기준 </a:t>
            </a:r>
            <a:r>
              <a:rPr lang="en-US" altLang="ko-KR" sz="1000" b="1" dirty="0" smtClean="0"/>
              <a:t>Header Line(22</a:t>
            </a:r>
            <a:r>
              <a:rPr lang="ko-KR" altLang="en-US" sz="1000" b="1" dirty="0" smtClean="0"/>
              <a:t>개</a:t>
            </a:r>
            <a:r>
              <a:rPr lang="en-US" altLang="ko-KR" sz="1000" b="1" dirty="0" smtClean="0"/>
              <a:t>) </a:t>
            </a:r>
            <a:r>
              <a:rPr lang="ko-KR" altLang="en-US" sz="1000" dirty="0" smtClean="0"/>
              <a:t>컬럼을 </a:t>
            </a:r>
            <a:r>
              <a:rPr lang="ko-KR" altLang="en-US" sz="1000" dirty="0" smtClean="0"/>
              <a:t>생성하여 각각의 정보를 </a:t>
            </a:r>
            <a:r>
              <a:rPr lang="en-US" altLang="ko-KR" sz="1000" dirty="0" smtClean="0"/>
              <a:t>Split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후 저장</a:t>
            </a:r>
            <a:r>
              <a:rPr lang="en-US" altLang="ko-KR" sz="1000" dirty="0" smtClean="0"/>
              <a:t>&amp;</a:t>
            </a:r>
            <a:r>
              <a:rPr lang="ko-KR" altLang="en-US" sz="1000" dirty="0" smtClean="0"/>
              <a:t>확보</a:t>
            </a:r>
            <a:endParaRPr lang="en-US" altLang="ko-KR" sz="10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 smtClean="0"/>
              <a:t>추후 </a:t>
            </a:r>
            <a:r>
              <a:rPr lang="ko-KR" altLang="en-US" sz="1000" dirty="0" smtClean="0"/>
              <a:t>공격자 </a:t>
            </a:r>
            <a:r>
              <a:rPr lang="en-US" altLang="ko-KR" sz="1000" dirty="0" smtClean="0"/>
              <a:t>IP, </a:t>
            </a:r>
            <a:r>
              <a:rPr lang="ko-KR" altLang="en-US" sz="1000" dirty="0" smtClean="0"/>
              <a:t>공격 패턴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공격 대상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등 </a:t>
            </a:r>
            <a:r>
              <a:rPr lang="ko-KR" altLang="en-US" sz="1000" dirty="0" err="1" smtClean="0"/>
              <a:t>통계기반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Big Data</a:t>
            </a:r>
            <a:r>
              <a:rPr lang="ko-KR" altLang="en-US" sz="1000" dirty="0" smtClean="0"/>
              <a:t>로 활용 가능하며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다양한 방향으로 관제 업무에 활용 </a:t>
            </a:r>
            <a:r>
              <a:rPr lang="ko-KR" altLang="en-US" sz="1000" dirty="0" smtClean="0"/>
              <a:t>가능 예상</a:t>
            </a: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501" y="2073736"/>
            <a:ext cx="1423088" cy="3089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69020" y="5156025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HTTP Header Data</a:t>
            </a:r>
            <a:endParaRPr lang="ko-KR" alt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7032807" y="5168523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수집 </a:t>
            </a:r>
            <a:r>
              <a:rPr lang="en-US" altLang="ko-KR" sz="1000" dirty="0" smtClean="0"/>
              <a:t>Data </a:t>
            </a:r>
            <a:r>
              <a:rPr lang="ko-KR" altLang="en-US" sz="1000" dirty="0" smtClean="0"/>
              <a:t>컬럼 </a:t>
            </a:r>
            <a:r>
              <a:rPr lang="en-US" altLang="ko-KR" sz="1000" dirty="0" smtClean="0"/>
              <a:t>(header Key)</a:t>
            </a:r>
            <a:r>
              <a:rPr lang="ko-KR" altLang="en-US" sz="1000" dirty="0" smtClean="0"/>
              <a:t> </a:t>
            </a:r>
            <a:endParaRPr lang="ko-KR" altLang="en-US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12" y="2066116"/>
            <a:ext cx="6228184" cy="3089909"/>
          </a:xfrm>
          <a:prstGeom prst="rect">
            <a:avLst/>
          </a:prstGeom>
        </p:spPr>
      </p:pic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진행 현황 </a:t>
            </a:r>
            <a:r>
              <a:rPr lang="en-US" altLang="ko-KR" dirty="0" smtClean="0"/>
              <a:t>– Request </a:t>
            </a:r>
            <a:r>
              <a:rPr lang="ko-KR" altLang="en-US" dirty="0" smtClean="0"/>
              <a:t>패킷 </a:t>
            </a:r>
            <a:r>
              <a:rPr lang="en-US" altLang="ko-KR" dirty="0" smtClean="0"/>
              <a:t>Header Data </a:t>
            </a:r>
            <a:r>
              <a:rPr lang="ko-KR" altLang="en-US" dirty="0" smtClean="0"/>
              <a:t>확보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764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6. </a:t>
            </a:r>
            <a:r>
              <a:rPr lang="en-US" altLang="ko-KR" dirty="0" smtClean="0"/>
              <a:t>ARA </a:t>
            </a:r>
            <a:r>
              <a:rPr lang="ko-KR" altLang="en-US" dirty="0" smtClean="0"/>
              <a:t>적용 효과 측정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1092550"/>
            <a:ext cx="8424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b="1" dirty="0" smtClean="0"/>
              <a:t>통계 기간 </a:t>
            </a:r>
            <a:r>
              <a:rPr lang="en-US" altLang="ko-KR" sz="1000" b="1" dirty="0" smtClean="0"/>
              <a:t>: </a:t>
            </a:r>
            <a:r>
              <a:rPr lang="en-US" altLang="ko-KR" sz="1000" dirty="0" smtClean="0"/>
              <a:t>2019/10/30 </a:t>
            </a:r>
            <a:r>
              <a:rPr lang="en-US" altLang="ko-KR" sz="1000" dirty="0" smtClean="0"/>
              <a:t>00:00 ~ 2019/11/18 00:00(</a:t>
            </a:r>
            <a:r>
              <a:rPr lang="ko-KR" altLang="en-US" sz="1000" dirty="0"/>
              <a:t>약 </a:t>
            </a:r>
            <a:r>
              <a:rPr lang="en-US" altLang="ko-KR" sz="1000" dirty="0" smtClean="0"/>
              <a:t>19</a:t>
            </a:r>
            <a:r>
              <a:rPr lang="ko-KR" altLang="en-US" sz="1000" dirty="0" smtClean="0"/>
              <a:t>일</a:t>
            </a:r>
            <a:r>
              <a:rPr lang="en-US" altLang="ko-KR" sz="1000" dirty="0" smtClean="0"/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b="1" dirty="0" smtClean="0"/>
              <a:t>발생량 비교 결과</a:t>
            </a:r>
            <a:endParaRPr lang="en-US" altLang="ko-KR" sz="1000" b="1" dirty="0" smtClean="0"/>
          </a:p>
        </p:txBody>
      </p:sp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36105092"/>
              </p:ext>
            </p:extLst>
          </p:nvPr>
        </p:nvGraphicFramePr>
        <p:xfrm>
          <a:off x="611560" y="1700808"/>
          <a:ext cx="7812612" cy="3303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26178" y="3775740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en-US" altLang="ko-KR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 </a:t>
            </a:r>
            <a:r>
              <a:rPr lang="ko-KR" altLang="en-US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감소 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3790" y="3229468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</a:t>
            </a:r>
            <a:r>
              <a:rPr lang="en-US" altLang="ko-KR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 </a:t>
            </a:r>
            <a:r>
              <a:rPr lang="ko-KR" altLang="en-US" sz="1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감소 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5085088"/>
            <a:ext cx="7362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운영 가능한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상관 규칙 발생량 분석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기존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상관 발생량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대비 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sz="105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1%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감소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지속적으로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오탐률이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상관 규칙을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ARA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정책으로 전환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발생량이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감소에 기여 가능할 것으로 예상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154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7. </a:t>
            </a:r>
            <a:r>
              <a:rPr lang="en-US" altLang="ko-KR" dirty="0" smtClean="0"/>
              <a:t>ARA </a:t>
            </a:r>
            <a:r>
              <a:rPr lang="ko-KR" altLang="en-US" dirty="0" smtClean="0"/>
              <a:t>적용 범위 이슈</a:t>
            </a:r>
            <a:endParaRPr lang="ko-KR" altLang="en-US" dirty="0"/>
          </a:p>
        </p:txBody>
      </p:sp>
      <p:sp>
        <p:nvSpPr>
          <p:cNvPr id="41" name="내용 개체 틀 2"/>
          <p:cNvSpPr>
            <a:spLocks noGrp="1"/>
          </p:cNvSpPr>
          <p:nvPr>
            <p:ph idx="1"/>
          </p:nvPr>
        </p:nvSpPr>
        <p:spPr>
          <a:xfrm>
            <a:off x="612000" y="1124744"/>
            <a:ext cx="7920000" cy="5147476"/>
          </a:xfrm>
        </p:spPr>
        <p:txBody>
          <a:bodyPr/>
          <a:lstStyle/>
          <a:p>
            <a:pPr lvl="1"/>
            <a:r>
              <a:rPr lang="en-US" altLang="ko-KR" b="1" spc="-20" dirty="0" smtClean="0"/>
              <a:t>NCP </a:t>
            </a:r>
            <a:r>
              <a:rPr lang="ko-KR" altLang="en-US" b="1" spc="-20" dirty="0" smtClean="0"/>
              <a:t>는 현재 바로 적용 가능 </a:t>
            </a:r>
            <a:endParaRPr lang="en-US" altLang="ko-KR" b="1" spc="-20" dirty="0" smtClean="0"/>
          </a:p>
          <a:p>
            <a:pPr lvl="2"/>
            <a:r>
              <a:rPr lang="en-US" altLang="ko-KR" spc="-20" dirty="0" smtClean="0"/>
              <a:t>ESM </a:t>
            </a:r>
            <a:r>
              <a:rPr lang="ko-KR" altLang="en-US" spc="-20" dirty="0" smtClean="0"/>
              <a:t>에서 </a:t>
            </a:r>
            <a:r>
              <a:rPr lang="en-US" altLang="ko-KR" spc="-20" dirty="0" smtClean="0"/>
              <a:t>IDS Raw-Data </a:t>
            </a:r>
            <a:r>
              <a:rPr lang="ko-KR" altLang="en-US" spc="-20" dirty="0" smtClean="0"/>
              <a:t>를 받고 있으므로 바로 적용 가능 </a:t>
            </a:r>
            <a:endParaRPr lang="en-US" altLang="ko-KR" spc="-20" dirty="0" smtClean="0"/>
          </a:p>
          <a:p>
            <a:pPr lvl="2"/>
            <a:r>
              <a:rPr lang="ko-KR" altLang="en-US" spc="-20" dirty="0" smtClean="0"/>
              <a:t>현 시점 기준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스토리지 상에 큰 문제 없음</a:t>
            </a:r>
            <a:r>
              <a:rPr lang="en-US" altLang="ko-KR" spc="-20" dirty="0" smtClean="0"/>
              <a:t>. </a:t>
            </a:r>
            <a:endParaRPr lang="en-US" altLang="ko-KR" spc="-20" dirty="0" smtClean="0"/>
          </a:p>
          <a:p>
            <a:pPr lvl="3"/>
            <a:endParaRPr lang="en-US" altLang="ko-KR" spc="-20" dirty="0"/>
          </a:p>
          <a:p>
            <a:pPr lvl="1"/>
            <a:r>
              <a:rPr lang="en-US" altLang="ko-KR" b="1" spc="-20" dirty="0" smtClean="0">
                <a:solidFill>
                  <a:schemeClr val="tx1"/>
                </a:solidFill>
              </a:rPr>
              <a:t>NAVER </a:t>
            </a:r>
            <a:r>
              <a:rPr lang="ko-KR" altLang="en-US" b="1" spc="-20" dirty="0" smtClean="0"/>
              <a:t>적용 시 가능한 시나리오 </a:t>
            </a:r>
            <a:r>
              <a:rPr lang="en-US" altLang="ko-KR" b="1" spc="-20" dirty="0" smtClean="0"/>
              <a:t>&lt;</a:t>
            </a:r>
            <a:r>
              <a:rPr lang="ko-KR" altLang="en-US" b="1" spc="-20" dirty="0" smtClean="0"/>
              <a:t>현재 적용 불가</a:t>
            </a:r>
            <a:r>
              <a:rPr lang="en-US" altLang="ko-KR" b="1" spc="-20" dirty="0" smtClean="0"/>
              <a:t>&gt;</a:t>
            </a:r>
            <a:endParaRPr lang="en-US" altLang="ko-KR" b="1" spc="-20" dirty="0" smtClean="0">
              <a:solidFill>
                <a:schemeClr val="tx1"/>
              </a:solidFill>
            </a:endParaRPr>
          </a:p>
          <a:p>
            <a:pPr lvl="2"/>
            <a:r>
              <a:rPr lang="en-US" altLang="ko-KR" spc="-20" dirty="0" smtClean="0"/>
              <a:t>ESM</a:t>
            </a:r>
            <a:r>
              <a:rPr lang="ko-KR" altLang="en-US" spc="-20" dirty="0" smtClean="0"/>
              <a:t>에 </a:t>
            </a:r>
            <a:r>
              <a:rPr lang="en-US" altLang="ko-KR" spc="-20" dirty="0" smtClean="0"/>
              <a:t>Raw-data </a:t>
            </a:r>
            <a:r>
              <a:rPr lang="ko-KR" altLang="en-US" spc="-20" dirty="0" smtClean="0"/>
              <a:t>연동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현재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스토리지 구성상 </a:t>
            </a:r>
            <a:r>
              <a:rPr lang="en-US" altLang="ko-KR" spc="-20" dirty="0" smtClean="0"/>
              <a:t>NAVER </a:t>
            </a:r>
            <a:r>
              <a:rPr lang="ko-KR" altLang="en-US" spc="-20" dirty="0" smtClean="0"/>
              <a:t>법인의 </a:t>
            </a:r>
            <a:r>
              <a:rPr lang="en-US" altLang="ko-KR" spc="-20" dirty="0" smtClean="0"/>
              <a:t>Event Raw-Data </a:t>
            </a:r>
            <a:r>
              <a:rPr lang="ko-KR" altLang="en-US" spc="-20" dirty="0" smtClean="0"/>
              <a:t>연동 시 문제가 생길 가능성이 매우 큼</a:t>
            </a:r>
            <a:r>
              <a:rPr lang="en-US" altLang="ko-KR" spc="-20" dirty="0" smtClean="0"/>
              <a:t>. </a:t>
            </a:r>
            <a:endParaRPr lang="en-US" altLang="ko-KR" spc="-20" dirty="0" smtClean="0"/>
          </a:p>
          <a:p>
            <a:pPr lvl="3"/>
            <a:r>
              <a:rPr lang="en-US" altLang="ko-KR" spc="-20" dirty="0" smtClean="0"/>
              <a:t>TESS </a:t>
            </a:r>
            <a:r>
              <a:rPr lang="ko-KR" altLang="en-US" spc="-20" dirty="0" smtClean="0"/>
              <a:t>측에 </a:t>
            </a:r>
            <a:r>
              <a:rPr lang="en-US" altLang="ko-KR" spc="-20" dirty="0" smtClean="0"/>
              <a:t>Raw-Data </a:t>
            </a:r>
            <a:r>
              <a:rPr lang="ko-KR" altLang="en-US" spc="-20" dirty="0" smtClean="0"/>
              <a:t>를 전송</a:t>
            </a:r>
            <a:r>
              <a:rPr lang="en-US" altLang="ko-KR" spc="-20" dirty="0" smtClean="0"/>
              <a:t>/</a:t>
            </a:r>
            <a:r>
              <a:rPr lang="ko-KR" altLang="en-US" spc="-20" dirty="0" err="1" smtClean="0"/>
              <a:t>비전송을</a:t>
            </a:r>
            <a:r>
              <a:rPr lang="ko-KR" altLang="en-US" spc="-20" dirty="0" smtClean="0"/>
              <a:t> 설정 가능하도록 개발 요청하였으나 불가능하다고 답변함</a:t>
            </a:r>
            <a:r>
              <a:rPr lang="en-US" altLang="ko-KR" spc="-20" dirty="0" smtClean="0"/>
              <a:t>. </a:t>
            </a:r>
            <a:br>
              <a:rPr lang="en-US" altLang="ko-KR" spc="-20" dirty="0" smtClean="0"/>
            </a:br>
            <a:r>
              <a:rPr lang="ko-KR" altLang="en-US" spc="-20" dirty="0" smtClean="0"/>
              <a:t>해당 기능이 지원 가능할 경우 적용 가능할 것으로 예상</a:t>
            </a:r>
            <a:r>
              <a:rPr lang="en-US" altLang="ko-KR" spc="-20" dirty="0" smtClean="0"/>
              <a:t>. </a:t>
            </a:r>
            <a:r>
              <a:rPr lang="ko-KR" altLang="en-US" spc="-20" dirty="0" smtClean="0"/>
              <a:t>  </a:t>
            </a:r>
            <a:endParaRPr lang="en-US" altLang="ko-KR" spc="-20" dirty="0"/>
          </a:p>
          <a:p>
            <a:pPr lvl="2"/>
            <a:r>
              <a:rPr lang="en-US" altLang="ko-KR" spc="-20" dirty="0" smtClean="0"/>
              <a:t>TESS DB(ORACLE) </a:t>
            </a:r>
            <a:r>
              <a:rPr lang="ko-KR" altLang="en-US" spc="-20" dirty="0" smtClean="0"/>
              <a:t>의</a:t>
            </a:r>
            <a:r>
              <a:rPr lang="en-US" altLang="ko-KR" spc="-20" dirty="0" smtClean="0"/>
              <a:t> </a:t>
            </a:r>
            <a:r>
              <a:rPr lang="ko-KR" altLang="en-US" spc="-20" dirty="0" smtClean="0"/>
              <a:t>접속 권한 부여 </a:t>
            </a:r>
            <a:r>
              <a:rPr lang="en-US" altLang="ko-KR" spc="-20" dirty="0" smtClean="0"/>
              <a:t>(to ARA)</a:t>
            </a:r>
            <a:endParaRPr lang="en-US" altLang="ko-KR" spc="-20" dirty="0"/>
          </a:p>
          <a:p>
            <a:pPr lvl="3"/>
            <a:r>
              <a:rPr lang="ko-KR" altLang="en-US" spc="-20" dirty="0" smtClean="0"/>
              <a:t>접속 권한 부여가 가능하다면 적용이 가능하나 현재 구성과 다르게 진행해야 하므로 </a:t>
            </a:r>
            <a:r>
              <a:rPr lang="ko-KR" altLang="en-US" b="1" spc="-20" dirty="0" smtClean="0"/>
              <a:t>추가 개발이 필요함</a:t>
            </a:r>
            <a:r>
              <a:rPr lang="en-US" altLang="ko-KR" spc="-20" dirty="0" smtClean="0"/>
              <a:t>. </a:t>
            </a:r>
            <a:endParaRPr lang="en-US" altLang="ko-KR" spc="-20" dirty="0"/>
          </a:p>
          <a:p>
            <a:pPr lvl="3"/>
            <a:r>
              <a:rPr lang="en-US" altLang="ko-KR" spc="-20" dirty="0" smtClean="0"/>
              <a:t>ESM DB </a:t>
            </a:r>
            <a:r>
              <a:rPr lang="ko-KR" altLang="en-US" spc="-20" dirty="0" smtClean="0"/>
              <a:t>용량의 효율화를 위해 </a:t>
            </a:r>
            <a:r>
              <a:rPr lang="en-US" altLang="ko-KR" spc="-20" dirty="0" smtClean="0"/>
              <a:t>NCP </a:t>
            </a:r>
            <a:r>
              <a:rPr lang="ko-KR" altLang="en-US" spc="-20" dirty="0" smtClean="0"/>
              <a:t>도 </a:t>
            </a:r>
            <a:r>
              <a:rPr lang="en-US" altLang="ko-KR" spc="-20" dirty="0" smtClean="0"/>
              <a:t>Raw-Data </a:t>
            </a:r>
            <a:r>
              <a:rPr lang="ko-KR" altLang="en-US" spc="-20" dirty="0" smtClean="0"/>
              <a:t>를 </a:t>
            </a:r>
            <a:r>
              <a:rPr lang="en-US" altLang="ko-KR" spc="-20" dirty="0" smtClean="0"/>
              <a:t>DB </a:t>
            </a:r>
            <a:r>
              <a:rPr lang="ko-KR" altLang="en-US" spc="-20" dirty="0" smtClean="0"/>
              <a:t>에서 가져오는 구성 고려 </a:t>
            </a:r>
            <a:endParaRPr lang="en-US" altLang="ko-KR" spc="-20" dirty="0" smtClean="0"/>
          </a:p>
          <a:p>
            <a:pPr lvl="3"/>
            <a:endParaRPr lang="en-US" altLang="ko-KR" b="1" spc="-20" dirty="0"/>
          </a:p>
          <a:p>
            <a:pPr lvl="1"/>
            <a:r>
              <a:rPr lang="en-US" altLang="ko-KR" b="1" spc="-20" dirty="0" smtClean="0"/>
              <a:t>LINE </a:t>
            </a:r>
            <a:r>
              <a:rPr lang="ko-KR" altLang="en-US" b="1" spc="-20" dirty="0" smtClean="0"/>
              <a:t>적용 시 가능한 시나리오 </a:t>
            </a:r>
            <a:r>
              <a:rPr lang="en-US" altLang="ko-KR" b="1" spc="-20" dirty="0" smtClean="0"/>
              <a:t>&lt;</a:t>
            </a:r>
            <a:r>
              <a:rPr lang="ko-KR" altLang="en-US" b="1" spc="-20" dirty="0" smtClean="0"/>
              <a:t>현재 적용 불가</a:t>
            </a:r>
            <a:r>
              <a:rPr lang="en-US" altLang="ko-KR" b="1" spc="-20" dirty="0" smtClean="0"/>
              <a:t>&gt;</a:t>
            </a:r>
            <a:endParaRPr lang="en-US" altLang="ko-KR" b="1" spc="-20" dirty="0" smtClean="0">
              <a:solidFill>
                <a:schemeClr val="tx1"/>
              </a:solidFill>
            </a:endParaRPr>
          </a:p>
          <a:p>
            <a:pPr lvl="2"/>
            <a:r>
              <a:rPr lang="en-US" altLang="ko-KR" spc="-20" dirty="0" smtClean="0"/>
              <a:t>ESM Raw-Data </a:t>
            </a:r>
            <a:r>
              <a:rPr lang="ko-KR" altLang="en-US" spc="-20" dirty="0" smtClean="0"/>
              <a:t>연동 </a:t>
            </a:r>
            <a:endParaRPr lang="en-US" altLang="ko-KR" spc="-20" dirty="0" smtClean="0">
              <a:solidFill>
                <a:schemeClr val="tx1"/>
              </a:solidFill>
            </a:endParaRPr>
          </a:p>
          <a:p>
            <a:pPr lvl="3"/>
            <a:r>
              <a:rPr lang="ko-KR" altLang="en-US" spc="-20" dirty="0" smtClean="0"/>
              <a:t>현재 구성상 </a:t>
            </a:r>
            <a:r>
              <a:rPr lang="en-US" altLang="ko-KR" spc="-20" dirty="0" smtClean="0"/>
              <a:t>Raw-Data </a:t>
            </a:r>
            <a:r>
              <a:rPr lang="ko-KR" altLang="en-US" spc="-20" dirty="0" smtClean="0"/>
              <a:t>직접 연동은 어려움</a:t>
            </a:r>
            <a:r>
              <a:rPr lang="en-US" altLang="ko-KR" spc="-20" dirty="0" smtClean="0"/>
              <a:t>. </a:t>
            </a:r>
          </a:p>
          <a:p>
            <a:pPr lvl="3"/>
            <a:r>
              <a:rPr lang="ko-KR" altLang="en-US" spc="-20" dirty="0"/>
              <a:t>특히 </a:t>
            </a:r>
            <a:r>
              <a:rPr lang="en-US" altLang="ko-KR" spc="-20" dirty="0"/>
              <a:t>LINE </a:t>
            </a:r>
            <a:r>
              <a:rPr lang="ko-KR" altLang="en-US" spc="-20" dirty="0"/>
              <a:t>의 경우 멀티 </a:t>
            </a:r>
            <a:r>
              <a:rPr lang="ko-KR" altLang="en-US" spc="-20" dirty="0" err="1"/>
              <a:t>디텍션이</a:t>
            </a:r>
            <a:r>
              <a:rPr lang="ko-KR" altLang="en-US" spc="-20" dirty="0"/>
              <a:t> 활성화되어 있으므로 </a:t>
            </a:r>
            <a:r>
              <a:rPr lang="en-US" altLang="ko-KR" spc="-20" dirty="0"/>
              <a:t>IDS </a:t>
            </a:r>
            <a:r>
              <a:rPr lang="ko-KR" altLang="en-US" spc="-20" dirty="0" err="1"/>
              <a:t>이벤트량이</a:t>
            </a:r>
            <a:r>
              <a:rPr lang="ko-KR" altLang="en-US" spc="-20" dirty="0"/>
              <a:t> 많을 수 있으며 </a:t>
            </a:r>
            <a:r>
              <a:rPr lang="en-US" altLang="ko-KR" spc="-20" dirty="0"/>
              <a:t>Raw-Data</a:t>
            </a:r>
            <a:r>
              <a:rPr lang="ko-KR" altLang="en-US" spc="-20" dirty="0"/>
              <a:t>로 인해 문제가 생길 수 있음</a:t>
            </a:r>
            <a:r>
              <a:rPr lang="en-US" altLang="ko-KR" spc="-20" dirty="0"/>
              <a:t>.</a:t>
            </a:r>
            <a:endParaRPr lang="en-US" altLang="ko-KR" spc="-20" dirty="0" smtClean="0"/>
          </a:p>
          <a:p>
            <a:pPr lvl="2"/>
            <a:r>
              <a:rPr lang="en-US" altLang="ko-KR" spc="-20" dirty="0" smtClean="0"/>
              <a:t>TESS </a:t>
            </a:r>
            <a:r>
              <a:rPr lang="en-US" altLang="ko-KR" spc="-20" dirty="0"/>
              <a:t>DB(ORACLE) </a:t>
            </a:r>
            <a:r>
              <a:rPr lang="ko-KR" altLang="en-US" spc="-20" dirty="0"/>
              <a:t>의</a:t>
            </a:r>
            <a:r>
              <a:rPr lang="en-US" altLang="ko-KR" spc="-20" dirty="0"/>
              <a:t> </a:t>
            </a:r>
            <a:r>
              <a:rPr lang="ko-KR" altLang="en-US" spc="-20" dirty="0"/>
              <a:t>접속 권한 부여 </a:t>
            </a:r>
            <a:r>
              <a:rPr lang="en-US" altLang="ko-KR" spc="-20" dirty="0"/>
              <a:t>(to ARA)</a:t>
            </a:r>
          </a:p>
          <a:p>
            <a:pPr lvl="3"/>
            <a:r>
              <a:rPr lang="ko-KR" altLang="en-US" spc="-20" dirty="0"/>
              <a:t>접속 권한 부여가 가능하다면 적용이 가능하나 현재 구성과 다르게 진행해야 하므로 </a:t>
            </a:r>
            <a:r>
              <a:rPr lang="ko-KR" altLang="en-US" b="1" spc="-20" dirty="0"/>
              <a:t>추가 개발이 필요함</a:t>
            </a:r>
            <a:r>
              <a:rPr lang="en-US" altLang="ko-KR" spc="-20" dirty="0"/>
              <a:t>. </a:t>
            </a:r>
          </a:p>
          <a:p>
            <a:pPr lvl="3"/>
            <a:r>
              <a:rPr lang="ko-KR" altLang="en-US" spc="-20" dirty="0" smtClean="0"/>
              <a:t>기존 유효성 검증 시스템의 경우 권한을 </a:t>
            </a:r>
            <a:r>
              <a:rPr lang="ko-KR" altLang="en-US" spc="-20" dirty="0" err="1" smtClean="0"/>
              <a:t>부여받은</a:t>
            </a:r>
            <a:r>
              <a:rPr lang="ko-KR" altLang="en-US" spc="-20" dirty="0" smtClean="0"/>
              <a:t> 상태이나 </a:t>
            </a:r>
            <a:r>
              <a:rPr lang="en-US" altLang="ko-KR" spc="-20" dirty="0" smtClean="0"/>
              <a:t>LINE CERT </a:t>
            </a:r>
            <a:r>
              <a:rPr lang="ko-KR" altLang="en-US" spc="-20" dirty="0" smtClean="0"/>
              <a:t>에서 진행했던 건이라 </a:t>
            </a:r>
            <a:r>
              <a:rPr lang="en-US" altLang="ko-KR" spc="-20" dirty="0" smtClean="0"/>
              <a:t>ARA </a:t>
            </a:r>
            <a:r>
              <a:rPr lang="ko-KR" altLang="en-US" spc="-20" dirty="0" smtClean="0"/>
              <a:t>에 적용 시 재진행해야함</a:t>
            </a:r>
            <a:r>
              <a:rPr lang="en-US" altLang="ko-KR" spc="-20" dirty="0" smtClean="0"/>
              <a:t>. </a:t>
            </a:r>
          </a:p>
          <a:p>
            <a:pPr lvl="2"/>
            <a:r>
              <a:rPr lang="ko-KR" altLang="en-US" spc="-20" dirty="0" smtClean="0"/>
              <a:t>유효성 검증 시스템의 커버 기능 개발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현재 예외처리 기능이 개발 완료된 상태가 아니므로 추가적인 개발 기간이 필요함</a:t>
            </a:r>
            <a:r>
              <a:rPr lang="en-US" altLang="ko-KR" spc="-2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7223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/>
              <a:t>8</a:t>
            </a:r>
            <a:r>
              <a:rPr lang="en-US" altLang="ko-KR" dirty="0" smtClean="0"/>
              <a:t>. </a:t>
            </a:r>
            <a:r>
              <a:rPr lang="ko-KR" altLang="en-US" dirty="0" smtClean="0"/>
              <a:t>관리방안</a:t>
            </a:r>
            <a:endParaRPr lang="ko-KR" altLang="en-US" dirty="0"/>
          </a:p>
        </p:txBody>
      </p:sp>
      <p:sp>
        <p:nvSpPr>
          <p:cNvPr id="41" name="내용 개체 틀 2"/>
          <p:cNvSpPr>
            <a:spLocks noGrp="1"/>
          </p:cNvSpPr>
          <p:nvPr>
            <p:ph idx="1"/>
          </p:nvPr>
        </p:nvSpPr>
        <p:spPr>
          <a:xfrm>
            <a:off x="612000" y="1124744"/>
            <a:ext cx="7920000" cy="5147476"/>
          </a:xfrm>
        </p:spPr>
        <p:txBody>
          <a:bodyPr/>
          <a:lstStyle/>
          <a:p>
            <a:pPr lvl="1"/>
            <a:r>
              <a:rPr lang="ko-KR" altLang="en-US" b="1" spc="-20" dirty="0" smtClean="0"/>
              <a:t>유지보수</a:t>
            </a:r>
            <a:endParaRPr lang="en-US" altLang="ko-KR" b="1" spc="-20" dirty="0" smtClean="0"/>
          </a:p>
          <a:p>
            <a:pPr lvl="2"/>
            <a:r>
              <a:rPr lang="ko-KR" altLang="en-US" spc="-20" dirty="0" smtClean="0"/>
              <a:t>유지보수 담당자 지정 및 공유</a:t>
            </a:r>
            <a:endParaRPr lang="en-US" altLang="ko-KR" spc="-20" dirty="0" smtClean="0"/>
          </a:p>
          <a:p>
            <a:pPr lvl="3"/>
            <a:r>
              <a:rPr lang="en-US" altLang="ko-KR" spc="-20" dirty="0" smtClean="0"/>
              <a:t>ARA</a:t>
            </a:r>
            <a:r>
              <a:rPr lang="ko-KR" altLang="en-US" spc="-20" dirty="0" smtClean="0"/>
              <a:t> 유지보수 담당자 지정</a:t>
            </a:r>
            <a:r>
              <a:rPr lang="en-US" altLang="ko-KR" spc="-20" dirty="0" smtClean="0"/>
              <a:t>(</a:t>
            </a:r>
            <a:r>
              <a:rPr lang="ko-KR" altLang="en-US" spc="-20" dirty="0" smtClean="0"/>
              <a:t>정</a:t>
            </a:r>
            <a:r>
              <a:rPr lang="en-US" altLang="ko-KR" spc="-20" dirty="0" smtClean="0"/>
              <a:t>/</a:t>
            </a:r>
            <a:r>
              <a:rPr lang="ko-KR" altLang="en-US" spc="-20" dirty="0" smtClean="0"/>
              <a:t>부</a:t>
            </a:r>
            <a:r>
              <a:rPr lang="en-US" altLang="ko-KR" spc="-20" dirty="0" smtClean="0"/>
              <a:t>) -&gt; </a:t>
            </a:r>
            <a:r>
              <a:rPr lang="ko-KR" altLang="en-US" spc="-20" dirty="0" smtClean="0"/>
              <a:t>개발 담당자 </a:t>
            </a:r>
            <a:r>
              <a:rPr lang="en-US" altLang="ko-KR" spc="-20" dirty="0" smtClean="0"/>
              <a:t>: </a:t>
            </a:r>
            <a:r>
              <a:rPr lang="ko-KR" altLang="en-US" spc="-20" dirty="0" smtClean="0"/>
              <a:t>김국환 </a:t>
            </a:r>
            <a:r>
              <a:rPr lang="en-US" altLang="ko-KR" spc="-20" dirty="0" smtClean="0"/>
              <a:t>/ </a:t>
            </a:r>
            <a:r>
              <a:rPr lang="ko-KR" altLang="en-US" spc="-20" dirty="0" smtClean="0"/>
              <a:t>김남진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관리 담당자 </a:t>
            </a:r>
            <a:r>
              <a:rPr lang="en-US" altLang="ko-KR" spc="-20" dirty="0" smtClean="0"/>
              <a:t>: </a:t>
            </a:r>
            <a:r>
              <a:rPr lang="ko-KR" altLang="en-US" spc="-20" dirty="0" err="1" smtClean="0"/>
              <a:t>김만재</a:t>
            </a:r>
            <a:r>
              <a:rPr lang="ko-KR" altLang="en-US" spc="-20" dirty="0" smtClean="0"/>
              <a:t> </a:t>
            </a:r>
            <a:r>
              <a:rPr lang="en-US" altLang="ko-KR" spc="-20" dirty="0" smtClean="0"/>
              <a:t>/ </a:t>
            </a:r>
            <a:r>
              <a:rPr lang="ko-KR" altLang="en-US" spc="-20" dirty="0" err="1" smtClean="0"/>
              <a:t>김관겸</a:t>
            </a:r>
            <a:r>
              <a:rPr lang="ko-KR" altLang="en-US" spc="-20" dirty="0" smtClean="0"/>
              <a:t> 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작업 </a:t>
            </a:r>
            <a:r>
              <a:rPr lang="ko-KR" altLang="en-US" spc="-20" dirty="0" smtClean="0"/>
              <a:t>이력에 대해서 </a:t>
            </a:r>
            <a:r>
              <a:rPr lang="en-US" altLang="ko-KR" spc="-20" dirty="0" smtClean="0"/>
              <a:t>WIKI </a:t>
            </a:r>
            <a:r>
              <a:rPr lang="ko-KR" altLang="en-US" spc="-20" dirty="0" smtClean="0"/>
              <a:t>및 </a:t>
            </a:r>
            <a:r>
              <a:rPr lang="en-US" altLang="ko-KR" spc="-20" dirty="0" err="1" smtClean="0"/>
              <a:t>Git</a:t>
            </a:r>
            <a:r>
              <a:rPr lang="en-US" altLang="ko-KR" spc="-20" dirty="0" smtClean="0"/>
              <a:t> </a:t>
            </a:r>
            <a:r>
              <a:rPr lang="ko-KR" altLang="en-US" spc="-20" dirty="0" smtClean="0"/>
              <a:t>공유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버그 리포트 운영</a:t>
            </a:r>
            <a:endParaRPr lang="en-US" altLang="ko-KR" spc="-20" dirty="0"/>
          </a:p>
          <a:p>
            <a:pPr lvl="2"/>
            <a:r>
              <a:rPr lang="ko-KR" altLang="en-US" spc="-20" dirty="0" smtClean="0"/>
              <a:t>백업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전체 </a:t>
            </a:r>
            <a:r>
              <a:rPr lang="ko-KR" altLang="en-US" spc="-20" dirty="0" smtClean="0"/>
              <a:t>백업 주 </a:t>
            </a:r>
            <a:r>
              <a:rPr lang="en-US" altLang="ko-KR" spc="-20" dirty="0" smtClean="0"/>
              <a:t>1</a:t>
            </a:r>
            <a:r>
              <a:rPr lang="ko-KR" altLang="en-US" spc="-20" dirty="0" smtClean="0"/>
              <a:t>회</a:t>
            </a:r>
            <a:r>
              <a:rPr lang="en-US" altLang="ko-KR" spc="-20" dirty="0" smtClean="0"/>
              <a:t>(Docker </a:t>
            </a:r>
            <a:r>
              <a:rPr lang="ko-KR" altLang="en-US" spc="-20" dirty="0" smtClean="0"/>
              <a:t>이미지 백업</a:t>
            </a:r>
            <a:r>
              <a:rPr lang="en-US" altLang="ko-KR" spc="-20" dirty="0" smtClean="0"/>
              <a:t>)</a:t>
            </a:r>
          </a:p>
          <a:p>
            <a:pPr lvl="3"/>
            <a:r>
              <a:rPr lang="ko-KR" altLang="en-US" spc="-20" dirty="0" smtClean="0"/>
              <a:t>소스코드 </a:t>
            </a:r>
            <a:r>
              <a:rPr lang="ko-KR" altLang="en-US" spc="-20" dirty="0" smtClean="0"/>
              <a:t>및 </a:t>
            </a:r>
            <a:r>
              <a:rPr lang="en-US" altLang="ko-KR" spc="-20" dirty="0" smtClean="0"/>
              <a:t>DB</a:t>
            </a:r>
            <a:r>
              <a:rPr lang="ko-KR" altLang="en-US" spc="-20" dirty="0" smtClean="0"/>
              <a:t> </a:t>
            </a:r>
            <a:r>
              <a:rPr lang="ko-KR" altLang="en-US" spc="-20" dirty="0" smtClean="0"/>
              <a:t>주 </a:t>
            </a:r>
            <a:r>
              <a:rPr lang="en-US" altLang="ko-KR" spc="-20" dirty="0" smtClean="0"/>
              <a:t>1</a:t>
            </a:r>
            <a:r>
              <a:rPr lang="ko-KR" altLang="en-US" spc="-20" dirty="0" smtClean="0"/>
              <a:t>회 백업</a:t>
            </a:r>
            <a:endParaRPr lang="en-US" altLang="ko-KR" spc="-20" dirty="0" smtClean="0"/>
          </a:p>
          <a:p>
            <a:pPr lvl="3"/>
            <a:endParaRPr lang="en-US" altLang="ko-KR" spc="-20" dirty="0"/>
          </a:p>
          <a:p>
            <a:pPr lvl="1"/>
            <a:r>
              <a:rPr lang="ko-KR" altLang="en-US" b="1" spc="-20" dirty="0" smtClean="0">
                <a:solidFill>
                  <a:schemeClr val="tx1"/>
                </a:solidFill>
              </a:rPr>
              <a:t>정책 선별 및 최적화</a:t>
            </a:r>
            <a:endParaRPr lang="en-US" altLang="ko-KR" b="1" spc="-20" dirty="0" smtClean="0">
              <a:solidFill>
                <a:schemeClr val="tx1"/>
              </a:solidFill>
            </a:endParaRPr>
          </a:p>
          <a:p>
            <a:pPr lvl="2"/>
            <a:r>
              <a:rPr lang="en-US" altLang="ko-KR" spc="-20" dirty="0"/>
              <a:t>ESM </a:t>
            </a:r>
            <a:r>
              <a:rPr lang="ko-KR" altLang="en-US" spc="-20" dirty="0"/>
              <a:t>및 </a:t>
            </a:r>
            <a:r>
              <a:rPr lang="en-US" altLang="ko-KR" spc="-20" dirty="0"/>
              <a:t>IDS </a:t>
            </a:r>
            <a:r>
              <a:rPr lang="ko-KR" altLang="en-US" spc="-20" dirty="0"/>
              <a:t>정책 선별</a:t>
            </a:r>
            <a:endParaRPr lang="en-US" altLang="ko-KR" spc="-20" dirty="0"/>
          </a:p>
          <a:p>
            <a:pPr lvl="3"/>
            <a:r>
              <a:rPr lang="ko-KR" altLang="en-US" spc="-20" dirty="0"/>
              <a:t>반기 </a:t>
            </a:r>
            <a:r>
              <a:rPr lang="en-US" altLang="ko-KR" spc="-20" dirty="0"/>
              <a:t>1</a:t>
            </a:r>
            <a:r>
              <a:rPr lang="ko-KR" altLang="en-US" spc="-20" dirty="0"/>
              <a:t>회 진행 </a:t>
            </a:r>
            <a:r>
              <a:rPr lang="ko-KR" altLang="en-US" spc="-20" dirty="0" smtClean="0"/>
              <a:t>정책 선별 및 예외를 진행하며</a:t>
            </a:r>
            <a:r>
              <a:rPr lang="en-US" altLang="ko-KR" spc="-20" dirty="0" smtClean="0"/>
              <a:t>, </a:t>
            </a:r>
            <a:r>
              <a:rPr lang="ko-KR" altLang="en-US" spc="-20" dirty="0" smtClean="0"/>
              <a:t>이슈 </a:t>
            </a:r>
            <a:r>
              <a:rPr lang="ko-KR" altLang="en-US" spc="-20" dirty="0"/>
              <a:t>등의 신규 정책에 대한 대응이 필요할 경우 수시로 정책 </a:t>
            </a:r>
            <a:r>
              <a:rPr lang="ko-KR" altLang="en-US" spc="-20" dirty="0" smtClean="0"/>
              <a:t>선별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선별된 정책에 대한 </a:t>
            </a:r>
            <a:r>
              <a:rPr lang="en-US" altLang="ko-KR" spc="-20" dirty="0" smtClean="0"/>
              <a:t>Deep</a:t>
            </a:r>
            <a:r>
              <a:rPr lang="ko-KR" altLang="en-US" spc="-20" dirty="0" smtClean="0"/>
              <a:t>모듈화 진행 </a:t>
            </a:r>
            <a:r>
              <a:rPr lang="en-US" altLang="ko-KR" spc="-20" dirty="0" smtClean="0"/>
              <a:t>=&gt; </a:t>
            </a:r>
            <a:r>
              <a:rPr lang="ko-KR" altLang="en-US" spc="-20" dirty="0" smtClean="0"/>
              <a:t>단순 응답 값</a:t>
            </a:r>
            <a:r>
              <a:rPr lang="en-US" altLang="ko-KR" spc="-20" dirty="0" smtClean="0"/>
              <a:t>(200 Ok </a:t>
            </a:r>
            <a:r>
              <a:rPr lang="ko-KR" altLang="en-US" spc="-20" dirty="0" smtClean="0"/>
              <a:t>등</a:t>
            </a:r>
            <a:r>
              <a:rPr lang="en-US" altLang="ko-KR" spc="-20" dirty="0" smtClean="0"/>
              <a:t>)</a:t>
            </a:r>
            <a:r>
              <a:rPr lang="ko-KR" altLang="en-US" spc="-20" dirty="0" smtClean="0"/>
              <a:t> 외에 추가 </a:t>
            </a:r>
            <a:r>
              <a:rPr lang="ko-KR" altLang="en-US" spc="-20" dirty="0" smtClean="0"/>
              <a:t>확인 기법 </a:t>
            </a:r>
            <a:r>
              <a:rPr lang="ko-KR" altLang="en-US" spc="-20" dirty="0" smtClean="0"/>
              <a:t>개발 및 적용  </a:t>
            </a:r>
            <a:endParaRPr lang="en-US" altLang="ko-KR" spc="-20" dirty="0"/>
          </a:p>
          <a:p>
            <a:pPr lvl="3"/>
            <a:r>
              <a:rPr lang="ko-KR" altLang="en-US" spc="-20" dirty="0"/>
              <a:t>반기 </a:t>
            </a:r>
            <a:r>
              <a:rPr lang="en-US" altLang="ko-KR" spc="-20" dirty="0"/>
              <a:t>1</a:t>
            </a:r>
            <a:r>
              <a:rPr lang="ko-KR" altLang="en-US" spc="-20" dirty="0"/>
              <a:t>회 정책 선별 </a:t>
            </a:r>
            <a:r>
              <a:rPr lang="ko-KR" altLang="en-US" spc="-20" dirty="0" smtClean="0"/>
              <a:t>또는 모듈화 작업 </a:t>
            </a:r>
            <a:r>
              <a:rPr lang="ko-KR" altLang="en-US" spc="-20" dirty="0"/>
              <a:t>시 </a:t>
            </a:r>
            <a:r>
              <a:rPr lang="en-US" altLang="ko-KR" spc="-20" dirty="0" smtClean="0"/>
              <a:t>NBP CERT / </a:t>
            </a:r>
            <a:r>
              <a:rPr lang="ko-KR" altLang="en-US" spc="-20" dirty="0" smtClean="0"/>
              <a:t>서비스보안팀 내 공유</a:t>
            </a:r>
            <a:r>
              <a:rPr lang="en-US" altLang="ko-KR" spc="-20" dirty="0" smtClean="0"/>
              <a:t>*</a:t>
            </a:r>
            <a:r>
              <a:rPr lang="ko-KR" altLang="en-US" spc="-20" dirty="0" smtClean="0"/>
              <a:t>적용 </a:t>
            </a:r>
            <a:endParaRPr lang="en-US" altLang="ko-KR" spc="-20" dirty="0"/>
          </a:p>
          <a:p>
            <a:pPr lvl="2"/>
            <a:r>
              <a:rPr lang="ko-KR" altLang="en-US" spc="-20" dirty="0"/>
              <a:t>영향력 분석 외에 추가 데이터 확보</a:t>
            </a:r>
            <a:endParaRPr lang="en-US" altLang="ko-KR" spc="-20" dirty="0"/>
          </a:p>
          <a:p>
            <a:pPr lvl="3"/>
            <a:r>
              <a:rPr lang="en-US" altLang="ko-KR" spc="-20" dirty="0"/>
              <a:t>Raw-data</a:t>
            </a:r>
            <a:r>
              <a:rPr lang="ko-KR" altLang="en-US" spc="-20" dirty="0"/>
              <a:t>를 통한 분석 결과를 수집하여 </a:t>
            </a:r>
            <a:r>
              <a:rPr lang="ko-KR" altLang="en-US" spc="-20" dirty="0" smtClean="0"/>
              <a:t>공격 형태</a:t>
            </a:r>
            <a:r>
              <a:rPr lang="en-US" altLang="ko-KR" spc="-20" dirty="0"/>
              <a:t>, </a:t>
            </a:r>
            <a:r>
              <a:rPr lang="ko-KR" altLang="en-US" spc="-20" dirty="0"/>
              <a:t>영향력 </a:t>
            </a:r>
            <a:r>
              <a:rPr lang="ko-KR" altLang="en-US" spc="-20" dirty="0" smtClean="0"/>
              <a:t>분석 결과</a:t>
            </a:r>
            <a:r>
              <a:rPr lang="en-US" altLang="ko-KR" spc="-20" dirty="0" smtClean="0"/>
              <a:t>, </a:t>
            </a:r>
            <a:r>
              <a:rPr lang="ko-KR" altLang="en-US" spc="-20" dirty="0"/>
              <a:t>공격 추이 등에 대한 데이터 </a:t>
            </a:r>
            <a:r>
              <a:rPr lang="ko-KR" altLang="en-US" spc="-20" dirty="0" smtClean="0"/>
              <a:t>확보</a:t>
            </a:r>
            <a:endParaRPr lang="en-US" altLang="ko-KR" spc="-20" dirty="0"/>
          </a:p>
          <a:p>
            <a:pPr lvl="3"/>
            <a:r>
              <a:rPr lang="ko-KR" altLang="en-US" spc="-20" dirty="0" smtClean="0"/>
              <a:t>정책 최적화 및 다수 </a:t>
            </a:r>
            <a:r>
              <a:rPr lang="ko-KR" altLang="en-US" spc="-20" dirty="0" err="1" smtClean="0"/>
              <a:t>오탐</a:t>
            </a:r>
            <a:r>
              <a:rPr lang="ko-KR" altLang="en-US" spc="-20" dirty="0" smtClean="0"/>
              <a:t> 되는 이벤트를 선별하여 반기 </a:t>
            </a:r>
            <a:r>
              <a:rPr lang="en-US" altLang="ko-KR" spc="-20" dirty="0" smtClean="0"/>
              <a:t>1</a:t>
            </a:r>
            <a:r>
              <a:rPr lang="ko-KR" altLang="en-US" spc="-20" dirty="0" smtClean="0"/>
              <a:t>회 최적화 작업 진행</a:t>
            </a:r>
            <a:endParaRPr lang="en-US" altLang="ko-KR" spc="-20" dirty="0" smtClean="0"/>
          </a:p>
          <a:p>
            <a:pPr lvl="3"/>
            <a:endParaRPr lang="en-US" altLang="ko-KR" b="1" spc="-20" dirty="0"/>
          </a:p>
          <a:p>
            <a:pPr lvl="1"/>
            <a:r>
              <a:rPr lang="ko-KR" altLang="en-US" b="1" spc="-20" dirty="0" smtClean="0"/>
              <a:t>교육 및 가이드</a:t>
            </a:r>
            <a:endParaRPr lang="en-US" altLang="ko-KR" b="1" spc="-20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spc="-20" dirty="0" smtClean="0"/>
              <a:t>신입 </a:t>
            </a:r>
            <a:r>
              <a:rPr lang="en-US" altLang="ko-KR" spc="-20" dirty="0" smtClean="0"/>
              <a:t>OJT </a:t>
            </a:r>
            <a:r>
              <a:rPr lang="ko-KR" altLang="en-US" spc="-20" dirty="0" smtClean="0"/>
              <a:t>교육 진행</a:t>
            </a:r>
            <a:endParaRPr lang="en-US" altLang="ko-KR" spc="-20" dirty="0" smtClean="0">
              <a:solidFill>
                <a:schemeClr val="tx1"/>
              </a:solidFill>
            </a:endParaRPr>
          </a:p>
          <a:p>
            <a:pPr lvl="3"/>
            <a:r>
              <a:rPr lang="ko-KR" altLang="en-US" spc="-20" dirty="0" smtClean="0"/>
              <a:t>자동화에 따른 이벤트 분석능력 저하를 우려하여 신입 교육 시 관련내용 가이드</a:t>
            </a:r>
            <a:endParaRPr lang="en-US" altLang="ko-KR" spc="-20" dirty="0" smtClean="0"/>
          </a:p>
          <a:p>
            <a:pPr lvl="2"/>
            <a:r>
              <a:rPr lang="ko-KR" altLang="en-US" spc="-20" dirty="0" smtClean="0"/>
              <a:t>활용 가이드 제공</a:t>
            </a:r>
            <a:endParaRPr lang="en-US" altLang="ko-KR" spc="-20" dirty="0" smtClean="0"/>
          </a:p>
          <a:p>
            <a:pPr lvl="3"/>
            <a:r>
              <a:rPr lang="ko-KR" altLang="en-US" spc="-20" dirty="0" smtClean="0"/>
              <a:t>사용량 제한 및 분석 의견을 필수로 등록 하는 등 </a:t>
            </a:r>
            <a:r>
              <a:rPr lang="en-US" altLang="ko-KR" spc="-20" dirty="0" smtClean="0"/>
              <a:t>1</a:t>
            </a:r>
            <a:r>
              <a:rPr lang="ko-KR" altLang="en-US" spc="-20" dirty="0" smtClean="0"/>
              <a:t>차원적인 처리가 되지 않도록 조치</a:t>
            </a:r>
            <a:endParaRPr lang="en-US" altLang="ko-KR" spc="-20" dirty="0" smtClean="0"/>
          </a:p>
        </p:txBody>
      </p:sp>
    </p:spTree>
    <p:extLst>
      <p:ext uri="{BB962C8B-B14F-4D97-AF65-F5344CB8AC3E}">
        <p14:creationId xmlns:p14="http://schemas.microsoft.com/office/powerpoint/2010/main" val="186132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타원 49"/>
          <p:cNvSpPr/>
          <p:nvPr/>
        </p:nvSpPr>
        <p:spPr bwMode="auto">
          <a:xfrm>
            <a:off x="971600" y="2808785"/>
            <a:ext cx="1279449" cy="332354"/>
          </a:xfrm>
          <a:prstGeom prst="ellipse">
            <a:avLst/>
          </a:prstGeom>
          <a:solidFill>
            <a:srgbClr val="CCECFF"/>
          </a:solidFill>
          <a:ln w="9525" cap="rnd">
            <a:solidFill>
              <a:srgbClr val="9ABAD2"/>
            </a:solidFill>
            <a:prstDash val="sysDot"/>
            <a:round/>
            <a:headEnd/>
            <a:tailEnd/>
          </a:ln>
        </p:spPr>
        <p:txBody>
          <a:bodyPr lIns="45306" tIns="38358" rIns="45306" bIns="38358" anchor="ctr"/>
          <a:lstStyle/>
          <a:p>
            <a:pPr algn="ctr" defTabSz="767881" eaLnBrk="0" latinLnBrk="0" hangingPunct="0"/>
            <a:r>
              <a:rPr lang="en-US" altLang="ko-KR" sz="831" dirty="0" smtClean="0"/>
              <a:t>ESM</a:t>
            </a:r>
            <a:endParaRPr lang="ko-KR" altLang="en-US" sz="83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AutoShape 103"/>
          <p:cNvSpPr>
            <a:spLocks noChangeArrowheads="1"/>
          </p:cNvSpPr>
          <p:nvPr/>
        </p:nvSpPr>
        <p:spPr bwMode="auto">
          <a:xfrm>
            <a:off x="5796136" y="4592710"/>
            <a:ext cx="792088" cy="584820"/>
          </a:xfrm>
          <a:prstGeom prst="flowChartMagneticDisk">
            <a:avLst/>
          </a:prstGeom>
          <a:solidFill>
            <a:srgbClr val="76B5D4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defTabSz="703402"/>
            <a:r>
              <a:rPr lang="en-US" altLang="ko-KR" sz="831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RR DB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AutoShape 67"/>
          <p:cNvSpPr>
            <a:spLocks noChangeArrowheads="1"/>
          </p:cNvSpPr>
          <p:nvPr/>
        </p:nvSpPr>
        <p:spPr bwMode="gray">
          <a:xfrm>
            <a:off x="2771800" y="5733256"/>
            <a:ext cx="1872208" cy="350881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ko-KR" altLang="en-US" sz="831" smtClean="0">
                <a:solidFill>
                  <a:schemeClr val="bg1"/>
                </a:solidFill>
                <a:ea typeface="맑은 고딕" pitchFamily="50" charset="-127"/>
              </a:rPr>
              <a:t>결과 값 </a:t>
            </a:r>
            <a:r>
              <a:rPr lang="en-US" altLang="ko-KR" sz="831" smtClean="0">
                <a:solidFill>
                  <a:schemeClr val="bg1"/>
                </a:solidFill>
                <a:ea typeface="맑은 고딕" pitchFamily="50" charset="-127"/>
              </a:rPr>
              <a:t> View</a:t>
            </a:r>
            <a:endParaRPr lang="ko-KR" altLang="en-US" sz="831" dirty="0">
              <a:solidFill>
                <a:schemeClr val="bg1"/>
              </a:solidFill>
              <a:ea typeface="맑은 고딕" pitchFamily="50" charset="-127"/>
            </a:endParaRPr>
          </a:p>
        </p:txBody>
      </p:sp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이벤트 처리 프로세스</a:t>
            </a:r>
            <a:endParaRPr lang="ko-KR" altLang="en-US" dirty="0"/>
          </a:p>
        </p:txBody>
      </p:sp>
      <p:sp>
        <p:nvSpPr>
          <p:cNvPr id="55" name="AutoShape 67"/>
          <p:cNvSpPr>
            <a:spLocks noChangeArrowheads="1"/>
          </p:cNvSpPr>
          <p:nvPr/>
        </p:nvSpPr>
        <p:spPr bwMode="gray">
          <a:xfrm>
            <a:off x="3066358" y="3639196"/>
            <a:ext cx="1137122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831" smtClean="0">
                <a:solidFill>
                  <a:schemeClr val="bg1"/>
                </a:solidFill>
              </a:rPr>
              <a:t>ARA </a:t>
            </a:r>
            <a:r>
              <a:rPr lang="ko-KR" altLang="en-US" sz="831" smtClean="0">
                <a:solidFill>
                  <a:schemeClr val="bg1"/>
                </a:solidFill>
              </a:rPr>
              <a:t>모듈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꺾인 연결선 55"/>
          <p:cNvCxnSpPr>
            <a:stCxn id="50" idx="6"/>
            <a:endCxn id="133" idx="0"/>
          </p:cNvCxnSpPr>
          <p:nvPr/>
        </p:nvCxnSpPr>
        <p:spPr bwMode="auto">
          <a:xfrm flipV="1">
            <a:off x="2251049" y="2474573"/>
            <a:ext cx="1383870" cy="500389"/>
          </a:xfrm>
          <a:prstGeom prst="bentConnector4">
            <a:avLst>
              <a:gd name="adj1" fmla="val 29458"/>
              <a:gd name="adj2" fmla="val 1456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8" name="직선 화살표 연결선 37"/>
          <p:cNvCxnSpPr>
            <a:stCxn id="55" idx="2"/>
            <a:endCxn id="236" idx="0"/>
          </p:cNvCxnSpPr>
          <p:nvPr/>
        </p:nvCxnSpPr>
        <p:spPr bwMode="auto">
          <a:xfrm>
            <a:off x="3634919" y="3933056"/>
            <a:ext cx="539" cy="24927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8" name="직사각형 77"/>
          <p:cNvSpPr/>
          <p:nvPr/>
        </p:nvSpPr>
        <p:spPr>
          <a:xfrm>
            <a:off x="705156" y="1487069"/>
            <a:ext cx="1708646" cy="2435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ESM console</a:t>
            </a:r>
            <a:endParaRPr lang="ko-KR" altLang="en-US" sz="1400" dirty="0"/>
          </a:p>
        </p:txBody>
      </p:sp>
      <p:sp>
        <p:nvSpPr>
          <p:cNvPr id="83" name="직사각형 82"/>
          <p:cNvSpPr/>
          <p:nvPr/>
        </p:nvSpPr>
        <p:spPr>
          <a:xfrm>
            <a:off x="2485810" y="1484785"/>
            <a:ext cx="2446230" cy="2458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APP</a:t>
            </a:r>
            <a:endParaRPr lang="ko-KR" altLang="en-US" sz="1400" dirty="0"/>
          </a:p>
        </p:txBody>
      </p:sp>
      <p:sp>
        <p:nvSpPr>
          <p:cNvPr id="84" name="직사각형 83"/>
          <p:cNvSpPr/>
          <p:nvPr/>
        </p:nvSpPr>
        <p:spPr>
          <a:xfrm>
            <a:off x="5652120" y="3988474"/>
            <a:ext cx="1080120" cy="2458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DB</a:t>
            </a:r>
            <a:endParaRPr lang="ko-KR" altLang="en-US" sz="1400" dirty="0"/>
          </a:p>
        </p:txBody>
      </p:sp>
      <p:sp>
        <p:nvSpPr>
          <p:cNvPr id="85" name="직사각형 84"/>
          <p:cNvSpPr/>
          <p:nvPr/>
        </p:nvSpPr>
        <p:spPr>
          <a:xfrm>
            <a:off x="6804248" y="3988477"/>
            <a:ext cx="1149507" cy="2458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USER</a:t>
            </a:r>
            <a:endParaRPr lang="ko-KR" altLang="en-US" sz="1400" dirty="0"/>
          </a:p>
        </p:txBody>
      </p:sp>
      <p:sp>
        <p:nvSpPr>
          <p:cNvPr id="199" name="AutoShape 67"/>
          <p:cNvSpPr>
            <a:spLocks noChangeArrowheads="1"/>
          </p:cNvSpPr>
          <p:nvPr/>
        </p:nvSpPr>
        <p:spPr bwMode="gray">
          <a:xfrm>
            <a:off x="6920305" y="4738190"/>
            <a:ext cx="917392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831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ELK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6" name="AutoShape 107"/>
          <p:cNvSpPr>
            <a:spLocks noChangeArrowheads="1"/>
          </p:cNvSpPr>
          <p:nvPr/>
        </p:nvSpPr>
        <p:spPr bwMode="auto">
          <a:xfrm>
            <a:off x="3059832" y="4182330"/>
            <a:ext cx="1151251" cy="470806"/>
          </a:xfrm>
          <a:prstGeom prst="flowChartDecision">
            <a:avLst/>
          </a:prstGeom>
          <a:solidFill>
            <a:srgbClr val="3F7FBF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</a:rPr>
              <a:t>영향력 확인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23665" y="1484784"/>
            <a:ext cx="3364759" cy="2411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SOC/USER</a:t>
            </a:r>
            <a:endParaRPr lang="ko-KR" altLang="en-US" sz="1400" dirty="0"/>
          </a:p>
        </p:txBody>
      </p:sp>
      <p:sp>
        <p:nvSpPr>
          <p:cNvPr id="39" name="AutoShape 35"/>
          <p:cNvSpPr>
            <a:spLocks noChangeArrowheads="1"/>
          </p:cNvSpPr>
          <p:nvPr/>
        </p:nvSpPr>
        <p:spPr bwMode="auto">
          <a:xfrm>
            <a:off x="6196540" y="1835698"/>
            <a:ext cx="1214853" cy="284415"/>
          </a:xfrm>
          <a:prstGeom prst="roundRect">
            <a:avLst>
              <a:gd name="adj" fmla="val 0"/>
            </a:avLst>
          </a:prstGeom>
          <a:solidFill>
            <a:srgbClr val="3F7FBF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eaLnBrk="1" latinLnBrk="1" hangingPunct="1">
              <a:buClrTx/>
            </a:pPr>
            <a:r>
              <a:rPr lang="en-US" altLang="ko-KR" sz="831" smtClean="0">
                <a:solidFill>
                  <a:schemeClr val="bg1"/>
                </a:solidFill>
              </a:rPr>
              <a:t>ARA </a:t>
            </a:r>
            <a:r>
              <a:rPr lang="ko-KR" altLang="en-US" sz="831" smtClean="0">
                <a:solidFill>
                  <a:schemeClr val="bg1"/>
                </a:solidFill>
              </a:rPr>
              <a:t>상관 이벤트 발생</a:t>
            </a:r>
            <a:endParaRPr lang="en-US" altLang="ko-KR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 Box 52"/>
          <p:cNvSpPr txBox="1">
            <a:spLocks noChangeArrowheads="1"/>
          </p:cNvSpPr>
          <p:nvPr/>
        </p:nvSpPr>
        <p:spPr bwMode="auto">
          <a:xfrm>
            <a:off x="4860032" y="3441637"/>
            <a:ext cx="849081" cy="16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latinLnBrk="1">
              <a:buClrTx/>
              <a:buFont typeface="Wingdings" pitchFamily="2" charset="2"/>
              <a:buNone/>
            </a:pPr>
            <a:r>
              <a:rPr lang="ko-KR" altLang="en-US" sz="831" b="1" smtClean="0">
                <a:latin typeface="맑은 고딕" pitchFamily="50" charset="-127"/>
                <a:ea typeface="맑은 고딕" pitchFamily="50" charset="-127"/>
              </a:rPr>
              <a:t>확인 필요 </a:t>
            </a:r>
            <a:endParaRPr lang="en-US" altLang="ko-KR" sz="831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3" name="직선 화살표 연결선 62"/>
          <p:cNvCxnSpPr>
            <a:stCxn id="39" idx="2"/>
            <a:endCxn id="103" idx="0"/>
          </p:cNvCxnSpPr>
          <p:nvPr/>
        </p:nvCxnSpPr>
        <p:spPr bwMode="auto">
          <a:xfrm>
            <a:off x="6803967" y="2120113"/>
            <a:ext cx="6828" cy="7069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0" name="꺾인 연결선 69"/>
          <p:cNvCxnSpPr>
            <a:stCxn id="52" idx="3"/>
            <a:endCxn id="39" idx="1"/>
          </p:cNvCxnSpPr>
          <p:nvPr/>
        </p:nvCxnSpPr>
        <p:spPr bwMode="auto">
          <a:xfrm rot="5400000" flipH="1" flipV="1">
            <a:off x="4594548" y="3575538"/>
            <a:ext cx="3199624" cy="4360"/>
          </a:xfrm>
          <a:prstGeom prst="bentConnector4">
            <a:avLst>
              <a:gd name="adj1" fmla="val -7145"/>
              <a:gd name="adj2" fmla="val -1432669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43" name="AutoShape 67"/>
          <p:cNvSpPr>
            <a:spLocks noChangeArrowheads="1"/>
          </p:cNvSpPr>
          <p:nvPr/>
        </p:nvSpPr>
        <p:spPr bwMode="gray">
          <a:xfrm>
            <a:off x="6868636" y="5375008"/>
            <a:ext cx="1033450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ko-KR" altLang="en-US" sz="831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통계보조 </a:t>
            </a:r>
            <a:r>
              <a:rPr lang="ko-KR" altLang="en-US" sz="831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꺾인 연결선 47"/>
          <p:cNvCxnSpPr>
            <a:stCxn id="236" idx="2"/>
            <a:endCxn id="52" idx="2"/>
          </p:cNvCxnSpPr>
          <p:nvPr/>
        </p:nvCxnSpPr>
        <p:spPr bwMode="auto">
          <a:xfrm rot="16200000" flipH="1">
            <a:off x="4599805" y="3688789"/>
            <a:ext cx="231984" cy="216067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3" name="꺾인 연결선 52"/>
          <p:cNvCxnSpPr>
            <a:stCxn id="52" idx="1"/>
            <a:endCxn id="199" idx="0"/>
          </p:cNvCxnSpPr>
          <p:nvPr/>
        </p:nvCxnSpPr>
        <p:spPr bwMode="auto">
          <a:xfrm rot="16200000" flipH="1">
            <a:off x="6712850" y="4072040"/>
            <a:ext cx="145480" cy="1186821"/>
          </a:xfrm>
          <a:prstGeom prst="bentConnector3">
            <a:avLst>
              <a:gd name="adj1" fmla="val -1571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60" name="Text Box 52"/>
          <p:cNvSpPr txBox="1">
            <a:spLocks noChangeArrowheads="1"/>
          </p:cNvSpPr>
          <p:nvPr/>
        </p:nvSpPr>
        <p:spPr bwMode="auto">
          <a:xfrm>
            <a:off x="4636502" y="4966712"/>
            <a:ext cx="849081" cy="16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latinLnBrk="1">
              <a:buClrTx/>
              <a:buFont typeface="Wingdings" pitchFamily="2" charset="2"/>
              <a:buNone/>
            </a:pPr>
            <a:r>
              <a:rPr lang="ko-KR" altLang="en-US" sz="831" b="1" smtClean="0">
                <a:latin typeface="맑은 고딕" pitchFamily="50" charset="-127"/>
                <a:ea typeface="맑은 고딕" pitchFamily="50" charset="-127"/>
              </a:rPr>
              <a:t>결과 값 저장</a:t>
            </a:r>
            <a:endParaRPr lang="en-US" altLang="ko-KR" sz="831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AutoShape 107"/>
          <p:cNvSpPr>
            <a:spLocks noChangeArrowheads="1"/>
          </p:cNvSpPr>
          <p:nvPr/>
        </p:nvSpPr>
        <p:spPr bwMode="auto">
          <a:xfrm>
            <a:off x="6164476" y="2827101"/>
            <a:ext cx="1292638" cy="604412"/>
          </a:xfrm>
          <a:prstGeom prst="flowChartDecision">
            <a:avLst/>
          </a:prstGeom>
          <a:solidFill>
            <a:srgbClr val="3F7FBF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</a:rPr>
              <a:t>SOC </a:t>
            </a:r>
            <a:r>
              <a:rPr lang="ko-KR" altLang="en-US" sz="800" smtClean="0">
                <a:solidFill>
                  <a:schemeClr val="bg1"/>
                </a:solidFill>
              </a:rPr>
              <a:t>티켓 생성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133" name="AutoShape 67"/>
          <p:cNvSpPr>
            <a:spLocks noChangeArrowheads="1"/>
          </p:cNvSpPr>
          <p:nvPr/>
        </p:nvSpPr>
        <p:spPr bwMode="gray">
          <a:xfrm>
            <a:off x="3066358" y="2474573"/>
            <a:ext cx="1137122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831" smtClean="0">
                <a:solidFill>
                  <a:schemeClr val="bg1"/>
                </a:solidFill>
              </a:rPr>
              <a:t>Logstash </a:t>
            </a:r>
            <a:r>
              <a:rPr lang="ko-KR" altLang="en-US" sz="831" dirty="0" smtClean="0">
                <a:solidFill>
                  <a:schemeClr val="bg1"/>
                </a:solidFill>
              </a:rPr>
              <a:t>수집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8" name="직선 화살표 연결선 137"/>
          <p:cNvCxnSpPr>
            <a:stCxn id="133" idx="2"/>
            <a:endCxn id="32" idx="0"/>
          </p:cNvCxnSpPr>
          <p:nvPr/>
        </p:nvCxnSpPr>
        <p:spPr bwMode="auto">
          <a:xfrm>
            <a:off x="3634919" y="2768433"/>
            <a:ext cx="1094" cy="28845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4" name="꺾인 연결선 53"/>
          <p:cNvCxnSpPr>
            <a:stCxn id="52" idx="3"/>
            <a:endCxn id="68" idx="3"/>
          </p:cNvCxnSpPr>
          <p:nvPr/>
        </p:nvCxnSpPr>
        <p:spPr bwMode="auto">
          <a:xfrm rot="5400000">
            <a:off x="5052511" y="4769027"/>
            <a:ext cx="731167" cy="154817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3563888" y="1977905"/>
            <a:ext cx="1072614" cy="189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latinLnBrk="1">
              <a:buClrTx/>
              <a:buFont typeface="Wingdings" pitchFamily="2" charset="2"/>
              <a:buNone/>
            </a:pPr>
            <a:r>
              <a:rPr lang="ko-KR" altLang="en-US" sz="831" b="1" smtClean="0">
                <a:latin typeface="맑은 고딕" pitchFamily="50" charset="-127"/>
                <a:ea typeface="맑은 고딕" pitchFamily="50" charset="-127"/>
              </a:rPr>
              <a:t>원본 데이터 전달</a:t>
            </a:r>
            <a:endParaRPr lang="en-US" altLang="ko-KR" sz="831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AutoShape 67"/>
          <p:cNvSpPr>
            <a:spLocks noChangeArrowheads="1"/>
          </p:cNvSpPr>
          <p:nvPr/>
        </p:nvSpPr>
        <p:spPr bwMode="gray">
          <a:xfrm>
            <a:off x="3067452" y="3056884"/>
            <a:ext cx="1137122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831" smtClean="0">
                <a:solidFill>
                  <a:schemeClr val="bg1"/>
                </a:solidFill>
              </a:rPr>
              <a:t>ReAPI</a:t>
            </a:r>
            <a:endParaRPr lang="ko-KR" altLang="en-US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" name="직선 화살표 연결선 33"/>
          <p:cNvCxnSpPr>
            <a:stCxn id="32" idx="2"/>
            <a:endCxn id="55" idx="0"/>
          </p:cNvCxnSpPr>
          <p:nvPr/>
        </p:nvCxnSpPr>
        <p:spPr bwMode="auto">
          <a:xfrm flipH="1">
            <a:off x="3634919" y="3350744"/>
            <a:ext cx="1094" cy="28845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0" name="직선 화살표 연결선 39"/>
          <p:cNvCxnSpPr>
            <a:stCxn id="199" idx="2"/>
            <a:endCxn id="43" idx="0"/>
          </p:cNvCxnSpPr>
          <p:nvPr/>
        </p:nvCxnSpPr>
        <p:spPr bwMode="auto">
          <a:xfrm>
            <a:off x="7379001" y="5032050"/>
            <a:ext cx="6360" cy="34295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36" name="AutoShape 35"/>
          <p:cNvSpPr>
            <a:spLocks noChangeArrowheads="1"/>
          </p:cNvSpPr>
          <p:nvPr/>
        </p:nvSpPr>
        <p:spPr bwMode="auto">
          <a:xfrm>
            <a:off x="998096" y="1949276"/>
            <a:ext cx="1214853" cy="284415"/>
          </a:xfrm>
          <a:prstGeom prst="roundRect">
            <a:avLst>
              <a:gd name="adj" fmla="val 0"/>
            </a:avLst>
          </a:prstGeom>
          <a:solidFill>
            <a:srgbClr val="3F7FBF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eaLnBrk="1" latinLnBrk="1" hangingPunct="1">
              <a:buClrTx/>
            </a:pPr>
            <a:r>
              <a:rPr lang="ko-KR" altLang="en-US" sz="831" smtClean="0">
                <a:solidFill>
                  <a:schemeClr val="bg1"/>
                </a:solidFill>
              </a:rPr>
              <a:t>기</a:t>
            </a:r>
            <a:r>
              <a:rPr lang="ko-KR" altLang="en-US" sz="831">
                <a:solidFill>
                  <a:schemeClr val="bg1"/>
                </a:solidFill>
              </a:rPr>
              <a:t>존</a:t>
            </a:r>
            <a:r>
              <a:rPr lang="en-US" altLang="ko-KR" sz="831" smtClean="0">
                <a:solidFill>
                  <a:schemeClr val="bg1"/>
                </a:solidFill>
              </a:rPr>
              <a:t> </a:t>
            </a:r>
            <a:r>
              <a:rPr lang="ko-KR" altLang="en-US" sz="831" smtClean="0">
                <a:solidFill>
                  <a:schemeClr val="bg1"/>
                </a:solidFill>
              </a:rPr>
              <a:t>상관 이벤트 발생</a:t>
            </a:r>
            <a:endParaRPr lang="en-US" altLang="ko-KR" sz="831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>
            <a:stCxn id="36" idx="2"/>
            <a:endCxn id="50" idx="0"/>
          </p:cNvCxnSpPr>
          <p:nvPr/>
        </p:nvCxnSpPr>
        <p:spPr bwMode="auto">
          <a:xfrm>
            <a:off x="1605523" y="2233691"/>
            <a:ext cx="5802" cy="57509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9215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/>
          <p:cNvSpPr>
            <a:spLocks noGrp="1"/>
          </p:cNvSpPr>
          <p:nvPr>
            <p:ph type="title"/>
          </p:nvPr>
        </p:nvSpPr>
        <p:spPr>
          <a:xfrm>
            <a:off x="252000" y="298748"/>
            <a:ext cx="8640000" cy="338554"/>
          </a:xfrm>
        </p:spPr>
        <p:txBody>
          <a:bodyPr/>
          <a:lstStyle/>
          <a:p>
            <a:r>
              <a:rPr lang="en-US" altLang="ko-KR" dirty="0" smtClean="0"/>
              <a:t>9.</a:t>
            </a:r>
            <a:r>
              <a:rPr lang="en-US" altLang="ko-KR" dirty="0" smtClean="0"/>
              <a:t> </a:t>
            </a:r>
            <a:r>
              <a:rPr lang="ko-KR" altLang="en-US" dirty="0" smtClean="0"/>
              <a:t>장애 대응 프로세스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3419872" y="1374408"/>
            <a:ext cx="2564461" cy="2435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ESM/TESS</a:t>
            </a:r>
            <a:endParaRPr lang="ko-KR" altLang="en-US" sz="1400" dirty="0"/>
          </a:p>
        </p:txBody>
      </p:sp>
      <p:sp>
        <p:nvSpPr>
          <p:cNvPr id="83" name="직사각형 82"/>
          <p:cNvSpPr/>
          <p:nvPr/>
        </p:nvSpPr>
        <p:spPr>
          <a:xfrm>
            <a:off x="776992" y="1373266"/>
            <a:ext cx="2564461" cy="2458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APP</a:t>
            </a:r>
            <a:endParaRPr lang="ko-KR" altLang="en-US" sz="1400" dirty="0"/>
          </a:p>
        </p:txBody>
      </p:sp>
      <p:sp>
        <p:nvSpPr>
          <p:cNvPr id="69" name="직사각형 68"/>
          <p:cNvSpPr/>
          <p:nvPr/>
        </p:nvSpPr>
        <p:spPr>
          <a:xfrm>
            <a:off x="6084168" y="1374408"/>
            <a:ext cx="2160240" cy="2458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SOC</a:t>
            </a:r>
            <a:endParaRPr lang="ko-KR" altLang="en-US" sz="1400" dirty="0"/>
          </a:p>
        </p:txBody>
      </p:sp>
      <p:cxnSp>
        <p:nvCxnSpPr>
          <p:cNvPr id="33" name="직선 화살표 연결선 32"/>
          <p:cNvCxnSpPr>
            <a:stCxn id="71" idx="2"/>
            <a:endCxn id="12" idx="0"/>
          </p:cNvCxnSpPr>
          <p:nvPr/>
        </p:nvCxnSpPr>
        <p:spPr>
          <a:xfrm>
            <a:off x="4723870" y="2210692"/>
            <a:ext cx="0" cy="377673"/>
          </a:xfrm>
          <a:prstGeom prst="straightConnector1">
            <a:avLst/>
          </a:prstGeom>
          <a:ln w="12700" cap="flat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2" idx="3"/>
            <a:endCxn id="67" idx="1"/>
          </p:cNvCxnSpPr>
          <p:nvPr/>
        </p:nvCxnSpPr>
        <p:spPr>
          <a:xfrm>
            <a:off x="5673118" y="2786839"/>
            <a:ext cx="843098" cy="2919"/>
          </a:xfrm>
          <a:prstGeom prst="straightConnector1">
            <a:avLst/>
          </a:prstGeom>
          <a:ln w="12700" cap="flat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3773619" y="2588365"/>
            <a:ext cx="1899499" cy="1125392"/>
            <a:chOff x="5218931" y="2636912"/>
            <a:chExt cx="2161381" cy="1326982"/>
          </a:xfrm>
        </p:grpSpPr>
        <p:sp>
          <p:nvSpPr>
            <p:cNvPr id="12" name="직사각형 11"/>
            <p:cNvSpPr/>
            <p:nvPr/>
          </p:nvSpPr>
          <p:spPr>
            <a:xfrm>
              <a:off x="5220072" y="2636912"/>
              <a:ext cx="2160240" cy="46805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/>
                <a:t>Forwording Connector</a:t>
              </a:r>
              <a:endParaRPr lang="ko-KR" altLang="en-US" sz="1000" b="1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5218931" y="3495842"/>
              <a:ext cx="2160240" cy="46805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/>
                <a:t>ARA_DBAgent</a:t>
              </a:r>
              <a:endParaRPr lang="en-US" altLang="ko-KR" sz="1000" b="1" dirty="0"/>
            </a:p>
          </p:txBody>
        </p:sp>
      </p:grpSp>
      <p:cxnSp>
        <p:nvCxnSpPr>
          <p:cNvPr id="57" name="직선 화살표 연결선 56"/>
          <p:cNvCxnSpPr>
            <a:stCxn id="12" idx="1"/>
            <a:endCxn id="59" idx="3"/>
          </p:cNvCxnSpPr>
          <p:nvPr/>
        </p:nvCxnSpPr>
        <p:spPr>
          <a:xfrm flipH="1">
            <a:off x="2923731" y="2786839"/>
            <a:ext cx="850891" cy="2919"/>
          </a:xfrm>
          <a:prstGeom prst="straightConnector1">
            <a:avLst/>
          </a:prstGeom>
          <a:ln w="12700" cap="flat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67"/>
          <p:cNvSpPr>
            <a:spLocks noChangeArrowheads="1"/>
          </p:cNvSpPr>
          <p:nvPr/>
        </p:nvSpPr>
        <p:spPr bwMode="gray">
          <a:xfrm>
            <a:off x="1958714" y="2642828"/>
            <a:ext cx="965017" cy="293860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1000" smtClean="0">
                <a:solidFill>
                  <a:schemeClr val="bg1"/>
                </a:solidFill>
              </a:rPr>
              <a:t> </a:t>
            </a:r>
            <a:r>
              <a:rPr lang="en-US" altLang="ko-KR" sz="1000">
                <a:solidFill>
                  <a:schemeClr val="bg1"/>
                </a:solidFill>
              </a:rPr>
              <a:t>logstash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AutoShape 103"/>
          <p:cNvSpPr>
            <a:spLocks noChangeArrowheads="1"/>
          </p:cNvSpPr>
          <p:nvPr/>
        </p:nvSpPr>
        <p:spPr bwMode="auto">
          <a:xfrm>
            <a:off x="2045178" y="3245733"/>
            <a:ext cx="792088" cy="584820"/>
          </a:xfrm>
          <a:prstGeom prst="flowChartMagneticDisk">
            <a:avLst/>
          </a:prstGeom>
          <a:solidFill>
            <a:srgbClr val="76B5D4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 defTabSz="703402"/>
            <a:r>
              <a:rPr lang="en-US" altLang="ko-KR" sz="10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RR DB#1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" name="꺾인 연결선 25"/>
          <p:cNvCxnSpPr>
            <a:stCxn id="60" idx="3"/>
            <a:endCxn id="47" idx="2"/>
          </p:cNvCxnSpPr>
          <p:nvPr/>
        </p:nvCxnSpPr>
        <p:spPr>
          <a:xfrm rot="5400000" flipH="1" flipV="1">
            <a:off x="3523646" y="2631332"/>
            <a:ext cx="116796" cy="2281645"/>
          </a:xfrm>
          <a:prstGeom prst="bentConnector3">
            <a:avLst>
              <a:gd name="adj1" fmla="val -195726"/>
            </a:avLst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107"/>
          <p:cNvSpPr>
            <a:spLocks noChangeArrowheads="1"/>
          </p:cNvSpPr>
          <p:nvPr/>
        </p:nvSpPr>
        <p:spPr bwMode="auto">
          <a:xfrm>
            <a:off x="6516216" y="2487552"/>
            <a:ext cx="1368152" cy="604412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1000" smtClean="0">
                <a:solidFill>
                  <a:schemeClr val="bg1"/>
                </a:solidFill>
              </a:rPr>
              <a:t>SOC </a:t>
            </a:r>
          </a:p>
          <a:p>
            <a:pPr algn="ctr"/>
            <a:r>
              <a:rPr lang="ko-KR" altLang="en-US" sz="1000" smtClean="0">
                <a:solidFill>
                  <a:schemeClr val="bg1"/>
                </a:solidFill>
              </a:rPr>
              <a:t>티켓 생성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sp>
        <p:nvSpPr>
          <p:cNvPr id="71" name="AutoShape 67"/>
          <p:cNvSpPr>
            <a:spLocks noChangeArrowheads="1"/>
          </p:cNvSpPr>
          <p:nvPr/>
        </p:nvSpPr>
        <p:spPr bwMode="gray">
          <a:xfrm>
            <a:off x="4155309" y="1916832"/>
            <a:ext cx="1137122" cy="293860"/>
          </a:xfrm>
          <a:prstGeom prst="flowChartTerminator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1000" smtClean="0">
                <a:solidFill>
                  <a:schemeClr val="bg1"/>
                </a:solidFill>
              </a:rPr>
              <a:t>TESS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AutoShape 67"/>
          <p:cNvSpPr>
            <a:spLocks noChangeArrowheads="1"/>
          </p:cNvSpPr>
          <p:nvPr/>
        </p:nvSpPr>
        <p:spPr bwMode="gray">
          <a:xfrm>
            <a:off x="773782" y="3396381"/>
            <a:ext cx="965017" cy="293860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1000" smtClean="0">
                <a:solidFill>
                  <a:schemeClr val="bg1"/>
                </a:solidFill>
              </a:rPr>
              <a:t>ARA </a:t>
            </a:r>
            <a:r>
              <a:rPr lang="ko-KR" altLang="en-US" sz="1000" smtClean="0">
                <a:solidFill>
                  <a:schemeClr val="bg1"/>
                </a:solidFill>
              </a:rPr>
              <a:t>모듈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2" name="직선 화살표 연결선 91"/>
          <p:cNvCxnSpPr>
            <a:stCxn id="59" idx="1"/>
            <a:endCxn id="42" idx="3"/>
          </p:cNvCxnSpPr>
          <p:nvPr/>
        </p:nvCxnSpPr>
        <p:spPr>
          <a:xfrm flipH="1">
            <a:off x="1742009" y="2789758"/>
            <a:ext cx="216705" cy="7354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820351" y="2406626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Ⓒ</a:t>
            </a:r>
            <a:endParaRPr lang="ko-KR" altLang="en-US" b="1"/>
          </a:p>
        </p:txBody>
      </p:sp>
      <p:sp>
        <p:nvSpPr>
          <p:cNvPr id="117" name="TextBox 116"/>
          <p:cNvSpPr txBox="1"/>
          <p:nvPr/>
        </p:nvSpPr>
        <p:spPr>
          <a:xfrm>
            <a:off x="3344696" y="2392910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Ⓐ</a:t>
            </a:r>
            <a:endParaRPr lang="ko-KR" altLang="en-US" b="1"/>
          </a:p>
        </p:txBody>
      </p:sp>
      <p:cxnSp>
        <p:nvCxnSpPr>
          <p:cNvPr id="137" name="직선 화살표 연결선 136"/>
          <p:cNvCxnSpPr>
            <a:stCxn id="47" idx="0"/>
            <a:endCxn id="12" idx="2"/>
          </p:cNvCxnSpPr>
          <p:nvPr/>
        </p:nvCxnSpPr>
        <p:spPr>
          <a:xfrm flipV="1">
            <a:off x="4722867" y="2985312"/>
            <a:ext cx="1003" cy="331498"/>
          </a:xfrm>
          <a:prstGeom prst="straightConnector1">
            <a:avLst/>
          </a:prstGeom>
          <a:ln w="12700" cap="flat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1331640" y="4077072"/>
            <a:ext cx="6779242" cy="2304256"/>
            <a:chOff x="1331640" y="4077072"/>
            <a:chExt cx="6779242" cy="2304256"/>
          </a:xfrm>
        </p:grpSpPr>
        <p:sp>
          <p:nvSpPr>
            <p:cNvPr id="136" name="모서리가 둥근 직사각형 135"/>
            <p:cNvSpPr/>
            <p:nvPr/>
          </p:nvSpPr>
          <p:spPr>
            <a:xfrm>
              <a:off x="1331640" y="4311180"/>
              <a:ext cx="6509873" cy="2039085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6444208" y="4077072"/>
              <a:ext cx="1666674" cy="731374"/>
              <a:chOff x="1091202" y="4581128"/>
              <a:chExt cx="1987240" cy="1080120"/>
            </a:xfrm>
            <a:solidFill>
              <a:schemeClr val="bg1"/>
            </a:solidFill>
          </p:grpSpPr>
          <p:grpSp>
            <p:nvGrpSpPr>
              <p:cNvPr id="124" name="그룹 123"/>
              <p:cNvGrpSpPr/>
              <p:nvPr/>
            </p:nvGrpSpPr>
            <p:grpSpPr>
              <a:xfrm>
                <a:off x="1091202" y="4581128"/>
                <a:ext cx="1987240" cy="1080120"/>
                <a:chOff x="1011913" y="4581128"/>
                <a:chExt cx="1164934" cy="648072"/>
              </a:xfrm>
              <a:grpFill/>
            </p:grpSpPr>
            <p:sp>
              <p:nvSpPr>
                <p:cNvPr id="107" name="직사각형 106"/>
                <p:cNvSpPr/>
                <p:nvPr/>
              </p:nvSpPr>
              <p:spPr>
                <a:xfrm>
                  <a:off x="1011913" y="4581128"/>
                  <a:ext cx="1164934" cy="648072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cxnSp>
              <p:nvCxnSpPr>
                <p:cNvPr id="119" name="직선 화살표 연결선 118"/>
                <p:cNvCxnSpPr/>
                <p:nvPr/>
              </p:nvCxnSpPr>
              <p:spPr>
                <a:xfrm>
                  <a:off x="1112575" y="4871172"/>
                  <a:ext cx="467028" cy="0"/>
                </a:xfrm>
                <a:prstGeom prst="straightConnector1">
                  <a:avLst/>
                </a:prstGeom>
                <a:grpFill/>
                <a:ln w="12700" cap="flat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화살표 연결선 120"/>
                <p:cNvCxnSpPr/>
                <p:nvPr/>
              </p:nvCxnSpPr>
              <p:spPr>
                <a:xfrm>
                  <a:off x="1112575" y="4719529"/>
                  <a:ext cx="474669" cy="0"/>
                </a:xfrm>
                <a:prstGeom prst="straightConnector1">
                  <a:avLst/>
                </a:prstGeom>
                <a:grpFill/>
                <a:ln w="12700" cap="flat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화살표 연결선 125"/>
                <p:cNvCxnSpPr/>
                <p:nvPr/>
              </p:nvCxnSpPr>
              <p:spPr>
                <a:xfrm>
                  <a:off x="1112575" y="5037560"/>
                  <a:ext cx="474668" cy="1"/>
                </a:xfrm>
                <a:prstGeom prst="straightConnector1">
                  <a:avLst/>
                </a:prstGeom>
                <a:grpFill/>
                <a:ln w="12700" cap="flat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5" name="TextBox 124"/>
              <p:cNvSpPr txBox="1"/>
              <p:nvPr/>
            </p:nvSpPr>
            <p:spPr>
              <a:xfrm>
                <a:off x="2069871" y="4662618"/>
                <a:ext cx="984591" cy="93179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smtClean="0"/>
                  <a:t>A. </a:t>
                </a:r>
                <a:r>
                  <a:rPr lang="ko-KR" altLang="en-US" sz="700" smtClean="0"/>
                  <a:t>원본 </a:t>
                </a:r>
                <a:r>
                  <a:rPr lang="en-US" altLang="ko-KR" sz="700" smtClean="0"/>
                  <a:t>Data</a:t>
                </a:r>
              </a:p>
              <a:p>
                <a:endParaRPr lang="en-US" altLang="ko-KR" sz="700"/>
              </a:p>
              <a:p>
                <a:r>
                  <a:rPr lang="en-US" altLang="ko-KR" sz="700" smtClean="0"/>
                  <a:t>B. </a:t>
                </a:r>
                <a:r>
                  <a:rPr lang="ko-KR" altLang="en-US" sz="700" smtClean="0"/>
                  <a:t>검증 </a:t>
                </a:r>
                <a:r>
                  <a:rPr lang="en-US" altLang="ko-KR" sz="700" smtClean="0"/>
                  <a:t>Data</a:t>
                </a:r>
              </a:p>
              <a:p>
                <a:r>
                  <a:rPr lang="en-US" altLang="ko-KR" sz="700" smtClean="0"/>
                  <a:t/>
                </a:r>
                <a:br>
                  <a:rPr lang="en-US" altLang="ko-KR" sz="700" smtClean="0"/>
                </a:br>
                <a:r>
                  <a:rPr lang="en-US" altLang="ko-KR" sz="700" smtClean="0"/>
                  <a:t>C. </a:t>
                </a:r>
                <a:r>
                  <a:rPr lang="ko-KR" altLang="en-US" sz="700" smtClean="0"/>
                  <a:t>티켓 </a:t>
                </a:r>
                <a:r>
                  <a:rPr lang="en-US" altLang="ko-KR" sz="700" smtClean="0"/>
                  <a:t>Data</a:t>
                </a:r>
              </a:p>
            </p:txBody>
          </p:sp>
        </p:grpSp>
        <p:sp>
          <p:nvSpPr>
            <p:cNvPr id="139" name="TextBox 138"/>
            <p:cNvSpPr txBox="1"/>
            <p:nvPr/>
          </p:nvSpPr>
          <p:spPr>
            <a:xfrm>
              <a:off x="1547664" y="5085184"/>
              <a:ext cx="1092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smtClean="0"/>
                <a:t>A+B = C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2639541" y="4326919"/>
              <a:ext cx="5251120" cy="2054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dirty="0" smtClean="0"/>
                <a:t>장애 인지</a:t>
              </a:r>
              <a:r>
                <a:rPr lang="en-US" altLang="ko-KR" sz="1050" b="1" dirty="0" smtClean="0"/>
                <a:t>(2</a:t>
              </a:r>
              <a:r>
                <a:rPr lang="ko-KR" altLang="en-US" sz="1050" b="1" dirty="0" smtClean="0"/>
                <a:t>가지 조건 </a:t>
              </a:r>
              <a:r>
                <a:rPr lang="en-US" altLang="ko-KR" sz="1050" b="1" dirty="0" smtClean="0"/>
                <a:t>Join </a:t>
              </a:r>
              <a:r>
                <a:rPr lang="ko-KR" altLang="en-US" sz="1050" b="1" dirty="0" smtClean="0"/>
                <a:t>규칙</a:t>
              </a:r>
              <a:r>
                <a:rPr lang="en-US" altLang="ko-KR" sz="1050" b="1" dirty="0" smtClean="0"/>
                <a:t>)</a:t>
              </a:r>
            </a:p>
            <a:p>
              <a:r>
                <a:rPr lang="en-US" altLang="ko-KR" sz="1050" dirty="0" smtClean="0"/>
                <a:t> </a:t>
              </a:r>
              <a:r>
                <a:rPr lang="en-US" altLang="ko-KR" sz="900" b="1" u="sng" dirty="0" smtClean="0">
                  <a:solidFill>
                    <a:srgbClr val="FF0000"/>
                  </a:solidFill>
                </a:rPr>
                <a:t>B</a:t>
              </a:r>
              <a:r>
                <a:rPr lang="en-US" altLang="ko-KR" sz="900" dirty="0" smtClean="0"/>
                <a:t> </a:t>
              </a:r>
              <a:r>
                <a:rPr lang="ko-KR" altLang="en-US" sz="900" dirty="0" smtClean="0"/>
                <a:t>구간 이벤트가 </a:t>
              </a:r>
              <a:r>
                <a:rPr lang="en-US" altLang="ko-KR" sz="900" dirty="0"/>
                <a:t>1</a:t>
              </a:r>
              <a:r>
                <a:rPr lang="en-US" altLang="ko-KR" sz="900" dirty="0" smtClean="0"/>
                <a:t>/10</a:t>
              </a:r>
              <a:r>
                <a:rPr lang="ko-KR" altLang="en-US" sz="900" dirty="0" smtClean="0"/>
                <a:t>분 이상 미 발생 시 </a:t>
              </a:r>
              <a:r>
                <a:rPr lang="en-US" altLang="ko-KR" sz="900" dirty="0" smtClean="0"/>
                <a:t>ARA</a:t>
              </a:r>
              <a:r>
                <a:rPr lang="ko-KR" altLang="en-US" sz="900" dirty="0" smtClean="0"/>
                <a:t> 이벤트 </a:t>
              </a:r>
              <a:r>
                <a:rPr lang="ko-KR" altLang="en-US" sz="900" dirty="0" err="1" smtClean="0"/>
                <a:t>미수신</a:t>
              </a:r>
              <a:r>
                <a:rPr lang="ko-KR" altLang="en-US" sz="900" dirty="0" smtClean="0"/>
                <a:t> </a:t>
              </a:r>
              <a:r>
                <a:rPr lang="ko-KR" altLang="en-US" sz="900" dirty="0" err="1" smtClean="0"/>
                <a:t>싱관</a:t>
              </a:r>
              <a:r>
                <a:rPr lang="ko-KR" altLang="en-US" sz="900" dirty="0" smtClean="0"/>
                <a:t> 트리거</a:t>
              </a:r>
              <a:endParaRPr lang="en-US" altLang="ko-KR" sz="900" dirty="0" smtClean="0"/>
            </a:p>
            <a:p>
              <a:r>
                <a:rPr lang="en-US" altLang="ko-KR" sz="1050" dirty="0" smtClean="0"/>
                <a:t>     * </a:t>
              </a:r>
              <a:r>
                <a:rPr lang="en-US" altLang="ko-KR" sz="900" dirty="0" err="1" smtClean="0"/>
                <a:t>ARA_DBAgent</a:t>
              </a:r>
              <a:r>
                <a:rPr lang="en-US" altLang="ko-KR" sz="900" dirty="0" smtClean="0"/>
                <a:t> </a:t>
              </a:r>
              <a:r>
                <a:rPr lang="en-US" altLang="ko-KR" sz="900" dirty="0"/>
                <a:t>-&gt; </a:t>
              </a:r>
              <a:r>
                <a:rPr lang="en-US" altLang="ko-KR" sz="900" dirty="0" err="1"/>
                <a:t>Forwording</a:t>
              </a:r>
              <a:r>
                <a:rPr lang="en-US" altLang="ko-KR" sz="900" dirty="0"/>
                <a:t> </a:t>
              </a:r>
              <a:r>
                <a:rPr lang="en-US" altLang="ko-KR" sz="900" dirty="0" smtClean="0"/>
                <a:t>Connector </a:t>
              </a:r>
              <a:r>
                <a:rPr lang="ko-KR" altLang="en-US" sz="900" dirty="0" smtClean="0"/>
                <a:t>구간 </a:t>
              </a:r>
              <a:r>
                <a:rPr lang="en-US" altLang="ko-KR" sz="1000" dirty="0" smtClean="0"/>
                <a:t/>
              </a:r>
              <a:br>
                <a:rPr lang="en-US" altLang="ko-KR" sz="1000" dirty="0" smtClean="0"/>
              </a:br>
              <a:r>
                <a:rPr lang="en-US" altLang="ko-KR" sz="1050" dirty="0" smtClean="0"/>
                <a:t> </a:t>
              </a:r>
              <a:r>
                <a:rPr lang="en-US" altLang="ko-KR" sz="900" b="1" u="sng" dirty="0">
                  <a:solidFill>
                    <a:srgbClr val="FF0000"/>
                  </a:solidFill>
                </a:rPr>
                <a:t>B</a:t>
              </a:r>
              <a:r>
                <a:rPr lang="en-US" altLang="ko-KR" sz="900" dirty="0"/>
                <a:t> </a:t>
              </a:r>
              <a:r>
                <a:rPr lang="ko-KR" altLang="en-US" sz="900" dirty="0" smtClean="0"/>
                <a:t>구간 프로세스 별 </a:t>
              </a:r>
              <a:r>
                <a:rPr lang="en-US" altLang="ko-KR" sz="900" dirty="0" smtClean="0"/>
                <a:t>health </a:t>
              </a:r>
              <a:r>
                <a:rPr lang="ko-KR" altLang="en-US" sz="900" dirty="0" smtClean="0"/>
                <a:t>이벤트 </a:t>
              </a:r>
              <a:r>
                <a:rPr lang="ko-KR" altLang="en-US" sz="900" dirty="0" err="1" smtClean="0"/>
                <a:t>미수신</a:t>
              </a:r>
              <a:r>
                <a:rPr lang="ko-KR" altLang="en-US" sz="900" dirty="0" smtClean="0"/>
                <a:t> 시 </a:t>
              </a:r>
              <a:r>
                <a:rPr lang="en-US" altLang="ko-KR" sz="900" dirty="0" smtClean="0"/>
                <a:t>health </a:t>
              </a:r>
              <a:r>
                <a:rPr lang="ko-KR" altLang="en-US" sz="900" dirty="0" smtClean="0"/>
                <a:t>체크 상관 트리거</a:t>
              </a:r>
              <a:endParaRPr lang="en-US" altLang="ko-KR" sz="900" dirty="0" smtClean="0"/>
            </a:p>
            <a:p>
              <a:r>
                <a:rPr lang="en-US" altLang="ko-KR" sz="900" dirty="0"/>
                <a:t> </a:t>
              </a:r>
              <a:r>
                <a:rPr lang="en-US" altLang="ko-KR" sz="900" dirty="0" smtClean="0"/>
                <a:t>     * </a:t>
              </a:r>
              <a:r>
                <a:rPr lang="ko-KR" altLang="en-US" sz="900" dirty="0" smtClean="0"/>
                <a:t>각 서버 및 프로세스 별 </a:t>
              </a:r>
              <a:r>
                <a:rPr lang="en-US" altLang="ko-KR" sz="900" dirty="0" smtClean="0"/>
                <a:t>health info </a:t>
              </a:r>
              <a:r>
                <a:rPr lang="ko-KR" altLang="en-US" sz="900" dirty="0" smtClean="0"/>
                <a:t>레벨</a:t>
              </a:r>
              <a:r>
                <a:rPr lang="en-US" altLang="ko-KR" sz="900" dirty="0" smtClean="0"/>
                <a:t/>
              </a:r>
              <a:br>
                <a:rPr lang="en-US" altLang="ko-KR" sz="900" dirty="0" smtClean="0"/>
              </a:br>
              <a:endParaRPr lang="en-US" altLang="ko-KR" sz="900" dirty="0"/>
            </a:p>
            <a:p>
              <a:r>
                <a:rPr lang="ko-KR" altLang="en-US" sz="1050" b="1" dirty="0" smtClean="0"/>
                <a:t>장애 대응</a:t>
              </a:r>
              <a:endParaRPr lang="en-US" altLang="ko-KR" sz="1050" b="1" dirty="0" smtClean="0"/>
            </a:p>
            <a:p>
              <a:r>
                <a:rPr lang="ko-KR" altLang="en-US" sz="900" dirty="0" smtClean="0"/>
                <a:t>관리 담당자</a:t>
              </a:r>
              <a:r>
                <a:rPr lang="ko-KR" altLang="en-US" sz="900" dirty="0" smtClean="0"/>
                <a:t> </a:t>
              </a:r>
              <a:r>
                <a:rPr lang="en-US" altLang="ko-KR" sz="900" dirty="0"/>
                <a:t>: </a:t>
              </a:r>
              <a:r>
                <a:rPr lang="en-US" altLang="ko-KR" sz="900" b="1" dirty="0" err="1"/>
                <a:t>Forwording</a:t>
              </a:r>
              <a:r>
                <a:rPr lang="en-US" altLang="ko-KR" sz="900" b="1" dirty="0"/>
                <a:t> </a:t>
              </a:r>
              <a:r>
                <a:rPr lang="en-US" altLang="ko-KR" sz="900" b="1" dirty="0" smtClean="0"/>
                <a:t>Connector</a:t>
              </a:r>
              <a:r>
                <a:rPr lang="ko-KR" altLang="en-US" sz="900" dirty="0" smtClean="0"/>
                <a:t>에 대한 </a:t>
              </a:r>
              <a:r>
                <a:rPr lang="en-US" altLang="ko-KR" sz="900" dirty="0" smtClean="0"/>
                <a:t>SOC </a:t>
              </a:r>
              <a:r>
                <a:rPr lang="ko-KR" altLang="en-US" sz="900" dirty="0" smtClean="0"/>
                <a:t>티켓 발생 규칙 삭제</a:t>
              </a:r>
              <a:endParaRPr lang="en-US" altLang="ko-KR" sz="900" dirty="0" smtClean="0"/>
            </a:p>
            <a:p>
              <a:r>
                <a:rPr lang="en-US" altLang="ko-KR" sz="900" dirty="0" smtClean="0"/>
                <a:t>      * Ex) (</a:t>
              </a:r>
              <a:r>
                <a:rPr lang="ko-KR" altLang="en-US" sz="900" dirty="0" err="1" smtClean="0"/>
                <a:t>장치주소</a:t>
              </a:r>
              <a:r>
                <a:rPr lang="ko-KR" altLang="en-US" sz="900" dirty="0" smtClean="0"/>
                <a:t> </a:t>
              </a:r>
              <a:r>
                <a:rPr lang="en-US" altLang="ko-KR" sz="900" dirty="0" smtClean="0"/>
                <a:t>: [</a:t>
              </a:r>
              <a:r>
                <a:rPr lang="en-US" altLang="ko-KR" sz="900" dirty="0" err="1" smtClean="0"/>
                <a:t>ARA_DBAgent</a:t>
              </a:r>
              <a:r>
                <a:rPr lang="en-US" altLang="ko-KR" sz="900" dirty="0" smtClean="0"/>
                <a:t> </a:t>
              </a:r>
              <a:r>
                <a:rPr lang="en-US" altLang="ko-KR" sz="900" b="1" dirty="0" smtClean="0"/>
                <a:t>and</a:t>
              </a:r>
              <a:r>
                <a:rPr lang="en-US" altLang="ko-KR" sz="900" dirty="0" smtClean="0"/>
                <a:t> </a:t>
              </a:r>
              <a:r>
                <a:rPr lang="en-US" altLang="ko-KR" sz="900" dirty="0" err="1" smtClean="0"/>
                <a:t>Resp_code</a:t>
              </a:r>
              <a:r>
                <a:rPr lang="en-US" altLang="ko-KR" sz="900" dirty="0" smtClean="0"/>
                <a:t> = 200OK] -&gt; SOC </a:t>
              </a:r>
              <a:r>
                <a:rPr lang="ko-KR" altLang="en-US" sz="900" dirty="0" err="1" smtClean="0"/>
                <a:t>포워딩</a:t>
              </a:r>
              <a:r>
                <a:rPr lang="en-US" altLang="ko-KR" sz="900" dirty="0" smtClean="0"/>
                <a:t>)</a:t>
              </a:r>
              <a:r>
                <a:rPr lang="ko-KR" altLang="en-US" sz="900" dirty="0" smtClean="0"/>
                <a:t> 규칙 삭제</a:t>
              </a:r>
              <a:endParaRPr lang="en-US" altLang="ko-KR" sz="900" dirty="0" smtClean="0"/>
            </a:p>
            <a:p>
              <a:r>
                <a:rPr lang="en-US" altLang="ko-KR" sz="1050" dirty="0" smtClean="0"/>
                <a:t>     * </a:t>
              </a:r>
              <a:r>
                <a:rPr lang="ko-KR" altLang="en-US" sz="900" dirty="0" smtClean="0"/>
                <a:t>장애 </a:t>
              </a:r>
              <a:r>
                <a:rPr lang="ko-KR" altLang="en-US" sz="900" dirty="0" err="1" smtClean="0"/>
                <a:t>시간동안은</a:t>
              </a:r>
              <a:r>
                <a:rPr lang="ko-KR" altLang="en-US" sz="900" dirty="0" smtClean="0"/>
                <a:t> 기존 상관 정책으로 이벤트 인지 및 처리 </a:t>
              </a:r>
              <a:r>
                <a:rPr lang="en-US" altLang="ko-KR" sz="1050" dirty="0" smtClean="0"/>
                <a:t/>
              </a:r>
              <a:br>
                <a:rPr lang="en-US" altLang="ko-KR" sz="1050" dirty="0" smtClean="0"/>
              </a:br>
              <a:endParaRPr lang="en-US" altLang="ko-KR" sz="1050" dirty="0" smtClean="0"/>
            </a:p>
            <a:p>
              <a:r>
                <a:rPr lang="en-US" altLang="ko-KR" sz="900" dirty="0" smtClean="0"/>
                <a:t>ARA </a:t>
              </a:r>
              <a:r>
                <a:rPr lang="ko-KR" altLang="en-US" sz="900" dirty="0" smtClean="0"/>
                <a:t>개발 담당자 </a:t>
              </a:r>
              <a:r>
                <a:rPr lang="en-US" altLang="ko-KR" sz="900" dirty="0" smtClean="0"/>
                <a:t>:  B</a:t>
              </a:r>
              <a:r>
                <a:rPr lang="ko-KR" altLang="en-US" sz="900" dirty="0" smtClean="0"/>
                <a:t>구간 별 </a:t>
              </a:r>
              <a:r>
                <a:rPr lang="en-US" altLang="ko-KR" sz="900" dirty="0" smtClean="0"/>
                <a:t>Data</a:t>
              </a:r>
              <a:r>
                <a:rPr lang="ko-KR" altLang="en-US" sz="900" dirty="0" smtClean="0"/>
                <a:t> 장애 발생 경로 확인</a:t>
              </a:r>
              <a:r>
                <a:rPr lang="en-US" altLang="ko-KR" sz="900" dirty="0"/>
                <a:t> </a:t>
              </a:r>
              <a:r>
                <a:rPr lang="ko-KR" altLang="en-US" sz="900" dirty="0" smtClean="0"/>
                <a:t>및 대응</a:t>
              </a:r>
              <a:r>
                <a:rPr lang="en-US" altLang="ko-KR" sz="900" dirty="0" smtClean="0"/>
                <a:t>, </a:t>
              </a:r>
              <a:r>
                <a:rPr lang="ko-KR" altLang="en-US" sz="900" dirty="0" smtClean="0"/>
                <a:t>서버 </a:t>
              </a:r>
              <a:r>
                <a:rPr lang="en-US" altLang="ko-KR" sz="900" dirty="0"/>
                <a:t>Ping </a:t>
              </a:r>
              <a:r>
                <a:rPr lang="en-US" altLang="ko-KR" sz="900" dirty="0" smtClean="0"/>
                <a:t>Test, DB </a:t>
              </a:r>
              <a:r>
                <a:rPr lang="ko-KR" altLang="en-US" sz="900" dirty="0" smtClean="0"/>
                <a:t>정합성 확인</a:t>
              </a:r>
              <a:endParaRPr lang="en-US" altLang="ko-KR" sz="900" dirty="0" smtClean="0"/>
            </a:p>
            <a:p>
              <a:r>
                <a:rPr lang="ko-KR" altLang="en-US" sz="900" dirty="0" smtClean="0"/>
                <a:t>관리</a:t>
              </a:r>
              <a:r>
                <a:rPr lang="en-US" altLang="ko-KR" sz="900" dirty="0" smtClean="0"/>
                <a:t> </a:t>
              </a:r>
              <a:r>
                <a:rPr lang="ko-KR" altLang="en-US" sz="900" dirty="0" smtClean="0"/>
                <a:t>담당자 </a:t>
              </a:r>
              <a:r>
                <a:rPr lang="en-US" altLang="ko-KR" sz="900" dirty="0" smtClean="0"/>
                <a:t>:  A </a:t>
              </a:r>
              <a:r>
                <a:rPr lang="ko-KR" altLang="en-US" sz="900" dirty="0" smtClean="0"/>
                <a:t>또는 </a:t>
              </a:r>
              <a:r>
                <a:rPr lang="en-US" altLang="ko-KR" sz="900" dirty="0" smtClean="0"/>
                <a:t>C </a:t>
              </a:r>
              <a:r>
                <a:rPr lang="ko-KR" altLang="en-US" sz="900" dirty="0" smtClean="0"/>
                <a:t>구간 </a:t>
              </a:r>
              <a:r>
                <a:rPr lang="en-US" altLang="ko-KR" sz="900" dirty="0" smtClean="0"/>
                <a:t>Data </a:t>
              </a:r>
              <a:r>
                <a:rPr lang="ko-KR" altLang="en-US" sz="900" dirty="0" smtClean="0"/>
                <a:t>장애 시 유선 대응</a:t>
              </a:r>
              <a:endParaRPr lang="en-US" altLang="ko-KR" sz="900" dirty="0" smtClean="0"/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4274336" y="2194790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Ⓐ</a:t>
            </a:r>
            <a:endParaRPr lang="ko-KR" altLang="en-US" b="1"/>
          </a:p>
        </p:txBody>
      </p:sp>
      <p:sp>
        <p:nvSpPr>
          <p:cNvPr id="145" name="TextBox 144"/>
          <p:cNvSpPr txBox="1"/>
          <p:nvPr/>
        </p:nvSpPr>
        <p:spPr>
          <a:xfrm>
            <a:off x="1664452" y="2985312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Ⓑ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74317" y="2891000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Ⓑ</a:t>
            </a:r>
          </a:p>
        </p:txBody>
      </p:sp>
      <p:sp>
        <p:nvSpPr>
          <p:cNvPr id="42" name="AutoShape 67"/>
          <p:cNvSpPr>
            <a:spLocks noChangeArrowheads="1"/>
          </p:cNvSpPr>
          <p:nvPr/>
        </p:nvSpPr>
        <p:spPr bwMode="gray">
          <a:xfrm>
            <a:off x="776992" y="2650182"/>
            <a:ext cx="965017" cy="293860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83077" tIns="33231" rIns="83077" bIns="33231" anchor="ctr"/>
          <a:lstStyle/>
          <a:p>
            <a:pPr algn="ctr"/>
            <a:r>
              <a:rPr lang="en-US" altLang="ko-KR" sz="1000" smtClean="0">
                <a:solidFill>
                  <a:schemeClr val="bg1"/>
                </a:solidFill>
              </a:rPr>
              <a:t> RE API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직선 화살표 연결선 47"/>
          <p:cNvCxnSpPr>
            <a:stCxn id="59" idx="2"/>
            <a:endCxn id="60" idx="1"/>
          </p:cNvCxnSpPr>
          <p:nvPr/>
        </p:nvCxnSpPr>
        <p:spPr>
          <a:xfrm flipH="1">
            <a:off x="2441222" y="2936688"/>
            <a:ext cx="1" cy="309045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275856" y="3623027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Ⓑ</a:t>
            </a:r>
          </a:p>
        </p:txBody>
      </p:sp>
      <p:cxnSp>
        <p:nvCxnSpPr>
          <p:cNvPr id="43" name="직선 화살표 연결선 42"/>
          <p:cNvCxnSpPr>
            <a:stCxn id="42" idx="2"/>
            <a:endCxn id="73" idx="0"/>
          </p:cNvCxnSpPr>
          <p:nvPr/>
        </p:nvCxnSpPr>
        <p:spPr>
          <a:xfrm flipH="1">
            <a:off x="1256291" y="2944042"/>
            <a:ext cx="3210" cy="452339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73" idx="3"/>
            <a:endCxn id="60" idx="2"/>
          </p:cNvCxnSpPr>
          <p:nvPr/>
        </p:nvCxnSpPr>
        <p:spPr>
          <a:xfrm flipV="1">
            <a:off x="1738799" y="3538143"/>
            <a:ext cx="306379" cy="5168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16045" y="2987660"/>
            <a:ext cx="3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Ⓑ</a:t>
            </a:r>
          </a:p>
        </p:txBody>
      </p:sp>
    </p:spTree>
    <p:extLst>
      <p:ext uri="{BB962C8B-B14F-4D97-AF65-F5344CB8AC3E}">
        <p14:creationId xmlns:p14="http://schemas.microsoft.com/office/powerpoint/2010/main" val="259518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5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End of Document</a:t>
            </a:r>
            <a:endParaRPr lang="ko-KR" altLang="en-US" sz="45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770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15648</TotalTime>
  <Words>1149</Words>
  <Application>Microsoft Office PowerPoint</Application>
  <PresentationFormat>화면 슬라이드 쇼(4:3)</PresentationFormat>
  <Paragraphs>241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나눔고딕</vt:lpstr>
      <vt:lpstr>나눔바른고딕</vt:lpstr>
      <vt:lpstr>맑은 고딕</vt:lpstr>
      <vt:lpstr>Arial</vt:lpstr>
      <vt:lpstr>Wingdings</vt:lpstr>
      <vt:lpstr>Office 테마</vt:lpstr>
      <vt:lpstr>IDS Event Raw-Data 활용한  분석 간소화</vt:lpstr>
      <vt:lpstr>1. 개요 </vt:lpstr>
      <vt:lpstr>2. 활용계획</vt:lpstr>
      <vt:lpstr>3. 구성도 </vt:lpstr>
      <vt:lpstr>4. 2팀과 시스템 통합</vt:lpstr>
      <vt:lpstr>5.  진행 현황</vt:lpstr>
      <vt:lpstr>5.  진행 현황 – 전용 상관규칙</vt:lpstr>
      <vt:lpstr>5. 진행 현황 - WEB 구성</vt:lpstr>
      <vt:lpstr>5. 진행 현황 - WEB 구성</vt:lpstr>
      <vt:lpstr>5. 진행 현황 – Request 패킷 Header Data 확보</vt:lpstr>
      <vt:lpstr>6. ARA 적용 효과 측정</vt:lpstr>
      <vt:lpstr>7. ARA 적용 범위 이슈</vt:lpstr>
      <vt:lpstr>8. 관리방안</vt:lpstr>
      <vt:lpstr>9. 이벤트 처리 프로세스</vt:lpstr>
      <vt:lpstr>9. 장애 대응 프로세스</vt:lpstr>
      <vt:lpstr>End of Document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NAVER Corp.</dc:creator>
  <cp:lastModifiedBy>권민성</cp:lastModifiedBy>
  <cp:revision>520</cp:revision>
  <dcterms:created xsi:type="dcterms:W3CDTF">2013-11-30T07:53:32Z</dcterms:created>
  <dcterms:modified xsi:type="dcterms:W3CDTF">2019-11-20T03:29:49Z</dcterms:modified>
</cp:coreProperties>
</file>