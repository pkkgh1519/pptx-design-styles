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7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4" r:id="rId1"/>
    <p:sldMasterId id="2147483802" r:id="rId2"/>
    <p:sldMasterId id="2147483701" r:id="rId3"/>
    <p:sldMasterId id="2147483664" r:id="rId4"/>
    <p:sldMasterId id="2147483699" r:id="rId5"/>
    <p:sldMasterId id="2147483662" r:id="rId6"/>
    <p:sldMasterId id="2147483746" r:id="rId7"/>
    <p:sldMasterId id="2147483763" r:id="rId8"/>
    <p:sldMasterId id="2147483805" r:id="rId9"/>
  </p:sldMasterIdLst>
  <p:notesMasterIdLst>
    <p:notesMasterId r:id="rId29"/>
  </p:notesMasterIdLst>
  <p:sldIdLst>
    <p:sldId id="301" r:id="rId10"/>
    <p:sldId id="281" r:id="rId11"/>
    <p:sldId id="282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22" r:id="rId20"/>
    <p:sldId id="321" r:id="rId21"/>
    <p:sldId id="311" r:id="rId22"/>
    <p:sldId id="312" r:id="rId23"/>
    <p:sldId id="313" r:id="rId24"/>
    <p:sldId id="314" r:id="rId25"/>
    <p:sldId id="273" r:id="rId26"/>
    <p:sldId id="324" r:id="rId27"/>
    <p:sldId id="325" r:id="rId2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1. 문서 표지_White" id="{187BDA4F-97D2-3E4D-A420-877BB216BD62}">
          <p14:sldIdLst>
            <p14:sldId id="301"/>
          </p14:sldIdLst>
        </p14:section>
        <p14:section name="03. 본문_White" id="{AD78A2EA-0614-E241-8783-C40B6C677D7A}">
          <p14:sldIdLst>
            <p14:sldId id="281"/>
            <p14:sldId id="282"/>
            <p14:sldId id="302"/>
            <p14:sldId id="303"/>
            <p14:sldId id="304"/>
            <p14:sldId id="305"/>
            <p14:sldId id="306"/>
            <p14:sldId id="307"/>
            <p14:sldId id="308"/>
            <p14:sldId id="322"/>
            <p14:sldId id="321"/>
            <p14:sldId id="311"/>
            <p14:sldId id="312"/>
            <p14:sldId id="313"/>
            <p14:sldId id="314"/>
          </p14:sldIdLst>
        </p14:section>
        <p14:section name="04. EOD_White" id="{8A768B6D-E7BF-C247-9D90-5AB55760BE1E}">
          <p14:sldIdLst>
            <p14:sldId id="273"/>
            <p14:sldId id="324"/>
            <p14:sldId id="32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770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pos="158" userDrawn="1">
          <p15:clr>
            <a:srgbClr val="A4A3A4"/>
          </p15:clr>
        </p15:guide>
        <p15:guide id="6" pos="5602" userDrawn="1">
          <p15:clr>
            <a:srgbClr val="A4A3A4"/>
          </p15:clr>
        </p15:guide>
        <p15:guide id="7" pos="2880" userDrawn="1">
          <p15:clr>
            <a:srgbClr val="A4A3A4"/>
          </p15:clr>
        </p15:guide>
        <p15:guide id="8" orient="horz" pos="11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3E93"/>
    <a:srgbClr val="0B5BDD"/>
    <a:srgbClr val="257FFC"/>
    <a:srgbClr val="FDF8E2"/>
    <a:srgbClr val="0F39CF"/>
    <a:srgbClr val="949BA7"/>
    <a:srgbClr val="868C9F"/>
    <a:srgbClr val="76B3BC"/>
    <a:srgbClr val="597EE0"/>
    <a:srgbClr val="0024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33" autoAdjust="0"/>
    <p:restoredTop sz="97187" autoAdjust="0"/>
  </p:normalViewPr>
  <p:slideViewPr>
    <p:cSldViewPr snapToGrid="0" snapToObjects="1">
      <p:cViewPr>
        <p:scale>
          <a:sx n="125" d="100"/>
          <a:sy n="125" d="100"/>
        </p:scale>
        <p:origin x="1254" y="534"/>
      </p:cViewPr>
      <p:guideLst>
        <p:guide orient="horz" pos="3770"/>
        <p:guide orient="horz" pos="2160"/>
        <p:guide orient="horz" pos="777"/>
        <p:guide pos="158"/>
        <p:guide pos="5602"/>
        <p:guide pos="2880"/>
        <p:guide orient="horz" pos="11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9" d="100"/>
          <a:sy n="109" d="100"/>
        </p:scale>
        <p:origin x="3624" y="12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2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presProps" Target="presProps.xml"/><Relationship Id="rId8" Type="http://schemas.openxmlformats.org/officeDocument/2006/relationships/slideMaster" Target="slideMasters/slideMaster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381E93-5051-BF4E-9DC5-9B745F51C84F}" type="datetimeFigureOut">
              <a:rPr kumimoji="1" lang="ko-KR" altLang="en-US" smtClean="0"/>
              <a:t>2026-06-11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FB1490-9F09-4E47-A3AF-0759A7260C3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38392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B1490-9F09-4E47-A3AF-0759A7260C3E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821628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종이 </a:t>
            </a:r>
            <a:r>
              <a:rPr lang="en-US" altLang="ko-KR" dirty="0"/>
              <a:t>-&gt; </a:t>
            </a:r>
            <a:r>
              <a:rPr lang="ko-KR" altLang="en-US" dirty="0"/>
              <a:t>컴퓨터 </a:t>
            </a:r>
            <a:r>
              <a:rPr lang="en-US" altLang="ko-KR" dirty="0"/>
              <a:t>(</a:t>
            </a:r>
            <a:r>
              <a:rPr lang="ko-KR" altLang="en-US" dirty="0" err="1"/>
              <a:t>디지타이제이션</a:t>
            </a:r>
            <a:r>
              <a:rPr lang="en-US" altLang="ko-KR" dirty="0"/>
              <a:t>)</a:t>
            </a:r>
            <a:r>
              <a:rPr lang="ko-KR" altLang="en-US" dirty="0"/>
              <a:t> 형태의 변환</a:t>
            </a:r>
            <a:endParaRPr lang="en-US" altLang="ko-KR" dirty="0"/>
          </a:p>
          <a:p>
            <a:r>
              <a:rPr lang="ko-KR" altLang="en-US" dirty="0"/>
              <a:t>데이터 생성을 없앰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오프라인 </a:t>
            </a:r>
            <a:r>
              <a:rPr lang="en-US" altLang="ko-KR" dirty="0"/>
              <a:t>-&gt; </a:t>
            </a:r>
            <a:r>
              <a:rPr lang="ko-KR" altLang="en-US" dirty="0"/>
              <a:t>인터넷</a:t>
            </a:r>
            <a:r>
              <a:rPr lang="en-US" altLang="ko-KR" dirty="0"/>
              <a:t> (</a:t>
            </a:r>
            <a:r>
              <a:rPr lang="ko-KR" altLang="en-US" dirty="0" err="1"/>
              <a:t>디지털라이제이션</a:t>
            </a:r>
            <a:r>
              <a:rPr lang="en-US" altLang="ko-KR" dirty="0"/>
              <a:t>) </a:t>
            </a:r>
            <a:r>
              <a:rPr lang="ko-KR" altLang="en-US" dirty="0"/>
              <a:t>공간의 전환</a:t>
            </a:r>
            <a:endParaRPr lang="en-US" altLang="ko-KR" dirty="0"/>
          </a:p>
          <a:p>
            <a:r>
              <a:rPr lang="ko-KR" altLang="en-US" dirty="0"/>
              <a:t>공간의 한계를 없앰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시스템 </a:t>
            </a:r>
            <a:r>
              <a:rPr lang="en-US" altLang="ko-KR" dirty="0"/>
              <a:t>-&gt; </a:t>
            </a:r>
            <a:r>
              <a:rPr lang="ko-KR" altLang="en-US" dirty="0"/>
              <a:t>클라우드 </a:t>
            </a:r>
            <a:r>
              <a:rPr lang="en-US" altLang="ko-KR" dirty="0"/>
              <a:t>BM,</a:t>
            </a:r>
            <a:r>
              <a:rPr lang="ko-KR" altLang="en-US" dirty="0"/>
              <a:t> 인프라 </a:t>
            </a:r>
            <a:r>
              <a:rPr lang="ko-KR" altLang="en-US" dirty="0" err="1"/>
              <a:t>통쨰로</a:t>
            </a:r>
            <a:r>
              <a:rPr lang="ko-KR" altLang="en-US" dirty="0"/>
              <a:t> 바꾸는 단계</a:t>
            </a:r>
            <a:r>
              <a:rPr lang="en-US" altLang="ko-KR" dirty="0"/>
              <a:t>(DX)</a:t>
            </a:r>
            <a:r>
              <a:rPr lang="ko-KR" altLang="en-US" dirty="0"/>
              <a:t> 체질의 전환</a:t>
            </a:r>
            <a:endParaRPr lang="en-US" altLang="ko-KR" dirty="0"/>
          </a:p>
          <a:p>
            <a:r>
              <a:rPr lang="ko-KR" altLang="en-US" dirty="0"/>
              <a:t>인프라의 한계를 없앰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사람의 판단 </a:t>
            </a:r>
            <a:r>
              <a:rPr lang="en-US" altLang="ko-KR" dirty="0"/>
              <a:t>-&gt; AI</a:t>
            </a:r>
            <a:r>
              <a:rPr lang="ko-KR" altLang="en-US" dirty="0"/>
              <a:t> 의 자율성 </a:t>
            </a:r>
            <a:r>
              <a:rPr lang="en-US" altLang="ko-KR" dirty="0"/>
              <a:t>(</a:t>
            </a:r>
            <a:r>
              <a:rPr lang="ko-KR" altLang="en-US" dirty="0"/>
              <a:t>지능의 전환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시간과 리소스의 한계를 없앰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왜 지금 이 </a:t>
            </a:r>
            <a:r>
              <a:rPr lang="en-US" altLang="ko-KR" dirty="0"/>
              <a:t>AX </a:t>
            </a:r>
            <a:r>
              <a:rPr lang="ko-KR" altLang="en-US" dirty="0"/>
              <a:t>가 필요한지</a:t>
            </a:r>
            <a:r>
              <a:rPr lang="en-US" altLang="ko-KR" dirty="0"/>
              <a:t>, </a:t>
            </a:r>
            <a:r>
              <a:rPr lang="ko-KR" altLang="en-US" dirty="0"/>
              <a:t>우리 업무의 부담과 한계 관점에서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B1490-9F09-4E47-A3AF-0759A7260C3E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76047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B1490-9F09-4E47-A3AF-0759A7260C3E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75607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B1490-9F09-4E47-A3AF-0759A7260C3E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025500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B1490-9F09-4E47-A3AF-0759A7260C3E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596849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B1490-9F09-4E47-A3AF-0759A7260C3E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200583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B1490-9F09-4E47-A3AF-0759A7260C3E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038332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B1490-9F09-4E47-A3AF-0759A7260C3E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915904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B1490-9F09-4E47-A3AF-0759A7260C3E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418744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개인의 질문 수준 </a:t>
            </a:r>
            <a:r>
              <a:rPr lang="en-US" altLang="ko-KR" dirty="0"/>
              <a:t>-&gt; </a:t>
            </a:r>
            <a:r>
              <a:rPr lang="ko-KR" altLang="en-US" dirty="0"/>
              <a:t>업무 흐름 안에 어떻게 설계할지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B1490-9F09-4E47-A3AF-0759A7260C3E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890291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B1490-9F09-4E47-A3AF-0759A7260C3E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426238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B1490-9F09-4E47-A3AF-0759A7260C3E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008800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B1490-9F09-4E47-A3AF-0759A7260C3E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137852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B1490-9F09-4E47-A3AF-0759A7260C3E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47120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1355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9442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7539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1276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2119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698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0824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9651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0606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6494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0141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558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855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.emf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emf"/><Relationship Id="rId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7"/>
          <p:cNvSpPr txBox="1"/>
          <p:nvPr userDrawn="1"/>
        </p:nvSpPr>
        <p:spPr>
          <a:xfrm>
            <a:off x="7984066" y="6463574"/>
            <a:ext cx="697307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600" kern="1200" dirty="0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ⓒ NIT Service Corp.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DD08F00-4D84-6D45-8137-6E1F2352D5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6333" y="6291862"/>
            <a:ext cx="864158" cy="305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300877"/>
      </p:ext>
    </p:extLst>
  </p:cSld>
  <p:clrMap bg1="lt1" tx1="dk1" bg2="lt2" tx2="dk2" accent1="accent1" accent2="accent2" accent3="accent3" accent4="accent4" accent5="accent5" accent6="accent6" hlink="hlink" folHlink="folHlink"/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7C6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 userDrawn="1"/>
        </p:nvSpPr>
        <p:spPr>
          <a:xfrm>
            <a:off x="7984066" y="6463574"/>
            <a:ext cx="697307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600" kern="12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ⓒ NIT Service Corp.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D375348-69BB-B8A3-0F8D-D7C65F9170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1023" y="6296360"/>
            <a:ext cx="850528" cy="30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38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</p:sldLayoutIdLst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/>
          <p:cNvSpPr txBox="1"/>
          <p:nvPr userDrawn="1"/>
        </p:nvSpPr>
        <p:spPr>
          <a:xfrm>
            <a:off x="7984066" y="6463574"/>
            <a:ext cx="697307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600" kern="1200" dirty="0">
                <a:solidFill>
                  <a:srgbClr val="62636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ⓒ NIT Service Corp.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E255F44-0E82-DC8F-B118-16806656086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84046" y="6281798"/>
            <a:ext cx="927848" cy="32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72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16" r:id="rId2"/>
    <p:sldLayoutId id="2147483717" r:id="rId3"/>
    <p:sldLayoutId id="2147483744" r:id="rId4"/>
    <p:sldLayoutId id="2147483745" r:id="rId5"/>
  </p:sldLayoutIdLst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7C6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D1C7423B-F5A4-7ADF-A663-35A90EE13B5B}"/>
              </a:ext>
            </a:extLst>
          </p:cNvPr>
          <p:cNvSpPr txBox="1"/>
          <p:nvPr userDrawn="1"/>
        </p:nvSpPr>
        <p:spPr>
          <a:xfrm>
            <a:off x="7984066" y="6463574"/>
            <a:ext cx="697307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600" kern="12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ⓒ NIT Service Corp.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DE378CF-797E-84EF-70F2-21298F495D8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1023" y="6296360"/>
            <a:ext cx="850528" cy="30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221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3"/>
          <p:cNvSpPr txBox="1"/>
          <p:nvPr userDrawn="1"/>
        </p:nvSpPr>
        <p:spPr>
          <a:xfrm>
            <a:off x="7984066" y="6463574"/>
            <a:ext cx="697307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ⓒ NIT Service Corp.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72E8EF6-3460-D506-BC5B-FCBDB72CF55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421023" y="6296360"/>
            <a:ext cx="850528" cy="30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547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4"/>
          <p:cNvCxnSpPr/>
          <p:nvPr userDrawn="1"/>
        </p:nvCxnSpPr>
        <p:spPr>
          <a:xfrm>
            <a:off x="404573" y="948531"/>
            <a:ext cx="8334855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3">
            <a:extLst>
              <a:ext uri="{FF2B5EF4-FFF2-40B4-BE49-F238E27FC236}">
                <a16:creationId xmlns:a16="http://schemas.microsoft.com/office/drawing/2014/main" id="{57E0CA2D-EB6B-7906-97E7-B6B59706D612}"/>
              </a:ext>
            </a:extLst>
          </p:cNvPr>
          <p:cNvSpPr txBox="1"/>
          <p:nvPr userDrawn="1"/>
        </p:nvSpPr>
        <p:spPr>
          <a:xfrm>
            <a:off x="7984066" y="6463574"/>
            <a:ext cx="697307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ⓒ NIT Service Corp.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74AD65E-3405-8089-AC54-584552758A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1000"/>
          </a:blip>
          <a:stretch>
            <a:fillRect/>
          </a:stretch>
        </p:blipFill>
        <p:spPr>
          <a:xfrm>
            <a:off x="421023" y="6296360"/>
            <a:ext cx="850528" cy="30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782170"/>
      </p:ext>
    </p:extLst>
  </p:cSld>
  <p:clrMap bg1="lt1" tx1="dk1" bg2="lt2" tx2="dk2" accent1="accent1" accent2="accent2" accent3="accent3" accent4="accent4" accent5="accent5" accent6="accent6" hlink="hlink" folHlink="folHlink"/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4"/>
          <p:cNvCxnSpPr/>
          <p:nvPr userDrawn="1"/>
        </p:nvCxnSpPr>
        <p:spPr>
          <a:xfrm>
            <a:off x="404573" y="948531"/>
            <a:ext cx="8334855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7">
            <a:extLst>
              <a:ext uri="{FF2B5EF4-FFF2-40B4-BE49-F238E27FC236}">
                <a16:creationId xmlns:a16="http://schemas.microsoft.com/office/drawing/2014/main" id="{8EEAB667-FE06-729C-A797-1926C54D39C0}"/>
              </a:ext>
            </a:extLst>
          </p:cNvPr>
          <p:cNvSpPr txBox="1"/>
          <p:nvPr userDrawn="1"/>
        </p:nvSpPr>
        <p:spPr>
          <a:xfrm>
            <a:off x="7984066" y="6463574"/>
            <a:ext cx="697307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600" kern="1200" dirty="0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ⓒ NIT Service Corp.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4655814-F896-FB20-54E8-2E3D1259E4A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333" y="6291862"/>
            <a:ext cx="864158" cy="305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533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86" r:id="rId3"/>
  </p:sldLayoutIdLst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5DCD4FFD-6337-6AD3-26A9-B8D6CAE15BA7}"/>
              </a:ext>
            </a:extLst>
          </p:cNvPr>
          <p:cNvSpPr txBox="1"/>
          <p:nvPr userDrawn="1"/>
        </p:nvSpPr>
        <p:spPr>
          <a:xfrm>
            <a:off x="7984066" y="6463574"/>
            <a:ext cx="697307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600" kern="1200" dirty="0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ⓒ NIT Service Corp.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377BFD4-9F7F-3247-2BFD-13A82CE57C7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333" y="6291862"/>
            <a:ext cx="864158" cy="305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596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800" r:id="rId2"/>
    <p:sldLayoutId id="2147483801" r:id="rId3"/>
  </p:sldLayoutIdLst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4"/>
          <p:cNvCxnSpPr/>
          <p:nvPr userDrawn="1"/>
        </p:nvCxnSpPr>
        <p:spPr>
          <a:xfrm>
            <a:off x="404573" y="948531"/>
            <a:ext cx="8334855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7">
            <a:extLst>
              <a:ext uri="{FF2B5EF4-FFF2-40B4-BE49-F238E27FC236}">
                <a16:creationId xmlns:a16="http://schemas.microsoft.com/office/drawing/2014/main" id="{8EEAB667-FE06-729C-A797-1926C54D39C0}"/>
              </a:ext>
            </a:extLst>
          </p:cNvPr>
          <p:cNvSpPr txBox="1"/>
          <p:nvPr userDrawn="1"/>
        </p:nvSpPr>
        <p:spPr>
          <a:xfrm>
            <a:off x="8157192" y="6463575"/>
            <a:ext cx="524182" cy="692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450" kern="1200" dirty="0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ⓒ NIT Service Corp.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4655814-F896-FB20-54E8-2E3D1259E4A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16334" y="6291864"/>
            <a:ext cx="864158" cy="305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096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8" r:id="rId2"/>
  </p:sldLayoutIdLst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6.png"/><Relationship Id="rId21" Type="http://schemas.openxmlformats.org/officeDocument/2006/relationships/image" Target="../media/image33.png"/><Relationship Id="rId7" Type="http://schemas.openxmlformats.org/officeDocument/2006/relationships/image" Target="../media/image20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5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png"/><Relationship Id="rId11" Type="http://schemas.openxmlformats.org/officeDocument/2006/relationships/image" Target="../media/image10.png"/><Relationship Id="rId24" Type="http://schemas.openxmlformats.org/officeDocument/2006/relationships/image" Target="../media/image36.png"/><Relationship Id="rId5" Type="http://schemas.openxmlformats.org/officeDocument/2006/relationships/image" Target="../media/image18.png"/><Relationship Id="rId15" Type="http://schemas.openxmlformats.org/officeDocument/2006/relationships/image" Target="../media/image27.png"/><Relationship Id="rId23" Type="http://schemas.openxmlformats.org/officeDocument/2006/relationships/image" Target="../media/image35.png"/><Relationship Id="rId10" Type="http://schemas.openxmlformats.org/officeDocument/2006/relationships/image" Target="../media/image23.png"/><Relationship Id="rId19" Type="http://schemas.openxmlformats.org/officeDocument/2006/relationships/image" Target="../media/image31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10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0" Type="http://schemas.openxmlformats.org/officeDocument/2006/relationships/image" Target="../media/image81.png"/><Relationship Id="rId4" Type="http://schemas.openxmlformats.org/officeDocument/2006/relationships/image" Target="../media/image48.png"/><Relationship Id="rId9" Type="http://schemas.openxmlformats.org/officeDocument/2006/relationships/image" Target="../media/image8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9CCC5C5-C715-4BA1-8926-89E8B93FB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9369"/>
            <a:ext cx="9144000" cy="5919262"/>
          </a:xfrm>
          <a:prstGeom prst="rect">
            <a:avLst/>
          </a:prstGeom>
        </p:spPr>
      </p:pic>
      <p:sp>
        <p:nvSpPr>
          <p:cNvPr id="6" name="텍스트 상자 5"/>
          <p:cNvSpPr txBox="1"/>
          <p:nvPr/>
        </p:nvSpPr>
        <p:spPr>
          <a:xfrm>
            <a:off x="10473070" y="-563526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 </a:t>
            </a:r>
          </a:p>
        </p:txBody>
      </p:sp>
      <p:cxnSp>
        <p:nvCxnSpPr>
          <p:cNvPr id="11" name="직선 연결선 5"/>
          <p:cNvCxnSpPr/>
          <p:nvPr/>
        </p:nvCxnSpPr>
        <p:spPr>
          <a:xfrm>
            <a:off x="369002" y="3016291"/>
            <a:ext cx="376091" cy="0"/>
          </a:xfrm>
          <a:prstGeom prst="line">
            <a:avLst/>
          </a:prstGeom>
          <a:ln w="25400">
            <a:solidFill>
              <a:srgbClr val="2528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부제목 2"/>
          <p:cNvSpPr txBox="1">
            <a:spLocks/>
          </p:cNvSpPr>
          <p:nvPr/>
        </p:nvSpPr>
        <p:spPr>
          <a:xfrm>
            <a:off x="355427" y="3772422"/>
            <a:ext cx="4399200" cy="2779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000" b="0" i="0" kern="1200" spc="-20" baseline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ko-KR" altLang="en-US" sz="1400" b="1" spc="-50" baseline="0" dirty="0">
              <a:solidFill>
                <a:srgbClr val="25282A"/>
              </a:solidFill>
              <a:latin typeface="NanumSquare ExtraBold" charset="-127"/>
              <a:ea typeface="NanumSquare ExtraBold" charset="-127"/>
              <a:cs typeface="NanumSquare ExtraBold" charset="-127"/>
            </a:endParaRPr>
          </a:p>
        </p:txBody>
      </p:sp>
      <p:sp>
        <p:nvSpPr>
          <p:cNvPr id="15" name="부제목 2"/>
          <p:cNvSpPr txBox="1">
            <a:spLocks/>
          </p:cNvSpPr>
          <p:nvPr/>
        </p:nvSpPr>
        <p:spPr>
          <a:xfrm>
            <a:off x="355427" y="3242676"/>
            <a:ext cx="6400800" cy="46588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200" b="0" i="0" kern="1200" spc="-20" baseline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NanumSquare" charset="-127"/>
                <a:ea typeface="NanumSquare" charset="-127"/>
                <a:cs typeface="NanumSquare" charset="-127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b="1" dirty="0">
                <a:solidFill>
                  <a:srgbClr val="25282A"/>
                </a:solidFill>
              </a:rPr>
              <a:t>작성자 </a:t>
            </a:r>
            <a:r>
              <a:rPr lang="en-US" altLang="ko-KR" sz="1400" b="1" dirty="0">
                <a:solidFill>
                  <a:srgbClr val="25282A"/>
                </a:solidFill>
              </a:rPr>
              <a:t>: </a:t>
            </a:r>
            <a:r>
              <a:rPr lang="ko-KR" altLang="en-US" sz="1400" b="1" dirty="0">
                <a:solidFill>
                  <a:srgbClr val="25282A"/>
                </a:solidFill>
              </a:rPr>
              <a:t>장진수</a:t>
            </a:r>
            <a:endParaRPr lang="en-US" altLang="ko-KR" sz="1400" b="1" dirty="0">
              <a:solidFill>
                <a:srgbClr val="25282A"/>
              </a:solidFill>
            </a:endParaRPr>
          </a:p>
          <a:p>
            <a:r>
              <a:rPr lang="ko-KR" altLang="en-US" sz="1400" b="1" dirty="0">
                <a:solidFill>
                  <a:srgbClr val="25282A"/>
                </a:solidFill>
              </a:rPr>
              <a:t>소속팀 </a:t>
            </a:r>
            <a:r>
              <a:rPr lang="en-US" altLang="ko-KR" sz="1400" b="1" dirty="0">
                <a:solidFill>
                  <a:srgbClr val="25282A"/>
                </a:solidFill>
              </a:rPr>
              <a:t>/ </a:t>
            </a:r>
            <a:r>
              <a:rPr lang="ko-KR" altLang="en-US" sz="1400" b="1" dirty="0">
                <a:solidFill>
                  <a:srgbClr val="25282A"/>
                </a:solidFill>
              </a:rPr>
              <a:t>상위부서 </a:t>
            </a:r>
            <a:r>
              <a:rPr lang="en-US" altLang="ko-KR" sz="1400" b="1" dirty="0">
                <a:solidFill>
                  <a:srgbClr val="25282A"/>
                </a:solidFill>
              </a:rPr>
              <a:t>: </a:t>
            </a:r>
            <a:r>
              <a:rPr lang="ko-KR" altLang="en-US" sz="1400" b="1" dirty="0">
                <a:solidFill>
                  <a:srgbClr val="25282A"/>
                </a:solidFill>
              </a:rPr>
              <a:t>관제지원 </a:t>
            </a:r>
            <a:r>
              <a:rPr lang="en-US" altLang="ko-KR" sz="1400" b="1" dirty="0">
                <a:solidFill>
                  <a:srgbClr val="25282A"/>
                </a:solidFill>
              </a:rPr>
              <a:t>/ </a:t>
            </a:r>
            <a:r>
              <a:rPr lang="ko-KR" altLang="en-US" sz="1400" b="1" dirty="0">
                <a:solidFill>
                  <a:srgbClr val="25282A"/>
                </a:solidFill>
              </a:rPr>
              <a:t>통합보안지원</a:t>
            </a:r>
          </a:p>
        </p:txBody>
      </p:sp>
      <p:sp>
        <p:nvSpPr>
          <p:cNvPr id="16" name="제목 1"/>
          <p:cNvSpPr txBox="1">
            <a:spLocks/>
          </p:cNvSpPr>
          <p:nvPr/>
        </p:nvSpPr>
        <p:spPr>
          <a:xfrm>
            <a:off x="355899" y="302734"/>
            <a:ext cx="8235478" cy="21324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500" b="0" i="0" kern="1200" spc="-200" baseline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NanumSquare" charset="-127"/>
                <a:ea typeface="NanumSquare" charset="-127"/>
                <a:cs typeface="NanumSquare" charset="-127"/>
              </a:defRPr>
            </a:lvl1pPr>
          </a:lstStyle>
          <a:p>
            <a:r>
              <a:rPr lang="en-US" altLang="ko-KR" sz="4600" b="1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AX</a:t>
            </a:r>
            <a:r>
              <a:rPr lang="ko-KR" altLang="en-US" sz="4600" b="1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 를 위한 마인드셋</a:t>
            </a:r>
            <a:endParaRPr lang="en-US" altLang="ko-KR" sz="4600" b="1" dirty="0">
              <a:solidFill>
                <a:srgbClr val="25282A"/>
              </a:solidFill>
              <a:latin typeface="NanumSquare ExtraBold" charset="-127"/>
              <a:ea typeface="NanumSquare ExtraBold" charset="-127"/>
              <a:cs typeface="NanumSquare ExtraBold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5053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18A0D8A-6575-49A1-BED6-6F4B6FD0C5AF}"/>
              </a:ext>
            </a:extLst>
          </p:cNvPr>
          <p:cNvSpPr/>
          <p:nvPr/>
        </p:nvSpPr>
        <p:spPr>
          <a:xfrm>
            <a:off x="3436620" y="2263148"/>
            <a:ext cx="2255520" cy="2964172"/>
          </a:xfrm>
          <a:prstGeom prst="roundRect">
            <a:avLst/>
          </a:prstGeom>
          <a:solidFill>
            <a:srgbClr val="F6F9FD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2D8B2AE-62E0-4CC6-B530-32AD6C61AF47}"/>
              </a:ext>
            </a:extLst>
          </p:cNvPr>
          <p:cNvSpPr/>
          <p:nvPr/>
        </p:nvSpPr>
        <p:spPr>
          <a:xfrm>
            <a:off x="6187577" y="2263148"/>
            <a:ext cx="2255520" cy="2964172"/>
          </a:xfrm>
          <a:prstGeom prst="roundRect">
            <a:avLst/>
          </a:prstGeom>
          <a:solidFill>
            <a:srgbClr val="F3F7FD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143B41B-C8D3-4A1C-8A39-6714EF94CCC8}"/>
              </a:ext>
            </a:extLst>
          </p:cNvPr>
          <p:cNvSpPr/>
          <p:nvPr/>
        </p:nvSpPr>
        <p:spPr>
          <a:xfrm>
            <a:off x="685663" y="2267083"/>
            <a:ext cx="2255520" cy="2964172"/>
          </a:xfrm>
          <a:prstGeom prst="roundRect">
            <a:avLst/>
          </a:prstGeom>
          <a:solidFill>
            <a:srgbClr val="F8F9FA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8427584" y="365520"/>
            <a:ext cx="343364" cy="20864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266700" indent="-26670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lang="ko-KR" altLang="en-US" sz="1400" b="1" kern="1200" spc="-20" baseline="0" dirty="0" smtClean="0">
                <a:ln>
                  <a:noFill/>
                </a:ln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2667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446087" indent="0" algn="l" defTabSz="914400" rtl="0" eaLnBrk="1" latinLnBrk="1" hangingPunct="1">
              <a:lnSpc>
                <a:spcPct val="150000"/>
              </a:lnSpc>
              <a:spcBef>
                <a:spcPts val="3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625475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64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  <a:lvl6pPr marL="82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대외비</a:t>
            </a:r>
            <a:endParaRPr lang="en-US" altLang="ko-KR" sz="1000" dirty="0">
              <a:solidFill>
                <a:srgbClr val="07C63C"/>
              </a:solidFill>
              <a:latin typeface="NanumSquare ExtraBold" charset="-127"/>
              <a:ea typeface="NanumSquare ExtraBold" charset="-127"/>
              <a:cs typeface="NanumSquare ExtraBold" charset="-127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424800" y="365520"/>
            <a:ext cx="8640000" cy="338400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600" b="1" kern="1200" spc="-20" baseline="0" dirty="0"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| </a:t>
            </a:r>
            <a:r>
              <a:rPr lang="ko-KR" altLang="en-US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왜 지금 </a:t>
            </a:r>
            <a:r>
              <a:rPr lang="en-US" altLang="ko-KR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AX(AI Transformation) </a:t>
            </a:r>
            <a:r>
              <a:rPr lang="ko-KR" altLang="en-US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인가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E8721A4-C13A-4378-9419-E320D2709708}"/>
              </a:ext>
            </a:extLst>
          </p:cNvPr>
          <p:cNvSpPr txBox="1">
            <a:spLocks/>
          </p:cNvSpPr>
          <p:nvPr/>
        </p:nvSpPr>
        <p:spPr>
          <a:xfrm>
            <a:off x="831200" y="1183920"/>
            <a:ext cx="7596384" cy="565755"/>
          </a:xfrm>
          <a:prstGeom prst="rect">
            <a:avLst/>
          </a:prstGeom>
        </p:spPr>
        <p:txBody>
          <a:bodyPr lIns="0" tIns="0" rIns="0" bIns="0"/>
          <a:lstStyle>
            <a:lvl1pPr marL="266700" indent="-26670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lang="ko-KR" altLang="en-US" sz="1400" b="1" kern="1200" spc="-20" baseline="0" dirty="0" smtClean="0">
                <a:ln>
                  <a:noFill/>
                </a:ln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2667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446087" indent="0" algn="l" defTabSz="914400" rtl="0" eaLnBrk="1" latinLnBrk="1" hangingPunct="1">
              <a:lnSpc>
                <a:spcPct val="150000"/>
              </a:lnSpc>
              <a:spcBef>
                <a:spcPts val="3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625475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64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  <a:lvl6pPr marL="82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디지털화된 업무와 데이터를 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AI 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가 보조할 수 있도록 연결하는 단계</a:t>
            </a:r>
            <a:endParaRPr lang="en-US" altLang="ko-KR" sz="1100" b="0" dirty="0">
              <a:solidFill>
                <a:srgbClr val="626366"/>
              </a:solidFill>
              <a:latin typeface="NanumSquare" charset="-127"/>
              <a:ea typeface="NanumSquare" charset="-127"/>
              <a:cs typeface="NanumSquare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78E4DBA-46C6-4AA8-A54E-CF792D342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260" y="2773679"/>
            <a:ext cx="1998904" cy="142963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9FE49B4-2874-41E9-89A1-21B8EF8A4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5680" y="2785378"/>
            <a:ext cx="2057400" cy="155695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A304232-8EED-4AC5-94D2-DAB462F327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819400"/>
            <a:ext cx="2057400" cy="1488908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4A97D4F-9299-475E-BCF6-C0096E106A06}"/>
              </a:ext>
            </a:extLst>
          </p:cNvPr>
          <p:cNvCxnSpPr/>
          <p:nvPr/>
        </p:nvCxnSpPr>
        <p:spPr>
          <a:xfrm>
            <a:off x="983463" y="4625340"/>
            <a:ext cx="165292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FCE62C07-9FE3-4A80-8E13-2EBFE1C5F1B6}"/>
              </a:ext>
            </a:extLst>
          </p:cNvPr>
          <p:cNvCxnSpPr/>
          <p:nvPr/>
        </p:nvCxnSpPr>
        <p:spPr>
          <a:xfrm>
            <a:off x="3741903" y="4625340"/>
            <a:ext cx="1652920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82FC484-138E-4A5A-8404-9268314ED1B3}"/>
              </a:ext>
            </a:extLst>
          </p:cNvPr>
          <p:cNvCxnSpPr/>
          <p:nvPr/>
        </p:nvCxnSpPr>
        <p:spPr>
          <a:xfrm>
            <a:off x="6492723" y="4625340"/>
            <a:ext cx="165292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59E816D-CB5C-4AAF-9F10-7A2493BF83FA}"/>
              </a:ext>
            </a:extLst>
          </p:cNvPr>
          <p:cNvSpPr txBox="1"/>
          <p:nvPr/>
        </p:nvSpPr>
        <p:spPr>
          <a:xfrm>
            <a:off x="1316480" y="2386846"/>
            <a:ext cx="1024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아날로그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C762BA-409E-44A5-99C2-8BEE91B0A79B}"/>
              </a:ext>
            </a:extLst>
          </p:cNvPr>
          <p:cNvSpPr txBox="1"/>
          <p:nvPr/>
        </p:nvSpPr>
        <p:spPr>
          <a:xfrm>
            <a:off x="4331742" y="2386846"/>
            <a:ext cx="480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DX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1FA9E2-39AB-455E-979A-CE439B54EEDA}"/>
              </a:ext>
            </a:extLst>
          </p:cNvPr>
          <p:cNvSpPr txBox="1"/>
          <p:nvPr/>
        </p:nvSpPr>
        <p:spPr>
          <a:xfrm>
            <a:off x="7073123" y="2390171"/>
            <a:ext cx="48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AX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7B638FB1-E42B-4B1D-AFF5-88A66B377F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9634" y="3429000"/>
            <a:ext cx="333375" cy="46672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6B0C59E8-0DD4-42B6-AA54-74ECB77FD5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7383" y="3467099"/>
            <a:ext cx="342900" cy="39052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7567414-70DC-4B6D-BE2C-B5DE2A19DCE3}"/>
              </a:ext>
            </a:extLst>
          </p:cNvPr>
          <p:cNvSpPr txBox="1"/>
          <p:nvPr/>
        </p:nvSpPr>
        <p:spPr>
          <a:xfrm>
            <a:off x="939145" y="4706736"/>
            <a:ext cx="17716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종이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전화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수기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개별파일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38A9B4-84FE-4784-8B98-E1A9AA19FD5E}"/>
              </a:ext>
            </a:extLst>
          </p:cNvPr>
          <p:cNvSpPr txBox="1"/>
          <p:nvPr/>
        </p:nvSpPr>
        <p:spPr>
          <a:xfrm>
            <a:off x="3686180" y="4706735"/>
            <a:ext cx="17716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기록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검색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35BB79-C22B-476B-83B7-C5EA76A5282A}"/>
              </a:ext>
            </a:extLst>
          </p:cNvPr>
          <p:cNvSpPr txBox="1"/>
          <p:nvPr/>
        </p:nvSpPr>
        <p:spPr>
          <a:xfrm>
            <a:off x="6341352" y="4706734"/>
            <a:ext cx="1947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요약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검색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분류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판단보조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7527B69-96D2-493F-81FB-D46B8CACD1EB}"/>
              </a:ext>
            </a:extLst>
          </p:cNvPr>
          <p:cNvSpPr/>
          <p:nvPr/>
        </p:nvSpPr>
        <p:spPr>
          <a:xfrm>
            <a:off x="685663" y="5629683"/>
            <a:ext cx="7757434" cy="621447"/>
          </a:xfrm>
          <a:prstGeom prst="roundRect">
            <a:avLst/>
          </a:prstGeom>
          <a:solidFill>
            <a:srgbClr val="F2F8FE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5897DB61-FD1B-4CBC-9A0B-51916EFE23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5674080"/>
            <a:ext cx="739140" cy="51567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A938E04-E410-4C3E-811E-528CB2F0636D}"/>
              </a:ext>
            </a:extLst>
          </p:cNvPr>
          <p:cNvSpPr txBox="1"/>
          <p:nvPr/>
        </p:nvSpPr>
        <p:spPr>
          <a:xfrm>
            <a:off x="1653677" y="5793419"/>
            <a:ext cx="35285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디지털화된 업무를 </a:t>
            </a:r>
            <a:r>
              <a:rPr lang="en-US" altLang="ko-KR" sz="1400" b="1" dirty="0">
                <a:solidFill>
                  <a:srgbClr val="0C0CA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1400" b="1" dirty="0">
                <a:solidFill>
                  <a:srgbClr val="0C0CA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 보조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할 수 있는 형태로 연결</a:t>
            </a:r>
          </a:p>
        </p:txBody>
      </p:sp>
    </p:spTree>
    <p:extLst>
      <p:ext uri="{BB962C8B-B14F-4D97-AF65-F5344CB8AC3E}">
        <p14:creationId xmlns:p14="http://schemas.microsoft.com/office/powerpoint/2010/main" val="580058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/>
          <p:cNvSpPr txBox="1">
            <a:spLocks/>
          </p:cNvSpPr>
          <p:nvPr/>
        </p:nvSpPr>
        <p:spPr>
          <a:xfrm>
            <a:off x="831200" y="1183920"/>
            <a:ext cx="7596384" cy="869605"/>
          </a:xfrm>
          <a:prstGeom prst="rect">
            <a:avLst/>
          </a:prstGeom>
        </p:spPr>
        <p:txBody>
          <a:bodyPr lIns="0" tIns="0" rIns="0" bIns="0"/>
          <a:lstStyle>
            <a:lvl1pPr marL="266700" indent="-26670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lang="ko-KR" altLang="en-US" sz="1400" b="1" kern="1200" spc="-20" baseline="0" dirty="0" smtClean="0">
                <a:ln>
                  <a:noFill/>
                </a:ln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2667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446087" indent="0" algn="l" defTabSz="914400" rtl="0" eaLnBrk="1" latinLnBrk="1" hangingPunct="1">
              <a:lnSpc>
                <a:spcPct val="150000"/>
              </a:lnSpc>
              <a:spcBef>
                <a:spcPts val="3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625475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64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  <a:lvl6pPr marL="82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AX 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는 유행이 아니라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, 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늘어나는 업무와 복잡도를 다루기 위한 실질적인 변화</a:t>
            </a:r>
            <a:endParaRPr lang="en-US" altLang="ko-KR" b="0" dirty="0">
              <a:solidFill>
                <a:srgbClr val="626366"/>
              </a:solidFill>
              <a:latin typeface="NanumSquare" charset="-127"/>
              <a:ea typeface="NanumSquare" charset="-127"/>
              <a:cs typeface="NanumSquare" charset="-127"/>
            </a:endParaRPr>
          </a:p>
          <a:p>
            <a:pPr indent="0">
              <a:buNone/>
            </a:pPr>
            <a:endParaRPr lang="en-US" altLang="ko-KR" sz="1100" b="0" dirty="0">
              <a:solidFill>
                <a:srgbClr val="626366"/>
              </a:solidFill>
              <a:latin typeface="NanumSquare" charset="-127"/>
              <a:ea typeface="NanumSquare" charset="-127"/>
              <a:cs typeface="NanumSquare" charset="-127"/>
            </a:endParaRP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424800" y="365520"/>
            <a:ext cx="8640000" cy="338400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600" b="1" kern="1200" spc="-20" baseline="0" dirty="0"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| </a:t>
            </a:r>
            <a:r>
              <a:rPr lang="ko-KR" altLang="en-US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왜 필요한가</a:t>
            </a:r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8427584" y="365520"/>
            <a:ext cx="343364" cy="20864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266700" indent="-26670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lang="ko-KR" altLang="en-US" sz="1400" b="1" kern="1200" spc="-20" baseline="0" dirty="0" smtClean="0">
                <a:ln>
                  <a:noFill/>
                </a:ln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2667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446087" indent="0" algn="l" defTabSz="914400" rtl="0" eaLnBrk="1" latinLnBrk="1" hangingPunct="1">
              <a:lnSpc>
                <a:spcPct val="150000"/>
              </a:lnSpc>
              <a:spcBef>
                <a:spcPts val="3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625475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64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  <a:lvl6pPr marL="82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대외비</a:t>
            </a:r>
            <a:endParaRPr lang="en-US" altLang="ko-KR" sz="1000" dirty="0">
              <a:solidFill>
                <a:srgbClr val="07C63C"/>
              </a:solidFill>
              <a:latin typeface="NanumSquare ExtraBold" charset="-127"/>
              <a:ea typeface="NanumSquare ExtraBold" charset="-127"/>
              <a:cs typeface="NanumSquare ExtraBold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DCDA137-4FDF-45E9-A1CE-1121E7A0ED76}"/>
              </a:ext>
            </a:extLst>
          </p:cNvPr>
          <p:cNvSpPr/>
          <p:nvPr/>
        </p:nvSpPr>
        <p:spPr>
          <a:xfrm>
            <a:off x="272213" y="2025315"/>
            <a:ext cx="1603626" cy="2964172"/>
          </a:xfrm>
          <a:prstGeom prst="roundRect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A20E3DE-D81B-45AB-9FDA-83D272B49F35}"/>
              </a:ext>
            </a:extLst>
          </p:cNvPr>
          <p:cNvSpPr/>
          <p:nvPr/>
        </p:nvSpPr>
        <p:spPr>
          <a:xfrm>
            <a:off x="2015494" y="2025315"/>
            <a:ext cx="1603626" cy="2964172"/>
          </a:xfrm>
          <a:prstGeom prst="roundRect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B444765-A804-4720-803C-D4CDCAFDE0CA}"/>
              </a:ext>
            </a:extLst>
          </p:cNvPr>
          <p:cNvSpPr/>
          <p:nvPr/>
        </p:nvSpPr>
        <p:spPr>
          <a:xfrm>
            <a:off x="3758775" y="2025315"/>
            <a:ext cx="1603626" cy="2964172"/>
          </a:xfrm>
          <a:prstGeom prst="roundRect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7E0B44D-410D-4004-A5BE-E94BD199EE1A}"/>
              </a:ext>
            </a:extLst>
          </p:cNvPr>
          <p:cNvSpPr/>
          <p:nvPr/>
        </p:nvSpPr>
        <p:spPr>
          <a:xfrm>
            <a:off x="5502056" y="2025315"/>
            <a:ext cx="1603626" cy="2964172"/>
          </a:xfrm>
          <a:prstGeom prst="roundRect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351E4F-BBA4-4D30-B1F3-06F4C0068FD6}"/>
              </a:ext>
            </a:extLst>
          </p:cNvPr>
          <p:cNvSpPr/>
          <p:nvPr/>
        </p:nvSpPr>
        <p:spPr>
          <a:xfrm>
            <a:off x="7245337" y="2025315"/>
            <a:ext cx="1603626" cy="2964172"/>
          </a:xfrm>
          <a:prstGeom prst="roundRect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354766B-8C68-405D-AC84-04078DE2B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6" y="2836933"/>
            <a:ext cx="1375970" cy="108111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64DF9E9-A2E4-46B6-BA5D-636593C83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5423" y="2890900"/>
            <a:ext cx="1324310" cy="101174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AEE80DD-4CEC-4C02-AC2E-C4FB363801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2425" y="2851431"/>
            <a:ext cx="1276326" cy="116304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6A5AEDE-20F6-441F-85F1-474D0D17C5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8160" y="2923792"/>
            <a:ext cx="1330758" cy="95938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47597C1-5A4A-482D-B681-0B0258E0BA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0793" y="2884321"/>
            <a:ext cx="1389135" cy="1011740"/>
          </a:xfrm>
          <a:prstGeom prst="rect">
            <a:avLst/>
          </a:prstGeom>
        </p:spPr>
      </p:pic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041584F-8745-4D50-A99C-9F51B3166A05}"/>
              </a:ext>
            </a:extLst>
          </p:cNvPr>
          <p:cNvCxnSpPr>
            <a:cxnSpLocks/>
          </p:cNvCxnSpPr>
          <p:nvPr/>
        </p:nvCxnSpPr>
        <p:spPr>
          <a:xfrm>
            <a:off x="410917" y="4265160"/>
            <a:ext cx="132505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BDAEFFB6-769F-4B2C-B460-C94A629A499A}"/>
              </a:ext>
            </a:extLst>
          </p:cNvPr>
          <p:cNvCxnSpPr>
            <a:cxnSpLocks/>
          </p:cNvCxnSpPr>
          <p:nvPr/>
        </p:nvCxnSpPr>
        <p:spPr>
          <a:xfrm>
            <a:off x="2155423" y="4265160"/>
            <a:ext cx="132505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C62D02C5-993C-455C-A91E-E94B25208A98}"/>
              </a:ext>
            </a:extLst>
          </p:cNvPr>
          <p:cNvCxnSpPr>
            <a:cxnSpLocks/>
          </p:cNvCxnSpPr>
          <p:nvPr/>
        </p:nvCxnSpPr>
        <p:spPr>
          <a:xfrm>
            <a:off x="3873692" y="4265160"/>
            <a:ext cx="132505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8552044-A8A8-438A-990F-2255155D5814}"/>
              </a:ext>
            </a:extLst>
          </p:cNvPr>
          <p:cNvCxnSpPr>
            <a:cxnSpLocks/>
          </p:cNvCxnSpPr>
          <p:nvPr/>
        </p:nvCxnSpPr>
        <p:spPr>
          <a:xfrm>
            <a:off x="5616972" y="4265160"/>
            <a:ext cx="132505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3982C6B3-D913-4112-A63E-FABA1060EED8}"/>
              </a:ext>
            </a:extLst>
          </p:cNvPr>
          <p:cNvCxnSpPr>
            <a:cxnSpLocks/>
          </p:cNvCxnSpPr>
          <p:nvPr/>
        </p:nvCxnSpPr>
        <p:spPr>
          <a:xfrm>
            <a:off x="7381095" y="4265160"/>
            <a:ext cx="132505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타원 23">
            <a:extLst>
              <a:ext uri="{FF2B5EF4-FFF2-40B4-BE49-F238E27FC236}">
                <a16:creationId xmlns:a16="http://schemas.microsoft.com/office/drawing/2014/main" id="{47395C30-B0F7-42E6-B288-D4BF919B81AF}"/>
              </a:ext>
            </a:extLst>
          </p:cNvPr>
          <p:cNvSpPr/>
          <p:nvPr/>
        </p:nvSpPr>
        <p:spPr>
          <a:xfrm>
            <a:off x="928721" y="2231717"/>
            <a:ext cx="289450" cy="258108"/>
          </a:xfrm>
          <a:prstGeom prst="ellipse">
            <a:avLst/>
          </a:prstGeom>
          <a:solidFill>
            <a:srgbClr val="1B59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9CE44C95-6D0F-4FCF-B7CC-EE4DD0FB855D}"/>
              </a:ext>
            </a:extLst>
          </p:cNvPr>
          <p:cNvSpPr/>
          <p:nvPr/>
        </p:nvSpPr>
        <p:spPr>
          <a:xfrm>
            <a:off x="2672582" y="2228487"/>
            <a:ext cx="289450" cy="258108"/>
          </a:xfrm>
          <a:prstGeom prst="ellipse">
            <a:avLst/>
          </a:prstGeom>
          <a:solidFill>
            <a:srgbClr val="1B59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22511A8A-9BBB-4941-A7A5-29A8C77376CC}"/>
              </a:ext>
            </a:extLst>
          </p:cNvPr>
          <p:cNvSpPr/>
          <p:nvPr/>
        </p:nvSpPr>
        <p:spPr>
          <a:xfrm>
            <a:off x="4415863" y="2228487"/>
            <a:ext cx="289450" cy="258108"/>
          </a:xfrm>
          <a:prstGeom prst="ellipse">
            <a:avLst/>
          </a:prstGeom>
          <a:solidFill>
            <a:srgbClr val="1B59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endParaRPr lang="ko-KR" altLang="en-US" sz="1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A8B2C851-5B0D-4FC9-810E-1CFA46EC28EB}"/>
              </a:ext>
            </a:extLst>
          </p:cNvPr>
          <p:cNvSpPr/>
          <p:nvPr/>
        </p:nvSpPr>
        <p:spPr>
          <a:xfrm>
            <a:off x="6159144" y="2228487"/>
            <a:ext cx="289450" cy="258108"/>
          </a:xfrm>
          <a:prstGeom prst="ellipse">
            <a:avLst/>
          </a:prstGeom>
          <a:solidFill>
            <a:srgbClr val="1B59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4</a:t>
            </a:r>
            <a:endParaRPr lang="ko-KR" altLang="en-US" sz="1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98FD0917-8072-40F8-96B2-077409725305}"/>
              </a:ext>
            </a:extLst>
          </p:cNvPr>
          <p:cNvSpPr/>
          <p:nvPr/>
        </p:nvSpPr>
        <p:spPr>
          <a:xfrm>
            <a:off x="7898899" y="2228487"/>
            <a:ext cx="289450" cy="258108"/>
          </a:xfrm>
          <a:prstGeom prst="ellipse">
            <a:avLst/>
          </a:prstGeom>
          <a:solidFill>
            <a:srgbClr val="1B59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5</a:t>
            </a:r>
            <a:endParaRPr lang="ko-KR" altLang="en-US" sz="1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16C0B941-BF7A-4883-B4FE-8E581F96F150}"/>
              </a:ext>
            </a:extLst>
          </p:cNvPr>
          <p:cNvSpPr/>
          <p:nvPr/>
        </p:nvSpPr>
        <p:spPr>
          <a:xfrm>
            <a:off x="420795" y="2482576"/>
            <a:ext cx="1267918" cy="3616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업무량 증가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D386EF41-471A-431E-AE69-0C47448EAF0B}"/>
              </a:ext>
            </a:extLst>
          </p:cNvPr>
          <p:cNvSpPr/>
          <p:nvPr/>
        </p:nvSpPr>
        <p:spPr>
          <a:xfrm>
            <a:off x="2183348" y="2482576"/>
            <a:ext cx="1267918" cy="3616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숙련자</a:t>
            </a:r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의존도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AABBE00D-F3AA-4FBF-A6E9-53BF82A857BB}"/>
              </a:ext>
            </a:extLst>
          </p:cNvPr>
          <p:cNvSpPr/>
          <p:nvPr/>
        </p:nvSpPr>
        <p:spPr>
          <a:xfrm>
            <a:off x="3825824" y="2489825"/>
            <a:ext cx="1457470" cy="3616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반복 지식업무 증가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67F8E8CB-D4B3-4619-888E-528BECCD0C4F}"/>
              </a:ext>
            </a:extLst>
          </p:cNvPr>
          <p:cNvSpPr/>
          <p:nvPr/>
        </p:nvSpPr>
        <p:spPr>
          <a:xfrm>
            <a:off x="5445321" y="2482576"/>
            <a:ext cx="1776436" cy="3616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대량 데이터 활용 한계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CDFAC50B-FBE6-4140-BC58-CF9E50F7FCC8}"/>
              </a:ext>
            </a:extLst>
          </p:cNvPr>
          <p:cNvSpPr/>
          <p:nvPr/>
        </p:nvSpPr>
        <p:spPr>
          <a:xfrm>
            <a:off x="7177545" y="2483248"/>
            <a:ext cx="1715630" cy="3616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무분별한 </a:t>
            </a:r>
            <a:r>
              <a:rPr lang="en-US" altLang="ko-KR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사용의 위험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26C59404-B897-47B2-9726-AFB9E5501DAB}"/>
              </a:ext>
            </a:extLst>
          </p:cNvPr>
          <p:cNvSpPr/>
          <p:nvPr/>
        </p:nvSpPr>
        <p:spPr>
          <a:xfrm>
            <a:off x="301905" y="4369702"/>
            <a:ext cx="1565082" cy="45387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문서</a:t>
            </a:r>
            <a:r>
              <a:rPr lang="en-US" altLang="ko-KR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보고</a:t>
            </a:r>
            <a:r>
              <a:rPr lang="en-US" altLang="ko-KR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요청</a:t>
            </a:r>
            <a:r>
              <a:rPr lang="en-US" altLang="ko-KR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로그지속 증가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8CACF85-023E-4241-BF8B-93C55169B735}"/>
              </a:ext>
            </a:extLst>
          </p:cNvPr>
          <p:cNvSpPr/>
          <p:nvPr/>
        </p:nvSpPr>
        <p:spPr>
          <a:xfrm>
            <a:off x="2034766" y="4364889"/>
            <a:ext cx="1565082" cy="45387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처리 속도와 품질 </a:t>
            </a:r>
            <a:endParaRPr lang="en-US" altLang="ko-KR" sz="12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차이 존재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7D9B5FB3-82D3-407A-A503-F329E5CBDE7E}"/>
              </a:ext>
            </a:extLst>
          </p:cNvPr>
          <p:cNvSpPr/>
          <p:nvPr/>
        </p:nvSpPr>
        <p:spPr>
          <a:xfrm>
            <a:off x="3779728" y="4364439"/>
            <a:ext cx="1565082" cy="45387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읽기</a:t>
            </a:r>
            <a:r>
              <a:rPr lang="en-US" altLang="ko-KR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요약</a:t>
            </a:r>
            <a:r>
              <a:rPr lang="en-US" altLang="ko-KR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작성</a:t>
            </a:r>
            <a:r>
              <a:rPr lang="en-US" altLang="ko-KR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분류</a:t>
            </a:r>
            <a:endParaRPr lang="en-US" altLang="ko-KR" sz="12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업무량 증가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10AA956F-31FC-4551-AC70-2B743A322F5A}"/>
              </a:ext>
            </a:extLst>
          </p:cNvPr>
          <p:cNvSpPr/>
          <p:nvPr/>
        </p:nvSpPr>
        <p:spPr>
          <a:xfrm>
            <a:off x="5512589" y="4359626"/>
            <a:ext cx="1565082" cy="45387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정보는 쌓였지만</a:t>
            </a:r>
            <a:endParaRPr lang="en-US" altLang="ko-KR" sz="12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찾고 해석하는데 지연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1FCCCCD4-024F-4AF2-BACC-BE0A14DFA1CB}"/>
              </a:ext>
            </a:extLst>
          </p:cNvPr>
          <p:cNvSpPr/>
          <p:nvPr/>
        </p:nvSpPr>
        <p:spPr>
          <a:xfrm>
            <a:off x="7261083" y="4367023"/>
            <a:ext cx="1565082" cy="45387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보안</a:t>
            </a:r>
            <a:r>
              <a:rPr lang="en-US" altLang="ko-KR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오답</a:t>
            </a:r>
            <a:r>
              <a:rPr lang="en-US" altLang="ko-KR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과신</a:t>
            </a:r>
            <a:r>
              <a:rPr lang="en-US" altLang="ko-KR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검토</a:t>
            </a:r>
            <a:endParaRPr lang="en-US" altLang="ko-KR" sz="12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부족 위험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6200D3FA-9995-4C62-A8D6-3BAE9138F01A}"/>
              </a:ext>
            </a:extLst>
          </p:cNvPr>
          <p:cNvSpPr/>
          <p:nvPr/>
        </p:nvSpPr>
        <p:spPr>
          <a:xfrm>
            <a:off x="685663" y="5629683"/>
            <a:ext cx="7757434" cy="621447"/>
          </a:xfrm>
          <a:prstGeom prst="roundRect">
            <a:avLst/>
          </a:prstGeom>
          <a:solidFill>
            <a:srgbClr val="F2F8FE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4F0CA375-2E5E-4878-8CF4-4B35EF5FE1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5674080"/>
            <a:ext cx="739140" cy="515679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AA81EF7F-F34D-4376-9BE3-2B9BD88EB9C8}"/>
              </a:ext>
            </a:extLst>
          </p:cNvPr>
          <p:cNvSpPr txBox="1"/>
          <p:nvPr/>
        </p:nvSpPr>
        <p:spPr>
          <a:xfrm>
            <a:off x="1653677" y="5793419"/>
            <a:ext cx="45111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핵심은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도입 자체가 아니라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업무 방식을 더 체계적인 재설계가 필요</a:t>
            </a:r>
          </a:p>
        </p:txBody>
      </p:sp>
    </p:spTree>
    <p:extLst>
      <p:ext uri="{BB962C8B-B14F-4D97-AF65-F5344CB8AC3E}">
        <p14:creationId xmlns:p14="http://schemas.microsoft.com/office/powerpoint/2010/main" val="1619792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/>
          <p:cNvSpPr txBox="1">
            <a:spLocks/>
          </p:cNvSpPr>
          <p:nvPr/>
        </p:nvSpPr>
        <p:spPr>
          <a:xfrm>
            <a:off x="831200" y="1183921"/>
            <a:ext cx="7596384" cy="492480"/>
          </a:xfrm>
          <a:prstGeom prst="rect">
            <a:avLst/>
          </a:prstGeom>
        </p:spPr>
        <p:txBody>
          <a:bodyPr lIns="0" tIns="0" rIns="0" bIns="0"/>
          <a:lstStyle>
            <a:lvl1pPr marL="266700" indent="-26670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lang="ko-KR" altLang="en-US" sz="1400" b="1" kern="1200" spc="-20" baseline="0" dirty="0" smtClean="0">
                <a:ln>
                  <a:noFill/>
                </a:ln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2667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446087" indent="0" algn="l" defTabSz="914400" rtl="0" eaLnBrk="1" latinLnBrk="1" hangingPunct="1">
              <a:lnSpc>
                <a:spcPct val="150000"/>
              </a:lnSpc>
              <a:spcBef>
                <a:spcPts val="3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625475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64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  <a:lvl6pPr marL="82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도구 도입보다 더 중요했던 것은 교육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, 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표준화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, 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확산</a:t>
            </a:r>
            <a:endParaRPr lang="en-US" altLang="ko-KR" b="0" dirty="0">
              <a:solidFill>
                <a:srgbClr val="626366"/>
              </a:solidFill>
              <a:latin typeface="NanumSquare" charset="-127"/>
              <a:ea typeface="NanumSquare" charset="-127"/>
              <a:cs typeface="NanumSquare" charset="-127"/>
            </a:endParaRPr>
          </a:p>
          <a:p>
            <a:pPr indent="0">
              <a:buNone/>
            </a:pPr>
            <a:endParaRPr lang="en-US" altLang="ko-KR" sz="1100" b="0" dirty="0">
              <a:solidFill>
                <a:srgbClr val="626366"/>
              </a:solidFill>
              <a:latin typeface="NanumSquare" charset="-127"/>
              <a:ea typeface="NanumSquare" charset="-127"/>
              <a:cs typeface="NanumSquare" charset="-127"/>
            </a:endParaRP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424800" y="365520"/>
            <a:ext cx="8640000" cy="338400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600" b="1" kern="1200" spc="-20" baseline="0" dirty="0"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| DX</a:t>
            </a:r>
            <a:r>
              <a:rPr lang="ko-KR" altLang="en-US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 의 교훈</a:t>
            </a:r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8427584" y="365520"/>
            <a:ext cx="343364" cy="20864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266700" indent="-26670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lang="ko-KR" altLang="en-US" sz="1400" b="1" kern="1200" spc="-20" baseline="0" dirty="0" smtClean="0">
                <a:ln>
                  <a:noFill/>
                </a:ln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2667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446087" indent="0" algn="l" defTabSz="914400" rtl="0" eaLnBrk="1" latinLnBrk="1" hangingPunct="1">
              <a:lnSpc>
                <a:spcPct val="150000"/>
              </a:lnSpc>
              <a:spcBef>
                <a:spcPts val="3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625475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64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  <a:lvl6pPr marL="82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대외비</a:t>
            </a:r>
            <a:endParaRPr lang="en-US" altLang="ko-KR" sz="1000" dirty="0">
              <a:solidFill>
                <a:srgbClr val="07C63C"/>
              </a:solidFill>
              <a:latin typeface="NanumSquare ExtraBold" charset="-127"/>
              <a:ea typeface="NanumSquare ExtraBold" charset="-127"/>
              <a:cs typeface="NanumSquare ExtraBold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3CF9F7C-E14D-4006-BD76-506EA9E7DB93}"/>
              </a:ext>
            </a:extLst>
          </p:cNvPr>
          <p:cNvSpPr/>
          <p:nvPr/>
        </p:nvSpPr>
        <p:spPr>
          <a:xfrm>
            <a:off x="580915" y="1674325"/>
            <a:ext cx="2570922" cy="2928729"/>
          </a:xfrm>
          <a:prstGeom prst="roundRect">
            <a:avLst>
              <a:gd name="adj" fmla="val 6804"/>
            </a:avLst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833BDD1-3C00-42C5-9D69-18A40D313D6E}"/>
              </a:ext>
            </a:extLst>
          </p:cNvPr>
          <p:cNvSpPr/>
          <p:nvPr/>
        </p:nvSpPr>
        <p:spPr>
          <a:xfrm>
            <a:off x="3322431" y="1669127"/>
            <a:ext cx="2570922" cy="2928729"/>
          </a:xfrm>
          <a:prstGeom prst="roundRect">
            <a:avLst>
              <a:gd name="adj" fmla="val 6804"/>
            </a:avLst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FD647EC-0BFD-49AB-809D-1F26FD7E051F}"/>
              </a:ext>
            </a:extLst>
          </p:cNvPr>
          <p:cNvSpPr/>
          <p:nvPr/>
        </p:nvSpPr>
        <p:spPr>
          <a:xfrm>
            <a:off x="6063947" y="1674325"/>
            <a:ext cx="2570922" cy="2928729"/>
          </a:xfrm>
          <a:prstGeom prst="roundRect">
            <a:avLst>
              <a:gd name="adj" fmla="val 6804"/>
            </a:avLst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ECF196F-9AC6-43A2-8592-B1D9FD891559}"/>
              </a:ext>
            </a:extLst>
          </p:cNvPr>
          <p:cNvSpPr/>
          <p:nvPr/>
        </p:nvSpPr>
        <p:spPr>
          <a:xfrm>
            <a:off x="763134" y="2288999"/>
            <a:ext cx="2206484" cy="357807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524D809-BFE6-4707-A078-13A6A1CDDBDC}"/>
              </a:ext>
            </a:extLst>
          </p:cNvPr>
          <p:cNvSpPr/>
          <p:nvPr/>
        </p:nvSpPr>
        <p:spPr>
          <a:xfrm>
            <a:off x="763134" y="2732692"/>
            <a:ext cx="2206484" cy="357807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3E1011B-EC00-4644-971B-AEB0A0609513}"/>
              </a:ext>
            </a:extLst>
          </p:cNvPr>
          <p:cNvSpPr/>
          <p:nvPr/>
        </p:nvSpPr>
        <p:spPr>
          <a:xfrm>
            <a:off x="763134" y="3183469"/>
            <a:ext cx="2206484" cy="357807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BF71B59-D502-464E-BA61-D9AEC6BBD71E}"/>
              </a:ext>
            </a:extLst>
          </p:cNvPr>
          <p:cNvSpPr/>
          <p:nvPr/>
        </p:nvSpPr>
        <p:spPr>
          <a:xfrm>
            <a:off x="763134" y="3627112"/>
            <a:ext cx="2206484" cy="357807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61023B3-6FA4-4B4B-B9C8-5387506F7F23}"/>
              </a:ext>
            </a:extLst>
          </p:cNvPr>
          <p:cNvSpPr/>
          <p:nvPr/>
        </p:nvSpPr>
        <p:spPr>
          <a:xfrm>
            <a:off x="763134" y="4072014"/>
            <a:ext cx="2206484" cy="357807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D4C8E42-23F4-407E-9B12-2268E24C1078}"/>
              </a:ext>
            </a:extLst>
          </p:cNvPr>
          <p:cNvSpPr/>
          <p:nvPr/>
        </p:nvSpPr>
        <p:spPr>
          <a:xfrm>
            <a:off x="3501337" y="2283801"/>
            <a:ext cx="2206484" cy="357807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C909789-BD19-4157-A4B4-E50A111A93C7}"/>
              </a:ext>
            </a:extLst>
          </p:cNvPr>
          <p:cNvSpPr/>
          <p:nvPr/>
        </p:nvSpPr>
        <p:spPr>
          <a:xfrm>
            <a:off x="3501337" y="2727494"/>
            <a:ext cx="2206484" cy="357807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498C21C-790C-4917-9510-D6BE1198AC2F}"/>
              </a:ext>
            </a:extLst>
          </p:cNvPr>
          <p:cNvSpPr/>
          <p:nvPr/>
        </p:nvSpPr>
        <p:spPr>
          <a:xfrm>
            <a:off x="3501337" y="3178271"/>
            <a:ext cx="2206484" cy="357807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DF9ACB4-5E87-48DF-B9CE-4FD9641D1CA2}"/>
              </a:ext>
            </a:extLst>
          </p:cNvPr>
          <p:cNvSpPr/>
          <p:nvPr/>
        </p:nvSpPr>
        <p:spPr>
          <a:xfrm>
            <a:off x="3501337" y="3621914"/>
            <a:ext cx="2206484" cy="357807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AAC901A-2FBE-4AE8-B721-EBBADA6E5023}"/>
              </a:ext>
            </a:extLst>
          </p:cNvPr>
          <p:cNvSpPr/>
          <p:nvPr/>
        </p:nvSpPr>
        <p:spPr>
          <a:xfrm>
            <a:off x="3501337" y="4066816"/>
            <a:ext cx="2206484" cy="357807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6A0B1A5-E5E5-4EBC-B24F-5D572B618B09}"/>
              </a:ext>
            </a:extLst>
          </p:cNvPr>
          <p:cNvSpPr/>
          <p:nvPr/>
        </p:nvSpPr>
        <p:spPr>
          <a:xfrm>
            <a:off x="6246166" y="2288999"/>
            <a:ext cx="2206484" cy="357807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6B2263E2-CF18-43FC-B018-ABEFA62D3038}"/>
              </a:ext>
            </a:extLst>
          </p:cNvPr>
          <p:cNvSpPr/>
          <p:nvPr/>
        </p:nvSpPr>
        <p:spPr>
          <a:xfrm>
            <a:off x="6246166" y="2732692"/>
            <a:ext cx="2206484" cy="357807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522209A-C252-43DE-B8B7-FC3C7894C36F}"/>
              </a:ext>
            </a:extLst>
          </p:cNvPr>
          <p:cNvSpPr/>
          <p:nvPr/>
        </p:nvSpPr>
        <p:spPr>
          <a:xfrm>
            <a:off x="6246166" y="3183469"/>
            <a:ext cx="2206484" cy="357807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5D2D9890-958E-4082-A48C-06C34C900BA0}"/>
              </a:ext>
            </a:extLst>
          </p:cNvPr>
          <p:cNvSpPr/>
          <p:nvPr/>
        </p:nvSpPr>
        <p:spPr>
          <a:xfrm>
            <a:off x="6246166" y="3627112"/>
            <a:ext cx="2206484" cy="357807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ABACF67-9983-4A1C-BECE-BB8E1BA1D0B0}"/>
              </a:ext>
            </a:extLst>
          </p:cNvPr>
          <p:cNvSpPr/>
          <p:nvPr/>
        </p:nvSpPr>
        <p:spPr>
          <a:xfrm>
            <a:off x="6246166" y="4072014"/>
            <a:ext cx="2206484" cy="357807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85177E5-7ED0-4135-91D6-1A99F855FF72}"/>
              </a:ext>
            </a:extLst>
          </p:cNvPr>
          <p:cNvSpPr/>
          <p:nvPr/>
        </p:nvSpPr>
        <p:spPr>
          <a:xfrm>
            <a:off x="1034803" y="1806625"/>
            <a:ext cx="1934816" cy="357807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4D773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좋은 사례에서 가져올 것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B70F27A1-7C1F-4F20-8129-576346C33A88}"/>
              </a:ext>
            </a:extLst>
          </p:cNvPr>
          <p:cNvSpPr/>
          <p:nvPr/>
        </p:nvSpPr>
        <p:spPr>
          <a:xfrm>
            <a:off x="3773006" y="1797561"/>
            <a:ext cx="1934816" cy="357807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CC33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안 좋은 사례에서 피할 것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C7A12CE5-BDE5-441A-B0DE-0758F7085F57}"/>
              </a:ext>
            </a:extLst>
          </p:cNvPr>
          <p:cNvSpPr/>
          <p:nvPr/>
        </p:nvSpPr>
        <p:spPr>
          <a:xfrm>
            <a:off x="6517835" y="1798670"/>
            <a:ext cx="1934816" cy="357807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0C0CA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AX</a:t>
            </a:r>
            <a:r>
              <a:rPr lang="ko-KR" altLang="en-US" sz="1200" b="1" dirty="0">
                <a:solidFill>
                  <a:srgbClr val="0C0CA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에 적용하면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4679153-3355-404D-8F86-40BA92561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835" y="1834704"/>
            <a:ext cx="338552" cy="28106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31D12A9-69FD-49CF-B197-E73781D687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0607" y="1835933"/>
            <a:ext cx="293838" cy="28106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FB4BEDB-B1F0-4B12-8AC7-E20B392505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247" y="1859460"/>
            <a:ext cx="250192" cy="233876"/>
          </a:xfrm>
          <a:prstGeom prst="rect">
            <a:avLst/>
          </a:prstGeom>
        </p:spPr>
      </p:pic>
      <p:sp>
        <p:nvSpPr>
          <p:cNvPr id="54" name="타원 53">
            <a:extLst>
              <a:ext uri="{FF2B5EF4-FFF2-40B4-BE49-F238E27FC236}">
                <a16:creationId xmlns:a16="http://schemas.microsoft.com/office/drawing/2014/main" id="{138BBB5F-9D90-4E1C-AB20-F5C33B38FBEA}"/>
              </a:ext>
            </a:extLst>
          </p:cNvPr>
          <p:cNvSpPr/>
          <p:nvPr/>
        </p:nvSpPr>
        <p:spPr>
          <a:xfrm>
            <a:off x="798340" y="2392660"/>
            <a:ext cx="183814" cy="150484"/>
          </a:xfrm>
          <a:prstGeom prst="ellipse">
            <a:avLst/>
          </a:prstGeom>
          <a:solidFill>
            <a:srgbClr val="2A70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F7979902-ECE9-49FC-A74F-A776B840F50A}"/>
              </a:ext>
            </a:extLst>
          </p:cNvPr>
          <p:cNvSpPr/>
          <p:nvPr/>
        </p:nvSpPr>
        <p:spPr>
          <a:xfrm>
            <a:off x="798340" y="2834291"/>
            <a:ext cx="183814" cy="150484"/>
          </a:xfrm>
          <a:prstGeom prst="ellipse">
            <a:avLst/>
          </a:prstGeom>
          <a:solidFill>
            <a:srgbClr val="2A70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10830800-E5E8-486A-BA65-2C16DFFAA030}"/>
              </a:ext>
            </a:extLst>
          </p:cNvPr>
          <p:cNvSpPr/>
          <p:nvPr/>
        </p:nvSpPr>
        <p:spPr>
          <a:xfrm>
            <a:off x="798340" y="3287130"/>
            <a:ext cx="183814" cy="150484"/>
          </a:xfrm>
          <a:prstGeom prst="ellipse">
            <a:avLst/>
          </a:prstGeom>
          <a:solidFill>
            <a:srgbClr val="2A70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endParaRPr lang="ko-KR" altLang="en-US" sz="1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F97966E2-653B-4FFB-BABA-4B055DD45C5D}"/>
              </a:ext>
            </a:extLst>
          </p:cNvPr>
          <p:cNvSpPr/>
          <p:nvPr/>
        </p:nvSpPr>
        <p:spPr>
          <a:xfrm>
            <a:off x="798340" y="3730773"/>
            <a:ext cx="183814" cy="150484"/>
          </a:xfrm>
          <a:prstGeom prst="ellipse">
            <a:avLst/>
          </a:prstGeom>
          <a:solidFill>
            <a:srgbClr val="2A70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4</a:t>
            </a:r>
            <a:endParaRPr lang="ko-KR" altLang="en-US" sz="1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0A497B8B-E6DC-42DE-A068-D4C1BC908F52}"/>
              </a:ext>
            </a:extLst>
          </p:cNvPr>
          <p:cNvSpPr/>
          <p:nvPr/>
        </p:nvSpPr>
        <p:spPr>
          <a:xfrm>
            <a:off x="798340" y="4175675"/>
            <a:ext cx="183814" cy="150484"/>
          </a:xfrm>
          <a:prstGeom prst="ellipse">
            <a:avLst/>
          </a:prstGeom>
          <a:solidFill>
            <a:srgbClr val="2A70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5</a:t>
            </a:r>
            <a:endParaRPr lang="ko-KR" altLang="en-US" sz="1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54CD1076-5FB4-4652-B557-BFFE9D9694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154" y="4097563"/>
            <a:ext cx="394521" cy="305754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46074E81-41D4-4221-82FF-28BC033C24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994" y="3651563"/>
            <a:ext cx="411344" cy="306000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AB8E7EFC-E8D0-49F2-BE23-2FB3DED09D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154" y="3209372"/>
            <a:ext cx="389903" cy="306000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219B3EEB-E4A9-4982-902D-6ED1B49167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3519" y="2763144"/>
            <a:ext cx="365226" cy="306000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92AAA4ED-B5D9-4B60-A0E1-C4901FFE8D3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8212" y="2314902"/>
            <a:ext cx="357785" cy="306000"/>
          </a:xfrm>
          <a:prstGeom prst="rect">
            <a:avLst/>
          </a:prstGeom>
        </p:spPr>
      </p:pic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CE9D9CB1-DB57-4DCF-B4F5-07B52A3F9A30}"/>
              </a:ext>
            </a:extLst>
          </p:cNvPr>
          <p:cNvSpPr/>
          <p:nvPr/>
        </p:nvSpPr>
        <p:spPr>
          <a:xfrm>
            <a:off x="685663" y="4780122"/>
            <a:ext cx="7741921" cy="712039"/>
          </a:xfrm>
          <a:prstGeom prst="roundRect">
            <a:avLst>
              <a:gd name="adj" fmla="val 18840"/>
            </a:avLst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0868F78D-3A86-44C6-9A81-3FA195571237}"/>
              </a:ext>
            </a:extLst>
          </p:cNvPr>
          <p:cNvSpPr/>
          <p:nvPr/>
        </p:nvSpPr>
        <p:spPr>
          <a:xfrm>
            <a:off x="685663" y="5629683"/>
            <a:ext cx="7757434" cy="621447"/>
          </a:xfrm>
          <a:prstGeom prst="roundRect">
            <a:avLst/>
          </a:prstGeom>
          <a:solidFill>
            <a:srgbClr val="F2F8FE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6" name="그림 65">
            <a:extLst>
              <a:ext uri="{FF2B5EF4-FFF2-40B4-BE49-F238E27FC236}">
                <a16:creationId xmlns:a16="http://schemas.microsoft.com/office/drawing/2014/main" id="{82764355-4918-4931-8E1D-8072E2A0488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5674080"/>
            <a:ext cx="739140" cy="515679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043D6A58-695C-4722-B171-EB67D3A528D0}"/>
              </a:ext>
            </a:extLst>
          </p:cNvPr>
          <p:cNvSpPr txBox="1"/>
          <p:nvPr/>
        </p:nvSpPr>
        <p:spPr>
          <a:xfrm>
            <a:off x="1653677" y="5793419"/>
            <a:ext cx="52288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AX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는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DX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교훈을 가져오면서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표준화의 대상을 결과와 확인까지 확장하는 단계</a:t>
            </a: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BE74E4DF-FCC0-4BEC-8526-C8A29AA24B92}"/>
              </a:ext>
            </a:extLst>
          </p:cNvPr>
          <p:cNvSpPr/>
          <p:nvPr/>
        </p:nvSpPr>
        <p:spPr>
          <a:xfrm>
            <a:off x="3542093" y="2387462"/>
            <a:ext cx="183814" cy="150484"/>
          </a:xfrm>
          <a:prstGeom prst="ellipse">
            <a:avLst/>
          </a:prstGeom>
          <a:solidFill>
            <a:srgbClr val="C538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846FF8A5-B64D-43A6-957A-B5AB511605F8}"/>
              </a:ext>
            </a:extLst>
          </p:cNvPr>
          <p:cNvSpPr/>
          <p:nvPr/>
        </p:nvSpPr>
        <p:spPr>
          <a:xfrm>
            <a:off x="3542093" y="2829093"/>
            <a:ext cx="183814" cy="150484"/>
          </a:xfrm>
          <a:prstGeom prst="ellipse">
            <a:avLst/>
          </a:prstGeom>
          <a:solidFill>
            <a:srgbClr val="C538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12D5C225-73C0-460D-A2F5-C0AAA1832DDA}"/>
              </a:ext>
            </a:extLst>
          </p:cNvPr>
          <p:cNvSpPr/>
          <p:nvPr/>
        </p:nvSpPr>
        <p:spPr>
          <a:xfrm>
            <a:off x="3542093" y="3281932"/>
            <a:ext cx="183814" cy="150484"/>
          </a:xfrm>
          <a:prstGeom prst="ellipse">
            <a:avLst/>
          </a:prstGeom>
          <a:solidFill>
            <a:srgbClr val="C538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endParaRPr lang="ko-KR" altLang="en-US" sz="1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ADE2C1B6-A809-4C7D-8410-B53A92AF1589}"/>
              </a:ext>
            </a:extLst>
          </p:cNvPr>
          <p:cNvSpPr/>
          <p:nvPr/>
        </p:nvSpPr>
        <p:spPr>
          <a:xfrm>
            <a:off x="3542093" y="3725575"/>
            <a:ext cx="183814" cy="150484"/>
          </a:xfrm>
          <a:prstGeom prst="ellipse">
            <a:avLst/>
          </a:prstGeom>
          <a:solidFill>
            <a:srgbClr val="C538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4</a:t>
            </a:r>
            <a:endParaRPr lang="ko-KR" altLang="en-US" sz="1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3E606292-B3D6-4751-9896-FF8C6F5050B9}"/>
              </a:ext>
            </a:extLst>
          </p:cNvPr>
          <p:cNvSpPr/>
          <p:nvPr/>
        </p:nvSpPr>
        <p:spPr>
          <a:xfrm>
            <a:off x="3542093" y="4170477"/>
            <a:ext cx="183814" cy="150484"/>
          </a:xfrm>
          <a:prstGeom prst="ellipse">
            <a:avLst/>
          </a:prstGeom>
          <a:solidFill>
            <a:srgbClr val="C538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5</a:t>
            </a:r>
            <a:endParaRPr lang="ko-KR" altLang="en-US" sz="1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D2DB15F-EB33-4CFD-BD23-3704434E5F74}"/>
              </a:ext>
            </a:extLst>
          </p:cNvPr>
          <p:cNvSpPr/>
          <p:nvPr/>
        </p:nvSpPr>
        <p:spPr>
          <a:xfrm>
            <a:off x="6314145" y="2392660"/>
            <a:ext cx="183814" cy="150484"/>
          </a:xfrm>
          <a:prstGeom prst="ellipse">
            <a:avLst/>
          </a:prstGeom>
          <a:solidFill>
            <a:srgbClr val="184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F8CB2986-6371-4C0C-885E-940D7FAA905E}"/>
              </a:ext>
            </a:extLst>
          </p:cNvPr>
          <p:cNvSpPr/>
          <p:nvPr/>
        </p:nvSpPr>
        <p:spPr>
          <a:xfrm>
            <a:off x="6314145" y="2834291"/>
            <a:ext cx="183814" cy="150484"/>
          </a:xfrm>
          <a:prstGeom prst="ellipse">
            <a:avLst/>
          </a:prstGeom>
          <a:solidFill>
            <a:srgbClr val="184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E78166DA-4564-4159-A4B2-071ACFF6C6A8}"/>
              </a:ext>
            </a:extLst>
          </p:cNvPr>
          <p:cNvSpPr/>
          <p:nvPr/>
        </p:nvSpPr>
        <p:spPr>
          <a:xfrm>
            <a:off x="6314145" y="3287130"/>
            <a:ext cx="183814" cy="150484"/>
          </a:xfrm>
          <a:prstGeom prst="ellipse">
            <a:avLst/>
          </a:prstGeom>
          <a:solidFill>
            <a:srgbClr val="184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endParaRPr lang="ko-KR" altLang="en-US" sz="1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879ADEC4-ECA6-41A1-A6F3-3199E41C1FD8}"/>
              </a:ext>
            </a:extLst>
          </p:cNvPr>
          <p:cNvSpPr/>
          <p:nvPr/>
        </p:nvSpPr>
        <p:spPr>
          <a:xfrm>
            <a:off x="6314145" y="3730773"/>
            <a:ext cx="183814" cy="150484"/>
          </a:xfrm>
          <a:prstGeom prst="ellipse">
            <a:avLst/>
          </a:prstGeom>
          <a:solidFill>
            <a:srgbClr val="184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4</a:t>
            </a:r>
            <a:endParaRPr lang="ko-KR" altLang="en-US" sz="1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38473811-4B70-4BA8-A1FA-B2BFB9CD5165}"/>
              </a:ext>
            </a:extLst>
          </p:cNvPr>
          <p:cNvSpPr/>
          <p:nvPr/>
        </p:nvSpPr>
        <p:spPr>
          <a:xfrm>
            <a:off x="6314145" y="4175675"/>
            <a:ext cx="183814" cy="150484"/>
          </a:xfrm>
          <a:prstGeom prst="ellipse">
            <a:avLst/>
          </a:prstGeom>
          <a:solidFill>
            <a:srgbClr val="184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5</a:t>
            </a:r>
            <a:endParaRPr lang="ko-KR" altLang="en-US" sz="1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9033C1BB-D695-4F63-9DDB-A4954972717C}"/>
              </a:ext>
            </a:extLst>
          </p:cNvPr>
          <p:cNvSpPr/>
          <p:nvPr/>
        </p:nvSpPr>
        <p:spPr>
          <a:xfrm>
            <a:off x="1422256" y="2355827"/>
            <a:ext cx="1467849" cy="219179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 직원 사용 교육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A0651062-4FD4-4F6C-A6D8-6059D133C12F}"/>
              </a:ext>
            </a:extLst>
          </p:cNvPr>
          <p:cNvSpPr/>
          <p:nvPr/>
        </p:nvSpPr>
        <p:spPr>
          <a:xfrm>
            <a:off x="1422256" y="2794498"/>
            <a:ext cx="1467849" cy="219179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종이</a:t>
            </a: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전화 업무의 시스템화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E46E30EE-4E27-43DE-BA5F-00B7867A22AE}"/>
              </a:ext>
            </a:extLst>
          </p:cNvPr>
          <p:cNvSpPr/>
          <p:nvPr/>
        </p:nvSpPr>
        <p:spPr>
          <a:xfrm>
            <a:off x="1430287" y="3267464"/>
            <a:ext cx="1467849" cy="219179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반복 업무 자동화 경험</a:t>
            </a: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08ED5EAB-CA4D-4107-A4AA-B5C3F1F790BA}"/>
              </a:ext>
            </a:extLst>
          </p:cNvPr>
          <p:cNvSpPr/>
          <p:nvPr/>
        </p:nvSpPr>
        <p:spPr>
          <a:xfrm>
            <a:off x="1430287" y="3693060"/>
            <a:ext cx="1467849" cy="219179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업무 처리 방식 표준화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79C51C3B-0B2D-4A15-A279-9AD03B9A9CB0}"/>
              </a:ext>
            </a:extLst>
          </p:cNvPr>
          <p:cNvSpPr/>
          <p:nvPr/>
        </p:nvSpPr>
        <p:spPr>
          <a:xfrm>
            <a:off x="1430287" y="4149925"/>
            <a:ext cx="1467849" cy="219179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우수 사례 공유와 확산</a:t>
            </a: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92BBA752-EF7D-44A3-B48D-1A8B85420219}"/>
              </a:ext>
            </a:extLst>
          </p:cNvPr>
          <p:cNvSpPr/>
          <p:nvPr/>
        </p:nvSpPr>
        <p:spPr>
          <a:xfrm>
            <a:off x="4160460" y="2343108"/>
            <a:ext cx="1467849" cy="219179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ko-KR" altLang="en-US" sz="9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도구만 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먼저 도입</a:t>
            </a: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4383F3A8-68ED-4402-B878-040923EDEBF4}"/>
              </a:ext>
            </a:extLst>
          </p:cNvPr>
          <p:cNvSpPr/>
          <p:nvPr/>
        </p:nvSpPr>
        <p:spPr>
          <a:xfrm>
            <a:off x="4160460" y="2781779"/>
            <a:ext cx="1467849" cy="219179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현업과 동떨어진 추진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B76FC610-E712-486A-8E64-39296B5401B7}"/>
              </a:ext>
            </a:extLst>
          </p:cNvPr>
          <p:cNvSpPr/>
          <p:nvPr/>
        </p:nvSpPr>
        <p:spPr>
          <a:xfrm>
            <a:off x="4168491" y="3254745"/>
            <a:ext cx="1467849" cy="219179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사람마다 다른 사용 방식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706EF9A2-02D9-42F1-813B-DF290C2C7B8B}"/>
              </a:ext>
            </a:extLst>
          </p:cNvPr>
          <p:cNvSpPr/>
          <p:nvPr/>
        </p:nvSpPr>
        <p:spPr>
          <a:xfrm>
            <a:off x="4168491" y="3680341"/>
            <a:ext cx="1467849" cy="219179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교육 없이 배포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734032B3-48FC-413C-94D1-D67A81ECD7C4}"/>
              </a:ext>
            </a:extLst>
          </p:cNvPr>
          <p:cNvSpPr/>
          <p:nvPr/>
        </p:nvSpPr>
        <p:spPr>
          <a:xfrm>
            <a:off x="4168491" y="4137206"/>
            <a:ext cx="1467849" cy="219179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성과와 기준 없이 확산</a:t>
            </a: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5B46F797-C076-4FE2-A074-998E13042F44}"/>
              </a:ext>
            </a:extLst>
          </p:cNvPr>
          <p:cNvSpPr/>
          <p:nvPr/>
        </p:nvSpPr>
        <p:spPr>
          <a:xfrm>
            <a:off x="6905289" y="2348306"/>
            <a:ext cx="1467849" cy="219179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기능 소개보다 활용 교육</a:t>
            </a: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C46D177D-E448-4AE8-88B9-8C1B283C905E}"/>
              </a:ext>
            </a:extLst>
          </p:cNvPr>
          <p:cNvSpPr/>
          <p:nvPr/>
        </p:nvSpPr>
        <p:spPr>
          <a:xfrm>
            <a:off x="6905289" y="2786977"/>
            <a:ext cx="1467849" cy="219179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역할에 맞는 적용 방식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4675C1F1-8E2F-4279-A9AC-D8BB00632268}"/>
              </a:ext>
            </a:extLst>
          </p:cNvPr>
          <p:cNvSpPr/>
          <p:nvPr/>
        </p:nvSpPr>
        <p:spPr>
          <a:xfrm>
            <a:off x="6913320" y="3259943"/>
            <a:ext cx="1467849" cy="219179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요청</a:t>
            </a: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자료</a:t>
            </a: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결과</a:t>
            </a: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확인 기준</a:t>
            </a: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B153FCF7-F938-428B-9766-AF86F62C67A2}"/>
              </a:ext>
            </a:extLst>
          </p:cNvPr>
          <p:cNvSpPr/>
          <p:nvPr/>
        </p:nvSpPr>
        <p:spPr>
          <a:xfrm>
            <a:off x="6913320" y="3685539"/>
            <a:ext cx="1467849" cy="219179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예제와 템플릿 공유</a:t>
            </a: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6838E5C0-2193-4285-BBF6-405369064A13}"/>
              </a:ext>
            </a:extLst>
          </p:cNvPr>
          <p:cNvSpPr/>
          <p:nvPr/>
        </p:nvSpPr>
        <p:spPr>
          <a:xfrm>
            <a:off x="6913320" y="4142404"/>
            <a:ext cx="1467849" cy="219179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질문과 결과를 검토하는 습관</a:t>
            </a:r>
          </a:p>
        </p:txBody>
      </p:sp>
      <p:pic>
        <p:nvPicPr>
          <p:cNvPr id="93" name="그림 92">
            <a:extLst>
              <a:ext uri="{FF2B5EF4-FFF2-40B4-BE49-F238E27FC236}">
                <a16:creationId xmlns:a16="http://schemas.microsoft.com/office/drawing/2014/main" id="{4FC9F5BB-1DE1-456C-BB7C-9978647F009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66663" y="4092119"/>
            <a:ext cx="376230" cy="306000"/>
          </a:xfrm>
          <a:prstGeom prst="rect">
            <a:avLst/>
          </a:prstGeom>
        </p:spPr>
      </p:pic>
      <p:pic>
        <p:nvPicPr>
          <p:cNvPr id="94" name="그림 93">
            <a:extLst>
              <a:ext uri="{FF2B5EF4-FFF2-40B4-BE49-F238E27FC236}">
                <a16:creationId xmlns:a16="http://schemas.microsoft.com/office/drawing/2014/main" id="{666031B1-30DA-4BE8-9F82-4D0F25423DF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73006" y="3636865"/>
            <a:ext cx="375097" cy="306000"/>
          </a:xfrm>
          <a:prstGeom prst="rect">
            <a:avLst/>
          </a:prstGeom>
        </p:spPr>
      </p:pic>
      <p:pic>
        <p:nvPicPr>
          <p:cNvPr id="95" name="그림 94">
            <a:extLst>
              <a:ext uri="{FF2B5EF4-FFF2-40B4-BE49-F238E27FC236}">
                <a16:creationId xmlns:a16="http://schemas.microsoft.com/office/drawing/2014/main" id="{E73C765B-1C32-45D5-BB4F-E64AF00D062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46381" y="3204174"/>
            <a:ext cx="416793" cy="306000"/>
          </a:xfrm>
          <a:prstGeom prst="rect">
            <a:avLst/>
          </a:prstGeom>
        </p:spPr>
      </p:pic>
      <p:pic>
        <p:nvPicPr>
          <p:cNvPr id="96" name="그림 95">
            <a:extLst>
              <a:ext uri="{FF2B5EF4-FFF2-40B4-BE49-F238E27FC236}">
                <a16:creationId xmlns:a16="http://schemas.microsoft.com/office/drawing/2014/main" id="{874D7966-46C5-414B-A180-2672F8BF5AB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55725" y="2760550"/>
            <a:ext cx="400966" cy="306000"/>
          </a:xfrm>
          <a:prstGeom prst="rect">
            <a:avLst/>
          </a:prstGeom>
        </p:spPr>
      </p:pic>
      <p:pic>
        <p:nvPicPr>
          <p:cNvPr id="97" name="그림 96">
            <a:extLst>
              <a:ext uri="{FF2B5EF4-FFF2-40B4-BE49-F238E27FC236}">
                <a16:creationId xmlns:a16="http://schemas.microsoft.com/office/drawing/2014/main" id="{2E18E807-10AA-4966-8D5C-607CFA66179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66492" y="2317035"/>
            <a:ext cx="370161" cy="306000"/>
          </a:xfrm>
          <a:prstGeom prst="rect">
            <a:avLst/>
          </a:prstGeom>
        </p:spPr>
      </p:pic>
      <p:pic>
        <p:nvPicPr>
          <p:cNvPr id="104" name="그림 103">
            <a:extLst>
              <a:ext uri="{FF2B5EF4-FFF2-40B4-BE49-F238E27FC236}">
                <a16:creationId xmlns:a16="http://schemas.microsoft.com/office/drawing/2014/main" id="{7ED6B5EC-89C6-494F-A28C-DC506029FDE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65938" y="4097317"/>
            <a:ext cx="371213" cy="306000"/>
          </a:xfrm>
          <a:prstGeom prst="rect">
            <a:avLst/>
          </a:prstGeom>
        </p:spPr>
      </p:pic>
      <p:pic>
        <p:nvPicPr>
          <p:cNvPr id="105" name="그림 104">
            <a:extLst>
              <a:ext uri="{FF2B5EF4-FFF2-40B4-BE49-F238E27FC236}">
                <a16:creationId xmlns:a16="http://schemas.microsoft.com/office/drawing/2014/main" id="{9694A4FA-B431-4D79-AFB0-A41EC918746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63934" y="3639581"/>
            <a:ext cx="361180" cy="306000"/>
          </a:xfrm>
          <a:prstGeom prst="rect">
            <a:avLst/>
          </a:prstGeom>
        </p:spPr>
      </p:pic>
      <p:pic>
        <p:nvPicPr>
          <p:cNvPr id="106" name="그림 105">
            <a:extLst>
              <a:ext uri="{FF2B5EF4-FFF2-40B4-BE49-F238E27FC236}">
                <a16:creationId xmlns:a16="http://schemas.microsoft.com/office/drawing/2014/main" id="{5432138C-FE52-448D-97F2-AD547147B67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58898" y="3196113"/>
            <a:ext cx="365226" cy="306000"/>
          </a:xfrm>
          <a:prstGeom prst="rect">
            <a:avLst/>
          </a:prstGeom>
        </p:spPr>
      </p:pic>
      <p:pic>
        <p:nvPicPr>
          <p:cNvPr id="107" name="그림 106">
            <a:extLst>
              <a:ext uri="{FF2B5EF4-FFF2-40B4-BE49-F238E27FC236}">
                <a16:creationId xmlns:a16="http://schemas.microsoft.com/office/drawing/2014/main" id="{959742F8-ADAE-4704-A97A-F466B42931B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50888" y="2751087"/>
            <a:ext cx="381246" cy="306000"/>
          </a:xfrm>
          <a:prstGeom prst="rect">
            <a:avLst/>
          </a:prstGeom>
        </p:spPr>
      </p:pic>
      <p:pic>
        <p:nvPicPr>
          <p:cNvPr id="108" name="그림 107">
            <a:extLst>
              <a:ext uri="{FF2B5EF4-FFF2-40B4-BE49-F238E27FC236}">
                <a16:creationId xmlns:a16="http://schemas.microsoft.com/office/drawing/2014/main" id="{BFF1FC2A-0DA3-409E-A4A0-13203E0EE91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60382" y="2317205"/>
            <a:ext cx="364286" cy="306000"/>
          </a:xfrm>
          <a:prstGeom prst="rect">
            <a:avLst/>
          </a:prstGeom>
        </p:spPr>
      </p:pic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6875F186-BCD9-4775-845A-BEF9A8983649}"/>
              </a:ext>
            </a:extLst>
          </p:cNvPr>
          <p:cNvSpPr/>
          <p:nvPr/>
        </p:nvSpPr>
        <p:spPr>
          <a:xfrm>
            <a:off x="3908563" y="4650167"/>
            <a:ext cx="1364974" cy="232808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accent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표준화의 변화</a:t>
            </a:r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8FB15166-39F5-4FD1-BE63-1EFBF8B5160D}"/>
              </a:ext>
            </a:extLst>
          </p:cNvPr>
          <p:cNvSpPr/>
          <p:nvPr/>
        </p:nvSpPr>
        <p:spPr>
          <a:xfrm>
            <a:off x="3908563" y="4761649"/>
            <a:ext cx="45719" cy="45719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9D34B22E-3B52-4778-81F9-DE2AFB7893B4}"/>
              </a:ext>
            </a:extLst>
          </p:cNvPr>
          <p:cNvSpPr/>
          <p:nvPr/>
        </p:nvSpPr>
        <p:spPr>
          <a:xfrm>
            <a:off x="5273537" y="4755298"/>
            <a:ext cx="45719" cy="45719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3A73C558-6973-47F6-84C2-7C0E627DD946}"/>
              </a:ext>
            </a:extLst>
          </p:cNvPr>
          <p:cNvSpPr/>
          <p:nvPr/>
        </p:nvSpPr>
        <p:spPr>
          <a:xfrm>
            <a:off x="980108" y="4909328"/>
            <a:ext cx="2206484" cy="485674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 w="3175">
            <a:solidFill>
              <a:srgbClr val="61A062"/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사각형: 둥근 모서리 112">
            <a:extLst>
              <a:ext uri="{FF2B5EF4-FFF2-40B4-BE49-F238E27FC236}">
                <a16:creationId xmlns:a16="http://schemas.microsoft.com/office/drawing/2014/main" id="{31A7D34C-5F3D-4E9B-BCD2-31BBEFBD7D16}"/>
              </a:ext>
            </a:extLst>
          </p:cNvPr>
          <p:cNvSpPr/>
          <p:nvPr/>
        </p:nvSpPr>
        <p:spPr>
          <a:xfrm>
            <a:off x="3468758" y="4914085"/>
            <a:ext cx="2206484" cy="485674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 w="3175">
            <a:solidFill>
              <a:srgbClr val="4E79C4"/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사각형: 둥근 모서리 113">
            <a:extLst>
              <a:ext uri="{FF2B5EF4-FFF2-40B4-BE49-F238E27FC236}">
                <a16:creationId xmlns:a16="http://schemas.microsoft.com/office/drawing/2014/main" id="{6B89E4F4-597D-494F-8749-2F543BFEFBF4}"/>
              </a:ext>
            </a:extLst>
          </p:cNvPr>
          <p:cNvSpPr/>
          <p:nvPr/>
        </p:nvSpPr>
        <p:spPr>
          <a:xfrm>
            <a:off x="5957408" y="4909329"/>
            <a:ext cx="2206484" cy="485674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 w="3175">
            <a:solidFill>
              <a:srgbClr val="7A72B1"/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6" name="그림 115">
            <a:extLst>
              <a:ext uri="{FF2B5EF4-FFF2-40B4-BE49-F238E27FC236}">
                <a16:creationId xmlns:a16="http://schemas.microsoft.com/office/drawing/2014/main" id="{25D72A98-6587-43B0-B21E-0FBA9F0A3A40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35359" y="4977292"/>
            <a:ext cx="337254" cy="349745"/>
          </a:xfrm>
          <a:prstGeom prst="rect">
            <a:avLst/>
          </a:prstGeom>
        </p:spPr>
      </p:pic>
      <p:pic>
        <p:nvPicPr>
          <p:cNvPr id="117" name="그림 116">
            <a:extLst>
              <a:ext uri="{FF2B5EF4-FFF2-40B4-BE49-F238E27FC236}">
                <a16:creationId xmlns:a16="http://schemas.microsoft.com/office/drawing/2014/main" id="{490EFC86-F632-4E30-A0E7-DBEE9C79E30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607043" y="4971547"/>
            <a:ext cx="353511" cy="349200"/>
          </a:xfrm>
          <a:prstGeom prst="rect">
            <a:avLst/>
          </a:prstGeom>
        </p:spPr>
      </p:pic>
      <p:pic>
        <p:nvPicPr>
          <p:cNvPr id="118" name="그림 117">
            <a:extLst>
              <a:ext uri="{FF2B5EF4-FFF2-40B4-BE49-F238E27FC236}">
                <a16:creationId xmlns:a16="http://schemas.microsoft.com/office/drawing/2014/main" id="{23EBC135-BF6B-4240-908C-32EB15D3602E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68063" y="4978170"/>
            <a:ext cx="357717" cy="349200"/>
          </a:xfrm>
          <a:prstGeom prst="rect">
            <a:avLst/>
          </a:prstGeom>
        </p:spPr>
      </p:pic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63D19021-BB0F-4242-A37C-3500873DD4A9}"/>
              </a:ext>
            </a:extLst>
          </p:cNvPr>
          <p:cNvSpPr/>
          <p:nvPr/>
        </p:nvSpPr>
        <p:spPr>
          <a:xfrm>
            <a:off x="1469746" y="5030576"/>
            <a:ext cx="1467849" cy="219179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ko-KR" altLang="en-US" sz="900" b="1" dirty="0">
                <a:solidFill>
                  <a:srgbClr val="5E955E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아날로그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양식 기준</a:t>
            </a: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E6CCC0B7-67E4-41E1-A060-B19C35D9CE02}"/>
              </a:ext>
            </a:extLst>
          </p:cNvPr>
          <p:cNvSpPr/>
          <p:nvPr/>
        </p:nvSpPr>
        <p:spPr>
          <a:xfrm>
            <a:off x="3951572" y="5036557"/>
            <a:ext cx="1467849" cy="219179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solidFill>
                  <a:srgbClr val="5079C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DX</a:t>
            </a: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: 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입력</a:t>
            </a: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처리 기준</a:t>
            </a:r>
          </a:p>
        </p:txBody>
      </p:sp>
      <p:sp>
        <p:nvSpPr>
          <p:cNvPr id="121" name="사각형: 둥근 모서리 120">
            <a:extLst>
              <a:ext uri="{FF2B5EF4-FFF2-40B4-BE49-F238E27FC236}">
                <a16:creationId xmlns:a16="http://schemas.microsoft.com/office/drawing/2014/main" id="{1E1C895F-FBAB-4A18-87DA-0EE904FCF28C}"/>
              </a:ext>
            </a:extLst>
          </p:cNvPr>
          <p:cNvSpPr/>
          <p:nvPr/>
        </p:nvSpPr>
        <p:spPr>
          <a:xfrm>
            <a:off x="6406052" y="5030576"/>
            <a:ext cx="1467849" cy="219179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solidFill>
                  <a:srgbClr val="6D66AB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AX</a:t>
            </a: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: 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결과</a:t>
            </a: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확인 기준</a:t>
            </a:r>
          </a:p>
        </p:txBody>
      </p:sp>
      <p:pic>
        <p:nvPicPr>
          <p:cNvPr id="124" name="그림 123">
            <a:extLst>
              <a:ext uri="{FF2B5EF4-FFF2-40B4-BE49-F238E27FC236}">
                <a16:creationId xmlns:a16="http://schemas.microsoft.com/office/drawing/2014/main" id="{DBFF4DCC-9FAB-4A7D-86CA-A0517C056CD2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66041" y="5681700"/>
            <a:ext cx="500299" cy="5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726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/>
          <p:cNvSpPr txBox="1">
            <a:spLocks/>
          </p:cNvSpPr>
          <p:nvPr/>
        </p:nvSpPr>
        <p:spPr>
          <a:xfrm>
            <a:off x="831200" y="1183920"/>
            <a:ext cx="7596384" cy="869605"/>
          </a:xfrm>
          <a:prstGeom prst="rect">
            <a:avLst/>
          </a:prstGeom>
        </p:spPr>
        <p:txBody>
          <a:bodyPr lIns="0" tIns="0" rIns="0" bIns="0"/>
          <a:lstStyle>
            <a:lvl1pPr marL="266700" indent="-26670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lang="ko-KR" altLang="en-US" sz="1400" b="1" kern="1200" spc="-20" baseline="0" dirty="0" smtClean="0">
                <a:ln>
                  <a:noFill/>
                </a:ln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2667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446087" indent="0" algn="l" defTabSz="914400" rtl="0" eaLnBrk="1" latinLnBrk="1" hangingPunct="1">
              <a:lnSpc>
                <a:spcPct val="150000"/>
              </a:lnSpc>
              <a:spcBef>
                <a:spcPts val="3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625475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64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  <a:lvl6pPr marL="82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AI 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는 훨씬 빠르게 퍼지고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, 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훨씬 쉽게 쓰이기 때문에 더 구조화된 준비가 필요</a:t>
            </a:r>
            <a:endParaRPr lang="en-US" altLang="ko-KR" b="0" dirty="0">
              <a:solidFill>
                <a:srgbClr val="626366"/>
              </a:solidFill>
              <a:latin typeface="NanumSquare" charset="-127"/>
              <a:ea typeface="NanumSquare" charset="-127"/>
              <a:cs typeface="NanumSquare" charset="-127"/>
            </a:endParaRPr>
          </a:p>
          <a:p>
            <a:pPr indent="0">
              <a:buNone/>
            </a:pPr>
            <a:endParaRPr lang="en-US" altLang="ko-KR" sz="1100" b="0" dirty="0">
              <a:solidFill>
                <a:srgbClr val="626366"/>
              </a:solidFill>
              <a:latin typeface="NanumSquare" charset="-127"/>
              <a:ea typeface="NanumSquare" charset="-127"/>
              <a:cs typeface="NanumSquare" charset="-127"/>
            </a:endParaRP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424800" y="365520"/>
            <a:ext cx="8640000" cy="338400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600" b="1" kern="1200" spc="-20" baseline="0" dirty="0"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| </a:t>
            </a:r>
            <a:r>
              <a:rPr lang="ko-KR" altLang="en-US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현재 환경에 도입 준비가 필요</a:t>
            </a:r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8427584" y="365520"/>
            <a:ext cx="343364" cy="20864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266700" indent="-26670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lang="ko-KR" altLang="en-US" sz="1400" b="1" kern="1200" spc="-20" baseline="0" dirty="0" smtClean="0">
                <a:ln>
                  <a:noFill/>
                </a:ln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2667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446087" indent="0" algn="l" defTabSz="914400" rtl="0" eaLnBrk="1" latinLnBrk="1" hangingPunct="1">
              <a:lnSpc>
                <a:spcPct val="150000"/>
              </a:lnSpc>
              <a:spcBef>
                <a:spcPts val="3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625475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64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  <a:lvl6pPr marL="82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대외비</a:t>
            </a:r>
            <a:endParaRPr lang="en-US" altLang="ko-KR" sz="1000" dirty="0">
              <a:solidFill>
                <a:srgbClr val="07C63C"/>
              </a:solidFill>
              <a:latin typeface="NanumSquare ExtraBold" charset="-127"/>
              <a:ea typeface="NanumSquare ExtraBold" charset="-127"/>
              <a:cs typeface="NanumSquare ExtraBold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B271550-217F-4C37-AC33-FAAF6D4659E9}"/>
              </a:ext>
            </a:extLst>
          </p:cNvPr>
          <p:cNvSpPr/>
          <p:nvPr/>
        </p:nvSpPr>
        <p:spPr>
          <a:xfrm>
            <a:off x="543339" y="2132276"/>
            <a:ext cx="3434562" cy="667085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B4D2496-1A1F-4BA7-91FE-C7724BCF12FE}"/>
              </a:ext>
            </a:extLst>
          </p:cNvPr>
          <p:cNvCxnSpPr>
            <a:cxnSpLocks/>
          </p:cNvCxnSpPr>
          <p:nvPr/>
        </p:nvCxnSpPr>
        <p:spPr>
          <a:xfrm>
            <a:off x="831200" y="1941443"/>
            <a:ext cx="2852904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20F30B5-301E-4C9A-B50D-EF18EF9C64C9}"/>
              </a:ext>
            </a:extLst>
          </p:cNvPr>
          <p:cNvSpPr/>
          <p:nvPr/>
        </p:nvSpPr>
        <p:spPr>
          <a:xfrm>
            <a:off x="1561192" y="1802179"/>
            <a:ext cx="1364974" cy="232808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accent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현재 환경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4F5F1DB-A7FB-4AEF-B89E-820DB0EDF6AA}"/>
              </a:ext>
            </a:extLst>
          </p:cNvPr>
          <p:cNvCxnSpPr>
            <a:cxnSpLocks/>
          </p:cNvCxnSpPr>
          <p:nvPr/>
        </p:nvCxnSpPr>
        <p:spPr>
          <a:xfrm>
            <a:off x="5448043" y="1938527"/>
            <a:ext cx="285290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75BB016-A142-4E05-BF9E-859871770A2C}"/>
              </a:ext>
            </a:extLst>
          </p:cNvPr>
          <p:cNvSpPr/>
          <p:nvPr/>
        </p:nvSpPr>
        <p:spPr>
          <a:xfrm>
            <a:off x="6178035" y="1799263"/>
            <a:ext cx="1364974" cy="232808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accent6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필요한 준비 구조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7DE5915-748C-47AD-AA77-0C7C640400DD}"/>
              </a:ext>
            </a:extLst>
          </p:cNvPr>
          <p:cNvSpPr/>
          <p:nvPr/>
        </p:nvSpPr>
        <p:spPr>
          <a:xfrm>
            <a:off x="526398" y="2889691"/>
            <a:ext cx="3434562" cy="667085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FD35EF5-B1A3-4753-A157-BD4A477BB688}"/>
              </a:ext>
            </a:extLst>
          </p:cNvPr>
          <p:cNvSpPr/>
          <p:nvPr/>
        </p:nvSpPr>
        <p:spPr>
          <a:xfrm>
            <a:off x="523430" y="3655827"/>
            <a:ext cx="3434562" cy="667085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9769E2C4-F4C7-452E-83BE-83E87D4FED1E}"/>
              </a:ext>
            </a:extLst>
          </p:cNvPr>
          <p:cNvSpPr/>
          <p:nvPr/>
        </p:nvSpPr>
        <p:spPr>
          <a:xfrm>
            <a:off x="526398" y="4421963"/>
            <a:ext cx="3434562" cy="667085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9068902-2034-459A-823B-C50E22E6F7DA}"/>
              </a:ext>
            </a:extLst>
          </p:cNvPr>
          <p:cNvSpPr/>
          <p:nvPr/>
        </p:nvSpPr>
        <p:spPr>
          <a:xfrm>
            <a:off x="526398" y="5188099"/>
            <a:ext cx="3434562" cy="667085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7865E434-1E2F-4949-9959-92D6C1D1246B}"/>
              </a:ext>
            </a:extLst>
          </p:cNvPr>
          <p:cNvSpPr/>
          <p:nvPr/>
        </p:nvSpPr>
        <p:spPr>
          <a:xfrm>
            <a:off x="5186008" y="2132276"/>
            <a:ext cx="3434562" cy="667085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 w="3175"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06309998-D771-443F-A8DB-DC406BC2A3E7}"/>
              </a:ext>
            </a:extLst>
          </p:cNvPr>
          <p:cNvSpPr/>
          <p:nvPr/>
        </p:nvSpPr>
        <p:spPr>
          <a:xfrm>
            <a:off x="5169067" y="2889691"/>
            <a:ext cx="3434562" cy="667085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 w="3175"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D0AA5A3-4755-4F7F-8C02-E3BB49E245ED}"/>
              </a:ext>
            </a:extLst>
          </p:cNvPr>
          <p:cNvSpPr/>
          <p:nvPr/>
        </p:nvSpPr>
        <p:spPr>
          <a:xfrm>
            <a:off x="5166099" y="3655827"/>
            <a:ext cx="3434562" cy="667085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 w="3175"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AB60D514-9C29-40EF-8615-6344F80A1084}"/>
              </a:ext>
            </a:extLst>
          </p:cNvPr>
          <p:cNvSpPr/>
          <p:nvPr/>
        </p:nvSpPr>
        <p:spPr>
          <a:xfrm>
            <a:off x="5169067" y="4421963"/>
            <a:ext cx="3434562" cy="667085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 w="3175"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CB6971DF-18B3-4741-8434-4BC562A98F93}"/>
              </a:ext>
            </a:extLst>
          </p:cNvPr>
          <p:cNvSpPr/>
          <p:nvPr/>
        </p:nvSpPr>
        <p:spPr>
          <a:xfrm>
            <a:off x="5169067" y="5188099"/>
            <a:ext cx="3434562" cy="667085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 w="3175"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375CC9A9-066C-4387-AA36-EB81F072E315}"/>
              </a:ext>
            </a:extLst>
          </p:cNvPr>
          <p:cNvSpPr/>
          <p:nvPr/>
        </p:nvSpPr>
        <p:spPr>
          <a:xfrm>
            <a:off x="4417568" y="3414612"/>
            <a:ext cx="351182" cy="482430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046FAEB-40A1-48C2-8701-4022ECF6E902}"/>
              </a:ext>
            </a:extLst>
          </p:cNvPr>
          <p:cNvSpPr/>
          <p:nvPr/>
        </p:nvSpPr>
        <p:spPr>
          <a:xfrm>
            <a:off x="643284" y="2351797"/>
            <a:ext cx="234851" cy="234851"/>
          </a:xfrm>
          <a:prstGeom prst="roundRect">
            <a:avLst>
              <a:gd name="adj" fmla="val 19767"/>
            </a:avLst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904C7F8A-8F2A-4D5E-897B-20998C36710A}"/>
              </a:ext>
            </a:extLst>
          </p:cNvPr>
          <p:cNvSpPr/>
          <p:nvPr/>
        </p:nvSpPr>
        <p:spPr>
          <a:xfrm>
            <a:off x="643284" y="3084576"/>
            <a:ext cx="234851" cy="234851"/>
          </a:xfrm>
          <a:prstGeom prst="roundRect">
            <a:avLst>
              <a:gd name="adj" fmla="val 19767"/>
            </a:avLst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F0DDB821-93D5-497D-8FD4-387BA2515FA9}"/>
              </a:ext>
            </a:extLst>
          </p:cNvPr>
          <p:cNvSpPr/>
          <p:nvPr/>
        </p:nvSpPr>
        <p:spPr>
          <a:xfrm>
            <a:off x="648619" y="3871944"/>
            <a:ext cx="234851" cy="234851"/>
          </a:xfrm>
          <a:prstGeom prst="roundRect">
            <a:avLst>
              <a:gd name="adj" fmla="val 19767"/>
            </a:avLst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1675ED78-4C3F-4FDA-84CB-CC9D7CA624F2}"/>
              </a:ext>
            </a:extLst>
          </p:cNvPr>
          <p:cNvSpPr/>
          <p:nvPr/>
        </p:nvSpPr>
        <p:spPr>
          <a:xfrm>
            <a:off x="643284" y="4616848"/>
            <a:ext cx="234851" cy="234851"/>
          </a:xfrm>
          <a:prstGeom prst="roundRect">
            <a:avLst>
              <a:gd name="adj" fmla="val 19767"/>
            </a:avLst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4</a:t>
            </a:r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4C0B3CE7-BB09-4EE8-8123-D65EB7B1FCF4}"/>
              </a:ext>
            </a:extLst>
          </p:cNvPr>
          <p:cNvSpPr/>
          <p:nvPr/>
        </p:nvSpPr>
        <p:spPr>
          <a:xfrm>
            <a:off x="648619" y="5388807"/>
            <a:ext cx="234851" cy="234851"/>
          </a:xfrm>
          <a:prstGeom prst="roundRect">
            <a:avLst>
              <a:gd name="adj" fmla="val 19767"/>
            </a:avLst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5</a:t>
            </a:r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B0A3B1EA-AF6F-4123-8B20-E0FE9C781628}"/>
              </a:ext>
            </a:extLst>
          </p:cNvPr>
          <p:cNvSpPr/>
          <p:nvPr/>
        </p:nvSpPr>
        <p:spPr>
          <a:xfrm>
            <a:off x="5290265" y="2352156"/>
            <a:ext cx="234851" cy="234851"/>
          </a:xfrm>
          <a:prstGeom prst="roundRect">
            <a:avLst>
              <a:gd name="adj" fmla="val 19767"/>
            </a:avLst>
          </a:prstGeom>
          <a:solidFill>
            <a:schemeClr val="accent6">
              <a:lumMod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4C393DE-C024-4773-B046-87144944F43E}"/>
              </a:ext>
            </a:extLst>
          </p:cNvPr>
          <p:cNvSpPr/>
          <p:nvPr/>
        </p:nvSpPr>
        <p:spPr>
          <a:xfrm>
            <a:off x="5290265" y="3084935"/>
            <a:ext cx="234851" cy="234851"/>
          </a:xfrm>
          <a:prstGeom prst="roundRect">
            <a:avLst>
              <a:gd name="adj" fmla="val 19767"/>
            </a:avLst>
          </a:prstGeom>
          <a:solidFill>
            <a:schemeClr val="accent6">
              <a:lumMod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61919CF3-3496-463B-B735-A19FEDCBCF47}"/>
              </a:ext>
            </a:extLst>
          </p:cNvPr>
          <p:cNvSpPr/>
          <p:nvPr/>
        </p:nvSpPr>
        <p:spPr>
          <a:xfrm>
            <a:off x="5295600" y="3872303"/>
            <a:ext cx="234851" cy="234851"/>
          </a:xfrm>
          <a:prstGeom prst="roundRect">
            <a:avLst>
              <a:gd name="adj" fmla="val 19767"/>
            </a:avLst>
          </a:prstGeom>
          <a:solidFill>
            <a:schemeClr val="accent6">
              <a:lumMod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30166F8C-DC52-4DE7-850D-E02FB5289942}"/>
              </a:ext>
            </a:extLst>
          </p:cNvPr>
          <p:cNvSpPr/>
          <p:nvPr/>
        </p:nvSpPr>
        <p:spPr>
          <a:xfrm>
            <a:off x="5290265" y="4617207"/>
            <a:ext cx="234851" cy="234851"/>
          </a:xfrm>
          <a:prstGeom prst="roundRect">
            <a:avLst>
              <a:gd name="adj" fmla="val 19767"/>
            </a:avLst>
          </a:prstGeom>
          <a:solidFill>
            <a:schemeClr val="accent6">
              <a:lumMod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4</a:t>
            </a:r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380FD981-6510-453E-9658-4D6A60D0BA9C}"/>
              </a:ext>
            </a:extLst>
          </p:cNvPr>
          <p:cNvSpPr/>
          <p:nvPr/>
        </p:nvSpPr>
        <p:spPr>
          <a:xfrm>
            <a:off x="5295600" y="5389166"/>
            <a:ext cx="234851" cy="234851"/>
          </a:xfrm>
          <a:prstGeom prst="roundRect">
            <a:avLst>
              <a:gd name="adj" fmla="val 19767"/>
            </a:avLst>
          </a:prstGeom>
          <a:solidFill>
            <a:schemeClr val="accent6">
              <a:lumMod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5</a:t>
            </a:r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FADF2A7-6C20-493B-ACD9-3CF3D2E381BC}"/>
              </a:ext>
            </a:extLst>
          </p:cNvPr>
          <p:cNvSpPr txBox="1"/>
          <p:nvPr/>
        </p:nvSpPr>
        <p:spPr>
          <a:xfrm>
            <a:off x="1561192" y="2268079"/>
            <a:ext cx="2396800" cy="369332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 anchor="ctr">
            <a:spAutoFit/>
          </a:bodyPr>
          <a:lstStyle/>
          <a:p>
            <a:r>
              <a:rPr lang="ko-KR" altLang="en-US" sz="10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정보와 기능이 실시간 확산됨</a:t>
            </a:r>
            <a:endParaRPr lang="en-US" altLang="ko-KR" sz="10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endParaRPr lang="en-US" altLang="ko-KR" sz="6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새로운 모델</a:t>
            </a:r>
            <a:r>
              <a:rPr lang="en-US" altLang="ko-KR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기능</a:t>
            </a:r>
            <a:r>
              <a:rPr lang="en-US" altLang="ko-KR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정보가 빠르게 등장하고 즉시 활용</a:t>
            </a:r>
            <a:endParaRPr lang="en-US" altLang="ko-KR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285F276D-66E2-4D0F-A225-F4844AA08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962" y="2222250"/>
            <a:ext cx="546000" cy="504000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3B2A4673-3627-4CCB-B730-3124051665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963" y="2953886"/>
            <a:ext cx="519000" cy="50400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E32F3041-E912-4E94-B9D8-101FB2DEA0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990" y="3742387"/>
            <a:ext cx="494946" cy="504000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733D6058-387D-4559-8889-FCB5ECBB73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962" y="4503505"/>
            <a:ext cx="516293" cy="504000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648CD80-991E-4262-8290-5F78A6FF53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301" y="5269641"/>
            <a:ext cx="500662" cy="50400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F11FB5D-3BC0-4202-BC18-04FD3055213B}"/>
              </a:ext>
            </a:extLst>
          </p:cNvPr>
          <p:cNvSpPr txBox="1"/>
          <p:nvPr/>
        </p:nvSpPr>
        <p:spPr>
          <a:xfrm>
            <a:off x="1561191" y="3050993"/>
            <a:ext cx="2246229" cy="369332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 anchor="ctr">
            <a:spAutoFit/>
          </a:bodyPr>
          <a:lstStyle/>
          <a:p>
            <a:r>
              <a:rPr lang="ko-KR" altLang="en-US" sz="10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자연어 기반으로 누구나 쉽게 시작 가능</a:t>
            </a:r>
            <a:endParaRPr lang="en-US" altLang="ko-KR" sz="10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endParaRPr lang="en-US" altLang="ko-KR" sz="6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복잡한 설정 없이 질문</a:t>
            </a:r>
            <a:r>
              <a:rPr lang="en-US" altLang="ko-KR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요청만으로 </a:t>
            </a:r>
            <a:r>
              <a:rPr lang="en-US" altLang="ko-KR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바로 활용</a:t>
            </a:r>
            <a:endParaRPr lang="en-US" altLang="ko-KR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CDAE916-4E42-4D99-9842-87B05B412040}"/>
              </a:ext>
            </a:extLst>
          </p:cNvPr>
          <p:cNvSpPr txBox="1"/>
          <p:nvPr/>
        </p:nvSpPr>
        <p:spPr>
          <a:xfrm>
            <a:off x="1561191" y="3816572"/>
            <a:ext cx="2309769" cy="369332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 anchor="ctr">
            <a:spAutoFit/>
          </a:bodyPr>
          <a:lstStyle/>
          <a:p>
            <a:r>
              <a:rPr lang="ko-KR" altLang="en-US" sz="10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활용 범위가 넓어짐</a:t>
            </a:r>
            <a:endParaRPr lang="en-US" altLang="ko-KR" sz="10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endParaRPr lang="en-US" altLang="ko-KR" sz="6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요약</a:t>
            </a:r>
            <a:r>
              <a:rPr lang="en-US" altLang="ko-KR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분석</a:t>
            </a:r>
            <a:r>
              <a:rPr lang="en-US" altLang="ko-KR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분류</a:t>
            </a:r>
            <a:r>
              <a:rPr lang="en-US" altLang="ko-KR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검색 등 업무 전반으로 확장</a:t>
            </a:r>
            <a:endParaRPr lang="en-US" altLang="ko-KR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EC068D7-5DF5-4141-A878-C558A6F4758C}"/>
              </a:ext>
            </a:extLst>
          </p:cNvPr>
          <p:cNvSpPr txBox="1"/>
          <p:nvPr/>
        </p:nvSpPr>
        <p:spPr>
          <a:xfrm>
            <a:off x="1561190" y="4556460"/>
            <a:ext cx="2246229" cy="369332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 anchor="ctr">
            <a:spAutoFit/>
          </a:bodyPr>
          <a:lstStyle/>
          <a:p>
            <a:r>
              <a:rPr lang="ko-KR" altLang="en-US" sz="10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개인별 활용 수준 차이가 큼</a:t>
            </a:r>
            <a:endParaRPr lang="en-US" altLang="ko-KR" sz="10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endParaRPr lang="en-US" altLang="ko-KR" sz="6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도구 접근성은 동일</a:t>
            </a:r>
            <a:r>
              <a:rPr lang="en-US" altLang="ko-KR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역량에 따라 결과 차이 증가</a:t>
            </a:r>
            <a:endParaRPr lang="en-US" altLang="ko-KR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109990-9139-4073-96F7-A0C2086D42CA}"/>
              </a:ext>
            </a:extLst>
          </p:cNvPr>
          <p:cNvSpPr txBox="1"/>
          <p:nvPr/>
        </p:nvSpPr>
        <p:spPr>
          <a:xfrm>
            <a:off x="1561189" y="5331196"/>
            <a:ext cx="2246229" cy="369332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 anchor="ctr">
            <a:spAutoFit/>
          </a:bodyPr>
          <a:lstStyle/>
          <a:p>
            <a:r>
              <a:rPr lang="ko-KR" altLang="en-US" sz="10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보안</a:t>
            </a:r>
            <a:r>
              <a:rPr lang="en-US" altLang="ko-KR" sz="10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·</a:t>
            </a:r>
            <a:r>
              <a:rPr lang="ko-KR" altLang="en-US" sz="10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오답</a:t>
            </a:r>
            <a:r>
              <a:rPr lang="en-US" altLang="ko-KR" sz="10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·</a:t>
            </a:r>
            <a:r>
              <a:rPr lang="ko-KR" altLang="en-US" sz="10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과신</a:t>
            </a:r>
            <a:r>
              <a:rPr lang="en-US" altLang="ko-KR" sz="10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r>
              <a:rPr lang="ko-KR" altLang="en-US" sz="10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리스크도 증가</a:t>
            </a:r>
            <a:endParaRPr lang="en-US" altLang="ko-KR" sz="10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endParaRPr lang="en-US" altLang="ko-KR" sz="6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민감정보 노출</a:t>
            </a:r>
            <a:r>
              <a:rPr lang="en-US" altLang="ko-KR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부정확한 정보로 인한 리스크 증가</a:t>
            </a:r>
            <a:endParaRPr lang="en-US" altLang="ko-KR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732762D-77BF-4411-BF1F-851343F2754A}"/>
              </a:ext>
            </a:extLst>
          </p:cNvPr>
          <p:cNvSpPr txBox="1"/>
          <p:nvPr/>
        </p:nvSpPr>
        <p:spPr>
          <a:xfrm>
            <a:off x="6204487" y="3050993"/>
            <a:ext cx="2246229" cy="369332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 anchor="ctr">
            <a:spAutoFit/>
          </a:bodyPr>
          <a:lstStyle/>
          <a:p>
            <a:r>
              <a:rPr lang="ko-KR" altLang="en-US" sz="10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수준별 학습</a:t>
            </a:r>
            <a:endParaRPr lang="en-US" altLang="ko-KR" sz="10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endParaRPr lang="en-US" altLang="ko-KR" sz="6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단계적 학습과 실습으로 활용 역량 체계적 성장</a:t>
            </a:r>
            <a:endParaRPr lang="en-US" altLang="ko-KR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5DDED43-9177-42E0-9CB6-84E27D606AFE}"/>
              </a:ext>
            </a:extLst>
          </p:cNvPr>
          <p:cNvSpPr txBox="1"/>
          <p:nvPr/>
        </p:nvSpPr>
        <p:spPr>
          <a:xfrm>
            <a:off x="6204487" y="3816572"/>
            <a:ext cx="2343165" cy="369332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 anchor="ctr">
            <a:spAutoFit/>
          </a:bodyPr>
          <a:lstStyle/>
          <a:p>
            <a:r>
              <a:rPr lang="ko-KR" altLang="en-US" sz="10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실무 예제 중심</a:t>
            </a:r>
            <a:endParaRPr lang="en-US" altLang="ko-KR" sz="10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endParaRPr lang="en-US" altLang="ko-KR" sz="6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업무와 유사한 예제로 바로 적용 및 응용 가능한 설계</a:t>
            </a:r>
            <a:endParaRPr lang="en-US" altLang="ko-KR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F15AC80-C8E7-4250-BAB2-4241F970E196}"/>
              </a:ext>
            </a:extLst>
          </p:cNvPr>
          <p:cNvSpPr txBox="1"/>
          <p:nvPr/>
        </p:nvSpPr>
        <p:spPr>
          <a:xfrm>
            <a:off x="6204486" y="4556460"/>
            <a:ext cx="2343166" cy="369332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 anchor="ctr">
            <a:spAutoFit/>
          </a:bodyPr>
          <a:lstStyle/>
          <a:p>
            <a:r>
              <a:rPr lang="ko-KR" altLang="en-US" sz="10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결과 중심 기준</a:t>
            </a:r>
            <a:endParaRPr lang="en-US" altLang="ko-KR" sz="10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endParaRPr lang="en-US" altLang="ko-KR" sz="6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산출물 기준을 검토하여 목표 결과물 연결 여부 점검</a:t>
            </a:r>
            <a:endParaRPr lang="en-US" altLang="ko-KR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C77D6DB-855B-4A68-8E15-83B1A8C53E60}"/>
              </a:ext>
            </a:extLst>
          </p:cNvPr>
          <p:cNvSpPr txBox="1"/>
          <p:nvPr/>
        </p:nvSpPr>
        <p:spPr>
          <a:xfrm>
            <a:off x="6204485" y="5269641"/>
            <a:ext cx="2246229" cy="492443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 anchor="ctr">
            <a:spAutoFit/>
          </a:bodyPr>
          <a:lstStyle/>
          <a:p>
            <a:r>
              <a:rPr lang="ko-KR" altLang="en-US" sz="10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사용 기준과 결과 확인</a:t>
            </a:r>
            <a:endParaRPr lang="en-US" altLang="ko-KR" sz="10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endParaRPr lang="en-US" altLang="ko-KR" sz="6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보안</a:t>
            </a:r>
            <a:r>
              <a:rPr lang="en-US" altLang="ko-KR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·</a:t>
            </a:r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정확성</a:t>
            </a:r>
            <a:r>
              <a:rPr lang="en-US" altLang="ko-KR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·</a:t>
            </a:r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출처</a:t>
            </a:r>
            <a:r>
              <a:rPr lang="en-US" altLang="ko-KR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·</a:t>
            </a:r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검토 절차 등</a:t>
            </a:r>
            <a:endParaRPr lang="en-US" altLang="ko-KR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 기준을 정하고 결과를 검증 하고 기록</a:t>
            </a:r>
            <a:endParaRPr lang="en-US" altLang="ko-KR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66" name="그림 65">
            <a:extLst>
              <a:ext uri="{FF2B5EF4-FFF2-40B4-BE49-F238E27FC236}">
                <a16:creationId xmlns:a16="http://schemas.microsoft.com/office/drawing/2014/main" id="{0F240308-6F0E-4E67-B7FC-0E9BA8697B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1614" y="2213818"/>
            <a:ext cx="504000" cy="504000"/>
          </a:xfrm>
          <a:prstGeom prst="rect">
            <a:avLst/>
          </a:prstGeom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77AE2E47-E843-4A16-AB65-E62C6C2643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4974" y="2971234"/>
            <a:ext cx="500640" cy="504000"/>
          </a:xfrm>
          <a:prstGeom prst="rect">
            <a:avLst/>
          </a:prstGeom>
        </p:spPr>
      </p:pic>
      <p:pic>
        <p:nvPicPr>
          <p:cNvPr id="68" name="그림 67">
            <a:extLst>
              <a:ext uri="{FF2B5EF4-FFF2-40B4-BE49-F238E27FC236}">
                <a16:creationId xmlns:a16="http://schemas.microsoft.com/office/drawing/2014/main" id="{99894252-1C9B-401E-AC62-48E35E8B04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1614" y="3739462"/>
            <a:ext cx="500706" cy="504000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6DAF7C42-FAE8-45B6-832C-C629CD3EAAA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08320" y="4497652"/>
            <a:ext cx="504000" cy="504000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E029F665-EFF9-4BF3-9AD5-3F6F10E5C0E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15309" y="5269641"/>
            <a:ext cx="504000" cy="504000"/>
          </a:xfrm>
          <a:prstGeom prst="rect">
            <a:avLst/>
          </a:prstGeom>
        </p:spPr>
      </p:pic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D2DF5974-C1AD-408A-AC19-8BF9DFA8DEF1}"/>
              </a:ext>
            </a:extLst>
          </p:cNvPr>
          <p:cNvSpPr/>
          <p:nvPr/>
        </p:nvSpPr>
        <p:spPr>
          <a:xfrm>
            <a:off x="1445895" y="5996699"/>
            <a:ext cx="6252210" cy="621447"/>
          </a:xfrm>
          <a:prstGeom prst="roundRect">
            <a:avLst/>
          </a:prstGeom>
          <a:solidFill>
            <a:srgbClr val="F4F6FC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2" name="그림 71">
            <a:extLst>
              <a:ext uri="{FF2B5EF4-FFF2-40B4-BE49-F238E27FC236}">
                <a16:creationId xmlns:a16="http://schemas.microsoft.com/office/drawing/2014/main" id="{958BCDE6-FE01-4FBD-9AFC-940645F07D5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12477" y="6021672"/>
            <a:ext cx="638175" cy="5715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555B70D-5C22-4995-A565-749F1D0173C6}"/>
              </a:ext>
            </a:extLst>
          </p:cNvPr>
          <p:cNvSpPr txBox="1"/>
          <p:nvPr/>
        </p:nvSpPr>
        <p:spPr>
          <a:xfrm>
            <a:off x="2217234" y="6171785"/>
            <a:ext cx="42322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AI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도구는 더 쉬워졌지만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잘 쓰기 위한 기준과 확산 구조는 더 중요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CC78D71-3FD3-48D1-9877-D4E0ADC39A5C}"/>
              </a:ext>
            </a:extLst>
          </p:cNvPr>
          <p:cNvSpPr txBox="1"/>
          <p:nvPr/>
        </p:nvSpPr>
        <p:spPr>
          <a:xfrm>
            <a:off x="6204488" y="2268079"/>
            <a:ext cx="2502580" cy="369332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ko-KR" altLang="en-US" sz="10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역할별 준비</a:t>
            </a:r>
            <a:endParaRPr lang="en-US" altLang="ko-KR" sz="10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endParaRPr lang="en-US" altLang="ko-KR" sz="6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업무 역할과 목표에 맞게 필요한 도구</a:t>
            </a:r>
            <a:r>
              <a:rPr lang="en-US" altLang="ko-KR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가이드</a:t>
            </a:r>
            <a:r>
              <a:rPr lang="en-US" altLang="ko-KR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사전 준비</a:t>
            </a:r>
            <a:endParaRPr lang="en-US" altLang="ko-KR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3614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/>
          <p:cNvSpPr txBox="1">
            <a:spLocks/>
          </p:cNvSpPr>
          <p:nvPr/>
        </p:nvSpPr>
        <p:spPr>
          <a:xfrm>
            <a:off x="831200" y="1183920"/>
            <a:ext cx="7596384" cy="869605"/>
          </a:xfrm>
          <a:prstGeom prst="rect">
            <a:avLst/>
          </a:prstGeom>
        </p:spPr>
        <p:txBody>
          <a:bodyPr lIns="0" tIns="0" rIns="0" bIns="0"/>
          <a:lstStyle>
            <a:lvl1pPr marL="266700" indent="-26670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lang="ko-KR" altLang="en-US" sz="1400" b="1" kern="1200" spc="-20" baseline="0" dirty="0" smtClean="0">
                <a:ln>
                  <a:noFill/>
                </a:ln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2667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446087" indent="0" algn="l" defTabSz="914400" rtl="0" eaLnBrk="1" latinLnBrk="1" hangingPunct="1">
              <a:lnSpc>
                <a:spcPct val="150000"/>
              </a:lnSpc>
              <a:spcBef>
                <a:spcPts val="3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625475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64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  <a:lvl6pPr marL="82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기술 도입보다 문제 정의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, 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데이터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, 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업무 흐름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, 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책임 기준을 먼저 정리</a:t>
            </a:r>
            <a:endParaRPr lang="en-US" altLang="ko-KR" b="0" dirty="0">
              <a:solidFill>
                <a:srgbClr val="626366"/>
              </a:solidFill>
              <a:latin typeface="NanumSquare" charset="-127"/>
              <a:ea typeface="NanumSquare" charset="-127"/>
              <a:cs typeface="NanumSquare" charset="-127"/>
            </a:endParaRPr>
          </a:p>
          <a:p>
            <a:pPr indent="0">
              <a:buNone/>
            </a:pPr>
            <a:endParaRPr lang="en-US" altLang="ko-KR" sz="1100" b="0" dirty="0">
              <a:solidFill>
                <a:srgbClr val="626366"/>
              </a:solidFill>
              <a:latin typeface="NanumSquare" charset="-127"/>
              <a:ea typeface="NanumSquare" charset="-127"/>
              <a:cs typeface="NanumSquare" charset="-127"/>
            </a:endParaRP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424800" y="365520"/>
            <a:ext cx="8640000" cy="338400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600" b="1" kern="1200" spc="-20" baseline="0" dirty="0"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| </a:t>
            </a:r>
            <a:r>
              <a:rPr lang="ko-KR" altLang="en-US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전환을 위해 정리되어야 할 것</a:t>
            </a:r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8427584" y="365520"/>
            <a:ext cx="343364" cy="20864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266700" indent="-26670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lang="ko-KR" altLang="en-US" sz="1400" b="1" kern="1200" spc="-20" baseline="0" dirty="0" smtClean="0">
                <a:ln>
                  <a:noFill/>
                </a:ln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2667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446087" indent="0" algn="l" defTabSz="914400" rtl="0" eaLnBrk="1" latinLnBrk="1" hangingPunct="1">
              <a:lnSpc>
                <a:spcPct val="150000"/>
              </a:lnSpc>
              <a:spcBef>
                <a:spcPts val="3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625475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64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  <a:lvl6pPr marL="82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대외비</a:t>
            </a:r>
            <a:endParaRPr lang="en-US" altLang="ko-KR" sz="1000" dirty="0">
              <a:solidFill>
                <a:srgbClr val="07C63C"/>
              </a:solidFill>
              <a:latin typeface="NanumSquare ExtraBold" charset="-127"/>
              <a:ea typeface="NanumSquare ExtraBold" charset="-127"/>
              <a:cs typeface="NanumSquare ExtraBold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A516F0A-3723-4971-A454-3FB704940A48}"/>
              </a:ext>
            </a:extLst>
          </p:cNvPr>
          <p:cNvSpPr/>
          <p:nvPr/>
        </p:nvSpPr>
        <p:spPr>
          <a:xfrm>
            <a:off x="2517391" y="1677389"/>
            <a:ext cx="2016000" cy="2884698"/>
          </a:xfrm>
          <a:prstGeom prst="roundRect">
            <a:avLst>
              <a:gd name="adj" fmla="val 7800"/>
            </a:avLst>
          </a:prstGeom>
          <a:solidFill>
            <a:schemeClr val="bg1"/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C0B919C-4ACC-47F2-A438-C4A0BAE7580B}"/>
              </a:ext>
            </a:extLst>
          </p:cNvPr>
          <p:cNvSpPr/>
          <p:nvPr/>
        </p:nvSpPr>
        <p:spPr>
          <a:xfrm>
            <a:off x="330706" y="1677389"/>
            <a:ext cx="2016000" cy="2884698"/>
          </a:xfrm>
          <a:prstGeom prst="roundRect">
            <a:avLst>
              <a:gd name="adj" fmla="val 6641"/>
            </a:avLst>
          </a:prstGeom>
          <a:solidFill>
            <a:schemeClr val="bg1"/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9C50883-16E8-409E-B914-8461F79F0395}"/>
              </a:ext>
            </a:extLst>
          </p:cNvPr>
          <p:cNvSpPr/>
          <p:nvPr/>
        </p:nvSpPr>
        <p:spPr>
          <a:xfrm>
            <a:off x="6828557" y="1677389"/>
            <a:ext cx="2016000" cy="2884698"/>
          </a:xfrm>
          <a:prstGeom prst="roundRect">
            <a:avLst>
              <a:gd name="adj" fmla="val 6641"/>
            </a:avLst>
          </a:prstGeom>
          <a:solidFill>
            <a:schemeClr val="bg1"/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236B80C-F78C-4095-A3D2-B304748C119A}"/>
              </a:ext>
            </a:extLst>
          </p:cNvPr>
          <p:cNvSpPr/>
          <p:nvPr/>
        </p:nvSpPr>
        <p:spPr>
          <a:xfrm>
            <a:off x="4654543" y="1677389"/>
            <a:ext cx="2016000" cy="2884698"/>
          </a:xfrm>
          <a:prstGeom prst="roundRect">
            <a:avLst>
              <a:gd name="adj" fmla="val 5483"/>
            </a:avLst>
          </a:prstGeom>
          <a:solidFill>
            <a:schemeClr val="bg1"/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EF2F72C-2646-4B8A-9D5F-33E793201E37}"/>
              </a:ext>
            </a:extLst>
          </p:cNvPr>
          <p:cNvCxnSpPr>
            <a:cxnSpLocks/>
          </p:cNvCxnSpPr>
          <p:nvPr/>
        </p:nvCxnSpPr>
        <p:spPr>
          <a:xfrm flipV="1">
            <a:off x="418252" y="4854834"/>
            <a:ext cx="8414146" cy="22859"/>
          </a:xfrm>
          <a:prstGeom prst="line">
            <a:avLst/>
          </a:prstGeom>
          <a:ln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5141EEA-653B-437F-91ED-D54BAE7EDE61}"/>
              </a:ext>
            </a:extLst>
          </p:cNvPr>
          <p:cNvSpPr/>
          <p:nvPr/>
        </p:nvSpPr>
        <p:spPr>
          <a:xfrm>
            <a:off x="1445895" y="5996699"/>
            <a:ext cx="6252210" cy="621447"/>
          </a:xfrm>
          <a:prstGeom prst="roundRect">
            <a:avLst/>
          </a:prstGeom>
          <a:solidFill>
            <a:srgbClr val="F4F6FC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CB1703-97E4-47E0-A5B7-020DA10C0183}"/>
              </a:ext>
            </a:extLst>
          </p:cNvPr>
          <p:cNvSpPr txBox="1"/>
          <p:nvPr/>
        </p:nvSpPr>
        <p:spPr>
          <a:xfrm>
            <a:off x="2217233" y="6059228"/>
            <a:ext cx="46570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accent5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1200" b="1" dirty="0">
                <a:solidFill>
                  <a:schemeClr val="accent5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도구를 바로 적용하는 것이 아니라</a:t>
            </a:r>
            <a:r>
              <a:rPr lang="en-US" altLang="ko-KR" sz="1200" b="1" dirty="0">
                <a:solidFill>
                  <a:schemeClr val="accent5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endParaRPr lang="en-US" altLang="ko-KR" sz="600" b="1" dirty="0">
              <a:solidFill>
                <a:schemeClr val="accent5">
                  <a:lumMod val="50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200" b="1" dirty="0">
                <a:solidFill>
                  <a:schemeClr val="accent5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문제</a:t>
            </a:r>
            <a:r>
              <a:rPr lang="en-US" altLang="ko-KR" sz="1200" b="1" dirty="0">
                <a:solidFill>
                  <a:schemeClr val="accent5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200" b="1" dirty="0">
                <a:solidFill>
                  <a:schemeClr val="accent5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자료</a:t>
            </a:r>
            <a:r>
              <a:rPr lang="en-US" altLang="ko-KR" sz="1200" b="1" dirty="0">
                <a:solidFill>
                  <a:schemeClr val="accent5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200" b="1" dirty="0">
                <a:solidFill>
                  <a:schemeClr val="accent5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업무흐름</a:t>
            </a:r>
            <a:r>
              <a:rPr lang="en-US" altLang="ko-KR" sz="1200" b="1" dirty="0">
                <a:solidFill>
                  <a:schemeClr val="accent5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200" b="1" dirty="0">
                <a:solidFill>
                  <a:schemeClr val="accent5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책임기준을 정리한 뒤 작게 실행하고 개선하는 과정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E082E82-1101-4156-9A4A-B36F8EE6B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477" y="6021672"/>
            <a:ext cx="638175" cy="571500"/>
          </a:xfrm>
          <a:prstGeom prst="rect">
            <a:avLst/>
          </a:prstGeom>
        </p:spPr>
      </p:pic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F0A5C57-9AA5-4365-AFA0-7E915364686C}"/>
              </a:ext>
            </a:extLst>
          </p:cNvPr>
          <p:cNvSpPr/>
          <p:nvPr/>
        </p:nvSpPr>
        <p:spPr>
          <a:xfrm>
            <a:off x="3689152" y="4761289"/>
            <a:ext cx="1752600" cy="232808"/>
          </a:xfrm>
          <a:prstGeom prst="roundRect">
            <a:avLst>
              <a:gd name="adj" fmla="val 1976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accent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업무 적용 실행 흐름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4FA4F1D-402F-431B-AF72-0749375A0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726" y="1812384"/>
            <a:ext cx="617205" cy="592318"/>
          </a:xfrm>
          <a:prstGeom prst="rect">
            <a:avLst/>
          </a:prstGeom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BE00CFB8-4678-4051-B84B-1CD056383A86}"/>
              </a:ext>
            </a:extLst>
          </p:cNvPr>
          <p:cNvCxnSpPr>
            <a:cxnSpLocks/>
          </p:cNvCxnSpPr>
          <p:nvPr/>
        </p:nvCxnSpPr>
        <p:spPr>
          <a:xfrm>
            <a:off x="1096679" y="2291442"/>
            <a:ext cx="108964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777CFED-2966-4447-BFEA-C86DBF52904C}"/>
              </a:ext>
            </a:extLst>
          </p:cNvPr>
          <p:cNvCxnSpPr>
            <a:cxnSpLocks/>
          </p:cNvCxnSpPr>
          <p:nvPr/>
        </p:nvCxnSpPr>
        <p:spPr>
          <a:xfrm>
            <a:off x="539959" y="3753442"/>
            <a:ext cx="164586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9990486-5264-438C-BEE6-BB1155EC0A9E}"/>
              </a:ext>
            </a:extLst>
          </p:cNvPr>
          <p:cNvSpPr/>
          <p:nvPr/>
        </p:nvSpPr>
        <p:spPr>
          <a:xfrm>
            <a:off x="2667758" y="3889485"/>
            <a:ext cx="1715266" cy="538734"/>
          </a:xfrm>
          <a:prstGeom prst="roundRect">
            <a:avLst>
              <a:gd name="adj" fmla="val 19767"/>
            </a:avLst>
          </a:prstGeom>
          <a:solidFill>
            <a:srgbClr val="ECF4FC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" rIns="3600" rtlCol="0" anchor="ctr"/>
          <a:lstStyle/>
          <a:p>
            <a:pPr algn="ctr"/>
            <a:r>
              <a:rPr lang="ko-KR" altLang="en-US" sz="900" b="1" dirty="0">
                <a:solidFill>
                  <a:schemeClr val="accent1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좋은 결과는 좋은 자료 구조에서 </a:t>
            </a:r>
            <a:endParaRPr lang="en-US" altLang="ko-KR" sz="900" b="1" dirty="0">
              <a:solidFill>
                <a:schemeClr val="accent1">
                  <a:lumMod val="7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900" b="1" dirty="0">
                <a:solidFill>
                  <a:schemeClr val="accent1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시작됩니다</a:t>
            </a:r>
            <a:r>
              <a:rPr lang="en-US" altLang="ko-KR" sz="900" b="1" dirty="0">
                <a:solidFill>
                  <a:schemeClr val="accent1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900" b="1" dirty="0">
              <a:solidFill>
                <a:schemeClr val="accent1">
                  <a:lumMod val="7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73517ECA-419B-40BA-B4CA-B045E1E4476F}"/>
              </a:ext>
            </a:extLst>
          </p:cNvPr>
          <p:cNvSpPr/>
          <p:nvPr/>
        </p:nvSpPr>
        <p:spPr>
          <a:xfrm>
            <a:off x="505256" y="3889485"/>
            <a:ext cx="1715266" cy="538734"/>
          </a:xfrm>
          <a:prstGeom prst="roundRect">
            <a:avLst>
              <a:gd name="adj" fmla="val 19767"/>
            </a:avLst>
          </a:prstGeom>
          <a:solidFill>
            <a:srgbClr val="ECF4FC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" rIns="3600" rtlCol="0" anchor="ctr"/>
          <a:lstStyle/>
          <a:p>
            <a:pPr algn="ctr"/>
            <a:r>
              <a:rPr lang="ko-KR" altLang="en-US" sz="900" b="1" dirty="0">
                <a:solidFill>
                  <a:schemeClr val="accent1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먼저 풀 문제를 정해야 합니다</a:t>
            </a:r>
            <a:r>
              <a:rPr lang="en-US" altLang="ko-KR" sz="900" b="1" dirty="0">
                <a:solidFill>
                  <a:schemeClr val="accent1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900" b="1" dirty="0">
              <a:solidFill>
                <a:schemeClr val="accent1">
                  <a:lumMod val="7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726D79B-399E-4A3C-B4AA-94B5282D888A}"/>
              </a:ext>
            </a:extLst>
          </p:cNvPr>
          <p:cNvSpPr/>
          <p:nvPr/>
        </p:nvSpPr>
        <p:spPr>
          <a:xfrm>
            <a:off x="6978924" y="3889485"/>
            <a:ext cx="1715266" cy="538734"/>
          </a:xfrm>
          <a:prstGeom prst="roundRect">
            <a:avLst>
              <a:gd name="adj" fmla="val 19767"/>
            </a:avLst>
          </a:prstGeom>
          <a:solidFill>
            <a:srgbClr val="ECF4FC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" rIns="3600" rtlCol="0" anchor="ctr"/>
          <a:lstStyle/>
          <a:p>
            <a:pPr algn="ctr"/>
            <a:r>
              <a:rPr lang="en-US" altLang="ko-KR" sz="900" b="1" dirty="0">
                <a:solidFill>
                  <a:schemeClr val="accent1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AI</a:t>
            </a:r>
            <a:r>
              <a:rPr lang="ko-KR" altLang="en-US" sz="900" b="1" dirty="0">
                <a:solidFill>
                  <a:schemeClr val="accent1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는 보조하고</a:t>
            </a:r>
            <a:r>
              <a:rPr lang="en-US" altLang="ko-KR" sz="900" b="1" dirty="0">
                <a:solidFill>
                  <a:schemeClr val="accent1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</a:p>
          <a:p>
            <a:pPr algn="ctr"/>
            <a:r>
              <a:rPr lang="ko-KR" altLang="en-US" sz="900" b="1" dirty="0">
                <a:solidFill>
                  <a:schemeClr val="accent1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사람은 확인</a:t>
            </a:r>
            <a:r>
              <a:rPr lang="en-US" altLang="ko-KR" sz="900" b="1" dirty="0">
                <a:solidFill>
                  <a:schemeClr val="accent1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900" b="1" dirty="0">
                <a:solidFill>
                  <a:schemeClr val="accent1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책임을 담당합니다</a:t>
            </a:r>
            <a:r>
              <a:rPr lang="en-US" altLang="ko-KR" sz="900" b="1" dirty="0">
                <a:solidFill>
                  <a:schemeClr val="accent1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900" b="1" dirty="0">
              <a:solidFill>
                <a:schemeClr val="accent1">
                  <a:lumMod val="7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8A477F0F-D658-4CD5-B9E5-8BA0C4D52EF9}"/>
              </a:ext>
            </a:extLst>
          </p:cNvPr>
          <p:cNvSpPr/>
          <p:nvPr/>
        </p:nvSpPr>
        <p:spPr>
          <a:xfrm>
            <a:off x="4804910" y="3889485"/>
            <a:ext cx="1715266" cy="538734"/>
          </a:xfrm>
          <a:prstGeom prst="roundRect">
            <a:avLst>
              <a:gd name="adj" fmla="val 19767"/>
            </a:avLst>
          </a:prstGeom>
          <a:solidFill>
            <a:srgbClr val="ECF4FC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" rIns="3600" rtlCol="0" anchor="ctr"/>
          <a:lstStyle/>
          <a:p>
            <a:pPr algn="ctr"/>
            <a:r>
              <a:rPr lang="ko-KR" altLang="en-US" sz="900" b="1" dirty="0">
                <a:solidFill>
                  <a:schemeClr val="accent1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업무 흐름을 다시 봐야 합니다</a:t>
            </a:r>
            <a:r>
              <a:rPr lang="en-US" altLang="ko-KR" sz="900" b="1" dirty="0">
                <a:solidFill>
                  <a:schemeClr val="accent1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900" b="1" dirty="0">
              <a:solidFill>
                <a:schemeClr val="accent1">
                  <a:lumMod val="7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41F8D3CF-80C6-440A-90D3-1A5A60BD6BEF}"/>
              </a:ext>
            </a:extLst>
          </p:cNvPr>
          <p:cNvSpPr/>
          <p:nvPr/>
        </p:nvSpPr>
        <p:spPr>
          <a:xfrm>
            <a:off x="2542872" y="5088274"/>
            <a:ext cx="1916910" cy="706028"/>
          </a:xfrm>
          <a:prstGeom prst="roundRect">
            <a:avLst>
              <a:gd name="adj" fmla="val 7800"/>
            </a:avLst>
          </a:prstGeom>
          <a:solidFill>
            <a:schemeClr val="bg1"/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03DC6A73-8EAB-4E74-8CE0-AA1691A11212}"/>
              </a:ext>
            </a:extLst>
          </p:cNvPr>
          <p:cNvSpPr/>
          <p:nvPr/>
        </p:nvSpPr>
        <p:spPr>
          <a:xfrm>
            <a:off x="356248" y="5088274"/>
            <a:ext cx="1916910" cy="706028"/>
          </a:xfrm>
          <a:prstGeom prst="roundRect">
            <a:avLst>
              <a:gd name="adj" fmla="val 6641"/>
            </a:avLst>
          </a:prstGeom>
          <a:solidFill>
            <a:schemeClr val="bg1"/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2C9FADD3-F74E-41F3-9D28-2B52A99944AF}"/>
              </a:ext>
            </a:extLst>
          </p:cNvPr>
          <p:cNvSpPr/>
          <p:nvPr/>
        </p:nvSpPr>
        <p:spPr>
          <a:xfrm>
            <a:off x="6854038" y="5088274"/>
            <a:ext cx="1916910" cy="706028"/>
          </a:xfrm>
          <a:prstGeom prst="roundRect">
            <a:avLst>
              <a:gd name="adj" fmla="val 6641"/>
            </a:avLst>
          </a:prstGeom>
          <a:solidFill>
            <a:schemeClr val="bg1"/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FAEDC432-49EB-4D8A-9C1D-69DA2D201967}"/>
              </a:ext>
            </a:extLst>
          </p:cNvPr>
          <p:cNvSpPr/>
          <p:nvPr/>
        </p:nvSpPr>
        <p:spPr>
          <a:xfrm>
            <a:off x="4683776" y="5088274"/>
            <a:ext cx="1916910" cy="706028"/>
          </a:xfrm>
          <a:prstGeom prst="roundRect">
            <a:avLst>
              <a:gd name="adj" fmla="val 5483"/>
            </a:avLst>
          </a:prstGeom>
          <a:solidFill>
            <a:schemeClr val="bg1"/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CA588E9-1872-4A57-9A1C-9928D129936D}"/>
              </a:ext>
            </a:extLst>
          </p:cNvPr>
          <p:cNvSpPr txBox="1"/>
          <p:nvPr/>
        </p:nvSpPr>
        <p:spPr>
          <a:xfrm>
            <a:off x="376427" y="2505810"/>
            <a:ext cx="2065532" cy="984116"/>
          </a:xfrm>
          <a:prstGeom prst="rect">
            <a:avLst/>
          </a:prstGeom>
          <a:noFill/>
        </p:spPr>
        <p:txBody>
          <a:bodyPr wrap="square" lIns="36000" tIns="0" rIns="0" bIns="0" rtlCol="0" anchor="ctr">
            <a:spAutoFit/>
          </a:bodyPr>
          <a:lstStyle/>
          <a:p>
            <a:pPr marL="92075" indent="-92075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무엇을 개선할 것인가</a:t>
            </a:r>
            <a:endParaRPr lang="en-US" altLang="ko-KR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2075" indent="-92075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어디에 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적용할 것인가</a:t>
            </a:r>
            <a:endParaRPr lang="en-US" altLang="ko-KR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2075" indent="-92075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기대효과와 우선순위는 무엇인가</a:t>
            </a:r>
            <a:endParaRPr lang="en-US" altLang="ko-KR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5F424769-097D-4218-9BCE-8BC7566A1CB8}"/>
              </a:ext>
            </a:extLst>
          </p:cNvPr>
          <p:cNvCxnSpPr>
            <a:cxnSpLocks/>
          </p:cNvCxnSpPr>
          <p:nvPr/>
        </p:nvCxnSpPr>
        <p:spPr>
          <a:xfrm>
            <a:off x="2702461" y="3753442"/>
            <a:ext cx="164586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C5A9D921-9F8E-40F6-B1EE-8D50E0F909EE}"/>
              </a:ext>
            </a:extLst>
          </p:cNvPr>
          <p:cNvCxnSpPr>
            <a:cxnSpLocks/>
          </p:cNvCxnSpPr>
          <p:nvPr/>
        </p:nvCxnSpPr>
        <p:spPr>
          <a:xfrm>
            <a:off x="4839613" y="3753442"/>
            <a:ext cx="164586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35AB9443-98A7-4924-A000-CF3DE7B63635}"/>
              </a:ext>
            </a:extLst>
          </p:cNvPr>
          <p:cNvCxnSpPr>
            <a:cxnSpLocks/>
          </p:cNvCxnSpPr>
          <p:nvPr/>
        </p:nvCxnSpPr>
        <p:spPr>
          <a:xfrm>
            <a:off x="7013627" y="3741888"/>
            <a:ext cx="164586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9A9FF1F-7DD8-47FC-8CD1-4E8AEF4B4D43}"/>
              </a:ext>
            </a:extLst>
          </p:cNvPr>
          <p:cNvSpPr txBox="1"/>
          <p:nvPr/>
        </p:nvSpPr>
        <p:spPr>
          <a:xfrm>
            <a:off x="1092958" y="2003496"/>
            <a:ext cx="1207986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sz="10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문제 정의와 적용 전략</a:t>
            </a:r>
            <a:endParaRPr lang="en-US" altLang="ko-KR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A296FA3D-3584-4806-A3FE-2FC96E306D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7419" y="1809837"/>
            <a:ext cx="569455" cy="594000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694E888D-33D4-40B9-9BAC-2022E5447B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6570" y="1808092"/>
            <a:ext cx="569042" cy="594000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E3838BB7-F529-43C8-8C4F-934C68C076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4277" y="1803399"/>
            <a:ext cx="603983" cy="594000"/>
          </a:xfrm>
          <a:prstGeom prst="rect">
            <a:avLst/>
          </a:prstGeom>
        </p:spPr>
      </p:pic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4EEEB70E-178A-4DA6-923F-5E22F4B51720}"/>
              </a:ext>
            </a:extLst>
          </p:cNvPr>
          <p:cNvCxnSpPr>
            <a:cxnSpLocks/>
          </p:cNvCxnSpPr>
          <p:nvPr/>
        </p:nvCxnSpPr>
        <p:spPr>
          <a:xfrm>
            <a:off x="3268026" y="2262530"/>
            <a:ext cx="108964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2A1DFCA0-A14A-4F38-AFD8-DD8980C51566}"/>
              </a:ext>
            </a:extLst>
          </p:cNvPr>
          <p:cNvCxnSpPr>
            <a:cxnSpLocks/>
          </p:cNvCxnSpPr>
          <p:nvPr/>
        </p:nvCxnSpPr>
        <p:spPr>
          <a:xfrm>
            <a:off x="5416764" y="2262528"/>
            <a:ext cx="108964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C6D46827-A75B-49D6-8651-7B5D41F87A4D}"/>
              </a:ext>
            </a:extLst>
          </p:cNvPr>
          <p:cNvCxnSpPr>
            <a:cxnSpLocks/>
          </p:cNvCxnSpPr>
          <p:nvPr/>
        </p:nvCxnSpPr>
        <p:spPr>
          <a:xfrm>
            <a:off x="7604542" y="2262529"/>
            <a:ext cx="108964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5CCC086-DCE6-404C-BB37-A8615587BA63}"/>
              </a:ext>
            </a:extLst>
          </p:cNvPr>
          <p:cNvSpPr txBox="1"/>
          <p:nvPr/>
        </p:nvSpPr>
        <p:spPr>
          <a:xfrm>
            <a:off x="3268026" y="1998947"/>
            <a:ext cx="1207986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sz="10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데이터</a:t>
            </a:r>
            <a:r>
              <a:rPr lang="en-US" altLang="ko-KR" sz="10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·</a:t>
            </a:r>
            <a:r>
              <a:rPr lang="ko-KR" altLang="en-US" sz="10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자료 구조 정리</a:t>
            </a:r>
            <a:endParaRPr lang="en-US" altLang="ko-KR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B6828F8-17DC-40C4-B6C9-FF4A6D3437E3}"/>
              </a:ext>
            </a:extLst>
          </p:cNvPr>
          <p:cNvSpPr txBox="1"/>
          <p:nvPr/>
        </p:nvSpPr>
        <p:spPr>
          <a:xfrm>
            <a:off x="5416764" y="1983799"/>
            <a:ext cx="1207986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sz="10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업무 흐름 재설계</a:t>
            </a:r>
            <a:endParaRPr lang="en-US" altLang="ko-KR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831D0E9-EA3D-4E46-88AF-3B3623836620}"/>
              </a:ext>
            </a:extLst>
          </p:cNvPr>
          <p:cNvSpPr txBox="1"/>
          <p:nvPr/>
        </p:nvSpPr>
        <p:spPr>
          <a:xfrm>
            <a:off x="7604542" y="1975739"/>
            <a:ext cx="1207986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sz="10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안전</a:t>
            </a:r>
            <a:r>
              <a:rPr lang="en-US" altLang="ko-KR" sz="10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·</a:t>
            </a:r>
            <a:r>
              <a:rPr lang="ko-KR" altLang="en-US" sz="10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책임</a:t>
            </a:r>
            <a:r>
              <a:rPr lang="en-US" altLang="ko-KR" sz="10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·</a:t>
            </a:r>
            <a:r>
              <a:rPr lang="ko-KR" altLang="en-US" sz="10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확인 기준</a:t>
            </a:r>
            <a:endParaRPr lang="en-US" altLang="ko-KR" sz="10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2B8A8F6-1D22-474B-BDFE-FA4D9E6B28D2}"/>
              </a:ext>
            </a:extLst>
          </p:cNvPr>
          <p:cNvSpPr txBox="1"/>
          <p:nvPr/>
        </p:nvSpPr>
        <p:spPr>
          <a:xfrm>
            <a:off x="2569704" y="2505810"/>
            <a:ext cx="2065532" cy="984116"/>
          </a:xfrm>
          <a:prstGeom prst="rect">
            <a:avLst/>
          </a:prstGeom>
          <a:noFill/>
        </p:spPr>
        <p:txBody>
          <a:bodyPr wrap="square" lIns="36000" tIns="0" rIns="0" bIns="0" rtlCol="0" anchor="ctr">
            <a:spAutoFit/>
          </a:bodyPr>
          <a:lstStyle/>
          <a:p>
            <a:pPr marL="92075" indent="-92075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어떤 자료를 기준으로 삼을 것인가</a:t>
            </a:r>
            <a:endParaRPr lang="en-US" altLang="ko-KR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2075" indent="-92075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최신 문서와 과거 이력 구분 기준</a:t>
            </a:r>
            <a:endParaRPr lang="en-US" altLang="ko-KR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2075" indent="-92075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 참고 가능 형태로 정리 되었나</a:t>
            </a:r>
            <a:endParaRPr lang="en-US" altLang="ko-KR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C9109FA-E2C2-4B89-96E9-47299589EA80}"/>
              </a:ext>
            </a:extLst>
          </p:cNvPr>
          <p:cNvSpPr txBox="1"/>
          <p:nvPr/>
        </p:nvSpPr>
        <p:spPr>
          <a:xfrm>
            <a:off x="4704015" y="2505810"/>
            <a:ext cx="2065532" cy="984116"/>
          </a:xfrm>
          <a:prstGeom prst="rect">
            <a:avLst/>
          </a:prstGeom>
          <a:noFill/>
        </p:spPr>
        <p:txBody>
          <a:bodyPr wrap="square" lIns="36000" tIns="0" rIns="0" bIns="0" rtlCol="0" anchor="ctr">
            <a:spAutoFit/>
          </a:bodyPr>
          <a:lstStyle/>
          <a:p>
            <a:pPr marL="92075" indent="-92075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기존 업무 절차를 그대로 둘 것인가</a:t>
            </a:r>
            <a:endParaRPr lang="en-US" altLang="ko-KR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2075" indent="-92075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 보조할 단계는 어디인가</a:t>
            </a:r>
            <a:endParaRPr lang="en-US" altLang="ko-KR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2075" indent="-92075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사람의 확인과 판단은 어디에 두는가</a:t>
            </a:r>
            <a:endParaRPr lang="en-US" altLang="ko-KR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FE1153F-B1F1-43DA-AAE9-DE6979C09452}"/>
              </a:ext>
            </a:extLst>
          </p:cNvPr>
          <p:cNvSpPr txBox="1"/>
          <p:nvPr/>
        </p:nvSpPr>
        <p:spPr>
          <a:xfrm>
            <a:off x="6874277" y="2505810"/>
            <a:ext cx="2065532" cy="984116"/>
          </a:xfrm>
          <a:prstGeom prst="rect">
            <a:avLst/>
          </a:prstGeom>
          <a:noFill/>
        </p:spPr>
        <p:txBody>
          <a:bodyPr wrap="square" lIns="36000" tIns="0" rIns="0" bIns="0" rtlCol="0" anchor="ctr">
            <a:spAutoFit/>
          </a:bodyPr>
          <a:lstStyle/>
          <a:p>
            <a:pPr marL="92075" indent="-92075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입력하면 안 되는 정보는 무엇인가</a:t>
            </a:r>
            <a:endParaRPr lang="en-US" altLang="ko-KR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2075" indent="-92075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결과는 누가 확인할 것인가</a:t>
            </a:r>
            <a:endParaRPr lang="en-US" altLang="ko-KR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2075" indent="-92075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최종 판단과 책임은 어디에 있는가</a:t>
            </a:r>
            <a:endParaRPr lang="en-US" altLang="ko-KR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82" name="그림 81">
            <a:extLst>
              <a:ext uri="{FF2B5EF4-FFF2-40B4-BE49-F238E27FC236}">
                <a16:creationId xmlns:a16="http://schemas.microsoft.com/office/drawing/2014/main" id="{12E22F12-4947-419C-AF1E-29C176BA13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8252" y="5216343"/>
            <a:ext cx="444990" cy="459345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E16DF307-15BA-482A-9FDE-849E6E6BD662}"/>
              </a:ext>
            </a:extLst>
          </p:cNvPr>
          <p:cNvSpPr txBox="1"/>
          <p:nvPr/>
        </p:nvSpPr>
        <p:spPr>
          <a:xfrm>
            <a:off x="913871" y="5267130"/>
            <a:ext cx="1359219" cy="369332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ko-KR" altLang="en-US" sz="10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목표 설정</a:t>
            </a:r>
            <a:endParaRPr lang="en-US" altLang="ko-KR" sz="10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endParaRPr lang="en-US" altLang="ko-KR" sz="6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개선 목표와 성공 기준 정의</a:t>
            </a:r>
            <a:endParaRPr lang="en-US" altLang="ko-KR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ECB859B-0F32-4B32-ABAA-E17BCBA41482}"/>
              </a:ext>
            </a:extLst>
          </p:cNvPr>
          <p:cNvSpPr txBox="1"/>
          <p:nvPr/>
        </p:nvSpPr>
        <p:spPr>
          <a:xfrm>
            <a:off x="3118344" y="5271683"/>
            <a:ext cx="1359219" cy="369332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ko-KR" altLang="en-US" sz="10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현황 분석</a:t>
            </a:r>
            <a:endParaRPr lang="en-US" altLang="ko-KR" sz="10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endParaRPr lang="en-US" altLang="ko-KR" sz="6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반복</a:t>
            </a:r>
            <a:r>
              <a:rPr lang="en-US" altLang="ko-KR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비효율 업무 파악</a:t>
            </a:r>
            <a:endParaRPr lang="en-US" altLang="ko-KR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0B393C3-EEEE-4291-A7C2-AED9FD86580E}"/>
              </a:ext>
            </a:extLst>
          </p:cNvPr>
          <p:cNvSpPr txBox="1"/>
          <p:nvPr/>
        </p:nvSpPr>
        <p:spPr>
          <a:xfrm>
            <a:off x="5241467" y="5271683"/>
            <a:ext cx="1359219" cy="369332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ko-KR" altLang="en-US" sz="10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작은 파일럿</a:t>
            </a:r>
            <a:endParaRPr lang="en-US" altLang="ko-KR" sz="10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endParaRPr lang="en-US" altLang="ko-KR" sz="6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작게 적용하고 오류 확인</a:t>
            </a:r>
            <a:endParaRPr lang="en-US" altLang="ko-KR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BD1EB33-E1D6-44CE-82C7-0296AC389C86}"/>
              </a:ext>
            </a:extLst>
          </p:cNvPr>
          <p:cNvSpPr txBox="1"/>
          <p:nvPr/>
        </p:nvSpPr>
        <p:spPr>
          <a:xfrm>
            <a:off x="7411387" y="5271683"/>
            <a:ext cx="1359219" cy="369332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ko-KR" altLang="en-US" sz="10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모니터링</a:t>
            </a:r>
            <a:r>
              <a:rPr lang="en-US" altLang="ko-KR" sz="10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·</a:t>
            </a:r>
            <a:r>
              <a:rPr lang="ko-KR" altLang="en-US" sz="10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개선</a:t>
            </a:r>
            <a:endParaRPr lang="en-US" altLang="ko-KR" sz="10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endParaRPr lang="en-US" altLang="ko-KR" sz="6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효과 측정 후 지속 개선</a:t>
            </a:r>
            <a:endParaRPr lang="en-US" altLang="ko-KR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7" name="화살표: 오른쪽 86">
            <a:extLst>
              <a:ext uri="{FF2B5EF4-FFF2-40B4-BE49-F238E27FC236}">
                <a16:creationId xmlns:a16="http://schemas.microsoft.com/office/drawing/2014/main" id="{F084112A-0055-4175-BD91-BC6E167CDAAC}"/>
              </a:ext>
            </a:extLst>
          </p:cNvPr>
          <p:cNvSpPr/>
          <p:nvPr/>
        </p:nvSpPr>
        <p:spPr>
          <a:xfrm>
            <a:off x="2336659" y="5290387"/>
            <a:ext cx="175591" cy="322818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화살표: 오른쪽 87">
            <a:extLst>
              <a:ext uri="{FF2B5EF4-FFF2-40B4-BE49-F238E27FC236}">
                <a16:creationId xmlns:a16="http://schemas.microsoft.com/office/drawing/2014/main" id="{593E4840-8DCA-4E84-B8AD-BFF168900711}"/>
              </a:ext>
            </a:extLst>
          </p:cNvPr>
          <p:cNvSpPr/>
          <p:nvPr/>
        </p:nvSpPr>
        <p:spPr>
          <a:xfrm>
            <a:off x="4502486" y="5279879"/>
            <a:ext cx="175591" cy="322818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화살표: 오른쪽 88">
            <a:extLst>
              <a:ext uri="{FF2B5EF4-FFF2-40B4-BE49-F238E27FC236}">
                <a16:creationId xmlns:a16="http://schemas.microsoft.com/office/drawing/2014/main" id="{8E27A458-F11E-4899-BF7A-22FCD8D08F7F}"/>
              </a:ext>
            </a:extLst>
          </p:cNvPr>
          <p:cNvSpPr/>
          <p:nvPr/>
        </p:nvSpPr>
        <p:spPr>
          <a:xfrm>
            <a:off x="6649089" y="5279879"/>
            <a:ext cx="175591" cy="322818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0" name="그림 89">
            <a:extLst>
              <a:ext uri="{FF2B5EF4-FFF2-40B4-BE49-F238E27FC236}">
                <a16:creationId xmlns:a16="http://schemas.microsoft.com/office/drawing/2014/main" id="{A8DA736F-AB42-4FBF-8F78-30629262E6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48391" y="5210888"/>
            <a:ext cx="455845" cy="460800"/>
          </a:xfrm>
          <a:prstGeom prst="rect">
            <a:avLst/>
          </a:prstGeom>
        </p:spPr>
      </p:pic>
      <p:pic>
        <p:nvPicPr>
          <p:cNvPr id="91" name="그림 90">
            <a:extLst>
              <a:ext uri="{FF2B5EF4-FFF2-40B4-BE49-F238E27FC236}">
                <a16:creationId xmlns:a16="http://schemas.microsoft.com/office/drawing/2014/main" id="{DEDE4A21-2DC8-4632-AFCB-7AC37B7BF69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1803" y="5204678"/>
            <a:ext cx="370447" cy="460800"/>
          </a:xfrm>
          <a:prstGeom prst="rect">
            <a:avLst/>
          </a:prstGeom>
        </p:spPr>
      </p:pic>
      <p:pic>
        <p:nvPicPr>
          <p:cNvPr id="92" name="그림 91">
            <a:extLst>
              <a:ext uri="{FF2B5EF4-FFF2-40B4-BE49-F238E27FC236}">
                <a16:creationId xmlns:a16="http://schemas.microsoft.com/office/drawing/2014/main" id="{4E3BC752-CA5A-454F-8FD1-84EEB6F1DE1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85132" y="5219299"/>
            <a:ext cx="525913" cy="46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091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/>
          <p:cNvSpPr txBox="1">
            <a:spLocks/>
          </p:cNvSpPr>
          <p:nvPr/>
        </p:nvSpPr>
        <p:spPr>
          <a:xfrm>
            <a:off x="831200" y="1183920"/>
            <a:ext cx="7596384" cy="869605"/>
          </a:xfrm>
          <a:prstGeom prst="rect">
            <a:avLst/>
          </a:prstGeom>
        </p:spPr>
        <p:txBody>
          <a:bodyPr lIns="0" tIns="0" rIns="0" bIns="0"/>
          <a:lstStyle>
            <a:lvl1pPr marL="266700" indent="-26670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lang="ko-KR" altLang="en-US" sz="1400" b="1" kern="1200" spc="-20" baseline="0" dirty="0" smtClean="0">
                <a:ln>
                  <a:noFill/>
                </a:ln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2667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446087" indent="0" algn="l" defTabSz="914400" rtl="0" eaLnBrk="1" latinLnBrk="1" hangingPunct="1">
              <a:lnSpc>
                <a:spcPct val="150000"/>
              </a:lnSpc>
              <a:spcBef>
                <a:spcPts val="3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625475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64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  <a:lvl6pPr marL="82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읽기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, 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쓰기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, 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찾기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, 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분류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, 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판단 보조 업무에서 효과적</a:t>
            </a:r>
            <a:endParaRPr lang="en-US" altLang="ko-KR" b="0" dirty="0">
              <a:solidFill>
                <a:srgbClr val="626366"/>
              </a:solidFill>
              <a:latin typeface="NanumSquare" charset="-127"/>
              <a:ea typeface="NanumSquare" charset="-127"/>
              <a:cs typeface="NanumSquare" charset="-127"/>
            </a:endParaRPr>
          </a:p>
          <a:p>
            <a:pPr indent="0">
              <a:buNone/>
            </a:pPr>
            <a:endParaRPr lang="en-US" altLang="ko-KR" sz="1100" b="0" dirty="0">
              <a:solidFill>
                <a:srgbClr val="626366"/>
              </a:solidFill>
              <a:latin typeface="NanumSquare" charset="-127"/>
              <a:ea typeface="NanumSquare" charset="-127"/>
              <a:cs typeface="NanumSquare" charset="-127"/>
            </a:endParaRP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424800" y="365520"/>
            <a:ext cx="8640000" cy="338400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600" b="1" kern="1200" spc="-20" baseline="0" dirty="0"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| </a:t>
            </a:r>
            <a:r>
              <a:rPr lang="ko-KR" altLang="en-US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무엇을 할 수 있는가</a:t>
            </a:r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8427584" y="365520"/>
            <a:ext cx="343364" cy="20864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266700" indent="-26670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lang="ko-KR" altLang="en-US" sz="1400" b="1" kern="1200" spc="-20" baseline="0" dirty="0" smtClean="0">
                <a:ln>
                  <a:noFill/>
                </a:ln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2667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446087" indent="0" algn="l" defTabSz="914400" rtl="0" eaLnBrk="1" latinLnBrk="1" hangingPunct="1">
              <a:lnSpc>
                <a:spcPct val="150000"/>
              </a:lnSpc>
              <a:spcBef>
                <a:spcPts val="3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625475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64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  <a:lvl6pPr marL="82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대외비</a:t>
            </a:r>
            <a:endParaRPr lang="en-US" altLang="ko-KR" sz="1000" dirty="0">
              <a:solidFill>
                <a:srgbClr val="07C63C"/>
              </a:solidFill>
              <a:latin typeface="NanumSquare ExtraBold" charset="-127"/>
              <a:ea typeface="NanumSquare ExtraBold" charset="-127"/>
              <a:cs typeface="NanumSquare ExtraBold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EEC314F-DBA6-435D-9DA4-FFD3FE31EA4F}"/>
              </a:ext>
            </a:extLst>
          </p:cNvPr>
          <p:cNvSpPr/>
          <p:nvPr/>
        </p:nvSpPr>
        <p:spPr>
          <a:xfrm>
            <a:off x="250825" y="2041289"/>
            <a:ext cx="1582028" cy="2884698"/>
          </a:xfrm>
          <a:prstGeom prst="roundRect">
            <a:avLst>
              <a:gd name="adj" fmla="val 6641"/>
            </a:avLst>
          </a:prstGeom>
          <a:solidFill>
            <a:schemeClr val="bg1"/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F6E28AB-CAD7-4FF0-ADC6-9B3D56C96C3C}"/>
              </a:ext>
            </a:extLst>
          </p:cNvPr>
          <p:cNvSpPr/>
          <p:nvPr/>
        </p:nvSpPr>
        <p:spPr>
          <a:xfrm>
            <a:off x="3780986" y="2041289"/>
            <a:ext cx="1582028" cy="2884698"/>
          </a:xfrm>
          <a:prstGeom prst="roundRect">
            <a:avLst>
              <a:gd name="adj" fmla="val 6641"/>
            </a:avLst>
          </a:prstGeom>
          <a:solidFill>
            <a:schemeClr val="bg1"/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05858B3-8A81-4D11-BD47-D67821A73299}"/>
              </a:ext>
            </a:extLst>
          </p:cNvPr>
          <p:cNvSpPr/>
          <p:nvPr/>
        </p:nvSpPr>
        <p:spPr>
          <a:xfrm>
            <a:off x="2032582" y="2041289"/>
            <a:ext cx="1582028" cy="2884698"/>
          </a:xfrm>
          <a:prstGeom prst="roundRect">
            <a:avLst>
              <a:gd name="adj" fmla="val 6641"/>
            </a:avLst>
          </a:prstGeom>
          <a:solidFill>
            <a:schemeClr val="bg1"/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FACC306-C9A3-4427-B2C8-0AD79DF8449A}"/>
              </a:ext>
            </a:extLst>
          </p:cNvPr>
          <p:cNvSpPr/>
          <p:nvPr/>
        </p:nvSpPr>
        <p:spPr>
          <a:xfrm>
            <a:off x="7311147" y="2041289"/>
            <a:ext cx="1582028" cy="2884698"/>
          </a:xfrm>
          <a:prstGeom prst="roundRect">
            <a:avLst>
              <a:gd name="adj" fmla="val 6641"/>
            </a:avLst>
          </a:prstGeom>
          <a:solidFill>
            <a:schemeClr val="bg1"/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70E2CF6-A026-47A1-85BD-5CE923E2B27D}"/>
              </a:ext>
            </a:extLst>
          </p:cNvPr>
          <p:cNvSpPr/>
          <p:nvPr/>
        </p:nvSpPr>
        <p:spPr>
          <a:xfrm>
            <a:off x="5529390" y="2041289"/>
            <a:ext cx="1582028" cy="2884698"/>
          </a:xfrm>
          <a:prstGeom prst="roundRect">
            <a:avLst>
              <a:gd name="adj" fmla="val 6641"/>
            </a:avLst>
          </a:prstGeom>
          <a:solidFill>
            <a:schemeClr val="bg1"/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4CE1CCE-C0D9-4A7C-B654-91818A510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2350" y="2339816"/>
            <a:ext cx="1440000" cy="110873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4F3EE3A-772A-4F7F-B4B4-EB9161CAB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504" y="2240308"/>
            <a:ext cx="1440000" cy="130357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D7B8844-A6DE-43C3-9B2C-BD83C21739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2161" y="2231113"/>
            <a:ext cx="1440000" cy="132196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A771524-9758-4A2C-9DF7-370015F100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3596" y="2180517"/>
            <a:ext cx="1440000" cy="142315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C30BB12-63D0-4072-AEC6-E2C3BB4CD1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839" y="2124740"/>
            <a:ext cx="1440000" cy="1545366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ACB6AED9-203E-4010-8ED5-99B17410BC4C}"/>
              </a:ext>
            </a:extLst>
          </p:cNvPr>
          <p:cNvCxnSpPr>
            <a:cxnSpLocks/>
          </p:cNvCxnSpPr>
          <p:nvPr/>
        </p:nvCxnSpPr>
        <p:spPr>
          <a:xfrm>
            <a:off x="321839" y="4012955"/>
            <a:ext cx="1433195" cy="0"/>
          </a:xfrm>
          <a:prstGeom prst="line">
            <a:avLst/>
          </a:prstGeom>
          <a:ln>
            <a:solidFill>
              <a:srgbClr val="92AF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DCAB6ED-8E0F-4E99-9F46-DBBB735F91BC}"/>
              </a:ext>
            </a:extLst>
          </p:cNvPr>
          <p:cNvSpPr txBox="1"/>
          <p:nvPr/>
        </p:nvSpPr>
        <p:spPr>
          <a:xfrm>
            <a:off x="434443" y="3711263"/>
            <a:ext cx="1207986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읽기</a:t>
            </a:r>
            <a:endParaRPr lang="en-US" altLang="ko-KR" sz="1200" dirty="0">
              <a:solidFill>
                <a:schemeClr val="accent1">
                  <a:lumMod val="7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E103225-8D69-49B6-99FB-96D7D0AA6EA9}"/>
              </a:ext>
            </a:extLst>
          </p:cNvPr>
          <p:cNvCxnSpPr>
            <a:cxnSpLocks/>
          </p:cNvCxnSpPr>
          <p:nvPr/>
        </p:nvCxnSpPr>
        <p:spPr>
          <a:xfrm>
            <a:off x="2103596" y="4012955"/>
            <a:ext cx="1433195" cy="0"/>
          </a:xfrm>
          <a:prstGeom prst="line">
            <a:avLst/>
          </a:prstGeom>
          <a:ln>
            <a:solidFill>
              <a:srgbClr val="92AF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4AD2225-DB89-4E0B-A13B-FBB58AA5F2B5}"/>
              </a:ext>
            </a:extLst>
          </p:cNvPr>
          <p:cNvCxnSpPr>
            <a:cxnSpLocks/>
          </p:cNvCxnSpPr>
          <p:nvPr/>
        </p:nvCxnSpPr>
        <p:spPr>
          <a:xfrm>
            <a:off x="3855402" y="4002117"/>
            <a:ext cx="1433195" cy="0"/>
          </a:xfrm>
          <a:prstGeom prst="line">
            <a:avLst/>
          </a:prstGeom>
          <a:ln>
            <a:solidFill>
              <a:srgbClr val="92AF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A4D237A-3FA2-4C8E-9A72-314F6FD92EB3}"/>
              </a:ext>
            </a:extLst>
          </p:cNvPr>
          <p:cNvCxnSpPr>
            <a:cxnSpLocks/>
          </p:cNvCxnSpPr>
          <p:nvPr/>
        </p:nvCxnSpPr>
        <p:spPr>
          <a:xfrm>
            <a:off x="5596504" y="4002117"/>
            <a:ext cx="1433195" cy="0"/>
          </a:xfrm>
          <a:prstGeom prst="line">
            <a:avLst/>
          </a:prstGeom>
          <a:ln>
            <a:solidFill>
              <a:srgbClr val="92AF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3676F27-75DD-4D1C-B60E-66EA456E6FA7}"/>
              </a:ext>
            </a:extLst>
          </p:cNvPr>
          <p:cNvCxnSpPr>
            <a:cxnSpLocks/>
          </p:cNvCxnSpPr>
          <p:nvPr/>
        </p:nvCxnSpPr>
        <p:spPr>
          <a:xfrm>
            <a:off x="7382161" y="4002117"/>
            <a:ext cx="1433195" cy="0"/>
          </a:xfrm>
          <a:prstGeom prst="line">
            <a:avLst/>
          </a:prstGeom>
          <a:ln>
            <a:solidFill>
              <a:srgbClr val="92AF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48F0F90-20C1-4743-BF79-CF21ED32A714}"/>
              </a:ext>
            </a:extLst>
          </p:cNvPr>
          <p:cNvSpPr txBox="1"/>
          <p:nvPr/>
        </p:nvSpPr>
        <p:spPr>
          <a:xfrm>
            <a:off x="2229165" y="3706295"/>
            <a:ext cx="1207986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쓰기</a:t>
            </a:r>
            <a:endParaRPr lang="en-US" altLang="ko-KR" sz="1200" dirty="0">
              <a:solidFill>
                <a:schemeClr val="accent1">
                  <a:lumMod val="7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B6C2CF-AB63-447D-8260-AE6BAFA086BC}"/>
              </a:ext>
            </a:extLst>
          </p:cNvPr>
          <p:cNvSpPr txBox="1"/>
          <p:nvPr/>
        </p:nvSpPr>
        <p:spPr>
          <a:xfrm>
            <a:off x="3968006" y="3663556"/>
            <a:ext cx="1207986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찾기</a:t>
            </a:r>
            <a:endParaRPr lang="en-US" altLang="ko-KR" sz="1200" dirty="0">
              <a:solidFill>
                <a:schemeClr val="accent1">
                  <a:lumMod val="7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24E52B-474B-4D7A-9CD3-99E6CE40C55B}"/>
              </a:ext>
            </a:extLst>
          </p:cNvPr>
          <p:cNvSpPr txBox="1"/>
          <p:nvPr/>
        </p:nvSpPr>
        <p:spPr>
          <a:xfrm>
            <a:off x="5706849" y="3672920"/>
            <a:ext cx="1207986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분류</a:t>
            </a:r>
            <a:endParaRPr lang="en-US" altLang="ko-KR" sz="1200" dirty="0">
              <a:solidFill>
                <a:schemeClr val="accent1">
                  <a:lumMod val="7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FABFA7-11F3-438B-B519-EF74C56BC83D}"/>
              </a:ext>
            </a:extLst>
          </p:cNvPr>
          <p:cNvSpPr txBox="1"/>
          <p:nvPr/>
        </p:nvSpPr>
        <p:spPr>
          <a:xfrm>
            <a:off x="7494765" y="3672920"/>
            <a:ext cx="1207986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판단 보조</a:t>
            </a:r>
            <a:endParaRPr lang="en-US" altLang="ko-KR" sz="1200" dirty="0">
              <a:solidFill>
                <a:schemeClr val="accent1">
                  <a:lumMod val="7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555B78-2C3C-41BF-9CCA-4CE66AB2D6EF}"/>
              </a:ext>
            </a:extLst>
          </p:cNvPr>
          <p:cNvSpPr txBox="1"/>
          <p:nvPr/>
        </p:nvSpPr>
        <p:spPr>
          <a:xfrm>
            <a:off x="337883" y="4031915"/>
            <a:ext cx="1423956" cy="793679"/>
          </a:xfrm>
          <a:prstGeom prst="rect">
            <a:avLst/>
          </a:prstGeom>
          <a:noFill/>
        </p:spPr>
        <p:txBody>
          <a:bodyPr wrap="square" lIns="36000" tIns="0" rIns="0" bIns="0" rtlCol="0" anchor="ctr">
            <a:spAutoFit/>
          </a:bodyPr>
          <a:lstStyle/>
          <a:p>
            <a:pPr marL="92075" indent="-920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문서 요약</a:t>
            </a:r>
            <a:endParaRPr lang="en-US" altLang="ko-KR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2075" indent="-920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메일 파악</a:t>
            </a:r>
            <a:endParaRPr lang="en-US" altLang="ko-KR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2075" indent="-920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로그 해석</a:t>
            </a:r>
            <a:endParaRPr lang="en-US" altLang="ko-KR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2EE9C2-8E08-4345-99A5-4A3DDAE67D57}"/>
              </a:ext>
            </a:extLst>
          </p:cNvPr>
          <p:cNvSpPr txBox="1"/>
          <p:nvPr/>
        </p:nvSpPr>
        <p:spPr>
          <a:xfrm>
            <a:off x="2121180" y="4031915"/>
            <a:ext cx="1423956" cy="793679"/>
          </a:xfrm>
          <a:prstGeom prst="rect">
            <a:avLst/>
          </a:prstGeom>
          <a:noFill/>
        </p:spPr>
        <p:txBody>
          <a:bodyPr wrap="square" lIns="36000" tIns="0" rIns="0" bIns="0" rtlCol="0" anchor="ctr">
            <a:spAutoFit/>
          </a:bodyPr>
          <a:lstStyle/>
          <a:p>
            <a:pPr marL="92075" indent="-920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보고서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기획서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초안</a:t>
            </a:r>
            <a:endParaRPr lang="en-US" altLang="ko-KR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2075" indent="-920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답변 작성</a:t>
            </a:r>
            <a:endParaRPr lang="en-US" altLang="ko-KR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2075" indent="-920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회의록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이슈 정리</a:t>
            </a:r>
            <a:endParaRPr lang="en-US" altLang="ko-KR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A7EDA73-CC56-4460-9DD1-C7B7C60BC75D}"/>
              </a:ext>
            </a:extLst>
          </p:cNvPr>
          <p:cNvSpPr txBox="1"/>
          <p:nvPr/>
        </p:nvSpPr>
        <p:spPr>
          <a:xfrm>
            <a:off x="3868611" y="4019058"/>
            <a:ext cx="1423956" cy="793679"/>
          </a:xfrm>
          <a:prstGeom prst="rect">
            <a:avLst/>
          </a:prstGeom>
          <a:noFill/>
        </p:spPr>
        <p:txBody>
          <a:bodyPr wrap="square" lIns="36000" tIns="0" rIns="0" bIns="0" rtlCol="0" anchor="ctr">
            <a:spAutoFit/>
          </a:bodyPr>
          <a:lstStyle/>
          <a:p>
            <a:pPr marL="92075" indent="-920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Wiki </a:t>
            </a: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검색</a:t>
            </a:r>
            <a:endParaRPr lang="en-US" altLang="ko-KR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2075" indent="-920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업무자료 탐색</a:t>
            </a:r>
            <a:endParaRPr lang="en-US" altLang="ko-KR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2075" indent="-920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과거 이력 확인</a:t>
            </a:r>
            <a:endParaRPr lang="en-US" altLang="ko-KR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5A48CD-B6FF-4EDD-81F1-6334E57346C8}"/>
              </a:ext>
            </a:extLst>
          </p:cNvPr>
          <p:cNvSpPr txBox="1"/>
          <p:nvPr/>
        </p:nvSpPr>
        <p:spPr>
          <a:xfrm>
            <a:off x="5598864" y="4002117"/>
            <a:ext cx="1423956" cy="793679"/>
          </a:xfrm>
          <a:prstGeom prst="rect">
            <a:avLst/>
          </a:prstGeom>
          <a:noFill/>
        </p:spPr>
        <p:txBody>
          <a:bodyPr wrap="square" lIns="36000" tIns="0" rIns="0" bIns="0" rtlCol="0" anchor="ctr">
            <a:spAutoFit/>
          </a:bodyPr>
          <a:lstStyle/>
          <a:p>
            <a:pPr marL="92075" indent="-920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티켓 분류</a:t>
            </a:r>
            <a:endParaRPr lang="en-US" altLang="ko-KR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2075" indent="-920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문의 분류</a:t>
            </a:r>
            <a:endParaRPr lang="en-US" altLang="ko-KR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2075" indent="-920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이벤트 분류</a:t>
            </a:r>
            <a:endParaRPr lang="en-US" altLang="ko-KR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F73DDE-405C-449A-B055-CDA9AC54C4D8}"/>
              </a:ext>
            </a:extLst>
          </p:cNvPr>
          <p:cNvSpPr txBox="1"/>
          <p:nvPr/>
        </p:nvSpPr>
        <p:spPr>
          <a:xfrm>
            <a:off x="7405270" y="4002117"/>
            <a:ext cx="1423956" cy="793679"/>
          </a:xfrm>
          <a:prstGeom prst="rect">
            <a:avLst/>
          </a:prstGeom>
          <a:noFill/>
        </p:spPr>
        <p:txBody>
          <a:bodyPr wrap="square" lIns="36000" tIns="0" rIns="0" bIns="0" rtlCol="0" anchor="ctr">
            <a:spAutoFit/>
          </a:bodyPr>
          <a:lstStyle/>
          <a:p>
            <a:pPr marL="92075" indent="-920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우선순위 추천</a:t>
            </a:r>
            <a:endParaRPr lang="en-US" altLang="ko-KR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2075" indent="-920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검토 보조</a:t>
            </a:r>
          </a:p>
          <a:p>
            <a:pPr marL="92075" indent="-920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통계 데이터 특이사항 제시</a:t>
            </a:r>
            <a:endParaRPr lang="en-US" altLang="ko-KR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E08BE09-F91B-4963-9918-C4167D5CCDEA}"/>
              </a:ext>
            </a:extLst>
          </p:cNvPr>
          <p:cNvSpPr/>
          <p:nvPr/>
        </p:nvSpPr>
        <p:spPr>
          <a:xfrm>
            <a:off x="685663" y="5579878"/>
            <a:ext cx="7757434" cy="621447"/>
          </a:xfrm>
          <a:prstGeom prst="roundRect">
            <a:avLst/>
          </a:prstGeom>
          <a:solidFill>
            <a:srgbClr val="F2F8FE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D14CF7B6-E817-42FE-90E3-CF5EF2D503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5624275"/>
            <a:ext cx="739140" cy="515679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7F1FF08C-C5E7-46DC-8AD2-D6030A12A722}"/>
              </a:ext>
            </a:extLst>
          </p:cNvPr>
          <p:cNvSpPr txBox="1"/>
          <p:nvPr/>
        </p:nvSpPr>
        <p:spPr>
          <a:xfrm>
            <a:off x="1653677" y="5743614"/>
            <a:ext cx="30652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반복되는 지식 업무를 더 빠르고 일관되게 처리</a:t>
            </a:r>
          </a:p>
        </p:txBody>
      </p:sp>
    </p:spTree>
    <p:extLst>
      <p:ext uri="{BB962C8B-B14F-4D97-AF65-F5344CB8AC3E}">
        <p14:creationId xmlns:p14="http://schemas.microsoft.com/office/powerpoint/2010/main" val="2248137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 txBox="1">
            <a:spLocks/>
          </p:cNvSpPr>
          <p:nvPr/>
        </p:nvSpPr>
        <p:spPr>
          <a:xfrm>
            <a:off x="424800" y="365520"/>
            <a:ext cx="8640000" cy="338400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600" b="1" kern="1200" spc="-20" baseline="0" dirty="0"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| </a:t>
            </a:r>
            <a:r>
              <a:rPr lang="ko-KR" altLang="en-US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어떻게 활용할 수 있는가</a:t>
            </a:r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8427584" y="365520"/>
            <a:ext cx="343364" cy="20864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266700" indent="-26670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lang="ko-KR" altLang="en-US" sz="1400" b="1" kern="1200" spc="-20" baseline="0" dirty="0" smtClean="0">
                <a:ln>
                  <a:noFill/>
                </a:ln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2667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446087" indent="0" algn="l" defTabSz="914400" rtl="0" eaLnBrk="1" latinLnBrk="1" hangingPunct="1">
              <a:lnSpc>
                <a:spcPct val="150000"/>
              </a:lnSpc>
              <a:spcBef>
                <a:spcPts val="3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625475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64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  <a:lvl6pPr marL="82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대외비</a:t>
            </a:r>
            <a:endParaRPr lang="en-US" altLang="ko-KR" sz="1000" dirty="0">
              <a:solidFill>
                <a:srgbClr val="07C63C"/>
              </a:solidFill>
              <a:latin typeface="NanumSquare ExtraBold" charset="-127"/>
              <a:ea typeface="NanumSquare ExtraBold" charset="-127"/>
              <a:cs typeface="NanumSquare ExtraBold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45CAE86-16CA-4090-9EA3-9E274DF86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364" y="1735344"/>
            <a:ext cx="8427584" cy="28489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A0EAC8-F44A-4A9D-BD9A-118D4B6018A9}"/>
              </a:ext>
            </a:extLst>
          </p:cNvPr>
          <p:cNvSpPr txBox="1"/>
          <p:nvPr/>
        </p:nvSpPr>
        <p:spPr>
          <a:xfrm>
            <a:off x="296545" y="4266100"/>
            <a:ext cx="1207986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질문하기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9B1235-4185-4784-8F4F-82A1DB4B682F}"/>
              </a:ext>
            </a:extLst>
          </p:cNvPr>
          <p:cNvSpPr txBox="1"/>
          <p:nvPr/>
        </p:nvSpPr>
        <p:spPr>
          <a:xfrm>
            <a:off x="1378585" y="4158447"/>
            <a:ext cx="1207986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목적</a:t>
            </a:r>
            <a:r>
              <a:rPr lang="en-US" altLang="ko-KR" sz="1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·</a:t>
            </a:r>
            <a:r>
              <a:rPr lang="ko-KR" altLang="en-US" sz="1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맥락 정하기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00E8D4-7DCA-4CF7-A52B-8920219D03AF}"/>
              </a:ext>
            </a:extLst>
          </p:cNvPr>
          <p:cNvSpPr txBox="1"/>
          <p:nvPr/>
        </p:nvSpPr>
        <p:spPr>
          <a:xfrm>
            <a:off x="2444763" y="4094474"/>
            <a:ext cx="1207986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자료 붙이기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80FE6C-A116-4300-91CA-B28DE16670AF}"/>
              </a:ext>
            </a:extLst>
          </p:cNvPr>
          <p:cNvSpPr txBox="1"/>
          <p:nvPr/>
        </p:nvSpPr>
        <p:spPr>
          <a:xfrm>
            <a:off x="3449027" y="3902874"/>
            <a:ext cx="1207986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프롬프트</a:t>
            </a:r>
            <a:endParaRPr lang="en-US" altLang="ko-KR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pPr algn="ctr"/>
            <a:r>
              <a:rPr lang="ko-KR" altLang="en-US" sz="1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다듬기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4EE83B-EB28-4143-B1A3-807DB05B250D}"/>
              </a:ext>
            </a:extLst>
          </p:cNvPr>
          <p:cNvSpPr txBox="1"/>
          <p:nvPr/>
        </p:nvSpPr>
        <p:spPr>
          <a:xfrm>
            <a:off x="4501730" y="3789115"/>
            <a:ext cx="1207986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출력 형식</a:t>
            </a:r>
            <a:endParaRPr lang="en-US" altLang="ko-KR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pPr algn="ctr"/>
            <a:r>
              <a:rPr lang="ko-KR" altLang="en-US" sz="1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정하기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6D134C-C4DE-4906-B0B4-2C61AA8C2FCD}"/>
              </a:ext>
            </a:extLst>
          </p:cNvPr>
          <p:cNvSpPr txBox="1"/>
          <p:nvPr/>
        </p:nvSpPr>
        <p:spPr>
          <a:xfrm>
            <a:off x="5583072" y="3728696"/>
            <a:ext cx="1207986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워크플로우 연결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0EF190-D2F1-4E9B-B231-85675604A183}"/>
              </a:ext>
            </a:extLst>
          </p:cNvPr>
          <p:cNvSpPr txBox="1"/>
          <p:nvPr/>
        </p:nvSpPr>
        <p:spPr>
          <a:xfrm>
            <a:off x="6612782" y="3443663"/>
            <a:ext cx="1207986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자동화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65B428-4536-4E85-AF74-AA16D7DBAD02}"/>
              </a:ext>
            </a:extLst>
          </p:cNvPr>
          <p:cNvSpPr txBox="1"/>
          <p:nvPr/>
        </p:nvSpPr>
        <p:spPr>
          <a:xfrm>
            <a:off x="7651787" y="3159812"/>
            <a:ext cx="1207986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품질 확인</a:t>
            </a:r>
            <a:endParaRPr lang="en-US" altLang="ko-KR" sz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pPr algn="ctr"/>
            <a:r>
              <a:rPr lang="ko-KR" altLang="en-US" sz="1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에이전트 활용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9EB6614-5A9D-426B-8436-83F8BB1508D9}"/>
              </a:ext>
            </a:extLst>
          </p:cNvPr>
          <p:cNvSpPr/>
          <p:nvPr/>
        </p:nvSpPr>
        <p:spPr>
          <a:xfrm>
            <a:off x="386416" y="5111982"/>
            <a:ext cx="8384531" cy="627386"/>
          </a:xfrm>
          <a:prstGeom prst="roundRect">
            <a:avLst>
              <a:gd name="adj" fmla="val 6641"/>
            </a:avLst>
          </a:prstGeom>
          <a:solidFill>
            <a:srgbClr val="F0F7FD"/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3F7589C-77AE-41CD-A2D3-EC53A2DAFA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2996" y="5255634"/>
            <a:ext cx="451592" cy="42901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7D1902F-3793-4C70-B950-13DB01369A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538" y="5238142"/>
            <a:ext cx="450000" cy="435938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544E3661-5485-41C1-9304-E7F28D6FFC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8407" y="5205799"/>
            <a:ext cx="450000" cy="50062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8C7460B6-E627-42E1-A273-E25D1A7FE0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0684" y="5295208"/>
            <a:ext cx="450000" cy="33871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DDD15B2-B635-46D5-853B-F6E461D46095}"/>
              </a:ext>
            </a:extLst>
          </p:cNvPr>
          <p:cNvSpPr txBox="1"/>
          <p:nvPr/>
        </p:nvSpPr>
        <p:spPr>
          <a:xfrm>
            <a:off x="934195" y="5363778"/>
            <a:ext cx="1207986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2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회의록 정리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ABBD82-F2E3-407E-94DF-DB117197331F}"/>
              </a:ext>
            </a:extLst>
          </p:cNvPr>
          <p:cNvSpPr txBox="1"/>
          <p:nvPr/>
        </p:nvSpPr>
        <p:spPr>
          <a:xfrm>
            <a:off x="2821917" y="5294959"/>
            <a:ext cx="1207986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결정사항</a:t>
            </a:r>
            <a:r>
              <a:rPr lang="en-US" altLang="ko-KR" sz="1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/</a:t>
            </a:r>
          </a:p>
          <a:p>
            <a:pPr algn="ctr"/>
            <a:r>
              <a:rPr lang="ko-KR" altLang="en-US" sz="1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할 일 분리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953EBF-BB00-4242-B0FC-D094F492FE7F}"/>
              </a:ext>
            </a:extLst>
          </p:cNvPr>
          <p:cNvSpPr txBox="1"/>
          <p:nvPr/>
        </p:nvSpPr>
        <p:spPr>
          <a:xfrm>
            <a:off x="5070684" y="5378933"/>
            <a:ext cx="1207986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공유 메시지 생성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CA9005-CD90-4778-816A-06024152A1A0}"/>
              </a:ext>
            </a:extLst>
          </p:cNvPr>
          <p:cNvSpPr txBox="1"/>
          <p:nvPr/>
        </p:nvSpPr>
        <p:spPr>
          <a:xfrm>
            <a:off x="7357753" y="5378933"/>
            <a:ext cx="1207986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2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반복 업무 템플릿화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50531393-B2B3-4F5B-A43D-1136CC892F5E}"/>
              </a:ext>
            </a:extLst>
          </p:cNvPr>
          <p:cNvSpPr/>
          <p:nvPr/>
        </p:nvSpPr>
        <p:spPr>
          <a:xfrm>
            <a:off x="2176664" y="5385930"/>
            <a:ext cx="198120" cy="195803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A9731C8D-E0AC-4B70-9402-7331FBD6A69C}"/>
              </a:ext>
            </a:extLst>
          </p:cNvPr>
          <p:cNvSpPr/>
          <p:nvPr/>
        </p:nvSpPr>
        <p:spPr>
          <a:xfrm>
            <a:off x="4082285" y="5381197"/>
            <a:ext cx="198120" cy="195803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8305FC1C-22E6-4B87-9EC3-AC3CB06E73FC}"/>
              </a:ext>
            </a:extLst>
          </p:cNvPr>
          <p:cNvSpPr/>
          <p:nvPr/>
        </p:nvSpPr>
        <p:spPr>
          <a:xfrm>
            <a:off x="6453122" y="5378933"/>
            <a:ext cx="198120" cy="195803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831200" y="1183920"/>
            <a:ext cx="7596384" cy="869605"/>
          </a:xfrm>
          <a:prstGeom prst="rect">
            <a:avLst/>
          </a:prstGeom>
        </p:spPr>
        <p:txBody>
          <a:bodyPr lIns="0" tIns="0" rIns="0" bIns="0"/>
          <a:lstStyle>
            <a:lvl1pPr marL="266700" indent="-26670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lang="ko-KR" altLang="en-US" sz="1400" b="1" kern="1200" spc="-20" baseline="0" dirty="0" smtClean="0">
                <a:ln>
                  <a:noFill/>
                </a:ln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2667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446087" indent="0" algn="l" defTabSz="914400" rtl="0" eaLnBrk="1" latinLnBrk="1" hangingPunct="1">
              <a:lnSpc>
                <a:spcPct val="150000"/>
              </a:lnSpc>
              <a:spcBef>
                <a:spcPts val="3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625475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64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  <a:lvl6pPr marL="82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AI 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활용은 질문에서 구조로 발전합니다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.</a:t>
            </a:r>
          </a:p>
          <a:p>
            <a:pPr marL="0" indent="0">
              <a:buNone/>
            </a:pPr>
            <a:r>
              <a:rPr lang="ko-KR" altLang="en-US" sz="1200" b="0" dirty="0">
                <a:solidFill>
                  <a:srgbClr val="626366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NanumSquare" charset="-127"/>
              </a:rPr>
              <a:t>단순 질문에서 시작해 목적</a:t>
            </a:r>
            <a:r>
              <a:rPr lang="en-US" altLang="ko-KR" sz="1200" b="0" dirty="0">
                <a:solidFill>
                  <a:srgbClr val="626366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NanumSquare" charset="-127"/>
              </a:rPr>
              <a:t>·</a:t>
            </a:r>
            <a:r>
              <a:rPr lang="ko-KR" altLang="en-US" sz="1200" b="0" dirty="0">
                <a:solidFill>
                  <a:srgbClr val="626366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NanumSquare" charset="-127"/>
              </a:rPr>
              <a:t>맥락</a:t>
            </a:r>
            <a:r>
              <a:rPr lang="en-US" altLang="ko-KR" sz="1200" b="0" dirty="0">
                <a:solidFill>
                  <a:srgbClr val="626366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NanumSquare" charset="-127"/>
              </a:rPr>
              <a:t>·</a:t>
            </a:r>
            <a:r>
              <a:rPr lang="ko-KR" altLang="en-US" sz="1200" b="0" dirty="0">
                <a:solidFill>
                  <a:srgbClr val="626366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NanumSquare" charset="-127"/>
              </a:rPr>
              <a:t>자료</a:t>
            </a:r>
            <a:r>
              <a:rPr lang="en-US" altLang="ko-KR" sz="1200" b="0" dirty="0">
                <a:solidFill>
                  <a:srgbClr val="626366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NanumSquare" charset="-127"/>
              </a:rPr>
              <a:t>·</a:t>
            </a:r>
            <a:r>
              <a:rPr lang="ko-KR" altLang="en-US" sz="1200" b="0" dirty="0">
                <a:solidFill>
                  <a:srgbClr val="626366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NanumSquare" charset="-127"/>
              </a:rPr>
              <a:t>표준화</a:t>
            </a:r>
            <a:r>
              <a:rPr lang="en-US" altLang="ko-KR" sz="1200" b="0" dirty="0">
                <a:solidFill>
                  <a:srgbClr val="626366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NanumSquare" charset="-127"/>
              </a:rPr>
              <a:t>·</a:t>
            </a:r>
            <a:r>
              <a:rPr lang="ko-KR" altLang="en-US" sz="1200" b="0" dirty="0">
                <a:solidFill>
                  <a:srgbClr val="626366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NanumSquare" charset="-127"/>
              </a:rPr>
              <a:t>자동화</a:t>
            </a:r>
            <a:r>
              <a:rPr lang="en-US" altLang="ko-KR" sz="1200" b="0" dirty="0">
                <a:solidFill>
                  <a:srgbClr val="626366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NanumSquare" charset="-127"/>
              </a:rPr>
              <a:t>·</a:t>
            </a:r>
            <a:r>
              <a:rPr lang="ko-KR" altLang="en-US" sz="1200" b="0" dirty="0">
                <a:solidFill>
                  <a:srgbClr val="626366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NanumSquare" charset="-127"/>
              </a:rPr>
              <a:t>품질 확인 이 점차 누적되는 형태로 발전합니다</a:t>
            </a:r>
            <a:r>
              <a:rPr lang="en-US" altLang="ko-KR" sz="1200" b="0" dirty="0">
                <a:solidFill>
                  <a:srgbClr val="626366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NanumSquare" charset="-127"/>
              </a:rPr>
              <a:t>.</a:t>
            </a:r>
          </a:p>
          <a:p>
            <a:pPr indent="0">
              <a:buNone/>
            </a:pPr>
            <a:endParaRPr lang="en-US" altLang="ko-KR" sz="1100" b="0" dirty="0">
              <a:solidFill>
                <a:srgbClr val="626366"/>
              </a:solidFill>
              <a:latin typeface="NanumSquare" charset="-127"/>
              <a:ea typeface="NanumSquare" charset="-127"/>
              <a:cs typeface="NanumSquare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FF8826E6-E493-4218-B1A6-CD75FA830F3F}"/>
              </a:ext>
            </a:extLst>
          </p:cNvPr>
          <p:cNvSpPr/>
          <p:nvPr/>
        </p:nvSpPr>
        <p:spPr>
          <a:xfrm>
            <a:off x="477182" y="4995875"/>
            <a:ext cx="1207986" cy="204402"/>
          </a:xfrm>
          <a:prstGeom prst="roundRect">
            <a:avLst>
              <a:gd name="adj" fmla="val 29837"/>
            </a:avLst>
          </a:prstGeom>
          <a:solidFill>
            <a:schemeClr val="accent5">
              <a:lumMod val="40000"/>
              <a:lumOff val="60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예시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AF8C2D88-0349-4931-BFAC-D35322502A0D}"/>
              </a:ext>
            </a:extLst>
          </p:cNvPr>
          <p:cNvSpPr/>
          <p:nvPr/>
        </p:nvSpPr>
        <p:spPr>
          <a:xfrm>
            <a:off x="1445895" y="5996699"/>
            <a:ext cx="6252210" cy="621447"/>
          </a:xfrm>
          <a:prstGeom prst="roundRect">
            <a:avLst/>
          </a:prstGeom>
          <a:solidFill>
            <a:srgbClr val="F4F6FC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880B66-1C61-4193-A00A-72A99BC09E5A}"/>
              </a:ext>
            </a:extLst>
          </p:cNvPr>
          <p:cNvSpPr txBox="1"/>
          <p:nvPr/>
        </p:nvSpPr>
        <p:spPr>
          <a:xfrm>
            <a:off x="2181772" y="6136943"/>
            <a:ext cx="52870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무엇을 할 수 있는가를 넘어</a:t>
            </a:r>
            <a:r>
              <a:rPr lang="en-US" altLang="ko-KR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400" b="1" dirty="0">
                <a:solidFill>
                  <a:srgbClr val="253E9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어떻게 안정적으로 활용할 것인지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 중요합니다</a:t>
            </a:r>
            <a:r>
              <a:rPr lang="en-US" altLang="ko-KR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F62BA813-DA5D-43FF-848A-7A0876472D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2477" y="6021672"/>
            <a:ext cx="638175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31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/>
          <p:cNvSpPr txBox="1">
            <a:spLocks/>
          </p:cNvSpPr>
          <p:nvPr/>
        </p:nvSpPr>
        <p:spPr>
          <a:xfrm>
            <a:off x="831200" y="1183920"/>
            <a:ext cx="7596384" cy="869605"/>
          </a:xfrm>
          <a:prstGeom prst="rect">
            <a:avLst/>
          </a:prstGeom>
        </p:spPr>
        <p:txBody>
          <a:bodyPr lIns="0" tIns="0" rIns="0" bIns="0"/>
          <a:lstStyle>
            <a:lvl1pPr marL="266700" indent="-26670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lang="ko-KR" altLang="en-US" sz="1400" b="1" kern="1200" spc="-20" baseline="0" dirty="0" smtClean="0">
                <a:ln>
                  <a:noFill/>
                </a:ln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2667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446087" indent="0" algn="l" defTabSz="914400" rtl="0" eaLnBrk="1" latinLnBrk="1" hangingPunct="1">
              <a:lnSpc>
                <a:spcPct val="150000"/>
              </a:lnSpc>
              <a:spcBef>
                <a:spcPts val="3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625475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64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  <a:lvl6pPr marL="82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AI 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활용 기준은 공통적으로 필요하지만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, 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설계 중점은 다를 수 있습니다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.</a:t>
            </a:r>
          </a:p>
          <a:p>
            <a:pPr marL="0" indent="0">
              <a:buNone/>
            </a:pPr>
            <a:r>
              <a:rPr lang="en-US" altLang="ko-KR" sz="1200" b="0" dirty="0">
                <a:solidFill>
                  <a:srgbClr val="626366"/>
                </a:solidFill>
                <a:latin typeface="NanumSquare" charset="-127"/>
                <a:ea typeface="NanumSquare" charset="-127"/>
                <a:cs typeface="NanumSquare" charset="-127"/>
              </a:rPr>
              <a:t>AX </a:t>
            </a:r>
            <a:r>
              <a:rPr lang="ko-KR" altLang="en-US" sz="1200" b="0" dirty="0">
                <a:solidFill>
                  <a:srgbClr val="626366"/>
                </a:solidFill>
                <a:latin typeface="NanumSquare" charset="-127"/>
                <a:ea typeface="NanumSquare" charset="-127"/>
                <a:cs typeface="NanumSquare" charset="-127"/>
              </a:rPr>
              <a:t>를 어느 분야에 </a:t>
            </a:r>
            <a:r>
              <a:rPr lang="ko-KR" altLang="en-US" sz="1200" b="0" dirty="0" err="1">
                <a:solidFill>
                  <a:srgbClr val="626366"/>
                </a:solidFill>
                <a:latin typeface="NanumSquare" charset="-127"/>
                <a:ea typeface="NanumSquare" charset="-127"/>
                <a:cs typeface="NanumSquare" charset="-127"/>
              </a:rPr>
              <a:t>적용하냐에</a:t>
            </a:r>
            <a:r>
              <a:rPr lang="ko-KR" altLang="en-US" sz="1200" b="0" dirty="0">
                <a:solidFill>
                  <a:srgbClr val="626366"/>
                </a:solidFill>
                <a:latin typeface="NanumSquare" charset="-127"/>
                <a:ea typeface="NanumSquare" charset="-127"/>
                <a:cs typeface="NanumSquare" charset="-127"/>
              </a:rPr>
              <a:t> 따라 중요하게 보는 가치와 설계의 중심은 달라질 수 있습니다</a:t>
            </a:r>
            <a:r>
              <a:rPr lang="en-US" altLang="ko-KR" sz="1200" b="0" dirty="0">
                <a:solidFill>
                  <a:srgbClr val="626366"/>
                </a:solidFill>
                <a:latin typeface="NanumSquare" charset="-127"/>
                <a:ea typeface="NanumSquare" charset="-127"/>
                <a:cs typeface="NanumSquare" charset="-127"/>
              </a:rPr>
              <a:t>.</a:t>
            </a:r>
            <a:endParaRPr lang="en-US" altLang="ko-KR" b="0" dirty="0">
              <a:solidFill>
                <a:srgbClr val="626366"/>
              </a:solidFill>
              <a:latin typeface="NanumSquare" charset="-127"/>
              <a:ea typeface="NanumSquare" charset="-127"/>
              <a:cs typeface="NanumSquare" charset="-127"/>
            </a:endParaRPr>
          </a:p>
          <a:p>
            <a:pPr indent="0">
              <a:buNone/>
            </a:pPr>
            <a:endParaRPr lang="en-US" altLang="ko-KR" sz="1100" b="0" dirty="0">
              <a:solidFill>
                <a:srgbClr val="626366"/>
              </a:solidFill>
              <a:latin typeface="NanumSquare" charset="-127"/>
              <a:ea typeface="NanumSquare" charset="-127"/>
              <a:cs typeface="NanumSquare" charset="-127"/>
            </a:endParaRP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424800" y="365520"/>
            <a:ext cx="8640000" cy="338400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600" b="1" kern="1200" spc="-20" baseline="0" dirty="0"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| AI </a:t>
            </a:r>
            <a:r>
              <a:rPr lang="ko-KR" altLang="en-US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활용 기준의 설계 중점</a:t>
            </a:r>
            <a:endParaRPr lang="en-US" altLang="ko-KR" sz="2000" dirty="0">
              <a:solidFill>
                <a:srgbClr val="07C63C"/>
              </a:solidFill>
              <a:latin typeface="NanumSquare ExtraBold" charset="-127"/>
              <a:ea typeface="NanumSquare ExtraBold" charset="-127"/>
              <a:cs typeface="NanumSquare ExtraBold" charset="-127"/>
            </a:endParaRPr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8427584" y="365520"/>
            <a:ext cx="343364" cy="20864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266700" indent="-26670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lang="ko-KR" altLang="en-US" sz="1400" b="1" kern="1200" spc="-20" baseline="0" dirty="0" smtClean="0">
                <a:ln>
                  <a:noFill/>
                </a:ln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2667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446087" indent="0" algn="l" defTabSz="914400" rtl="0" eaLnBrk="1" latinLnBrk="1" hangingPunct="1">
              <a:lnSpc>
                <a:spcPct val="150000"/>
              </a:lnSpc>
              <a:spcBef>
                <a:spcPts val="3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625475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64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  <a:lvl6pPr marL="82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대외비</a:t>
            </a:r>
            <a:endParaRPr lang="en-US" altLang="ko-KR" sz="1000" dirty="0">
              <a:solidFill>
                <a:srgbClr val="07C63C"/>
              </a:solidFill>
              <a:latin typeface="NanumSquare ExtraBold" charset="-127"/>
              <a:ea typeface="NanumSquare ExtraBold" charset="-127"/>
              <a:cs typeface="NanumSquare ExtraBold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A3FBC79-A25E-489C-A8D7-F62A4C6CE8D9}"/>
              </a:ext>
            </a:extLst>
          </p:cNvPr>
          <p:cNvSpPr/>
          <p:nvPr/>
        </p:nvSpPr>
        <p:spPr>
          <a:xfrm>
            <a:off x="250825" y="2148193"/>
            <a:ext cx="1582028" cy="2999540"/>
          </a:xfrm>
          <a:prstGeom prst="roundRect">
            <a:avLst>
              <a:gd name="adj" fmla="val 6641"/>
            </a:avLst>
          </a:prstGeom>
          <a:solidFill>
            <a:schemeClr val="bg1"/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ECCA3C4-F84F-4AC5-B827-9702E824F139}"/>
              </a:ext>
            </a:extLst>
          </p:cNvPr>
          <p:cNvSpPr/>
          <p:nvPr/>
        </p:nvSpPr>
        <p:spPr>
          <a:xfrm>
            <a:off x="3780986" y="2148193"/>
            <a:ext cx="1582028" cy="2999540"/>
          </a:xfrm>
          <a:prstGeom prst="roundRect">
            <a:avLst>
              <a:gd name="adj" fmla="val 6641"/>
            </a:avLst>
          </a:prstGeom>
          <a:solidFill>
            <a:schemeClr val="bg1"/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E517FDA-DFE4-4B96-B105-28DF352E7629}"/>
              </a:ext>
            </a:extLst>
          </p:cNvPr>
          <p:cNvSpPr/>
          <p:nvPr/>
        </p:nvSpPr>
        <p:spPr>
          <a:xfrm>
            <a:off x="2032582" y="2148193"/>
            <a:ext cx="1582028" cy="2999540"/>
          </a:xfrm>
          <a:prstGeom prst="roundRect">
            <a:avLst>
              <a:gd name="adj" fmla="val 6641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outerShdw blurRad="50800" dist="38100" dir="5400000" algn="t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332236C-6328-4041-A458-4FE026451DDF}"/>
              </a:ext>
            </a:extLst>
          </p:cNvPr>
          <p:cNvSpPr/>
          <p:nvPr/>
        </p:nvSpPr>
        <p:spPr>
          <a:xfrm>
            <a:off x="7311147" y="2148193"/>
            <a:ext cx="1582028" cy="2999540"/>
          </a:xfrm>
          <a:prstGeom prst="roundRect">
            <a:avLst>
              <a:gd name="adj" fmla="val 6641"/>
            </a:avLst>
          </a:prstGeom>
          <a:solidFill>
            <a:schemeClr val="bg1"/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2AEC9CE-9C46-41D1-A2E4-6F017FD96A36}"/>
              </a:ext>
            </a:extLst>
          </p:cNvPr>
          <p:cNvSpPr/>
          <p:nvPr/>
        </p:nvSpPr>
        <p:spPr>
          <a:xfrm>
            <a:off x="5529390" y="2148193"/>
            <a:ext cx="1582028" cy="2999540"/>
          </a:xfrm>
          <a:prstGeom prst="roundRect">
            <a:avLst>
              <a:gd name="adj" fmla="val 6641"/>
            </a:avLst>
          </a:prstGeom>
          <a:solidFill>
            <a:schemeClr val="bg1"/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6331736-78A3-470D-B2E5-FBE86D2D9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66" y="2336841"/>
            <a:ext cx="807546" cy="74502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EE0486A-8795-4C4A-9F13-EF038E3B24A8}"/>
              </a:ext>
            </a:extLst>
          </p:cNvPr>
          <p:cNvSpPr txBox="1"/>
          <p:nvPr/>
        </p:nvSpPr>
        <p:spPr>
          <a:xfrm>
            <a:off x="437868" y="3176535"/>
            <a:ext cx="1207986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창의성과 유연성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A61F923-28F6-491F-8B0E-A59162B43277}"/>
              </a:ext>
            </a:extLst>
          </p:cNvPr>
          <p:cNvCxnSpPr>
            <a:cxnSpLocks/>
          </p:cNvCxnSpPr>
          <p:nvPr/>
        </p:nvCxnSpPr>
        <p:spPr>
          <a:xfrm>
            <a:off x="321839" y="3496713"/>
            <a:ext cx="1433195" cy="0"/>
          </a:xfrm>
          <a:prstGeom prst="line">
            <a:avLst/>
          </a:prstGeom>
          <a:ln>
            <a:solidFill>
              <a:srgbClr val="92AF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5982F41-FE10-41F6-B02E-581253FDA416}"/>
              </a:ext>
            </a:extLst>
          </p:cNvPr>
          <p:cNvSpPr txBox="1"/>
          <p:nvPr/>
        </p:nvSpPr>
        <p:spPr>
          <a:xfrm>
            <a:off x="250869" y="3729500"/>
            <a:ext cx="1581984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미디어</a:t>
            </a:r>
            <a:r>
              <a:rPr lang="en-US" altLang="ko-KR" sz="1200" dirty="0">
                <a:solidFill>
                  <a:schemeClr val="accent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·</a:t>
            </a:r>
            <a:r>
              <a:rPr lang="ko-KR" altLang="en-US" sz="1200" dirty="0">
                <a:solidFill>
                  <a:schemeClr val="accent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마케팅</a:t>
            </a:r>
            <a:r>
              <a:rPr lang="en-US" altLang="ko-KR" sz="1200" dirty="0">
                <a:solidFill>
                  <a:schemeClr val="accent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·</a:t>
            </a:r>
            <a:r>
              <a:rPr lang="ko-KR" altLang="en-US" sz="1200" dirty="0">
                <a:solidFill>
                  <a:schemeClr val="accent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디자인</a:t>
            </a:r>
            <a:endParaRPr lang="en-US" altLang="ko-KR" sz="1200" dirty="0">
              <a:solidFill>
                <a:schemeClr val="accent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5384164F-9A52-4A15-9F9D-65EC519A0EFA}"/>
              </a:ext>
            </a:extLst>
          </p:cNvPr>
          <p:cNvCxnSpPr>
            <a:cxnSpLocks/>
          </p:cNvCxnSpPr>
          <p:nvPr/>
        </p:nvCxnSpPr>
        <p:spPr>
          <a:xfrm>
            <a:off x="321839" y="4146953"/>
            <a:ext cx="1433195" cy="0"/>
          </a:xfrm>
          <a:prstGeom prst="line">
            <a:avLst/>
          </a:prstGeom>
          <a:ln>
            <a:solidFill>
              <a:srgbClr val="92AF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72E046A-AA71-402E-B867-8778B9805445}"/>
              </a:ext>
            </a:extLst>
          </p:cNvPr>
          <p:cNvSpPr txBox="1"/>
          <p:nvPr/>
        </p:nvSpPr>
        <p:spPr>
          <a:xfrm>
            <a:off x="1000595" y="4262807"/>
            <a:ext cx="890033" cy="67031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 확장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빠른 시안 생성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빠른 변화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F50044D-43DB-4405-9904-833E23944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834" y="4379740"/>
            <a:ext cx="345937" cy="329971"/>
          </a:xfrm>
          <a:prstGeom prst="rect">
            <a:avLst/>
          </a:prstGeom>
        </p:spPr>
      </p:pic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41F2FEA-F57D-4534-8A81-DB6C1AC56AFB}"/>
              </a:ext>
            </a:extLst>
          </p:cNvPr>
          <p:cNvCxnSpPr>
            <a:cxnSpLocks/>
          </p:cNvCxnSpPr>
          <p:nvPr/>
        </p:nvCxnSpPr>
        <p:spPr>
          <a:xfrm>
            <a:off x="885384" y="4265863"/>
            <a:ext cx="0" cy="646071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A7A68CD-AD69-4236-9CA1-3126CF78EDD9}"/>
              </a:ext>
            </a:extLst>
          </p:cNvPr>
          <p:cNvSpPr txBox="1"/>
          <p:nvPr/>
        </p:nvSpPr>
        <p:spPr>
          <a:xfrm>
            <a:off x="2240642" y="3084202"/>
            <a:ext cx="1207986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신뢰성과 통제</a:t>
            </a:r>
            <a:r>
              <a:rPr lang="en-US" altLang="ko-KR" sz="1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,</a:t>
            </a:r>
          </a:p>
          <a:p>
            <a:pPr algn="ctr"/>
            <a:r>
              <a:rPr lang="ko-KR" altLang="en-US" sz="1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검토 가능성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26F4A452-AE78-4852-8EB9-56B4652C94D0}"/>
              </a:ext>
            </a:extLst>
          </p:cNvPr>
          <p:cNvCxnSpPr>
            <a:cxnSpLocks/>
          </p:cNvCxnSpPr>
          <p:nvPr/>
        </p:nvCxnSpPr>
        <p:spPr>
          <a:xfrm>
            <a:off x="2124613" y="3496713"/>
            <a:ext cx="1433195" cy="0"/>
          </a:xfrm>
          <a:prstGeom prst="line">
            <a:avLst/>
          </a:prstGeom>
          <a:ln>
            <a:solidFill>
              <a:srgbClr val="92AF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CEA342F-3B31-4492-ABEC-812E9E02A35F}"/>
              </a:ext>
            </a:extLst>
          </p:cNvPr>
          <p:cNvSpPr txBox="1"/>
          <p:nvPr/>
        </p:nvSpPr>
        <p:spPr>
          <a:xfrm>
            <a:off x="2053643" y="3637167"/>
            <a:ext cx="1581984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보안</a:t>
            </a:r>
            <a:r>
              <a:rPr lang="en-US" altLang="ko-KR" sz="1200" dirty="0">
                <a:solidFill>
                  <a:schemeClr val="accent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·</a:t>
            </a:r>
            <a:r>
              <a:rPr lang="ko-KR" altLang="en-US" sz="1200" dirty="0">
                <a:solidFill>
                  <a:schemeClr val="accent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운영 계열</a:t>
            </a:r>
            <a:endParaRPr lang="en-US" altLang="ko-KR" sz="1200" dirty="0">
              <a:solidFill>
                <a:schemeClr val="accent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accent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금융</a:t>
            </a:r>
            <a:r>
              <a:rPr lang="en-US" altLang="ko-KR" sz="1200" dirty="0">
                <a:solidFill>
                  <a:schemeClr val="accent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·</a:t>
            </a:r>
            <a:r>
              <a:rPr lang="ko-KR" altLang="en-US" sz="1200" dirty="0">
                <a:solidFill>
                  <a:schemeClr val="accent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의료</a:t>
            </a:r>
            <a:endParaRPr lang="en-US" altLang="ko-KR" sz="1200" dirty="0">
              <a:solidFill>
                <a:schemeClr val="accent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50277007-3507-4BBC-9A3E-023D4D41BF60}"/>
              </a:ext>
            </a:extLst>
          </p:cNvPr>
          <p:cNvCxnSpPr>
            <a:cxnSpLocks/>
          </p:cNvCxnSpPr>
          <p:nvPr/>
        </p:nvCxnSpPr>
        <p:spPr>
          <a:xfrm>
            <a:off x="2124613" y="4146953"/>
            <a:ext cx="1433195" cy="0"/>
          </a:xfrm>
          <a:prstGeom prst="line">
            <a:avLst/>
          </a:prstGeom>
          <a:ln>
            <a:solidFill>
              <a:srgbClr val="92AF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2B6F8DA3-D53F-4D13-A9BB-124C30F35BA3}"/>
              </a:ext>
            </a:extLst>
          </p:cNvPr>
          <p:cNvCxnSpPr>
            <a:cxnSpLocks/>
          </p:cNvCxnSpPr>
          <p:nvPr/>
        </p:nvCxnSpPr>
        <p:spPr>
          <a:xfrm>
            <a:off x="2688158" y="4265863"/>
            <a:ext cx="0" cy="646071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6238486-3902-4908-B458-2BE69235BF51}"/>
              </a:ext>
            </a:extLst>
          </p:cNvPr>
          <p:cNvSpPr txBox="1"/>
          <p:nvPr/>
        </p:nvSpPr>
        <p:spPr>
          <a:xfrm>
            <a:off x="3967985" y="3176535"/>
            <a:ext cx="1207986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개인화와 맥락 반영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EE8AD16E-8D51-4861-B3D9-A9DC6482E7DA}"/>
              </a:ext>
            </a:extLst>
          </p:cNvPr>
          <p:cNvCxnSpPr>
            <a:cxnSpLocks/>
          </p:cNvCxnSpPr>
          <p:nvPr/>
        </p:nvCxnSpPr>
        <p:spPr>
          <a:xfrm>
            <a:off x="3851956" y="3496713"/>
            <a:ext cx="1433195" cy="0"/>
          </a:xfrm>
          <a:prstGeom prst="line">
            <a:avLst/>
          </a:prstGeom>
          <a:ln>
            <a:solidFill>
              <a:srgbClr val="92AF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32E8D4F-7F78-4434-8438-F69623CCB038}"/>
              </a:ext>
            </a:extLst>
          </p:cNvPr>
          <p:cNvSpPr txBox="1"/>
          <p:nvPr/>
        </p:nvSpPr>
        <p:spPr>
          <a:xfrm>
            <a:off x="3780986" y="3729500"/>
            <a:ext cx="1581984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교육</a:t>
            </a:r>
            <a:r>
              <a:rPr lang="en-US" altLang="ko-KR" sz="1200" dirty="0">
                <a:solidFill>
                  <a:schemeClr val="accent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·</a:t>
            </a:r>
            <a:r>
              <a:rPr lang="ko-KR" altLang="en-US" sz="1200" dirty="0">
                <a:solidFill>
                  <a:schemeClr val="accent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커머스</a:t>
            </a:r>
            <a:r>
              <a:rPr lang="en-US" altLang="ko-KR" sz="1200" dirty="0">
                <a:solidFill>
                  <a:schemeClr val="accent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·</a:t>
            </a:r>
            <a:r>
              <a:rPr lang="ko-KR" altLang="en-US" sz="1200" dirty="0">
                <a:solidFill>
                  <a:schemeClr val="accent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헬스케어</a:t>
            </a:r>
            <a:endParaRPr lang="en-US" altLang="ko-KR" sz="1200" dirty="0">
              <a:solidFill>
                <a:schemeClr val="accent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ED56E39A-153D-4B93-8155-26E6FA2238B8}"/>
              </a:ext>
            </a:extLst>
          </p:cNvPr>
          <p:cNvCxnSpPr>
            <a:cxnSpLocks/>
          </p:cNvCxnSpPr>
          <p:nvPr/>
        </p:nvCxnSpPr>
        <p:spPr>
          <a:xfrm>
            <a:off x="3851956" y="4146953"/>
            <a:ext cx="1433195" cy="0"/>
          </a:xfrm>
          <a:prstGeom prst="line">
            <a:avLst/>
          </a:prstGeom>
          <a:ln>
            <a:solidFill>
              <a:srgbClr val="92AF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B94A8852-18A7-4765-8BC6-C7B6CE72580C}"/>
              </a:ext>
            </a:extLst>
          </p:cNvPr>
          <p:cNvCxnSpPr>
            <a:cxnSpLocks/>
          </p:cNvCxnSpPr>
          <p:nvPr/>
        </p:nvCxnSpPr>
        <p:spPr>
          <a:xfrm>
            <a:off x="4415501" y="4265863"/>
            <a:ext cx="0" cy="646071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D1551BF-76BF-4C2A-9040-408290AB5C35}"/>
              </a:ext>
            </a:extLst>
          </p:cNvPr>
          <p:cNvSpPr txBox="1"/>
          <p:nvPr/>
        </p:nvSpPr>
        <p:spPr>
          <a:xfrm>
            <a:off x="5710588" y="3176535"/>
            <a:ext cx="1207986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최적화와 자율화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88CA31CD-0180-41CA-A50A-AFC0A2AC6BC8}"/>
              </a:ext>
            </a:extLst>
          </p:cNvPr>
          <p:cNvCxnSpPr>
            <a:cxnSpLocks/>
          </p:cNvCxnSpPr>
          <p:nvPr/>
        </p:nvCxnSpPr>
        <p:spPr>
          <a:xfrm>
            <a:off x="5594559" y="3496713"/>
            <a:ext cx="1433195" cy="0"/>
          </a:xfrm>
          <a:prstGeom prst="line">
            <a:avLst/>
          </a:prstGeom>
          <a:ln>
            <a:solidFill>
              <a:srgbClr val="92AF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98AA807-89FB-464F-838B-2D96DC5A95B7}"/>
              </a:ext>
            </a:extLst>
          </p:cNvPr>
          <p:cNvSpPr txBox="1"/>
          <p:nvPr/>
        </p:nvSpPr>
        <p:spPr>
          <a:xfrm>
            <a:off x="5517744" y="3729500"/>
            <a:ext cx="1593674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제조</a:t>
            </a:r>
            <a:r>
              <a:rPr lang="en-US" altLang="ko-KR" sz="1200" dirty="0">
                <a:solidFill>
                  <a:schemeClr val="accent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·</a:t>
            </a:r>
            <a:r>
              <a:rPr lang="ko-KR" altLang="en-US" sz="1200" dirty="0">
                <a:solidFill>
                  <a:schemeClr val="accent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물류</a:t>
            </a:r>
            <a:r>
              <a:rPr lang="en-US" altLang="ko-KR" sz="1200" dirty="0">
                <a:solidFill>
                  <a:schemeClr val="accent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·</a:t>
            </a:r>
            <a:r>
              <a:rPr lang="ko-KR" altLang="en-US" sz="1200" dirty="0">
                <a:solidFill>
                  <a:schemeClr val="accent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유통</a:t>
            </a:r>
            <a:r>
              <a:rPr lang="en-US" altLang="ko-KR" sz="1200" dirty="0">
                <a:solidFill>
                  <a:schemeClr val="accent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·</a:t>
            </a:r>
            <a:r>
              <a:rPr lang="ko-KR" altLang="en-US" sz="1200" dirty="0" err="1">
                <a:solidFill>
                  <a:schemeClr val="accent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모빌리티</a:t>
            </a:r>
            <a:endParaRPr lang="en-US" altLang="ko-KR" sz="1200" dirty="0">
              <a:solidFill>
                <a:schemeClr val="accent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4A9702C7-8187-4EF9-B004-0C949BFBABBC}"/>
              </a:ext>
            </a:extLst>
          </p:cNvPr>
          <p:cNvCxnSpPr>
            <a:cxnSpLocks/>
          </p:cNvCxnSpPr>
          <p:nvPr/>
        </p:nvCxnSpPr>
        <p:spPr>
          <a:xfrm>
            <a:off x="5594559" y="4146953"/>
            <a:ext cx="1433195" cy="0"/>
          </a:xfrm>
          <a:prstGeom prst="line">
            <a:avLst/>
          </a:prstGeom>
          <a:ln>
            <a:solidFill>
              <a:srgbClr val="92AF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429430A1-19C9-47DE-941D-797D038EE7AD}"/>
              </a:ext>
            </a:extLst>
          </p:cNvPr>
          <p:cNvCxnSpPr>
            <a:cxnSpLocks/>
          </p:cNvCxnSpPr>
          <p:nvPr/>
        </p:nvCxnSpPr>
        <p:spPr>
          <a:xfrm>
            <a:off x="6158104" y="4265863"/>
            <a:ext cx="0" cy="646071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7DB9FF26-C162-433B-8771-81C770B8BED3}"/>
              </a:ext>
            </a:extLst>
          </p:cNvPr>
          <p:cNvSpPr txBox="1"/>
          <p:nvPr/>
        </p:nvSpPr>
        <p:spPr>
          <a:xfrm>
            <a:off x="7498190" y="3176535"/>
            <a:ext cx="1207986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생산성과 연결성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1A389B00-8FD5-4649-AD9B-41751742F45C}"/>
              </a:ext>
            </a:extLst>
          </p:cNvPr>
          <p:cNvCxnSpPr>
            <a:cxnSpLocks/>
          </p:cNvCxnSpPr>
          <p:nvPr/>
        </p:nvCxnSpPr>
        <p:spPr>
          <a:xfrm>
            <a:off x="7382161" y="3496713"/>
            <a:ext cx="1433195" cy="0"/>
          </a:xfrm>
          <a:prstGeom prst="line">
            <a:avLst/>
          </a:prstGeom>
          <a:ln>
            <a:solidFill>
              <a:srgbClr val="92AF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240CB39-1AD3-45EF-BC89-2E7D0A406CF0}"/>
              </a:ext>
            </a:extLst>
          </p:cNvPr>
          <p:cNvSpPr txBox="1"/>
          <p:nvPr/>
        </p:nvSpPr>
        <p:spPr>
          <a:xfrm>
            <a:off x="7311191" y="3729500"/>
            <a:ext cx="1581984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개발</a:t>
            </a:r>
            <a:r>
              <a:rPr lang="en-US" altLang="ko-KR" sz="1200" dirty="0">
                <a:solidFill>
                  <a:schemeClr val="accent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·</a:t>
            </a:r>
            <a:r>
              <a:rPr lang="ko-KR" altLang="en-US" sz="1200" dirty="0">
                <a:solidFill>
                  <a:schemeClr val="accent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데이터</a:t>
            </a:r>
            <a:r>
              <a:rPr lang="en-US" altLang="ko-KR" sz="1200" dirty="0">
                <a:solidFill>
                  <a:schemeClr val="accent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·</a:t>
            </a:r>
            <a:r>
              <a:rPr lang="ko-KR" altLang="en-US" sz="1200" dirty="0">
                <a:solidFill>
                  <a:schemeClr val="accent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자동화구축</a:t>
            </a:r>
            <a:endParaRPr lang="en-US" altLang="ko-KR" sz="1200" dirty="0">
              <a:solidFill>
                <a:schemeClr val="accent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C72CF007-4303-426D-8DD5-EA77D5CE6DE4}"/>
              </a:ext>
            </a:extLst>
          </p:cNvPr>
          <p:cNvCxnSpPr>
            <a:cxnSpLocks/>
          </p:cNvCxnSpPr>
          <p:nvPr/>
        </p:nvCxnSpPr>
        <p:spPr>
          <a:xfrm>
            <a:off x="7382161" y="4146953"/>
            <a:ext cx="1433195" cy="0"/>
          </a:xfrm>
          <a:prstGeom prst="line">
            <a:avLst/>
          </a:prstGeom>
          <a:ln>
            <a:solidFill>
              <a:srgbClr val="92AF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88C79002-DE5A-43C2-979A-06F68F72EBE3}"/>
              </a:ext>
            </a:extLst>
          </p:cNvPr>
          <p:cNvCxnSpPr>
            <a:cxnSpLocks/>
          </p:cNvCxnSpPr>
          <p:nvPr/>
        </p:nvCxnSpPr>
        <p:spPr>
          <a:xfrm>
            <a:off x="7945706" y="4265863"/>
            <a:ext cx="0" cy="646071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154B91F0-3704-4B22-AEFF-6FAE41628F20}"/>
              </a:ext>
            </a:extLst>
          </p:cNvPr>
          <p:cNvSpPr txBox="1"/>
          <p:nvPr/>
        </p:nvSpPr>
        <p:spPr>
          <a:xfrm>
            <a:off x="2769786" y="4265863"/>
            <a:ext cx="890033" cy="67031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기준 기반 처리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이력 관리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책임 있는 검토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9B0C0115-465E-4750-9923-A83DFB2310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2414" y="2339002"/>
            <a:ext cx="788470" cy="745200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45C2CFF7-4B7D-450E-B3E2-E86F6A56B0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3383" y="2339002"/>
            <a:ext cx="750339" cy="745200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A3DA4451-6166-420B-9F6C-52E10BBCDF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4918" y="2336841"/>
            <a:ext cx="812475" cy="745200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B552E6E9-638E-4B7B-9447-3AD2BE3251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2278" y="2345063"/>
            <a:ext cx="750375" cy="745200"/>
          </a:xfrm>
          <a:prstGeom prst="rect">
            <a:avLst/>
          </a:prstGeom>
        </p:spPr>
      </p:pic>
      <p:pic>
        <p:nvPicPr>
          <p:cNvPr id="64" name="그림 63">
            <a:extLst>
              <a:ext uri="{FF2B5EF4-FFF2-40B4-BE49-F238E27FC236}">
                <a16:creationId xmlns:a16="http://schemas.microsoft.com/office/drawing/2014/main" id="{EB193C71-FAC6-4B52-B27F-175A5AC221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190" y="4381745"/>
            <a:ext cx="333500" cy="331200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9C225D9F-7C30-4A9C-A7FB-2F50ACA6B3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37867" y="4381745"/>
            <a:ext cx="335931" cy="331200"/>
          </a:xfrm>
          <a:prstGeom prst="rect">
            <a:avLst/>
          </a:prstGeom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8F1DD08A-CC22-4227-97D8-A4B965F1B7D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90195" y="4378113"/>
            <a:ext cx="312541" cy="331200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BF596A55-4985-4877-9E2C-B78268F416E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31687" y="4378113"/>
            <a:ext cx="274547" cy="33120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C1347587-4DA9-4A4B-A84E-A756851F8C90}"/>
              </a:ext>
            </a:extLst>
          </p:cNvPr>
          <p:cNvSpPr txBox="1"/>
          <p:nvPr/>
        </p:nvSpPr>
        <p:spPr>
          <a:xfrm>
            <a:off x="4495820" y="4257073"/>
            <a:ext cx="890033" cy="67031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개인별 니즈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상황 반영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맞춤형 경험</a:t>
            </a:r>
            <a:endParaRPr lang="en-US" altLang="ko-KR" sz="1000" dirty="0" err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ED5E8F4-AB03-4632-9FD7-4759A12E8C07}"/>
              </a:ext>
            </a:extLst>
          </p:cNvPr>
          <p:cNvSpPr txBox="1"/>
          <p:nvPr/>
        </p:nvSpPr>
        <p:spPr>
          <a:xfrm>
            <a:off x="6232429" y="4272139"/>
            <a:ext cx="890033" cy="67031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예측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자원 배분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운영 효율화</a:t>
            </a:r>
            <a:endParaRPr lang="en-US" altLang="ko-KR" sz="1000" dirty="0" err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69153A6-7025-4F37-834C-41D608D4518B}"/>
              </a:ext>
            </a:extLst>
          </p:cNvPr>
          <p:cNvSpPr txBox="1"/>
          <p:nvPr/>
        </p:nvSpPr>
        <p:spPr>
          <a:xfrm>
            <a:off x="8018733" y="4257073"/>
            <a:ext cx="890033" cy="67031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코드 보조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문서화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 연동</a:t>
            </a:r>
            <a:endParaRPr lang="en-US" altLang="ko-KR" sz="1000" dirty="0" err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635FBF9C-1AD5-468D-89E7-9F2C3C683104}"/>
              </a:ext>
            </a:extLst>
          </p:cNvPr>
          <p:cNvSpPr/>
          <p:nvPr/>
        </p:nvSpPr>
        <p:spPr>
          <a:xfrm>
            <a:off x="685663" y="5562415"/>
            <a:ext cx="7757434" cy="755984"/>
          </a:xfrm>
          <a:prstGeom prst="roundRect">
            <a:avLst/>
          </a:prstGeom>
          <a:solidFill>
            <a:srgbClr val="F2F8FE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4" name="그림 73">
            <a:extLst>
              <a:ext uri="{FF2B5EF4-FFF2-40B4-BE49-F238E27FC236}">
                <a16:creationId xmlns:a16="http://schemas.microsoft.com/office/drawing/2014/main" id="{DD101305-D90D-49DA-B0EE-6DA837DAFE9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5674080"/>
            <a:ext cx="739140" cy="515679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C90553C7-6912-41F9-87FB-3BE13EEE8618}"/>
              </a:ext>
            </a:extLst>
          </p:cNvPr>
          <p:cNvSpPr txBox="1"/>
          <p:nvPr/>
        </p:nvSpPr>
        <p:spPr>
          <a:xfrm>
            <a:off x="1653677" y="5607813"/>
            <a:ext cx="5046574" cy="6614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우리의 보안 업무는 반복적인 이력 확인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기준 기반 판단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보고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·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공유가 중요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AX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설계 중점을 </a:t>
            </a:r>
            <a:r>
              <a:rPr lang="ko-KR" altLang="en-US" sz="1400" b="1" dirty="0">
                <a:solidFill>
                  <a:schemeClr val="accent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신뢰성</a:t>
            </a:r>
            <a:r>
              <a:rPr lang="en-US" altLang="ko-KR" sz="1400" b="1" dirty="0">
                <a:solidFill>
                  <a:schemeClr val="accent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·</a:t>
            </a:r>
            <a:r>
              <a:rPr lang="ko-KR" altLang="en-US" sz="1400" b="1" dirty="0">
                <a:solidFill>
                  <a:schemeClr val="accent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통제</a:t>
            </a:r>
            <a:r>
              <a:rPr lang="en-US" altLang="ko-KR" sz="1400" b="1" dirty="0">
                <a:solidFill>
                  <a:schemeClr val="accent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·</a:t>
            </a:r>
            <a:r>
              <a:rPr lang="ko-KR" altLang="en-US" sz="1400" b="1" dirty="0">
                <a:solidFill>
                  <a:schemeClr val="accent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검토 가능성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두는 것이 자연스럽습니다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79367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02DBBB2-089E-4E07-BA6D-2A53824AF667}"/>
              </a:ext>
            </a:extLst>
          </p:cNvPr>
          <p:cNvSpPr/>
          <p:nvPr/>
        </p:nvSpPr>
        <p:spPr>
          <a:xfrm>
            <a:off x="716416" y="1835573"/>
            <a:ext cx="7757434" cy="3732107"/>
          </a:xfrm>
          <a:prstGeom prst="roundRect">
            <a:avLst>
              <a:gd name="adj" fmla="val 9751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089AB38-C56E-4256-AA07-1AE6F604DD88}"/>
              </a:ext>
            </a:extLst>
          </p:cNvPr>
          <p:cNvSpPr/>
          <p:nvPr/>
        </p:nvSpPr>
        <p:spPr>
          <a:xfrm>
            <a:off x="1022907" y="4572877"/>
            <a:ext cx="7159280" cy="75598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451AD8A-F343-4B63-930D-81EEE0D26209}"/>
              </a:ext>
            </a:extLst>
          </p:cNvPr>
          <p:cNvSpPr/>
          <p:nvPr/>
        </p:nvSpPr>
        <p:spPr>
          <a:xfrm>
            <a:off x="1022907" y="3714885"/>
            <a:ext cx="7159280" cy="75598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DA3BD12-34FF-47D8-9607-433619A6620E}"/>
              </a:ext>
            </a:extLst>
          </p:cNvPr>
          <p:cNvSpPr/>
          <p:nvPr/>
        </p:nvSpPr>
        <p:spPr>
          <a:xfrm>
            <a:off x="1022907" y="2872481"/>
            <a:ext cx="7159279" cy="75598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6FE855B-C88F-4539-9B67-7232F5AD173E}"/>
              </a:ext>
            </a:extLst>
          </p:cNvPr>
          <p:cNvSpPr/>
          <p:nvPr/>
        </p:nvSpPr>
        <p:spPr>
          <a:xfrm>
            <a:off x="1022907" y="2014489"/>
            <a:ext cx="7159280" cy="75598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831200" y="1183920"/>
            <a:ext cx="7596384" cy="869605"/>
          </a:xfrm>
          <a:prstGeom prst="rect">
            <a:avLst/>
          </a:prstGeom>
        </p:spPr>
        <p:txBody>
          <a:bodyPr lIns="0" tIns="0" rIns="0" bIns="0"/>
          <a:lstStyle>
            <a:lvl1pPr marL="266700" indent="-26670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lang="ko-KR" altLang="en-US" sz="1400" b="1" kern="1200" spc="-20" baseline="0" dirty="0" smtClean="0">
                <a:ln>
                  <a:noFill/>
                </a:ln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2667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446087" indent="0" algn="l" defTabSz="914400" rtl="0" eaLnBrk="1" latinLnBrk="1" hangingPunct="1">
              <a:lnSpc>
                <a:spcPct val="150000"/>
              </a:lnSpc>
              <a:spcBef>
                <a:spcPts val="3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625475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64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  <a:lvl6pPr marL="82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AI 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활용 기준은 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‘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프롬프트 문장 통일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’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 이 아니라 요청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·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자료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·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출력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·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검토 기준을 정리하는 것</a:t>
            </a:r>
            <a:endParaRPr lang="en-US" altLang="ko-KR" b="0" dirty="0">
              <a:solidFill>
                <a:srgbClr val="626366"/>
              </a:solidFill>
              <a:latin typeface="NanumSquare" charset="-127"/>
              <a:ea typeface="NanumSquare" charset="-127"/>
              <a:cs typeface="NanumSquare" charset="-127"/>
            </a:endParaRPr>
          </a:p>
          <a:p>
            <a:pPr indent="0">
              <a:buNone/>
            </a:pPr>
            <a:endParaRPr lang="en-US" altLang="ko-KR" sz="1100" b="0" dirty="0">
              <a:solidFill>
                <a:srgbClr val="626366"/>
              </a:solidFill>
              <a:latin typeface="NanumSquare" charset="-127"/>
              <a:ea typeface="NanumSquare" charset="-127"/>
              <a:cs typeface="NanumSquare" charset="-127"/>
            </a:endParaRP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424800" y="365520"/>
            <a:ext cx="8640000" cy="338400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600" b="1" kern="1200" spc="-20" baseline="0" dirty="0"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| </a:t>
            </a:r>
            <a:r>
              <a:rPr lang="ko-KR" altLang="en-US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좋은 </a:t>
            </a:r>
            <a:r>
              <a:rPr lang="en-US" altLang="ko-KR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AX </a:t>
            </a:r>
            <a:r>
              <a:rPr lang="ko-KR" altLang="en-US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활용의 기반 </a:t>
            </a:r>
            <a:r>
              <a:rPr lang="en-US" altLang="ko-KR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: AX </a:t>
            </a:r>
            <a:r>
              <a:rPr lang="ko-KR" altLang="en-US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활용 기준</a:t>
            </a:r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8427584" y="365520"/>
            <a:ext cx="343364" cy="20864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266700" indent="-26670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lang="ko-KR" altLang="en-US" sz="1400" b="1" kern="1200" spc="-20" baseline="0" dirty="0" smtClean="0">
                <a:ln>
                  <a:noFill/>
                </a:ln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2667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446087" indent="0" algn="l" defTabSz="914400" rtl="0" eaLnBrk="1" latinLnBrk="1" hangingPunct="1">
              <a:lnSpc>
                <a:spcPct val="150000"/>
              </a:lnSpc>
              <a:spcBef>
                <a:spcPts val="3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625475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64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  <a:lvl6pPr marL="82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대외비</a:t>
            </a:r>
            <a:endParaRPr lang="en-US" altLang="ko-KR" sz="1000" dirty="0">
              <a:solidFill>
                <a:srgbClr val="07C63C"/>
              </a:solidFill>
              <a:latin typeface="NanumSquare ExtraBold" charset="-127"/>
              <a:ea typeface="NanumSquare ExtraBold" charset="-127"/>
              <a:cs typeface="NanumSquare ExtraBold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7197F72-D920-48DC-818D-1B5CE13CD05C}"/>
              </a:ext>
            </a:extLst>
          </p:cNvPr>
          <p:cNvSpPr/>
          <p:nvPr/>
        </p:nvSpPr>
        <p:spPr>
          <a:xfrm>
            <a:off x="954136" y="2014489"/>
            <a:ext cx="2270687" cy="755984"/>
          </a:xfrm>
          <a:prstGeom prst="roundRect">
            <a:avLst/>
          </a:prstGeom>
          <a:solidFill>
            <a:srgbClr val="F2F8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FF8A19F-8DCF-413B-9481-971EEB10B05C}"/>
              </a:ext>
            </a:extLst>
          </p:cNvPr>
          <p:cNvSpPr/>
          <p:nvPr/>
        </p:nvSpPr>
        <p:spPr>
          <a:xfrm>
            <a:off x="954136" y="2890867"/>
            <a:ext cx="2270687" cy="737598"/>
          </a:xfrm>
          <a:prstGeom prst="roundRect">
            <a:avLst/>
          </a:prstGeom>
          <a:solidFill>
            <a:srgbClr val="EDF8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D94DB82-38E9-4B12-A0A7-5E1AA37931D1}"/>
              </a:ext>
            </a:extLst>
          </p:cNvPr>
          <p:cNvSpPr/>
          <p:nvPr/>
        </p:nvSpPr>
        <p:spPr>
          <a:xfrm>
            <a:off x="954136" y="3714885"/>
            <a:ext cx="2270687" cy="755984"/>
          </a:xfrm>
          <a:prstGeom prst="roundRect">
            <a:avLst/>
          </a:prstGeom>
          <a:solidFill>
            <a:srgbClr val="F2F8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B04312F-B31B-4CB2-807B-F2F168081531}"/>
              </a:ext>
            </a:extLst>
          </p:cNvPr>
          <p:cNvSpPr/>
          <p:nvPr/>
        </p:nvSpPr>
        <p:spPr>
          <a:xfrm>
            <a:off x="954136" y="4572877"/>
            <a:ext cx="2270687" cy="755984"/>
          </a:xfrm>
          <a:prstGeom prst="roundRect">
            <a:avLst/>
          </a:prstGeom>
          <a:solidFill>
            <a:srgbClr val="F4FA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D107038-F2F2-4B82-B7F6-538935EAA469}"/>
              </a:ext>
            </a:extLst>
          </p:cNvPr>
          <p:cNvSpPr/>
          <p:nvPr/>
        </p:nvSpPr>
        <p:spPr>
          <a:xfrm>
            <a:off x="556260" y="5746596"/>
            <a:ext cx="8031480" cy="621447"/>
          </a:xfrm>
          <a:prstGeom prst="roundRect">
            <a:avLst/>
          </a:prstGeom>
          <a:solidFill>
            <a:srgbClr val="F4F6FC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04DF32C-DD2E-43D9-BD83-5C51AA02B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" y="5790993"/>
            <a:ext cx="739140" cy="51567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A7E72B6-C4FA-4D4C-9582-9781746ABD22}"/>
              </a:ext>
            </a:extLst>
          </p:cNvPr>
          <p:cNvSpPr txBox="1"/>
          <p:nvPr/>
        </p:nvSpPr>
        <p:spPr>
          <a:xfrm>
            <a:off x="1661297" y="5910332"/>
            <a:ext cx="71657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accent5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1200" b="1" dirty="0">
                <a:solidFill>
                  <a:schemeClr val="accent5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도구를 바로 적용하는 것이 아니라</a:t>
            </a:r>
            <a:r>
              <a:rPr lang="en-US" altLang="ko-KR" sz="1200" b="1" dirty="0">
                <a:solidFill>
                  <a:schemeClr val="accent5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b="1" dirty="0">
                <a:solidFill>
                  <a:schemeClr val="accent5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문제</a:t>
            </a:r>
            <a:r>
              <a:rPr lang="en-US" altLang="ko-KR" sz="1200" b="1" dirty="0">
                <a:solidFill>
                  <a:schemeClr val="accent5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200" b="1" dirty="0">
                <a:solidFill>
                  <a:schemeClr val="accent5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자료</a:t>
            </a:r>
            <a:r>
              <a:rPr lang="en-US" altLang="ko-KR" sz="1200" b="1" dirty="0">
                <a:solidFill>
                  <a:schemeClr val="accent5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200" b="1" dirty="0">
                <a:solidFill>
                  <a:schemeClr val="accent5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업무흐름</a:t>
            </a:r>
            <a:r>
              <a:rPr lang="en-US" altLang="ko-KR" sz="1200" b="1" dirty="0">
                <a:solidFill>
                  <a:schemeClr val="accent5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200" b="1" dirty="0">
                <a:solidFill>
                  <a:schemeClr val="accent5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책임기준을 정리한 뒤 작게 실행하고 개선하는 과정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320DF8C9-9329-47F1-9E2C-C5A0D94236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10" y="5771569"/>
            <a:ext cx="638175" cy="5715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1AF503F-06E5-4917-BE38-09B27E083E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797" y="2101537"/>
            <a:ext cx="531024" cy="565960"/>
          </a:xfrm>
          <a:prstGeom prst="rect">
            <a:avLst/>
          </a:prstGeom>
          <a:ln>
            <a:noFill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A7C8007-9D2D-4B2B-9C3E-ECE8D3C39C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14" y="2970769"/>
            <a:ext cx="534649" cy="565200"/>
          </a:xfrm>
          <a:prstGeom prst="rect">
            <a:avLst/>
          </a:prstGeom>
          <a:ln>
            <a:noFill/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2BB99A6-5A73-48CD-876C-9F8015FAB2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2906" y="3810277"/>
            <a:ext cx="644806" cy="565200"/>
          </a:xfrm>
          <a:prstGeom prst="rect">
            <a:avLst/>
          </a:prstGeom>
          <a:ln>
            <a:noFill/>
          </a:ln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79D11124-8718-4AEB-8294-134ED67029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9797" y="4668269"/>
            <a:ext cx="549924" cy="565200"/>
          </a:xfrm>
          <a:prstGeom prst="rect">
            <a:avLst/>
          </a:prstGeom>
          <a:ln>
            <a:noFill/>
          </a:ln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8503B507-3D22-4472-BCC4-9E9E9E1664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8801" y="2153466"/>
            <a:ext cx="485372" cy="445341"/>
          </a:xfrm>
          <a:prstGeom prst="rect">
            <a:avLst/>
          </a:prstGeom>
          <a:ln>
            <a:noFill/>
          </a:ln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AF042F3-8F61-474F-87C4-0D17938931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51008" y="3016718"/>
            <a:ext cx="460957" cy="446400"/>
          </a:xfrm>
          <a:prstGeom prst="rect">
            <a:avLst/>
          </a:prstGeom>
          <a:ln>
            <a:noFill/>
          </a:ln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279BFBC5-649F-477A-8485-7E45AD6556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51008" y="3874602"/>
            <a:ext cx="466240" cy="446400"/>
          </a:xfrm>
          <a:prstGeom prst="rect">
            <a:avLst/>
          </a:prstGeom>
          <a:ln>
            <a:noFill/>
          </a:ln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4B200B90-12C2-467D-96AF-268EB5F16E0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68455" y="4721188"/>
            <a:ext cx="432450" cy="446400"/>
          </a:xfrm>
          <a:prstGeom prst="rect">
            <a:avLst/>
          </a:prstGeom>
          <a:ln>
            <a:noFill/>
          </a:ln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64F55E8E-CFE5-4FEE-A1BA-E970E13DE068}"/>
              </a:ext>
            </a:extLst>
          </p:cNvPr>
          <p:cNvSpPr/>
          <p:nvPr/>
        </p:nvSpPr>
        <p:spPr>
          <a:xfrm>
            <a:off x="1695161" y="2890867"/>
            <a:ext cx="1573569" cy="737598"/>
          </a:xfrm>
          <a:prstGeom prst="rect">
            <a:avLst/>
          </a:prstGeom>
          <a:solidFill>
            <a:srgbClr val="F2FA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0515FD0-EE6D-48D5-AB6F-621834E4C249}"/>
              </a:ext>
            </a:extLst>
          </p:cNvPr>
          <p:cNvSpPr/>
          <p:nvPr/>
        </p:nvSpPr>
        <p:spPr>
          <a:xfrm>
            <a:off x="1689501" y="2014488"/>
            <a:ext cx="1573569" cy="755983"/>
          </a:xfrm>
          <a:prstGeom prst="rect">
            <a:avLst/>
          </a:prstGeom>
          <a:solidFill>
            <a:srgbClr val="F3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41D2201-9F96-4F15-BA60-C8271819B061}"/>
              </a:ext>
            </a:extLst>
          </p:cNvPr>
          <p:cNvSpPr/>
          <p:nvPr/>
        </p:nvSpPr>
        <p:spPr>
          <a:xfrm>
            <a:off x="1695160" y="3719429"/>
            <a:ext cx="1573569" cy="751439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A1C3714-A51E-4598-9BDE-17BAB6B7493C}"/>
              </a:ext>
            </a:extLst>
          </p:cNvPr>
          <p:cNvSpPr/>
          <p:nvPr/>
        </p:nvSpPr>
        <p:spPr>
          <a:xfrm>
            <a:off x="1701577" y="4574403"/>
            <a:ext cx="1573569" cy="754458"/>
          </a:xfrm>
          <a:prstGeom prst="rect">
            <a:avLst/>
          </a:prstGeom>
          <a:solidFill>
            <a:srgbClr val="F2FA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70EE7B93-2682-46B6-9BB8-FFE1798CE30B}"/>
              </a:ext>
            </a:extLst>
          </p:cNvPr>
          <p:cNvCxnSpPr>
            <a:cxnSpLocks/>
          </p:cNvCxnSpPr>
          <p:nvPr/>
        </p:nvCxnSpPr>
        <p:spPr>
          <a:xfrm>
            <a:off x="5517239" y="2060298"/>
            <a:ext cx="1" cy="642794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1D9BC0BA-C629-4A4A-879B-5EBA708BEF6C}"/>
              </a:ext>
            </a:extLst>
          </p:cNvPr>
          <p:cNvCxnSpPr>
            <a:cxnSpLocks/>
          </p:cNvCxnSpPr>
          <p:nvPr/>
        </p:nvCxnSpPr>
        <p:spPr>
          <a:xfrm>
            <a:off x="5517239" y="2916852"/>
            <a:ext cx="1" cy="653378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D74B9FA9-8A9F-4BC0-AB2A-1E4688881AF0}"/>
              </a:ext>
            </a:extLst>
          </p:cNvPr>
          <p:cNvCxnSpPr>
            <a:cxnSpLocks/>
          </p:cNvCxnSpPr>
          <p:nvPr/>
        </p:nvCxnSpPr>
        <p:spPr>
          <a:xfrm>
            <a:off x="5517239" y="3758191"/>
            <a:ext cx="1" cy="651653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A1C9408E-D1B9-4FC2-8241-2C6356BFED6B}"/>
              </a:ext>
            </a:extLst>
          </p:cNvPr>
          <p:cNvCxnSpPr>
            <a:cxnSpLocks/>
          </p:cNvCxnSpPr>
          <p:nvPr/>
        </p:nvCxnSpPr>
        <p:spPr>
          <a:xfrm>
            <a:off x="5518351" y="4617376"/>
            <a:ext cx="1" cy="651653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DBA4802B-9A31-4D34-B55C-7ECA0E7EA3C8}"/>
              </a:ext>
            </a:extLst>
          </p:cNvPr>
          <p:cNvCxnSpPr>
            <a:cxnSpLocks/>
          </p:cNvCxnSpPr>
          <p:nvPr/>
        </p:nvCxnSpPr>
        <p:spPr>
          <a:xfrm>
            <a:off x="1695163" y="2153466"/>
            <a:ext cx="0" cy="44534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412390DF-38C4-4280-989B-96BBB780FEDB}"/>
              </a:ext>
            </a:extLst>
          </p:cNvPr>
          <p:cNvCxnSpPr>
            <a:cxnSpLocks/>
          </p:cNvCxnSpPr>
          <p:nvPr/>
        </p:nvCxnSpPr>
        <p:spPr>
          <a:xfrm>
            <a:off x="1695163" y="3016718"/>
            <a:ext cx="0" cy="4464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FBCE64C-89D6-4319-85B0-2B18DB37F55D}"/>
              </a:ext>
            </a:extLst>
          </p:cNvPr>
          <p:cNvCxnSpPr>
            <a:cxnSpLocks/>
          </p:cNvCxnSpPr>
          <p:nvPr/>
        </p:nvCxnSpPr>
        <p:spPr>
          <a:xfrm>
            <a:off x="1695163" y="3874602"/>
            <a:ext cx="0" cy="4464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05FFE67-7F7D-4EC0-AB07-7B9BC812F5AD}"/>
              </a:ext>
            </a:extLst>
          </p:cNvPr>
          <p:cNvCxnSpPr>
            <a:cxnSpLocks/>
          </p:cNvCxnSpPr>
          <p:nvPr/>
        </p:nvCxnSpPr>
        <p:spPr>
          <a:xfrm>
            <a:off x="1689502" y="4721188"/>
            <a:ext cx="0" cy="4464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5EA6CF78-BD9C-40C8-8157-BAF53FE833DA}"/>
              </a:ext>
            </a:extLst>
          </p:cNvPr>
          <p:cNvSpPr txBox="1"/>
          <p:nvPr/>
        </p:nvSpPr>
        <p:spPr>
          <a:xfrm>
            <a:off x="1872292" y="2205010"/>
            <a:ext cx="1207986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200" dirty="0">
                <a:solidFill>
                  <a:srgbClr val="1C62E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01</a:t>
            </a:r>
          </a:p>
          <a:p>
            <a:pPr algn="ctr"/>
            <a:r>
              <a:rPr lang="ko-KR" altLang="en-US" sz="1200" dirty="0">
                <a:solidFill>
                  <a:srgbClr val="1C62E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요청 기준</a:t>
            </a:r>
            <a:endParaRPr lang="en-US" altLang="ko-KR" sz="1200" dirty="0">
              <a:solidFill>
                <a:srgbClr val="1C62E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B06CB15-DFFD-45E6-B53F-ABDC09D97D67}"/>
              </a:ext>
            </a:extLst>
          </p:cNvPr>
          <p:cNvSpPr txBox="1"/>
          <p:nvPr/>
        </p:nvSpPr>
        <p:spPr>
          <a:xfrm>
            <a:off x="1884368" y="3059668"/>
            <a:ext cx="1207986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200" dirty="0">
                <a:solidFill>
                  <a:srgbClr val="1F9D9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02</a:t>
            </a:r>
          </a:p>
          <a:p>
            <a:pPr algn="ctr"/>
            <a:r>
              <a:rPr lang="ko-KR" altLang="en-US" sz="1200" dirty="0">
                <a:solidFill>
                  <a:srgbClr val="1F9D9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자료 기준</a:t>
            </a:r>
            <a:endParaRPr lang="en-US" altLang="ko-KR" sz="1200" dirty="0">
              <a:solidFill>
                <a:srgbClr val="1F9D9A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5DB8AE2-9953-4528-B7CE-74CEE852844E}"/>
              </a:ext>
            </a:extLst>
          </p:cNvPr>
          <p:cNvSpPr txBox="1"/>
          <p:nvPr/>
        </p:nvSpPr>
        <p:spPr>
          <a:xfrm>
            <a:off x="1884368" y="3902126"/>
            <a:ext cx="1207986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200" dirty="0">
                <a:solidFill>
                  <a:srgbClr val="1C62E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03</a:t>
            </a:r>
          </a:p>
          <a:p>
            <a:pPr algn="ctr"/>
            <a:r>
              <a:rPr lang="ko-KR" altLang="en-US" sz="1200" dirty="0">
                <a:solidFill>
                  <a:srgbClr val="1C62E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출력 기준</a:t>
            </a:r>
            <a:endParaRPr lang="en-US" altLang="ko-KR" sz="1200" dirty="0">
              <a:solidFill>
                <a:srgbClr val="1C62E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DE135AC-2AAD-4995-98B2-2836940225F2}"/>
              </a:ext>
            </a:extLst>
          </p:cNvPr>
          <p:cNvSpPr txBox="1"/>
          <p:nvPr/>
        </p:nvSpPr>
        <p:spPr>
          <a:xfrm>
            <a:off x="1886218" y="4753190"/>
            <a:ext cx="1207986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200" dirty="0">
                <a:solidFill>
                  <a:srgbClr val="1F9D9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04</a:t>
            </a:r>
          </a:p>
          <a:p>
            <a:pPr algn="ctr"/>
            <a:r>
              <a:rPr lang="ko-KR" altLang="en-US" sz="1200" dirty="0">
                <a:solidFill>
                  <a:srgbClr val="1F9D9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검토 기준</a:t>
            </a:r>
            <a:endParaRPr lang="en-US" altLang="ko-KR" sz="1200" dirty="0">
              <a:solidFill>
                <a:srgbClr val="1F9D9A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9052C58-34BF-4BE2-AA10-762E3FC806F4}"/>
              </a:ext>
            </a:extLst>
          </p:cNvPr>
          <p:cNvSpPr txBox="1"/>
          <p:nvPr/>
        </p:nvSpPr>
        <p:spPr>
          <a:xfrm>
            <a:off x="3484647" y="2183232"/>
            <a:ext cx="2132271" cy="40011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에게 어떤 목적과 범위로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요청할지 정합니다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EDF8F2F-66F5-41BB-9E87-645C95C60175}"/>
              </a:ext>
            </a:extLst>
          </p:cNvPr>
          <p:cNvSpPr txBox="1"/>
          <p:nvPr/>
        </p:nvSpPr>
        <p:spPr>
          <a:xfrm>
            <a:off x="3493071" y="3054783"/>
            <a:ext cx="2132271" cy="40011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어떤 문서로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이력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규정을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근거로 삼을지 정합니다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97AE8EC-2C44-48AA-A713-385ACD0F55BD}"/>
              </a:ext>
            </a:extLst>
          </p:cNvPr>
          <p:cNvSpPr txBox="1"/>
          <p:nvPr/>
        </p:nvSpPr>
        <p:spPr>
          <a:xfrm>
            <a:off x="3484647" y="3892821"/>
            <a:ext cx="2132271" cy="40011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어떤 형식과 구조로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결과를 받을지 정합니다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567F755-6423-4889-9666-DA58E0B44E1A}"/>
              </a:ext>
            </a:extLst>
          </p:cNvPr>
          <p:cNvSpPr txBox="1"/>
          <p:nvPr/>
        </p:nvSpPr>
        <p:spPr>
          <a:xfrm>
            <a:off x="3484647" y="4750813"/>
            <a:ext cx="2132271" cy="40011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결과 중 무엇을 사람이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확인하고 판단할지 정합니다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F3FEB7B-99FD-4B67-B260-FE888BB9E2C9}"/>
              </a:ext>
            </a:extLst>
          </p:cNvPr>
          <p:cNvSpPr txBox="1"/>
          <p:nvPr/>
        </p:nvSpPr>
        <p:spPr>
          <a:xfrm>
            <a:off x="6325518" y="2183232"/>
            <a:ext cx="1761772" cy="40011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같은 질문이라도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의도에 따라 결과가 달라집니다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E6E93E1-32CA-49AD-BA7D-E75214781227}"/>
              </a:ext>
            </a:extLst>
          </p:cNvPr>
          <p:cNvSpPr txBox="1"/>
          <p:nvPr/>
        </p:nvSpPr>
        <p:spPr>
          <a:xfrm>
            <a:off x="6333942" y="3054783"/>
            <a:ext cx="1761772" cy="40011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근거가 달라지면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결과도 달라집니다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55E6B28-8D64-4498-AAB5-00E9D59BA882}"/>
              </a:ext>
            </a:extLst>
          </p:cNvPr>
          <p:cNvSpPr txBox="1"/>
          <p:nvPr/>
        </p:nvSpPr>
        <p:spPr>
          <a:xfrm>
            <a:off x="6325518" y="3892821"/>
            <a:ext cx="1761772" cy="40011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형식이 정리되어야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활용이 쉬워집니다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5ADB580-B617-4854-B9C1-FE2C538FC565}"/>
              </a:ext>
            </a:extLst>
          </p:cNvPr>
          <p:cNvSpPr txBox="1"/>
          <p:nvPr/>
        </p:nvSpPr>
        <p:spPr>
          <a:xfrm>
            <a:off x="6325518" y="4750813"/>
            <a:ext cx="1761772" cy="40011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누가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무엇을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어떻게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확인할지 </a:t>
            </a:r>
            <a:r>
              <a:rPr lang="ko-KR" altLang="en-US" sz="1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명확해집니다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3517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/>
          <p:cNvSpPr txBox="1">
            <a:spLocks/>
          </p:cNvSpPr>
          <p:nvPr/>
        </p:nvSpPr>
        <p:spPr>
          <a:xfrm>
            <a:off x="831200" y="1183920"/>
            <a:ext cx="7596384" cy="869605"/>
          </a:xfrm>
          <a:prstGeom prst="rect">
            <a:avLst/>
          </a:prstGeom>
        </p:spPr>
        <p:txBody>
          <a:bodyPr lIns="0" tIns="0" rIns="0" bIns="0"/>
          <a:lstStyle>
            <a:lvl1pPr marL="266700" indent="-26670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lang="ko-KR" altLang="en-US" sz="1400" b="1" kern="1200" spc="-20" baseline="0" dirty="0" smtClean="0">
                <a:ln>
                  <a:noFill/>
                </a:ln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2667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446087" indent="0" algn="l" defTabSz="914400" rtl="0" eaLnBrk="1" latinLnBrk="1" hangingPunct="1">
              <a:lnSpc>
                <a:spcPct val="150000"/>
              </a:lnSpc>
              <a:spcBef>
                <a:spcPts val="3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625475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64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  <a:lvl6pPr marL="82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프롬프트와 자동화는 좋은 출발점 이지만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, </a:t>
            </a:r>
          </a:p>
          <a:p>
            <a:pPr marL="0" indent="0">
              <a:buNone/>
            </a:pP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AX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는 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AI 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가 업무 흐름 안에서 작동하도록 재설계하는 과정</a:t>
            </a:r>
            <a:endParaRPr lang="en-US" altLang="ko-KR" sz="1100" b="0" dirty="0">
              <a:solidFill>
                <a:srgbClr val="626366"/>
              </a:solidFill>
              <a:latin typeface="NanumSquare" charset="-127"/>
              <a:ea typeface="NanumSquare" charset="-127"/>
              <a:cs typeface="NanumSquare" charset="-127"/>
            </a:endParaRP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424800" y="365520"/>
            <a:ext cx="8640000" cy="338400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600" b="1" kern="1200" spc="-20" baseline="0" dirty="0"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| AX</a:t>
            </a:r>
            <a:r>
              <a:rPr lang="ko-KR" altLang="en-US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 는 </a:t>
            </a:r>
            <a:r>
              <a:rPr lang="en-US" altLang="ko-KR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AI </a:t>
            </a:r>
            <a:r>
              <a:rPr lang="ko-KR" altLang="en-US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를 업무 흐름 안에 설계하는 것</a:t>
            </a:r>
            <a:endParaRPr lang="en-US" altLang="ko-KR" sz="2000" dirty="0">
              <a:solidFill>
                <a:srgbClr val="07C63C"/>
              </a:solidFill>
              <a:latin typeface="NanumSquare ExtraBold" charset="-127"/>
              <a:ea typeface="NanumSquare ExtraBold" charset="-127"/>
              <a:cs typeface="NanumSquare ExtraBold" charset="-127"/>
            </a:endParaRPr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8427584" y="365520"/>
            <a:ext cx="343364" cy="20864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266700" indent="-26670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lang="ko-KR" altLang="en-US" sz="1400" b="1" kern="1200" spc="-20" baseline="0" dirty="0" smtClean="0">
                <a:ln>
                  <a:noFill/>
                </a:ln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2667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446087" indent="0" algn="l" defTabSz="914400" rtl="0" eaLnBrk="1" latinLnBrk="1" hangingPunct="1">
              <a:lnSpc>
                <a:spcPct val="150000"/>
              </a:lnSpc>
              <a:spcBef>
                <a:spcPts val="3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625475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64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  <a:lvl6pPr marL="82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대외비</a:t>
            </a:r>
            <a:endParaRPr lang="en-US" altLang="ko-KR" sz="1000" dirty="0">
              <a:solidFill>
                <a:srgbClr val="07C63C"/>
              </a:solidFill>
              <a:latin typeface="NanumSquare ExtraBold" charset="-127"/>
              <a:ea typeface="NanumSquare ExtraBold" charset="-127"/>
              <a:cs typeface="NanumSquare ExtraBold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F9E2D13-858A-41A3-B9B8-E289461B1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25" y="2112114"/>
            <a:ext cx="8642350" cy="3004828"/>
          </a:xfrm>
          <a:prstGeom prst="rect">
            <a:avLst/>
          </a:prstGeom>
        </p:spPr>
      </p:pic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B7E25B1-32D1-45A6-A61A-48DD6043C886}"/>
              </a:ext>
            </a:extLst>
          </p:cNvPr>
          <p:cNvSpPr/>
          <p:nvPr/>
        </p:nvSpPr>
        <p:spPr>
          <a:xfrm>
            <a:off x="685663" y="5629683"/>
            <a:ext cx="7757434" cy="621447"/>
          </a:xfrm>
          <a:prstGeom prst="roundRect">
            <a:avLst/>
          </a:prstGeom>
          <a:solidFill>
            <a:srgbClr val="F2F8FE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10295344-0D92-409A-8123-FF66C2CC38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5674080"/>
            <a:ext cx="739140" cy="515679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C680505D-68DB-49EB-B674-5CB1582F48EE}"/>
              </a:ext>
            </a:extLst>
          </p:cNvPr>
          <p:cNvSpPr txBox="1"/>
          <p:nvPr/>
        </p:nvSpPr>
        <p:spPr>
          <a:xfrm>
            <a:off x="1653677" y="5674080"/>
            <a:ext cx="376898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253E9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프롬프트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는 요청을 정리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400" b="1" dirty="0">
                <a:solidFill>
                  <a:srgbClr val="253E9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자동화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는 흐름을 보이게 하며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400" b="1" dirty="0">
                <a:solidFill>
                  <a:srgbClr val="253E9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AX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는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 작동할 수 있도록 업무 흐름을 재설계 합니다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en-US" altLang="ko-KR" sz="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F3E5399-C501-4203-BAA1-2B86F548C044}"/>
              </a:ext>
            </a:extLst>
          </p:cNvPr>
          <p:cNvSpPr/>
          <p:nvPr/>
        </p:nvSpPr>
        <p:spPr>
          <a:xfrm>
            <a:off x="324678" y="4675571"/>
            <a:ext cx="1119060" cy="1921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기존 업무 흐름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2F41377D-8610-4600-953A-7391C955C7AD}"/>
              </a:ext>
            </a:extLst>
          </p:cNvPr>
          <p:cNvSpPr/>
          <p:nvPr/>
        </p:nvSpPr>
        <p:spPr>
          <a:xfrm>
            <a:off x="1835426" y="4629188"/>
            <a:ext cx="1042869" cy="3608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자동화로</a:t>
            </a:r>
            <a:endParaRPr lang="en-US" altLang="ko-KR" sz="10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흐름 가시화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71F27E1-8264-49B4-872D-5E0CE1F1084A}"/>
              </a:ext>
            </a:extLst>
          </p:cNvPr>
          <p:cNvSpPr/>
          <p:nvPr/>
        </p:nvSpPr>
        <p:spPr>
          <a:xfrm>
            <a:off x="3303113" y="4636376"/>
            <a:ext cx="1042869" cy="3608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입력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출력</a:t>
            </a:r>
            <a:endParaRPr lang="en-US" altLang="ko-KR" sz="10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기준 정의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F5CBB518-55CF-48D8-981E-8CC22CA8CF82}"/>
              </a:ext>
            </a:extLst>
          </p:cNvPr>
          <p:cNvSpPr/>
          <p:nvPr/>
        </p:nvSpPr>
        <p:spPr>
          <a:xfrm>
            <a:off x="4770800" y="4629187"/>
            <a:ext cx="1042869" cy="3608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처리 단계 </a:t>
            </a:r>
            <a:endParaRPr lang="en-US" altLang="ko-KR" sz="10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배치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02D78EC3-9AF2-405A-B580-59FDE9B4CAED}"/>
              </a:ext>
            </a:extLst>
          </p:cNvPr>
          <p:cNvSpPr/>
          <p:nvPr/>
        </p:nvSpPr>
        <p:spPr>
          <a:xfrm>
            <a:off x="6238487" y="4626743"/>
            <a:ext cx="1042869" cy="3608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사람</a:t>
            </a:r>
            <a:endParaRPr lang="en-US" altLang="ko-KR" sz="10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검토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기록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8BB1BF2B-BFCC-4BBC-9859-750FF91C3024}"/>
              </a:ext>
            </a:extLst>
          </p:cNvPr>
          <p:cNvSpPr/>
          <p:nvPr/>
        </p:nvSpPr>
        <p:spPr>
          <a:xfrm>
            <a:off x="7728079" y="4626743"/>
            <a:ext cx="1042869" cy="3608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rgbClr val="253E9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반복 가능한</a:t>
            </a:r>
            <a:endParaRPr lang="en-US" altLang="ko-KR" sz="1000" b="1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1000" b="1" dirty="0">
                <a:solidFill>
                  <a:srgbClr val="253E9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업무 활용 구조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AEBF0F87-0BE2-49FE-A9ED-81CECF312DC6}"/>
              </a:ext>
            </a:extLst>
          </p:cNvPr>
          <p:cNvSpPr/>
          <p:nvPr/>
        </p:nvSpPr>
        <p:spPr>
          <a:xfrm>
            <a:off x="1393465" y="2266475"/>
            <a:ext cx="1634657" cy="12233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0339A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프롬프트</a:t>
            </a:r>
            <a:endParaRPr lang="en-US" altLang="ko-KR" sz="1000" dirty="0">
              <a:solidFill>
                <a:srgbClr val="0339AE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600" dirty="0">
              <a:solidFill>
                <a:srgbClr val="0339AE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AI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에게 어떤 입력을 주고</a:t>
            </a: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어떤 기준과 형식으로</a:t>
            </a:r>
            <a:endParaRPr lang="en-US" altLang="ko-KR" sz="9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결과를 받을지 정리합니다</a:t>
            </a: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en-US" altLang="ko-KR" sz="8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076748A0-7E6D-43EC-9389-B68B0CDAD5D0}"/>
              </a:ext>
            </a:extLst>
          </p:cNvPr>
          <p:cNvSpPr/>
          <p:nvPr/>
        </p:nvSpPr>
        <p:spPr>
          <a:xfrm>
            <a:off x="4229430" y="2266475"/>
            <a:ext cx="1634657" cy="12233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0339A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워크플로우 자동화</a:t>
            </a:r>
            <a:endParaRPr lang="en-US" altLang="ko-KR" sz="1000" dirty="0">
              <a:solidFill>
                <a:srgbClr val="0339AE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600" dirty="0">
              <a:solidFill>
                <a:srgbClr val="0339AE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접수</a:t>
            </a: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저장</a:t>
            </a: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분기</a:t>
            </a: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전달</a:t>
            </a: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기록</a:t>
            </a:r>
            <a:endParaRPr lang="en-US" altLang="ko-KR" sz="9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반복 업무 흐름을 실행하고</a:t>
            </a:r>
            <a:endParaRPr lang="en-US" altLang="ko-KR" sz="9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관측 가능하게 만듭니다</a:t>
            </a: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en-US" altLang="ko-KR" sz="8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E295E417-EDA9-42A8-A99C-56E1F54FA944}"/>
              </a:ext>
            </a:extLst>
          </p:cNvPr>
          <p:cNvSpPr/>
          <p:nvPr/>
        </p:nvSpPr>
        <p:spPr>
          <a:xfrm>
            <a:off x="7065395" y="2266475"/>
            <a:ext cx="1705553" cy="12233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0339A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AX</a:t>
            </a:r>
            <a:r>
              <a:rPr lang="ko-KR" altLang="en-US" sz="1200" dirty="0">
                <a:solidFill>
                  <a:srgbClr val="0339A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설계</a:t>
            </a:r>
            <a:endParaRPr lang="en-US" altLang="ko-KR" sz="1000" dirty="0">
              <a:solidFill>
                <a:srgbClr val="0339AE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600" dirty="0">
              <a:solidFill>
                <a:srgbClr val="0339AE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 필요한 지점에서 데이터를</a:t>
            </a:r>
            <a:endParaRPr lang="en-US" altLang="ko-KR" sz="9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읽고 해석하며</a:t>
            </a: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다음 판단과</a:t>
            </a:r>
            <a:endParaRPr lang="en-US" altLang="ko-KR" sz="9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행동을 보조하도록 흐름 재설계</a:t>
            </a:r>
            <a:endParaRPr lang="en-US" altLang="ko-KR" sz="8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8734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1C13FBD-D721-49FE-BFEF-AA1A8F35F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1655"/>
            <a:ext cx="9144000" cy="5146234"/>
          </a:xfrm>
          <a:prstGeom prst="rect">
            <a:avLst/>
          </a:prstGeom>
        </p:spPr>
      </p:pic>
      <p:sp>
        <p:nvSpPr>
          <p:cNvPr id="6" name="내용 개체 틀 2"/>
          <p:cNvSpPr txBox="1">
            <a:spLocks/>
          </p:cNvSpPr>
          <p:nvPr/>
        </p:nvSpPr>
        <p:spPr>
          <a:xfrm>
            <a:off x="831200" y="1183920"/>
            <a:ext cx="7596384" cy="869605"/>
          </a:xfrm>
          <a:prstGeom prst="rect">
            <a:avLst/>
          </a:prstGeom>
        </p:spPr>
        <p:txBody>
          <a:bodyPr lIns="0" tIns="0" rIns="0" bIns="0"/>
          <a:lstStyle>
            <a:lvl1pPr marL="266700" indent="-26670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lang="ko-KR" altLang="en-US" sz="1400" b="1" kern="1200" spc="-20" baseline="0" dirty="0" smtClean="0">
                <a:ln>
                  <a:noFill/>
                </a:ln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2667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446087" indent="0" algn="l" defTabSz="914400" rtl="0" eaLnBrk="1" latinLnBrk="1" hangingPunct="1">
              <a:lnSpc>
                <a:spcPct val="150000"/>
              </a:lnSpc>
              <a:spcBef>
                <a:spcPts val="3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625475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64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  <a:lvl6pPr marL="82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AI 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활용은 기능 설명만으로는 시작되지 않습니다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. 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내 적용 경험이 생길 때 시작합니다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.</a:t>
            </a:r>
            <a:endParaRPr lang="en-US" altLang="ko-KR" sz="1100" b="0" dirty="0">
              <a:solidFill>
                <a:srgbClr val="626366"/>
              </a:solidFill>
              <a:latin typeface="NanumSquare" charset="-127"/>
              <a:ea typeface="NanumSquare" charset="-127"/>
              <a:cs typeface="NanumSquare" charset="-127"/>
            </a:endParaRP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424800" y="365520"/>
            <a:ext cx="8640000" cy="338400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600" b="1" kern="1200" spc="-20" baseline="0" dirty="0"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| </a:t>
            </a:r>
            <a:r>
              <a:rPr lang="ko-KR" altLang="en-US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관점이 열려야 기술이 배워집니다</a:t>
            </a:r>
            <a:r>
              <a:rPr lang="en-US" altLang="ko-KR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.</a:t>
            </a:r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8427584" y="365520"/>
            <a:ext cx="343364" cy="20864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266700" indent="-26670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lang="ko-KR" altLang="en-US" sz="1400" b="1" kern="1200" spc="-20" baseline="0" dirty="0" smtClean="0">
                <a:ln>
                  <a:noFill/>
                </a:ln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2667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446087" indent="0" algn="l" defTabSz="914400" rtl="0" eaLnBrk="1" latinLnBrk="1" hangingPunct="1">
              <a:lnSpc>
                <a:spcPct val="150000"/>
              </a:lnSpc>
              <a:spcBef>
                <a:spcPts val="3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625475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64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  <a:lvl6pPr marL="82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대외비</a:t>
            </a:r>
            <a:endParaRPr lang="en-US" altLang="ko-KR" sz="1000" dirty="0">
              <a:solidFill>
                <a:srgbClr val="07C63C"/>
              </a:solidFill>
              <a:latin typeface="NanumSquare ExtraBold" charset="-127"/>
              <a:ea typeface="NanumSquare ExtraBold" charset="-127"/>
              <a:cs typeface="NanumSquare ExtraBold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B59A785-23EA-496F-9C13-725AD4E08D47}"/>
              </a:ext>
            </a:extLst>
          </p:cNvPr>
          <p:cNvSpPr txBox="1"/>
          <p:nvPr/>
        </p:nvSpPr>
        <p:spPr>
          <a:xfrm>
            <a:off x="2300582" y="1997021"/>
            <a:ext cx="146303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rgbClr val="253E9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초기</a:t>
            </a:r>
            <a:r>
              <a:rPr lang="en-US" altLang="ko-KR" sz="1000" b="1" dirty="0">
                <a:solidFill>
                  <a:srgbClr val="253E9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000" b="1" dirty="0">
                <a:solidFill>
                  <a:srgbClr val="253E9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관점이 먼저 열려야 함</a:t>
            </a:r>
            <a:endParaRPr lang="en-US" altLang="ko-KR" sz="1000" b="1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7A07E0A-57F3-4227-9E90-7012DEE720D4}"/>
              </a:ext>
            </a:extLst>
          </p:cNvPr>
          <p:cNvSpPr txBox="1"/>
          <p:nvPr/>
        </p:nvSpPr>
        <p:spPr>
          <a:xfrm>
            <a:off x="4118259" y="1997021"/>
            <a:ext cx="841222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sz="1000" b="1">
                <a:solidFill>
                  <a:srgbClr val="253E9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첫 성공 경험</a:t>
            </a:r>
            <a:endParaRPr lang="en-US" altLang="ko-KR" sz="1000" b="1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5D962D8-B111-4588-9910-36589D921A27}"/>
              </a:ext>
            </a:extLst>
          </p:cNvPr>
          <p:cNvSpPr txBox="1"/>
          <p:nvPr/>
        </p:nvSpPr>
        <p:spPr>
          <a:xfrm>
            <a:off x="5380382" y="1997021"/>
            <a:ext cx="841222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반복 사용</a:t>
            </a:r>
            <a:endParaRPr lang="en-US" altLang="ko-KR" sz="1000" b="1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421DB74-FED7-4F71-8677-1340288977FB}"/>
              </a:ext>
            </a:extLst>
          </p:cNvPr>
          <p:cNvSpPr txBox="1"/>
          <p:nvPr/>
        </p:nvSpPr>
        <p:spPr>
          <a:xfrm>
            <a:off x="6423738" y="2000765"/>
            <a:ext cx="841222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 숙련</a:t>
            </a:r>
            <a:endParaRPr lang="en-US" altLang="ko-KR" sz="1000" b="1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D339DF0-57F1-4036-915D-B48DAF1F1D11}"/>
              </a:ext>
            </a:extLst>
          </p:cNvPr>
          <p:cNvSpPr txBox="1"/>
          <p:nvPr/>
        </p:nvSpPr>
        <p:spPr>
          <a:xfrm>
            <a:off x="5075582" y="2818238"/>
            <a:ext cx="1146022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253E9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반복 사용</a:t>
            </a:r>
            <a:endParaRPr lang="en-US" altLang="ko-KR" sz="1000" b="1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endParaRPr lang="en-US" altLang="ko-KR" sz="200" b="1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경험이 쌓이며 </a:t>
            </a:r>
            <a:endParaRPr lang="en-US" altLang="ko-KR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더 자연스럽게 활용</a:t>
            </a:r>
            <a:endParaRPr lang="en-US" altLang="ko-KR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690B0ED-D130-4914-BD26-C1C2DD3B7CD2}"/>
              </a:ext>
            </a:extLst>
          </p:cNvPr>
          <p:cNvSpPr txBox="1"/>
          <p:nvPr/>
        </p:nvSpPr>
        <p:spPr>
          <a:xfrm>
            <a:off x="3866466" y="2818238"/>
            <a:ext cx="1146022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253E9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첫 적용 경험</a:t>
            </a:r>
            <a:endParaRPr lang="en-US" altLang="ko-KR" sz="1000" b="1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endParaRPr lang="en-US" altLang="ko-KR" sz="200" b="1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작은 성공이</a:t>
            </a:r>
            <a:endParaRPr lang="en-US" altLang="ko-KR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가능성을 확신으로</a:t>
            </a:r>
            <a:endParaRPr lang="en-US" altLang="ko-KR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37F6439-EF50-4785-BB1C-0B5F2FFC3A5B}"/>
              </a:ext>
            </a:extLst>
          </p:cNvPr>
          <p:cNvSpPr txBox="1"/>
          <p:nvPr/>
        </p:nvSpPr>
        <p:spPr>
          <a:xfrm>
            <a:off x="4101907" y="4191595"/>
            <a:ext cx="655623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sz="800" b="1" dirty="0">
                <a:solidFill>
                  <a:srgbClr val="253E9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첫 적용 경험</a:t>
            </a:r>
            <a:endParaRPr lang="en-US" altLang="ko-KR" sz="800" b="1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100" b="1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100" b="1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가치 확인이</a:t>
            </a:r>
            <a:endParaRPr lang="en-US" altLang="ko-KR" sz="7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다음행동을 촉발</a:t>
            </a:r>
            <a:endParaRPr lang="en-US" altLang="ko-KR" sz="7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31D2F0B-3B4B-432E-A5B9-901C9695BD94}"/>
              </a:ext>
            </a:extLst>
          </p:cNvPr>
          <p:cNvSpPr txBox="1"/>
          <p:nvPr/>
        </p:nvSpPr>
        <p:spPr>
          <a:xfrm>
            <a:off x="2756812" y="4191595"/>
            <a:ext cx="655623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sz="800" b="1" dirty="0">
                <a:solidFill>
                  <a:srgbClr val="253E9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관점 전환</a:t>
            </a:r>
            <a:endParaRPr lang="en-US" altLang="ko-KR" sz="800" b="1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100" b="1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100" b="1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AI</a:t>
            </a:r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내 업무의</a:t>
            </a:r>
            <a:endParaRPr lang="en-US" altLang="ko-KR" sz="7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기회로 인식</a:t>
            </a:r>
            <a:endParaRPr lang="en-US" altLang="ko-KR" sz="7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7630681-6A86-4194-8C67-4C0087D7D6FE}"/>
              </a:ext>
            </a:extLst>
          </p:cNvPr>
          <p:cNvSpPr txBox="1"/>
          <p:nvPr/>
        </p:nvSpPr>
        <p:spPr>
          <a:xfrm>
            <a:off x="5403755" y="4191595"/>
            <a:ext cx="655623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sz="800" b="1" dirty="0">
                <a:solidFill>
                  <a:srgbClr val="253E9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 숙련</a:t>
            </a:r>
            <a:endParaRPr lang="en-US" altLang="ko-KR" sz="800" b="1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100" b="1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100" b="1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학습을 통해</a:t>
            </a:r>
            <a:endParaRPr lang="en-US" altLang="ko-KR" sz="7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활용 수준 향상</a:t>
            </a:r>
            <a:endParaRPr lang="en-US" altLang="ko-KR" sz="7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E42E9E5-7851-4C3D-A7A1-68B66AB54847}"/>
              </a:ext>
            </a:extLst>
          </p:cNvPr>
          <p:cNvSpPr txBox="1"/>
          <p:nvPr/>
        </p:nvSpPr>
        <p:spPr>
          <a:xfrm>
            <a:off x="6705603" y="4191595"/>
            <a:ext cx="735493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sz="800" b="1" dirty="0">
                <a:solidFill>
                  <a:srgbClr val="253E9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업무 적용 확장</a:t>
            </a:r>
            <a:endParaRPr lang="en-US" altLang="ko-KR" sz="800" b="1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100" b="1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100" b="1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더 많은 업무에</a:t>
            </a:r>
            <a:endParaRPr lang="en-US" altLang="ko-KR" sz="7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더 큰 가치 창출</a:t>
            </a:r>
            <a:endParaRPr lang="en-US" altLang="ko-KR" sz="7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D33D479-306D-49CE-82F2-C2951FFF12AA}"/>
              </a:ext>
            </a:extLst>
          </p:cNvPr>
          <p:cNvSpPr txBox="1"/>
          <p:nvPr/>
        </p:nvSpPr>
        <p:spPr>
          <a:xfrm>
            <a:off x="6162009" y="3018293"/>
            <a:ext cx="1146022" cy="52322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ko-KR" altLang="en-US" sz="1000" b="1" dirty="0">
                <a:solidFill>
                  <a:srgbClr val="253E9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 학습 허들 ↑</a:t>
            </a:r>
            <a:endParaRPr lang="en-US" altLang="ko-KR" sz="1000" b="1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r"/>
            <a:endParaRPr lang="en-US" altLang="ko-KR" sz="600" b="1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r"/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더 잘 쓰기 위해</a:t>
            </a:r>
            <a:endParaRPr lang="en-US" altLang="ko-KR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r"/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무엇을 배워야 할까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?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F0E9A74-4237-4BFF-AFAB-95E2370181B3}"/>
              </a:ext>
            </a:extLst>
          </p:cNvPr>
          <p:cNvSpPr txBox="1"/>
          <p:nvPr/>
        </p:nvSpPr>
        <p:spPr>
          <a:xfrm>
            <a:off x="2332674" y="3018293"/>
            <a:ext cx="1146022" cy="52322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rgbClr val="253E9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관점 허들↓</a:t>
            </a:r>
            <a:endParaRPr lang="en-US" altLang="ko-KR" sz="1000" b="1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600" b="1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AI</a:t>
            </a: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 내 일에</a:t>
            </a:r>
            <a:endParaRPr lang="en-US" altLang="ko-KR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도움이 될까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?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AD89745-6B09-46B5-BB3C-DD65606AEAB4}"/>
              </a:ext>
            </a:extLst>
          </p:cNvPr>
          <p:cNvSpPr txBox="1"/>
          <p:nvPr/>
        </p:nvSpPr>
        <p:spPr>
          <a:xfrm>
            <a:off x="7766062" y="2343155"/>
            <a:ext cx="1146022" cy="47705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sz="900" b="1" dirty="0">
                <a:solidFill>
                  <a:srgbClr val="253E9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초기에는 관점이 핵심</a:t>
            </a:r>
            <a:endParaRPr lang="en-US" altLang="ko-KR" sz="900" b="1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600" b="1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기술 장벽은 낮지만</a:t>
            </a:r>
            <a:r>
              <a:rPr lang="en-US" altLang="ko-KR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관점 장벽이 시작 방해</a:t>
            </a:r>
            <a:endParaRPr lang="en-US" altLang="ko-KR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D620AC8-0DE1-42B1-9825-F3E0845110DB}"/>
              </a:ext>
            </a:extLst>
          </p:cNvPr>
          <p:cNvSpPr txBox="1"/>
          <p:nvPr/>
        </p:nvSpPr>
        <p:spPr>
          <a:xfrm>
            <a:off x="7766062" y="3265935"/>
            <a:ext cx="1232164" cy="47705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sz="900" b="1" dirty="0">
                <a:solidFill>
                  <a:srgbClr val="253E9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경험이 전환점을 주도</a:t>
            </a:r>
            <a:endParaRPr lang="en-US" altLang="ko-KR" sz="900" b="1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600" b="1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첫 성공 경험으로</a:t>
            </a:r>
            <a:endParaRPr lang="en-US" altLang="ko-KR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학습 동기</a:t>
            </a:r>
            <a:r>
              <a:rPr lang="en-US" altLang="ko-KR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유발 및 반복</a:t>
            </a:r>
            <a:endParaRPr lang="en-US" altLang="ko-KR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8AB4010-4632-42BD-97E4-37130EA898D5}"/>
              </a:ext>
            </a:extLst>
          </p:cNvPr>
          <p:cNvSpPr txBox="1"/>
          <p:nvPr/>
        </p:nvSpPr>
        <p:spPr>
          <a:xfrm>
            <a:off x="7766062" y="4184115"/>
            <a:ext cx="1232164" cy="47705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sz="900" b="1" dirty="0">
                <a:solidFill>
                  <a:srgbClr val="253E9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숙련이 확장을 견인</a:t>
            </a:r>
            <a:endParaRPr lang="en-US" altLang="ko-KR" sz="900" b="1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600" b="1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첫 성공 경험으로</a:t>
            </a:r>
            <a:endParaRPr lang="en-US" altLang="ko-KR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학습 동기</a:t>
            </a:r>
            <a:r>
              <a:rPr lang="en-US" altLang="ko-KR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유발 및 반복</a:t>
            </a:r>
            <a:endParaRPr lang="en-US" altLang="ko-KR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E4297FA-EE10-40D8-9130-8D20860032D0}"/>
              </a:ext>
            </a:extLst>
          </p:cNvPr>
          <p:cNvSpPr txBox="1"/>
          <p:nvPr/>
        </p:nvSpPr>
        <p:spPr>
          <a:xfrm>
            <a:off x="872884" y="2257544"/>
            <a:ext cx="1146022" cy="47705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sz="900" b="1" dirty="0">
                <a:solidFill>
                  <a:srgbClr val="0B5BDD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핵심은 관점 전환</a:t>
            </a:r>
            <a:endParaRPr lang="en-US" altLang="ko-KR" sz="900" b="1" dirty="0">
              <a:solidFill>
                <a:srgbClr val="0B5BDD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600" b="1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 내 일에 어떤 가치를 주는지 확인 후 시작 가능</a:t>
            </a:r>
            <a:endParaRPr lang="en-US" altLang="ko-KR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6730EB2-BFAF-4BFE-9ED6-07F094FF2292}"/>
              </a:ext>
            </a:extLst>
          </p:cNvPr>
          <p:cNvSpPr txBox="1"/>
          <p:nvPr/>
        </p:nvSpPr>
        <p:spPr>
          <a:xfrm>
            <a:off x="872884" y="3246057"/>
            <a:ext cx="1146022" cy="47705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sz="900" b="1" dirty="0">
                <a:solidFill>
                  <a:srgbClr val="0B5BDD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경험이 학습을 이끈다</a:t>
            </a:r>
            <a:endParaRPr lang="en-US" altLang="ko-KR" sz="900" b="1" dirty="0">
              <a:solidFill>
                <a:srgbClr val="0B5BDD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600" b="1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작은 성공 경험이</a:t>
            </a:r>
            <a:endParaRPr lang="en-US" altLang="ko-KR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다음 학습과 시도</a:t>
            </a:r>
            <a:r>
              <a:rPr lang="en-US" altLang="ko-KR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유발</a:t>
            </a:r>
            <a:endParaRPr lang="en-US" altLang="ko-KR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580E741-6673-4B36-A1F3-48E7E2ACF9FA}"/>
              </a:ext>
            </a:extLst>
          </p:cNvPr>
          <p:cNvSpPr txBox="1"/>
          <p:nvPr/>
        </p:nvSpPr>
        <p:spPr>
          <a:xfrm>
            <a:off x="863508" y="4184115"/>
            <a:ext cx="1146022" cy="47705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sz="900" b="1" dirty="0">
                <a:solidFill>
                  <a:srgbClr val="0B5BDD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숙련이 확장을 만든다</a:t>
            </a:r>
            <a:endParaRPr lang="en-US" altLang="ko-KR" sz="900" b="1" dirty="0">
              <a:solidFill>
                <a:srgbClr val="0B5BDD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600" b="1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기술 숙련이 높아질수록</a:t>
            </a:r>
            <a:endParaRPr lang="en-US" altLang="ko-KR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더 넓은 업무에 가치 창출</a:t>
            </a:r>
            <a:endParaRPr lang="en-US" altLang="ko-KR" sz="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1C509F7-CABC-495F-A1E1-1D9F4AA4A4F5}"/>
              </a:ext>
            </a:extLst>
          </p:cNvPr>
          <p:cNvSpPr/>
          <p:nvPr/>
        </p:nvSpPr>
        <p:spPr>
          <a:xfrm>
            <a:off x="124617" y="5122173"/>
            <a:ext cx="8978661" cy="8696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6741D8A-DA4F-4EED-9DA0-0BA5639906F2}"/>
              </a:ext>
            </a:extLst>
          </p:cNvPr>
          <p:cNvSpPr/>
          <p:nvPr/>
        </p:nvSpPr>
        <p:spPr>
          <a:xfrm>
            <a:off x="685663" y="5629683"/>
            <a:ext cx="7757434" cy="621447"/>
          </a:xfrm>
          <a:prstGeom prst="roundRect">
            <a:avLst/>
          </a:prstGeom>
          <a:solidFill>
            <a:srgbClr val="F2F8FE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51BC339F-1A13-4060-800E-C321536FCD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5674080"/>
            <a:ext cx="739140" cy="51567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2EF049EC-10ED-48D6-B3FE-50AACC54CDAA}"/>
              </a:ext>
            </a:extLst>
          </p:cNvPr>
          <p:cNvSpPr txBox="1"/>
          <p:nvPr/>
        </p:nvSpPr>
        <p:spPr>
          <a:xfrm>
            <a:off x="1653677" y="5797923"/>
            <a:ext cx="2377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253E9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쓸모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 보여야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학습이 시작됩니다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en-US" altLang="ko-KR" sz="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31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8B6E46A-7A7E-4B04-9268-67C84EC7A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28" y="1621977"/>
            <a:ext cx="7711168" cy="4295168"/>
          </a:xfrm>
          <a:prstGeom prst="rect">
            <a:avLst/>
          </a:prstGeom>
        </p:spPr>
      </p:pic>
      <p:sp>
        <p:nvSpPr>
          <p:cNvPr id="6" name="내용 개체 틀 2"/>
          <p:cNvSpPr txBox="1">
            <a:spLocks/>
          </p:cNvSpPr>
          <p:nvPr/>
        </p:nvSpPr>
        <p:spPr>
          <a:xfrm>
            <a:off x="831200" y="1183920"/>
            <a:ext cx="7596384" cy="505787"/>
          </a:xfrm>
          <a:prstGeom prst="rect">
            <a:avLst/>
          </a:prstGeom>
        </p:spPr>
        <p:txBody>
          <a:bodyPr lIns="0" tIns="0" rIns="0" bIns="0"/>
          <a:lstStyle>
            <a:lvl1pPr marL="266700" indent="-26670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lang="ko-KR" altLang="en-US" sz="1400" b="1" kern="1200" spc="-20" baseline="0" dirty="0" smtClean="0">
                <a:ln>
                  <a:noFill/>
                </a:ln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2667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446087" indent="0" algn="l" defTabSz="914400" rtl="0" eaLnBrk="1" latinLnBrk="1" hangingPunct="1">
              <a:lnSpc>
                <a:spcPct val="150000"/>
              </a:lnSpc>
              <a:spcBef>
                <a:spcPts val="3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625475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64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  <a:lvl6pPr marL="82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역할에 따라 필요한 준비는 다르지만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, 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모두가 업무에 맞는 활용 방식을 익혀야 합니다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.</a:t>
            </a: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424800" y="365520"/>
            <a:ext cx="8640000" cy="338400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600" b="1" kern="1200" spc="-20" baseline="0" dirty="0"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| </a:t>
            </a:r>
            <a:r>
              <a:rPr lang="ko-KR" altLang="en-US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무엇을 준비해야 하는가 </a:t>
            </a:r>
            <a:r>
              <a:rPr lang="en-US" altLang="ko-KR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: </a:t>
            </a:r>
            <a:r>
              <a:rPr lang="ko-KR" altLang="en-US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역할별 기대되는</a:t>
            </a:r>
            <a:r>
              <a:rPr lang="en-US" altLang="ko-KR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 AI </a:t>
            </a:r>
            <a:r>
              <a:rPr lang="ko-KR" altLang="en-US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활용 수준</a:t>
            </a:r>
            <a:endParaRPr lang="en-US" altLang="ko-KR" sz="2000" dirty="0">
              <a:solidFill>
                <a:srgbClr val="07C63C"/>
              </a:solidFill>
              <a:latin typeface="NanumSquare ExtraBold" charset="-127"/>
              <a:ea typeface="NanumSquare ExtraBold" charset="-127"/>
              <a:cs typeface="NanumSquare ExtraBold" charset="-127"/>
            </a:endParaRPr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8427584" y="365520"/>
            <a:ext cx="343364" cy="20864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266700" indent="-26670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lang="ko-KR" altLang="en-US" sz="1400" b="1" kern="1200" spc="-20" baseline="0" dirty="0" smtClean="0">
                <a:ln>
                  <a:noFill/>
                </a:ln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2667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446087" indent="0" algn="l" defTabSz="914400" rtl="0" eaLnBrk="1" latinLnBrk="1" hangingPunct="1">
              <a:lnSpc>
                <a:spcPct val="150000"/>
              </a:lnSpc>
              <a:spcBef>
                <a:spcPts val="3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625475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64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  <a:lvl6pPr marL="82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대외비</a:t>
            </a:r>
            <a:endParaRPr lang="en-US" altLang="ko-KR" sz="1000" dirty="0">
              <a:solidFill>
                <a:srgbClr val="07C63C"/>
              </a:solidFill>
              <a:latin typeface="NanumSquare ExtraBold" charset="-127"/>
              <a:ea typeface="NanumSquare ExtraBold" charset="-127"/>
              <a:cs typeface="NanumSquare ExtraBold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2C172EE-87AC-4ABD-98CD-9C92B053D3EC}"/>
              </a:ext>
            </a:extLst>
          </p:cNvPr>
          <p:cNvSpPr/>
          <p:nvPr/>
        </p:nvSpPr>
        <p:spPr>
          <a:xfrm>
            <a:off x="784967" y="1713341"/>
            <a:ext cx="1788896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253E9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역할</a:t>
            </a:r>
            <a:endParaRPr lang="ko-KR" altLang="en-US" sz="900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EDAF6FB-1EEA-4E78-B011-001C3A628031}"/>
              </a:ext>
            </a:extLst>
          </p:cNvPr>
          <p:cNvSpPr/>
          <p:nvPr/>
        </p:nvSpPr>
        <p:spPr>
          <a:xfrm>
            <a:off x="2573862" y="1713341"/>
            <a:ext cx="3000587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253E9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무엇을</a:t>
            </a:r>
            <a:endParaRPr lang="ko-KR" altLang="en-US" sz="900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A373B0B-B8E1-43D4-93AB-46FF13F1BCB2}"/>
              </a:ext>
            </a:extLst>
          </p:cNvPr>
          <p:cNvSpPr/>
          <p:nvPr/>
        </p:nvSpPr>
        <p:spPr>
          <a:xfrm>
            <a:off x="5574449" y="1713341"/>
            <a:ext cx="2790614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253E9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어떻게</a:t>
            </a:r>
            <a:endParaRPr lang="ko-KR" altLang="en-US" sz="900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843EDE7-E435-47BB-B87D-C36129628F41}"/>
              </a:ext>
            </a:extLst>
          </p:cNvPr>
          <p:cNvSpPr/>
          <p:nvPr/>
        </p:nvSpPr>
        <p:spPr>
          <a:xfrm>
            <a:off x="1482620" y="2302167"/>
            <a:ext cx="1016736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일반 사용자</a:t>
            </a:r>
            <a:endParaRPr lang="ko-KR" altLang="en-US" sz="9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4C83E24-6CA4-4EAE-9EF6-161AAD4B6D1C}"/>
              </a:ext>
            </a:extLst>
          </p:cNvPr>
          <p:cNvSpPr/>
          <p:nvPr/>
        </p:nvSpPr>
        <p:spPr>
          <a:xfrm>
            <a:off x="3480753" y="2131797"/>
            <a:ext cx="1992095" cy="679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기본 사용</a:t>
            </a:r>
            <a:r>
              <a:rPr lang="en-US" altLang="ko-KR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안전한 입력</a:t>
            </a:r>
            <a:r>
              <a:rPr lang="en-US" altLang="ko-KR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결과 검토</a:t>
            </a:r>
            <a:endParaRPr lang="ko-KR" altLang="en-US" sz="9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2C06CDE-FBF3-4C53-979C-AFA0FCDBEAD6}"/>
              </a:ext>
            </a:extLst>
          </p:cNvPr>
          <p:cNvSpPr/>
          <p:nvPr/>
        </p:nvSpPr>
        <p:spPr>
          <a:xfrm>
            <a:off x="6461387" y="2185984"/>
            <a:ext cx="1788985" cy="5707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질문 구조화</a:t>
            </a:r>
            <a:r>
              <a:rPr lang="en-US" altLang="ko-KR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사용 기준</a:t>
            </a:r>
            <a:r>
              <a:rPr lang="en-US" altLang="ko-KR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간단 실습</a:t>
            </a:r>
            <a:endParaRPr lang="ko-KR" altLang="en-US" sz="9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D532580-F7D3-4FE5-A7AD-BB19038223C6}"/>
              </a:ext>
            </a:extLst>
          </p:cNvPr>
          <p:cNvSpPr/>
          <p:nvPr/>
        </p:nvSpPr>
        <p:spPr>
          <a:xfrm>
            <a:off x="1482620" y="3115550"/>
            <a:ext cx="1016736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실무자</a:t>
            </a:r>
            <a:endParaRPr lang="ko-KR" altLang="en-US" sz="9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B7890D1-4873-45D1-8A4B-9B77BBDDE90F}"/>
              </a:ext>
            </a:extLst>
          </p:cNvPr>
          <p:cNvSpPr/>
          <p:nvPr/>
        </p:nvSpPr>
        <p:spPr>
          <a:xfrm>
            <a:off x="3480753" y="2945180"/>
            <a:ext cx="1992095" cy="679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내 업무 적용</a:t>
            </a:r>
            <a:endParaRPr lang="ko-KR" altLang="en-US" sz="9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2E5047E-B11E-4FC8-8A2A-282DA4DCF14C}"/>
              </a:ext>
            </a:extLst>
          </p:cNvPr>
          <p:cNvSpPr/>
          <p:nvPr/>
        </p:nvSpPr>
        <p:spPr>
          <a:xfrm>
            <a:off x="6461387" y="2999367"/>
            <a:ext cx="1788985" cy="5707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보고서</a:t>
            </a:r>
            <a:r>
              <a:rPr lang="en-US" altLang="ko-KR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회의록</a:t>
            </a:r>
            <a:r>
              <a:rPr lang="en-US" altLang="ko-KR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검색</a:t>
            </a:r>
            <a:r>
              <a:rPr lang="en-US" altLang="ko-KR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정리 실습</a:t>
            </a:r>
            <a:endParaRPr lang="ko-KR" altLang="en-US" sz="9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9339B39-CB67-4CAB-AD7C-CC70B5C1048B}"/>
              </a:ext>
            </a:extLst>
          </p:cNvPr>
          <p:cNvSpPr/>
          <p:nvPr/>
        </p:nvSpPr>
        <p:spPr>
          <a:xfrm>
            <a:off x="1483763" y="3873334"/>
            <a:ext cx="1016736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파워유저</a:t>
            </a:r>
            <a:endParaRPr lang="ko-KR" altLang="en-US" sz="9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C3C7F3D-4B4F-4F85-84FC-3A51D59D74C6}"/>
              </a:ext>
            </a:extLst>
          </p:cNvPr>
          <p:cNvSpPr/>
          <p:nvPr/>
        </p:nvSpPr>
        <p:spPr>
          <a:xfrm>
            <a:off x="3481896" y="3702964"/>
            <a:ext cx="1992095" cy="679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팀 활용 확산</a:t>
            </a:r>
            <a:endParaRPr lang="ko-KR" altLang="en-US" sz="9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C407DB0-695C-42E3-8532-1C0E23A00D3B}"/>
              </a:ext>
            </a:extLst>
          </p:cNvPr>
          <p:cNvSpPr/>
          <p:nvPr/>
        </p:nvSpPr>
        <p:spPr>
          <a:xfrm>
            <a:off x="6462530" y="3757151"/>
            <a:ext cx="1788985" cy="5707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예제</a:t>
            </a:r>
            <a:r>
              <a:rPr lang="en-US" altLang="ko-KR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템플릿</a:t>
            </a:r>
            <a:r>
              <a:rPr lang="en-US" altLang="ko-KR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반복 업무 구조화</a:t>
            </a:r>
            <a:endParaRPr lang="ko-KR" altLang="en-US" sz="9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6471AE3-3C36-46CC-9EEF-3E29496D2C0E}"/>
              </a:ext>
            </a:extLst>
          </p:cNvPr>
          <p:cNvSpPr/>
          <p:nvPr/>
        </p:nvSpPr>
        <p:spPr>
          <a:xfrm>
            <a:off x="1482620" y="4631118"/>
            <a:ext cx="1016736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개발자</a:t>
            </a:r>
            <a:endParaRPr lang="ko-KR" altLang="en-US" sz="9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152F617-815F-4E2D-83EC-89ACA3C4858A}"/>
              </a:ext>
            </a:extLst>
          </p:cNvPr>
          <p:cNvSpPr/>
          <p:nvPr/>
        </p:nvSpPr>
        <p:spPr>
          <a:xfrm>
            <a:off x="3480753" y="4460748"/>
            <a:ext cx="1992095" cy="679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 연동과 자동화</a:t>
            </a:r>
            <a:endParaRPr lang="ko-KR" altLang="en-US" sz="9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A5880B5-34F6-4CBB-9A96-4A4DB7B4E911}"/>
              </a:ext>
            </a:extLst>
          </p:cNvPr>
          <p:cNvSpPr/>
          <p:nvPr/>
        </p:nvSpPr>
        <p:spPr>
          <a:xfrm>
            <a:off x="6461387" y="4514935"/>
            <a:ext cx="1788985" cy="5707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업무도구</a:t>
            </a:r>
            <a:r>
              <a:rPr lang="en-US" altLang="ko-KR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API,</a:t>
            </a:r>
          </a:p>
          <a:p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테스트</a:t>
            </a:r>
            <a:r>
              <a:rPr lang="en-US" altLang="ko-KR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자동화 흐름</a:t>
            </a:r>
            <a:endParaRPr lang="ko-KR" altLang="en-US" sz="9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871E90F-8E35-4D3A-812B-0DD2ED28C968}"/>
              </a:ext>
            </a:extLst>
          </p:cNvPr>
          <p:cNvSpPr/>
          <p:nvPr/>
        </p:nvSpPr>
        <p:spPr>
          <a:xfrm>
            <a:off x="1482620" y="5359316"/>
            <a:ext cx="1016736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리더</a:t>
            </a:r>
            <a:endParaRPr lang="ko-KR" altLang="en-US" sz="9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C0FA727-35F8-4E7F-A46B-A0585AF15ACC}"/>
              </a:ext>
            </a:extLst>
          </p:cNvPr>
          <p:cNvSpPr/>
          <p:nvPr/>
        </p:nvSpPr>
        <p:spPr>
          <a:xfrm>
            <a:off x="3480753" y="5188946"/>
            <a:ext cx="1992095" cy="679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과제 선정과 운영</a:t>
            </a:r>
            <a:endParaRPr lang="ko-KR" altLang="en-US" sz="9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DA9A252-EA50-4663-80C2-990670762E2B}"/>
              </a:ext>
            </a:extLst>
          </p:cNvPr>
          <p:cNvSpPr/>
          <p:nvPr/>
        </p:nvSpPr>
        <p:spPr>
          <a:xfrm>
            <a:off x="6461387" y="5243133"/>
            <a:ext cx="1788985" cy="5707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우선순위</a:t>
            </a:r>
            <a:r>
              <a:rPr lang="en-US" altLang="ko-KR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성과 기준</a:t>
            </a:r>
            <a:r>
              <a:rPr lang="en-US" altLang="ko-KR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리스크 관리</a:t>
            </a:r>
            <a:endParaRPr lang="ko-KR" altLang="en-US" sz="9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99D20CC8-EE46-47ED-9CED-665100101256}"/>
              </a:ext>
            </a:extLst>
          </p:cNvPr>
          <p:cNvSpPr/>
          <p:nvPr/>
        </p:nvSpPr>
        <p:spPr>
          <a:xfrm>
            <a:off x="1445895" y="5996699"/>
            <a:ext cx="6252210" cy="621447"/>
          </a:xfrm>
          <a:prstGeom prst="roundRect">
            <a:avLst/>
          </a:prstGeom>
          <a:solidFill>
            <a:srgbClr val="F4F6FC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2B1797-1B0B-41E9-B9E5-33E17083A011}"/>
              </a:ext>
            </a:extLst>
          </p:cNvPr>
          <p:cNvSpPr txBox="1"/>
          <p:nvPr/>
        </p:nvSpPr>
        <p:spPr>
          <a:xfrm>
            <a:off x="2217233" y="6059228"/>
            <a:ext cx="42578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모두에게 같은 교육을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하는것이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아니라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endParaRPr lang="en-US" altLang="ko-KR" sz="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200" b="1" dirty="0">
                <a:solidFill>
                  <a:srgbClr val="253E9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역할에 맞는 수준까지 실무에 연결되게 학습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하는 것이 핵심입니다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255CF656-F51F-4176-9A31-B3A77B5800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2477" y="6021672"/>
            <a:ext cx="638175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286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/>
          <p:cNvSpPr txBox="1">
            <a:spLocks/>
          </p:cNvSpPr>
          <p:nvPr/>
        </p:nvSpPr>
        <p:spPr>
          <a:xfrm>
            <a:off x="831200" y="1183920"/>
            <a:ext cx="7596384" cy="458205"/>
          </a:xfrm>
          <a:prstGeom prst="rect">
            <a:avLst/>
          </a:prstGeom>
        </p:spPr>
        <p:txBody>
          <a:bodyPr lIns="0" tIns="0" rIns="0" bIns="0"/>
          <a:lstStyle>
            <a:lvl1pPr marL="266700" indent="-26670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lang="ko-KR" altLang="en-US" sz="1400" b="1" kern="1200" spc="-20" baseline="0" dirty="0" smtClean="0">
                <a:ln>
                  <a:noFill/>
                </a:ln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2667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446087" indent="0" algn="l" defTabSz="914400" rtl="0" eaLnBrk="1" latinLnBrk="1" hangingPunct="1">
              <a:lnSpc>
                <a:spcPct val="150000"/>
              </a:lnSpc>
              <a:spcBef>
                <a:spcPts val="3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625475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64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  <a:lvl6pPr marL="82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역할에 따른 교육 경로와 난이도 단계를 교차해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, 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각자에게 맞는 학습 흐름으로 연결</a:t>
            </a:r>
            <a:endParaRPr lang="en-US" altLang="ko-KR" sz="1600" dirty="0">
              <a:solidFill>
                <a:srgbClr val="25282A"/>
              </a:solidFill>
              <a:latin typeface="NanumSquare ExtraBold" charset="-127"/>
              <a:ea typeface="NanumSquare ExtraBold" charset="-127"/>
              <a:cs typeface="NanumSquare ExtraBold" charset="-127"/>
            </a:endParaRP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424800" y="365520"/>
            <a:ext cx="8640000" cy="338400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600" b="1" kern="1200" spc="-20" baseline="0" dirty="0"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| </a:t>
            </a:r>
            <a:r>
              <a:rPr lang="ko-KR" altLang="en-US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무엇을 준비해야 하는가 </a:t>
            </a:r>
            <a:r>
              <a:rPr lang="en-US" altLang="ko-KR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: </a:t>
            </a:r>
            <a:r>
              <a:rPr lang="ko-KR" altLang="en-US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수준별 교육</a:t>
            </a:r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8427584" y="365520"/>
            <a:ext cx="343364" cy="20864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266700" indent="-26670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lang="ko-KR" altLang="en-US" sz="1400" b="1" kern="1200" spc="-20" baseline="0" dirty="0" smtClean="0">
                <a:ln>
                  <a:noFill/>
                </a:ln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2667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446087" indent="0" algn="l" defTabSz="914400" rtl="0" eaLnBrk="1" latinLnBrk="1" hangingPunct="1">
              <a:lnSpc>
                <a:spcPct val="150000"/>
              </a:lnSpc>
              <a:spcBef>
                <a:spcPts val="3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625475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64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  <a:lvl6pPr marL="82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대외비</a:t>
            </a:r>
            <a:endParaRPr lang="en-US" altLang="ko-KR" sz="1000" dirty="0">
              <a:solidFill>
                <a:srgbClr val="07C63C"/>
              </a:solidFill>
              <a:latin typeface="NanumSquare ExtraBold" charset="-127"/>
              <a:ea typeface="NanumSquare ExtraBold" charset="-127"/>
              <a:cs typeface="NanumSquare ExtraBold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15A11AF-9882-4451-B9C8-C65EC120B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12" y="1885965"/>
            <a:ext cx="8397896" cy="332991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F858A99-64F5-4210-8A5B-0B43A067EBA8}"/>
              </a:ext>
            </a:extLst>
          </p:cNvPr>
          <p:cNvSpPr/>
          <p:nvPr/>
        </p:nvSpPr>
        <p:spPr>
          <a:xfrm>
            <a:off x="3187806" y="2122125"/>
            <a:ext cx="2275733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b="1" dirty="0">
                <a:solidFill>
                  <a:srgbClr val="0F39C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비개발자 </a:t>
            </a:r>
            <a:r>
              <a:rPr lang="en-US" altLang="ko-KR" sz="1600" b="1" dirty="0">
                <a:solidFill>
                  <a:srgbClr val="0F39C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Track</a:t>
            </a:r>
          </a:p>
          <a:p>
            <a:endParaRPr lang="en-US" altLang="ko-KR" sz="600" b="1" dirty="0">
              <a:solidFill>
                <a:srgbClr val="0F39CF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문서</a:t>
            </a:r>
            <a:r>
              <a:rPr lang="en-US" altLang="ko-KR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보고</a:t>
            </a:r>
            <a:r>
              <a:rPr lang="en-US" altLang="ko-KR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정리</a:t>
            </a:r>
            <a:r>
              <a:rPr lang="en-US" altLang="ko-KR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분석</a:t>
            </a:r>
            <a:r>
              <a:rPr lang="en-US" altLang="ko-KR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업무개선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DF8530-0DF4-4FE3-9B10-0FF28F2258A0}"/>
              </a:ext>
            </a:extLst>
          </p:cNvPr>
          <p:cNvSpPr/>
          <p:nvPr/>
        </p:nvSpPr>
        <p:spPr>
          <a:xfrm>
            <a:off x="6405511" y="2122125"/>
            <a:ext cx="2275733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b="1" dirty="0">
                <a:solidFill>
                  <a:srgbClr val="0F39C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개발자 </a:t>
            </a:r>
            <a:r>
              <a:rPr lang="en-US" altLang="ko-KR" sz="1600" b="1" dirty="0">
                <a:solidFill>
                  <a:srgbClr val="0F39C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Track</a:t>
            </a:r>
          </a:p>
          <a:p>
            <a:endParaRPr lang="en-US" altLang="ko-KR" sz="600" b="1" dirty="0">
              <a:solidFill>
                <a:srgbClr val="0F39CF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코드</a:t>
            </a:r>
            <a:r>
              <a:rPr lang="en-US" altLang="ko-KR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자동화</a:t>
            </a:r>
            <a:r>
              <a:rPr lang="en-US" altLang="ko-KR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연동</a:t>
            </a:r>
            <a:r>
              <a:rPr lang="en-US" altLang="ko-KR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검증</a:t>
            </a:r>
            <a:r>
              <a:rPr lang="en-US" altLang="ko-KR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시스템화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3AE0CE0-5EE0-4315-BC2A-6EAB490A176F}"/>
              </a:ext>
            </a:extLst>
          </p:cNvPr>
          <p:cNvSpPr/>
          <p:nvPr/>
        </p:nvSpPr>
        <p:spPr>
          <a:xfrm>
            <a:off x="1000867" y="2769096"/>
            <a:ext cx="1178454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>
                <a:solidFill>
                  <a:srgbClr val="0F39C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Level 1.</a:t>
            </a:r>
          </a:p>
          <a:p>
            <a:endParaRPr lang="en-US" altLang="ko-KR" sz="500" b="1" dirty="0">
              <a:solidFill>
                <a:srgbClr val="0F39CF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이해와 기본 사용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43070C9-3168-4D60-83D6-3DC0CD55552F}"/>
              </a:ext>
            </a:extLst>
          </p:cNvPr>
          <p:cNvSpPr/>
          <p:nvPr/>
        </p:nvSpPr>
        <p:spPr>
          <a:xfrm>
            <a:off x="1000867" y="3381720"/>
            <a:ext cx="1178454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>
                <a:solidFill>
                  <a:srgbClr val="0F39C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Level 2.</a:t>
            </a:r>
          </a:p>
          <a:p>
            <a:endParaRPr lang="en-US" altLang="ko-KR" sz="500" b="1" dirty="0">
              <a:solidFill>
                <a:srgbClr val="0F39CF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업무 적용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9404E8D-E906-443A-8767-6A35D6F7B49B}"/>
              </a:ext>
            </a:extLst>
          </p:cNvPr>
          <p:cNvSpPr/>
          <p:nvPr/>
        </p:nvSpPr>
        <p:spPr>
          <a:xfrm>
            <a:off x="1000867" y="4008037"/>
            <a:ext cx="1178454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>
                <a:solidFill>
                  <a:srgbClr val="0F39C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Level 3.</a:t>
            </a:r>
          </a:p>
          <a:p>
            <a:endParaRPr lang="en-US" altLang="ko-KR" sz="500" b="1" dirty="0">
              <a:solidFill>
                <a:srgbClr val="0F39CF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구조화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66F5732-DA53-4286-9696-5557A2963EAA}"/>
              </a:ext>
            </a:extLst>
          </p:cNvPr>
          <p:cNvSpPr/>
          <p:nvPr/>
        </p:nvSpPr>
        <p:spPr>
          <a:xfrm>
            <a:off x="1000867" y="4619442"/>
            <a:ext cx="1178454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>
                <a:solidFill>
                  <a:srgbClr val="0F39C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Level 4.</a:t>
            </a:r>
          </a:p>
          <a:p>
            <a:endParaRPr lang="en-US" altLang="ko-KR" sz="500" b="1" dirty="0">
              <a:solidFill>
                <a:srgbClr val="0F39CF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자동화</a:t>
            </a:r>
            <a:r>
              <a:rPr lang="en-US" altLang="ko-KR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연결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3A1120F-D5AB-48E4-9D27-16C6609F4F20}"/>
              </a:ext>
            </a:extLst>
          </p:cNvPr>
          <p:cNvSpPr/>
          <p:nvPr/>
        </p:nvSpPr>
        <p:spPr>
          <a:xfrm>
            <a:off x="3058266" y="2768583"/>
            <a:ext cx="2113649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요약</a:t>
            </a:r>
            <a:r>
              <a:rPr lang="en-US" altLang="ko-KR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초안 작성</a:t>
            </a:r>
            <a:r>
              <a:rPr lang="en-US" altLang="ko-KR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메일 </a:t>
            </a:r>
            <a:r>
              <a:rPr lang="en-US" altLang="ko-KR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 </a:t>
            </a:r>
            <a:r>
              <a: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문서 정리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AEF0EC7-F275-44A9-8B70-E02332239A7B}"/>
              </a:ext>
            </a:extLst>
          </p:cNvPr>
          <p:cNvSpPr/>
          <p:nvPr/>
        </p:nvSpPr>
        <p:spPr>
          <a:xfrm>
            <a:off x="3058266" y="3387363"/>
            <a:ext cx="2113649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회의록 정리</a:t>
            </a:r>
            <a:r>
              <a:rPr lang="en-US" altLang="ko-KR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보고서 초안</a:t>
            </a:r>
            <a:r>
              <a:rPr lang="en-US" altLang="ko-KR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반복 업무 적용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FF18587-8FEF-4C77-A08E-86EE77AD6A54}"/>
              </a:ext>
            </a:extLst>
          </p:cNvPr>
          <p:cNvSpPr/>
          <p:nvPr/>
        </p:nvSpPr>
        <p:spPr>
          <a:xfrm>
            <a:off x="3058266" y="4009597"/>
            <a:ext cx="2113649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출력 형식 고정</a:t>
            </a:r>
            <a:r>
              <a:rPr lang="en-US" altLang="ko-KR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활용 기준 정리</a:t>
            </a:r>
            <a:r>
              <a:rPr lang="en-US" altLang="ko-KR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팀 공유 템플릿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B0F1F2F-4734-42D9-A125-1119686D5556}"/>
              </a:ext>
            </a:extLst>
          </p:cNvPr>
          <p:cNvSpPr/>
          <p:nvPr/>
        </p:nvSpPr>
        <p:spPr>
          <a:xfrm>
            <a:off x="3058266" y="4631831"/>
            <a:ext cx="2113649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업무 흐름 연결</a:t>
            </a:r>
            <a:r>
              <a:rPr lang="en-US" altLang="ko-KR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검토 프로세스</a:t>
            </a:r>
            <a:r>
              <a:rPr lang="en-US" altLang="ko-KR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반복 업무 자동화 연계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9D088D0-9DAD-4F5E-A577-B34EE463D0E1}"/>
              </a:ext>
            </a:extLst>
          </p:cNvPr>
          <p:cNvSpPr/>
          <p:nvPr/>
        </p:nvSpPr>
        <p:spPr>
          <a:xfrm>
            <a:off x="6405510" y="2768583"/>
            <a:ext cx="2113649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코드 설명</a:t>
            </a:r>
            <a:r>
              <a:rPr lang="en-US" altLang="ko-KR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간단한 함수 작성</a:t>
            </a:r>
            <a:r>
              <a:rPr lang="en-US" altLang="ko-KR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디버깅 보조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40D8503-E56F-4393-BE55-5141785AF4FF}"/>
              </a:ext>
            </a:extLst>
          </p:cNvPr>
          <p:cNvSpPr/>
          <p:nvPr/>
        </p:nvSpPr>
        <p:spPr>
          <a:xfrm>
            <a:off x="6405510" y="3387363"/>
            <a:ext cx="2113649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쿼리 작성</a:t>
            </a:r>
            <a:r>
              <a:rPr lang="en-US" altLang="ko-KR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기능 수정</a:t>
            </a:r>
            <a:r>
              <a:rPr lang="en-US" altLang="ko-KR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테스트 보조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E5351A2-B306-4C42-9DCB-AE92E3E48BD0}"/>
              </a:ext>
            </a:extLst>
          </p:cNvPr>
          <p:cNvSpPr/>
          <p:nvPr/>
        </p:nvSpPr>
        <p:spPr>
          <a:xfrm>
            <a:off x="6405510" y="4009597"/>
            <a:ext cx="2113649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지침</a:t>
            </a:r>
            <a:r>
              <a:rPr lang="en-US" altLang="ko-KR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규칙 정리</a:t>
            </a:r>
            <a:r>
              <a:rPr lang="en-US" altLang="ko-KR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하네스</a:t>
            </a:r>
            <a:r>
              <a:rPr lang="en-US" altLang="ko-KR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품질 기준</a:t>
            </a:r>
            <a:r>
              <a:rPr lang="en-US" altLang="ko-KR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재사용 구조화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547AE84-B23F-4AFD-9B67-1A54960FDED0}"/>
              </a:ext>
            </a:extLst>
          </p:cNvPr>
          <p:cNvSpPr/>
          <p:nvPr/>
        </p:nvSpPr>
        <p:spPr>
          <a:xfrm>
            <a:off x="6405510" y="4631831"/>
            <a:ext cx="2113649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API </a:t>
            </a:r>
            <a:r>
              <a: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연계</a:t>
            </a:r>
            <a:r>
              <a:rPr lang="en-US" altLang="ko-KR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Workflow, Agent,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자동 검증 흐름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ADFF879-82B2-4717-87ED-7C393A2437B8}"/>
              </a:ext>
            </a:extLst>
          </p:cNvPr>
          <p:cNvSpPr/>
          <p:nvPr/>
        </p:nvSpPr>
        <p:spPr>
          <a:xfrm>
            <a:off x="685663" y="5629683"/>
            <a:ext cx="7757434" cy="621447"/>
          </a:xfrm>
          <a:prstGeom prst="roundRect">
            <a:avLst/>
          </a:prstGeom>
          <a:solidFill>
            <a:srgbClr val="F2F8FE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D034FEBB-12F3-40DF-86AF-F9AB5E726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5674080"/>
            <a:ext cx="739140" cy="51567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13A241B-8138-42A4-A6C5-02AA3850BF0B}"/>
              </a:ext>
            </a:extLst>
          </p:cNvPr>
          <p:cNvSpPr txBox="1"/>
          <p:nvPr/>
        </p:nvSpPr>
        <p:spPr>
          <a:xfrm>
            <a:off x="1539240" y="5694184"/>
            <a:ext cx="584487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Track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은 대상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Level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은 난이도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모든 사람이 같은 수준을 목표로 할 필요는 없으며 역할에 맞는 수준까지 연결하는 것이 핵심</a:t>
            </a:r>
            <a:endParaRPr lang="en-US" altLang="ko-KR" sz="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3594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/>
          <p:cNvSpPr txBox="1">
            <a:spLocks/>
          </p:cNvSpPr>
          <p:nvPr/>
        </p:nvSpPr>
        <p:spPr>
          <a:xfrm>
            <a:off x="831200" y="1183920"/>
            <a:ext cx="7596384" cy="869605"/>
          </a:xfrm>
          <a:prstGeom prst="rect">
            <a:avLst/>
          </a:prstGeom>
        </p:spPr>
        <p:txBody>
          <a:bodyPr lIns="0" tIns="0" rIns="0" bIns="0"/>
          <a:lstStyle>
            <a:lvl1pPr marL="266700" indent="-26670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lang="ko-KR" altLang="en-US" sz="1400" b="1" kern="1200" spc="-20" baseline="0" dirty="0" smtClean="0">
                <a:ln>
                  <a:noFill/>
                </a:ln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2667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446087" indent="0" algn="l" defTabSz="914400" rtl="0" eaLnBrk="1" latinLnBrk="1" hangingPunct="1">
              <a:lnSpc>
                <a:spcPct val="150000"/>
              </a:lnSpc>
              <a:spcBef>
                <a:spcPts val="3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625475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64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  <a:lvl6pPr marL="82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교육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, 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가이드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, 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예제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, 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템플릿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, 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확산 구조로 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AX 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지원</a:t>
            </a:r>
            <a:endParaRPr lang="en-US" altLang="ko-KR" b="0" dirty="0">
              <a:solidFill>
                <a:srgbClr val="626366"/>
              </a:solidFill>
              <a:latin typeface="NanumSquare" charset="-127"/>
              <a:ea typeface="NanumSquare" charset="-127"/>
              <a:cs typeface="NanumSquare" charset="-127"/>
            </a:endParaRPr>
          </a:p>
          <a:p>
            <a:pPr indent="0">
              <a:buNone/>
            </a:pPr>
            <a:endParaRPr lang="en-US" altLang="ko-KR" sz="1100" b="0" dirty="0">
              <a:solidFill>
                <a:srgbClr val="626366"/>
              </a:solidFill>
              <a:latin typeface="NanumSquare" charset="-127"/>
              <a:ea typeface="NanumSquare" charset="-127"/>
              <a:cs typeface="NanumSquare" charset="-127"/>
            </a:endParaRP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424800" y="365520"/>
            <a:ext cx="8640000" cy="338400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600" b="1" kern="1200" spc="-20" baseline="0" dirty="0"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| </a:t>
            </a:r>
            <a:r>
              <a:rPr lang="ko-KR" altLang="en-US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관제지원팀이 준비 중인 것</a:t>
            </a:r>
            <a:endParaRPr lang="en-US" altLang="ko-KR" sz="2000" dirty="0">
              <a:solidFill>
                <a:srgbClr val="07C63C"/>
              </a:solidFill>
              <a:latin typeface="NanumSquare ExtraBold" charset="-127"/>
              <a:ea typeface="NanumSquare ExtraBold" charset="-127"/>
              <a:cs typeface="NanumSquare ExtraBold" charset="-127"/>
            </a:endParaRPr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8427584" y="365520"/>
            <a:ext cx="343364" cy="20864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266700" indent="-26670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lang="ko-KR" altLang="en-US" sz="1400" b="1" kern="1200" spc="-20" baseline="0" dirty="0" smtClean="0">
                <a:ln>
                  <a:noFill/>
                </a:ln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2667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446087" indent="0" algn="l" defTabSz="914400" rtl="0" eaLnBrk="1" latinLnBrk="1" hangingPunct="1">
              <a:lnSpc>
                <a:spcPct val="150000"/>
              </a:lnSpc>
              <a:spcBef>
                <a:spcPts val="3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625475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64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  <a:lvl6pPr marL="82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대외비</a:t>
            </a:r>
            <a:endParaRPr lang="en-US" altLang="ko-KR" sz="1000" dirty="0">
              <a:solidFill>
                <a:srgbClr val="07C63C"/>
              </a:solidFill>
              <a:latin typeface="NanumSquare ExtraBold" charset="-127"/>
              <a:ea typeface="NanumSquare ExtraBold" charset="-127"/>
              <a:cs typeface="NanumSquare ExtraBold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C6157BF-2BF2-4DDF-AAFD-07FE73BAE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19" y="1836950"/>
            <a:ext cx="8294400" cy="403631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C440DEF-0A4F-4287-B04D-2861D6F8140B}"/>
              </a:ext>
            </a:extLst>
          </p:cNvPr>
          <p:cNvSpPr/>
          <p:nvPr/>
        </p:nvSpPr>
        <p:spPr>
          <a:xfrm>
            <a:off x="1618087" y="2116030"/>
            <a:ext cx="1788896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b="1" dirty="0">
                <a:solidFill>
                  <a:srgbClr val="253E9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교육 커리큘럼</a:t>
            </a:r>
            <a:endParaRPr lang="ko-KR" altLang="en-US" sz="1050" dirty="0">
              <a:solidFill>
                <a:srgbClr val="253E93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CE1D3C8-A12B-44D4-BB96-62C16C5D0907}"/>
              </a:ext>
            </a:extLst>
          </p:cNvPr>
          <p:cNvSpPr/>
          <p:nvPr/>
        </p:nvSpPr>
        <p:spPr>
          <a:xfrm>
            <a:off x="2052427" y="2622617"/>
            <a:ext cx="1982860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Track·Level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별 교육 내용</a:t>
            </a:r>
            <a:endParaRPr lang="en-US" altLang="ko-KR" sz="10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2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8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CE2721D-2E85-4F5D-8C98-2CC537EB56B8}"/>
              </a:ext>
            </a:extLst>
          </p:cNvPr>
          <p:cNvSpPr/>
          <p:nvPr/>
        </p:nvSpPr>
        <p:spPr>
          <a:xfrm>
            <a:off x="2052427" y="2901360"/>
            <a:ext cx="1788896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AI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도구 활용법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핸즈온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실습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FA35D32-A6A7-4A7E-B0E1-9CCE203EEBD8}"/>
              </a:ext>
            </a:extLst>
          </p:cNvPr>
          <p:cNvSpPr/>
          <p:nvPr/>
        </p:nvSpPr>
        <p:spPr>
          <a:xfrm>
            <a:off x="2052427" y="3252030"/>
            <a:ext cx="1788896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사내 교육 인프라 연계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BA8380F-6DED-4312-BAB8-BC182025DAEB}"/>
              </a:ext>
            </a:extLst>
          </p:cNvPr>
          <p:cNvSpPr/>
          <p:nvPr/>
        </p:nvSpPr>
        <p:spPr>
          <a:xfrm>
            <a:off x="5809087" y="2116030"/>
            <a:ext cx="1788896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b="1" dirty="0">
                <a:solidFill>
                  <a:srgbClr val="253E9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실무 적용 가이드</a:t>
            </a:r>
            <a:endParaRPr lang="ko-KR" altLang="en-US" sz="1050" dirty="0">
              <a:solidFill>
                <a:srgbClr val="253E93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308D7F9-9976-4D96-AB06-1F6D2BC5E660}"/>
              </a:ext>
            </a:extLst>
          </p:cNvPr>
          <p:cNvSpPr/>
          <p:nvPr/>
        </p:nvSpPr>
        <p:spPr>
          <a:xfrm>
            <a:off x="6243427" y="2541910"/>
            <a:ext cx="1788896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업무별 활용 방법 정리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67AC44F-0444-49BB-ABD7-60F81C45B7FD}"/>
              </a:ext>
            </a:extLst>
          </p:cNvPr>
          <p:cNvSpPr/>
          <p:nvPr/>
        </p:nvSpPr>
        <p:spPr>
          <a:xfrm>
            <a:off x="6243427" y="2901360"/>
            <a:ext cx="1788896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사용 기준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결과 확인 기준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4A629F4-8B79-418D-A8B3-85533EC2AC69}"/>
              </a:ext>
            </a:extLst>
          </p:cNvPr>
          <p:cNvSpPr/>
          <p:nvPr/>
        </p:nvSpPr>
        <p:spPr>
          <a:xfrm>
            <a:off x="6243427" y="3252030"/>
            <a:ext cx="1788896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보안과 주의사항 안내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E937629-C1BF-4996-8A49-B02BA717B342}"/>
              </a:ext>
            </a:extLst>
          </p:cNvPr>
          <p:cNvSpPr/>
          <p:nvPr/>
        </p:nvSpPr>
        <p:spPr>
          <a:xfrm>
            <a:off x="1618086" y="4120616"/>
            <a:ext cx="2283353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b="1" dirty="0">
                <a:solidFill>
                  <a:srgbClr val="253E9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예제</a:t>
            </a:r>
            <a:r>
              <a:rPr lang="en-US" altLang="ko-KR" sz="1600" b="1" dirty="0">
                <a:solidFill>
                  <a:srgbClr val="253E9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·</a:t>
            </a:r>
            <a:r>
              <a:rPr lang="ko-KR" altLang="en-US" sz="1600" b="1" dirty="0">
                <a:solidFill>
                  <a:srgbClr val="253E9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템플릿</a:t>
            </a:r>
            <a:r>
              <a:rPr lang="en-US" altLang="ko-KR" sz="1600" b="1" dirty="0">
                <a:solidFill>
                  <a:srgbClr val="253E9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·</a:t>
            </a:r>
            <a:r>
              <a:rPr lang="ko-KR" altLang="en-US" sz="1600" b="1" dirty="0">
                <a:solidFill>
                  <a:srgbClr val="253E9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실습 자료</a:t>
            </a:r>
            <a:endParaRPr lang="ko-KR" altLang="en-US" sz="1050" dirty="0">
              <a:solidFill>
                <a:srgbClr val="253E93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50BBE9E-664F-4038-8BDD-99886B97713A}"/>
              </a:ext>
            </a:extLst>
          </p:cNvPr>
          <p:cNvSpPr/>
          <p:nvPr/>
        </p:nvSpPr>
        <p:spPr>
          <a:xfrm>
            <a:off x="2052427" y="4546496"/>
            <a:ext cx="1788896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바로 쓸 수 있는 예제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DC6C891-2CC0-4AB9-81FC-44B1B6612E75}"/>
              </a:ext>
            </a:extLst>
          </p:cNvPr>
          <p:cNvSpPr/>
          <p:nvPr/>
        </p:nvSpPr>
        <p:spPr>
          <a:xfrm>
            <a:off x="2052427" y="4905946"/>
            <a:ext cx="1788896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반복 활용 가능한 템플릿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8BC3F40-D6EF-405F-9CC4-EA353BC510EA}"/>
              </a:ext>
            </a:extLst>
          </p:cNvPr>
          <p:cNvSpPr/>
          <p:nvPr/>
        </p:nvSpPr>
        <p:spPr>
          <a:xfrm>
            <a:off x="2052427" y="5256616"/>
            <a:ext cx="1788896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실습 중심 자료 제공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6EF101A-EBDC-42FF-9B40-A7C646A8DD92}"/>
              </a:ext>
            </a:extLst>
          </p:cNvPr>
          <p:cNvSpPr/>
          <p:nvPr/>
        </p:nvSpPr>
        <p:spPr>
          <a:xfrm>
            <a:off x="5809087" y="4120616"/>
            <a:ext cx="1788896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b="1" dirty="0">
                <a:solidFill>
                  <a:srgbClr val="253E9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지원</a:t>
            </a:r>
            <a:r>
              <a:rPr lang="en-US" altLang="ko-KR" sz="1600" b="1" dirty="0">
                <a:solidFill>
                  <a:srgbClr val="253E9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·</a:t>
            </a:r>
            <a:r>
              <a:rPr lang="ko-KR" altLang="en-US" sz="1600" b="1" dirty="0">
                <a:solidFill>
                  <a:srgbClr val="253E9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확산 구조</a:t>
            </a:r>
            <a:endParaRPr lang="ko-KR" altLang="en-US" sz="1050" dirty="0">
              <a:solidFill>
                <a:srgbClr val="253E93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478FFE1-00E7-48E8-9E21-735385EE8237}"/>
              </a:ext>
            </a:extLst>
          </p:cNvPr>
          <p:cNvSpPr/>
          <p:nvPr/>
        </p:nvSpPr>
        <p:spPr>
          <a:xfrm>
            <a:off x="6243427" y="4546496"/>
            <a:ext cx="1788896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개발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자동화 지원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7B8C33C-89EB-4BB6-A26F-20C2E378CC23}"/>
              </a:ext>
            </a:extLst>
          </p:cNvPr>
          <p:cNvSpPr/>
          <p:nvPr/>
        </p:nvSpPr>
        <p:spPr>
          <a:xfrm>
            <a:off x="6243427" y="4905946"/>
            <a:ext cx="1788896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좋은 사례 공유와 확산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F6FC8F8-4E20-42E7-8D25-E0DA6DA34DF0}"/>
              </a:ext>
            </a:extLst>
          </p:cNvPr>
          <p:cNvSpPr/>
          <p:nvPr/>
        </p:nvSpPr>
        <p:spPr>
          <a:xfrm>
            <a:off x="6243427" y="5256616"/>
            <a:ext cx="1788896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피드백 기반 개선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733CB972-DA20-4459-A7CB-7D2603A09D64}"/>
              </a:ext>
            </a:extLst>
          </p:cNvPr>
          <p:cNvSpPr/>
          <p:nvPr/>
        </p:nvSpPr>
        <p:spPr>
          <a:xfrm>
            <a:off x="1445895" y="5996699"/>
            <a:ext cx="6252210" cy="621447"/>
          </a:xfrm>
          <a:prstGeom prst="round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17BB138-2AB8-4147-BC41-BB959F69B4EE}"/>
              </a:ext>
            </a:extLst>
          </p:cNvPr>
          <p:cNvSpPr txBox="1"/>
          <p:nvPr/>
        </p:nvSpPr>
        <p:spPr>
          <a:xfrm>
            <a:off x="2403549" y="6164886"/>
            <a:ext cx="4156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구성원이 직접 실무에 적용하고 확산할 수 있도록 돕는 기반 준비</a:t>
            </a: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A83001A3-ECE9-44E1-8F06-B371E7C19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638" y="6054931"/>
            <a:ext cx="569595" cy="49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213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/>
          <p:cNvSpPr txBox="1">
            <a:spLocks/>
          </p:cNvSpPr>
          <p:nvPr/>
        </p:nvSpPr>
        <p:spPr>
          <a:xfrm>
            <a:off x="831200" y="1183920"/>
            <a:ext cx="7596384" cy="869605"/>
          </a:xfrm>
          <a:prstGeom prst="rect">
            <a:avLst/>
          </a:prstGeom>
        </p:spPr>
        <p:txBody>
          <a:bodyPr lIns="0" tIns="0" rIns="0" bIns="0"/>
          <a:lstStyle>
            <a:lvl1pPr marL="266700" indent="-26670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lang="ko-KR" altLang="en-US" sz="1400" b="1" kern="1200" spc="-20" baseline="0" dirty="0" smtClean="0">
                <a:ln>
                  <a:noFill/>
                </a:ln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2667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446087" indent="0" algn="l" defTabSz="914400" rtl="0" eaLnBrk="1" latinLnBrk="1" hangingPunct="1">
              <a:lnSpc>
                <a:spcPct val="150000"/>
              </a:lnSpc>
              <a:spcBef>
                <a:spcPts val="3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625475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64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  <a:lvl6pPr marL="82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AI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 기능을 많이 아는 것이 아니라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,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내 업무를 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AI 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가 보조할 수 있는 형태로 정리하는 능력이 중요</a:t>
            </a:r>
            <a:endParaRPr lang="en-US" altLang="ko-KR" sz="1600" dirty="0">
              <a:solidFill>
                <a:srgbClr val="25282A"/>
              </a:solidFill>
              <a:latin typeface="NanumSquare ExtraBold" charset="-127"/>
              <a:ea typeface="NanumSquare ExtraBold" charset="-127"/>
              <a:cs typeface="NanumSquare ExtraBold" charset="-127"/>
            </a:endParaRPr>
          </a:p>
          <a:p>
            <a:pPr marL="0" indent="0">
              <a:buNone/>
            </a:pPr>
            <a:endParaRPr lang="en-US" altLang="ko-KR" b="0" dirty="0">
              <a:solidFill>
                <a:srgbClr val="626366"/>
              </a:solidFill>
              <a:latin typeface="NanumSquare" charset="-127"/>
              <a:ea typeface="NanumSquare" charset="-127"/>
              <a:cs typeface="NanumSquare" charset="-127"/>
            </a:endParaRPr>
          </a:p>
          <a:p>
            <a:pPr indent="0">
              <a:buNone/>
            </a:pPr>
            <a:endParaRPr lang="en-US" altLang="ko-KR" sz="1100" b="0" dirty="0">
              <a:solidFill>
                <a:srgbClr val="626366"/>
              </a:solidFill>
              <a:latin typeface="NanumSquare" charset="-127"/>
              <a:ea typeface="NanumSquare" charset="-127"/>
              <a:cs typeface="NanumSquare" charset="-127"/>
            </a:endParaRP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424800" y="365520"/>
            <a:ext cx="8640000" cy="338400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600" b="1" kern="1200" spc="-20" baseline="0" dirty="0"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| </a:t>
            </a:r>
            <a:r>
              <a:rPr lang="ko-KR" altLang="en-US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마인드셋</a:t>
            </a:r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8427584" y="365520"/>
            <a:ext cx="343364" cy="20864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266700" indent="-26670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lang="ko-KR" altLang="en-US" sz="1400" b="1" kern="1200" spc="-20" baseline="0" dirty="0" smtClean="0">
                <a:ln>
                  <a:noFill/>
                </a:ln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2667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446087" indent="0" algn="l" defTabSz="914400" rtl="0" eaLnBrk="1" latinLnBrk="1" hangingPunct="1">
              <a:lnSpc>
                <a:spcPct val="150000"/>
              </a:lnSpc>
              <a:spcBef>
                <a:spcPts val="3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625475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64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  <a:lvl6pPr marL="82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대외비</a:t>
            </a:r>
            <a:endParaRPr lang="en-US" altLang="ko-KR" sz="1000" dirty="0">
              <a:solidFill>
                <a:srgbClr val="07C63C"/>
              </a:solidFill>
              <a:latin typeface="NanumSquare ExtraBold" charset="-127"/>
              <a:ea typeface="NanumSquare ExtraBold" charset="-127"/>
              <a:cs typeface="NanumSquare ExtraBold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3CBD020-7F70-45B0-A5EA-DC31D15CF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05" y="1954632"/>
            <a:ext cx="8642350" cy="2948736"/>
          </a:xfrm>
          <a:prstGeom prst="rect">
            <a:avLst/>
          </a:prstGeom>
        </p:spPr>
      </p:pic>
      <p:pic>
        <p:nvPicPr>
          <p:cNvPr id="192" name="그림 191">
            <a:extLst>
              <a:ext uri="{FF2B5EF4-FFF2-40B4-BE49-F238E27FC236}">
                <a16:creationId xmlns:a16="http://schemas.microsoft.com/office/drawing/2014/main" id="{BBCF7A42-BAD5-45F4-8FB8-904C67C89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03076"/>
            <a:ext cx="9144000" cy="1954924"/>
          </a:xfrm>
          <a:prstGeom prst="rect">
            <a:avLst/>
          </a:prstGeom>
        </p:spPr>
      </p:pic>
      <p:sp>
        <p:nvSpPr>
          <p:cNvPr id="193" name="직사각형 192">
            <a:extLst>
              <a:ext uri="{FF2B5EF4-FFF2-40B4-BE49-F238E27FC236}">
                <a16:creationId xmlns:a16="http://schemas.microsoft.com/office/drawing/2014/main" id="{E7F0EC38-ED24-432E-AD35-51D6EE0B1A93}"/>
              </a:ext>
            </a:extLst>
          </p:cNvPr>
          <p:cNvSpPr/>
          <p:nvPr/>
        </p:nvSpPr>
        <p:spPr>
          <a:xfrm>
            <a:off x="401940" y="3673008"/>
            <a:ext cx="1490873" cy="944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많이 아는 것보다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내 업무에 맞게 쓰기</a:t>
            </a: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EAEC9132-28B8-4000-AA4D-1DE1CBA95A0E}"/>
              </a:ext>
            </a:extLst>
          </p:cNvPr>
          <p:cNvSpPr/>
          <p:nvPr/>
        </p:nvSpPr>
        <p:spPr>
          <a:xfrm>
            <a:off x="2108820" y="3673008"/>
            <a:ext cx="1490873" cy="944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한 번 잘 쓰는 것보다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반복 가능하게 만들기</a:t>
            </a:r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A82F55F5-0042-42D4-82F2-2A54FB4C66D9}"/>
              </a:ext>
            </a:extLst>
          </p:cNvPr>
          <p:cNvSpPr/>
          <p:nvPr/>
        </p:nvSpPr>
        <p:spPr>
          <a:xfrm>
            <a:off x="3823320" y="3673008"/>
            <a:ext cx="1490873" cy="944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개인의 요령보다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팀의 기준으로 확산하기</a:t>
            </a: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69CF500E-2842-4439-8154-919800F77F9A}"/>
              </a:ext>
            </a:extLst>
          </p:cNvPr>
          <p:cNvSpPr/>
          <p:nvPr/>
        </p:nvSpPr>
        <p:spPr>
          <a:xfrm>
            <a:off x="5530200" y="3673008"/>
            <a:ext cx="1490873" cy="944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답변 생성보다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결과 확인까지 포함하기</a:t>
            </a:r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C146900E-5CD7-4D18-ACA4-BED346F81604}"/>
              </a:ext>
            </a:extLst>
          </p:cNvPr>
          <p:cNvSpPr/>
          <p:nvPr/>
        </p:nvSpPr>
        <p:spPr>
          <a:xfrm>
            <a:off x="7242167" y="3673008"/>
            <a:ext cx="1490873" cy="944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첫 성공 경험이 </a:t>
            </a:r>
            <a:endParaRPr lang="en-US" altLang="ko-KR" sz="10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다음 적용을 연다</a:t>
            </a:r>
          </a:p>
        </p:txBody>
      </p: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2908BA4B-7A09-480F-AF53-AB5BFA5FF815}"/>
              </a:ext>
            </a:extLst>
          </p:cNvPr>
          <p:cNvSpPr/>
          <p:nvPr/>
        </p:nvSpPr>
        <p:spPr>
          <a:xfrm>
            <a:off x="970907" y="5044693"/>
            <a:ext cx="7327273" cy="944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AI</a:t>
            </a:r>
            <a:r>
              <a:rPr lang="ko-KR" altLang="en-US" sz="16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기능을 설명하는 데서 끝나지 않고</a:t>
            </a:r>
            <a:r>
              <a:rPr lang="en-US" altLang="ko-KR" sz="16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</a:p>
          <a:p>
            <a:pPr algn="ctr"/>
            <a:r>
              <a:rPr lang="en-US" altLang="ko-KR" dirty="0">
                <a:solidFill>
                  <a:srgbClr val="FDF8E2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“</a:t>
            </a:r>
            <a:r>
              <a:rPr lang="ko-KR" altLang="en-US" dirty="0">
                <a:solidFill>
                  <a:srgbClr val="FDF8E2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어</a:t>
            </a:r>
            <a:r>
              <a:rPr lang="en-US" altLang="ko-KR" dirty="0">
                <a:solidFill>
                  <a:srgbClr val="FDF8E2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? </a:t>
            </a:r>
            <a:r>
              <a:rPr lang="ko-KR" altLang="en-US" dirty="0">
                <a:solidFill>
                  <a:srgbClr val="FDF8E2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내 업무에도 되나</a:t>
            </a:r>
            <a:r>
              <a:rPr lang="en-US" altLang="ko-KR" dirty="0">
                <a:solidFill>
                  <a:srgbClr val="FDF8E2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?” </a:t>
            </a:r>
            <a:r>
              <a:rPr lang="ko-KR" altLang="en-US" dirty="0">
                <a:solidFill>
                  <a:srgbClr val="FDF8E2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라는 경험을 만드는 데서 시작됩니다</a:t>
            </a:r>
            <a:r>
              <a:rPr lang="en-US" altLang="ko-KR" dirty="0">
                <a:solidFill>
                  <a:srgbClr val="FDF8E2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  <a:endParaRPr lang="ko-KR" altLang="en-US" dirty="0">
              <a:solidFill>
                <a:srgbClr val="FDF8E2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cxnSp>
        <p:nvCxnSpPr>
          <p:cNvPr id="204" name="직선 연결선 203">
            <a:extLst>
              <a:ext uri="{FF2B5EF4-FFF2-40B4-BE49-F238E27FC236}">
                <a16:creationId xmlns:a16="http://schemas.microsoft.com/office/drawing/2014/main" id="{86114BB8-3523-43FD-B501-15018CB10660}"/>
              </a:ext>
            </a:extLst>
          </p:cNvPr>
          <p:cNvCxnSpPr>
            <a:cxnSpLocks/>
          </p:cNvCxnSpPr>
          <p:nvPr/>
        </p:nvCxnSpPr>
        <p:spPr>
          <a:xfrm flipH="1">
            <a:off x="2377440" y="6065520"/>
            <a:ext cx="433578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2F9E6F6F-C493-45E2-A0A4-36AE46868109}"/>
              </a:ext>
            </a:extLst>
          </p:cNvPr>
          <p:cNvSpPr/>
          <p:nvPr/>
        </p:nvSpPr>
        <p:spPr>
          <a:xfrm>
            <a:off x="970907" y="6065520"/>
            <a:ext cx="7327273" cy="7429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소비형 </a:t>
            </a:r>
            <a:r>
              <a:rPr lang="en-US" altLang="ko-KR" sz="16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AI </a:t>
            </a:r>
            <a:r>
              <a:rPr lang="ko-KR" altLang="en-US" sz="16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사용에서 업무 활용형 </a:t>
            </a:r>
            <a:r>
              <a:rPr lang="en-US" altLang="ko-KR" sz="16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AI </a:t>
            </a:r>
            <a:r>
              <a:rPr lang="ko-KR" altLang="en-US" sz="160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사용으로 변화</a:t>
            </a:r>
            <a:endParaRPr lang="ko-KR" altLang="en-US" dirty="0">
              <a:solidFill>
                <a:srgbClr val="FDF8E2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6555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392400" y="288000"/>
            <a:ext cx="8280000" cy="2063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algn="l" defTabSz="914400" rtl="0" eaLnBrk="1" latinLnBrk="1" hangingPunct="1">
              <a:lnSpc>
                <a:spcPct val="110000"/>
              </a:lnSpc>
              <a:spcBef>
                <a:spcPct val="0"/>
              </a:spcBef>
              <a:buNone/>
              <a:defRPr lang="ko-KR" altLang="en-US" sz="3600" kern="1200" spc="-20" baseline="0" dirty="0"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2400" b="1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-</a:t>
            </a: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End of Document</a:t>
            </a: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-</a:t>
            </a: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Thank You</a:t>
            </a: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-</a:t>
            </a:r>
            <a:endParaRPr lang="ko-KR" altLang="en-US" sz="2400" b="1" dirty="0">
              <a:solidFill>
                <a:srgbClr val="07C63C"/>
              </a:solidFill>
              <a:latin typeface="NanumSquare ExtraBold" charset="-127"/>
              <a:ea typeface="NanumSquare ExtraBold" charset="-127"/>
              <a:cs typeface="NanumSquare ExtraBold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4525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/>
          <p:cNvSpPr txBox="1">
            <a:spLocks/>
          </p:cNvSpPr>
          <p:nvPr/>
        </p:nvSpPr>
        <p:spPr>
          <a:xfrm>
            <a:off x="831200" y="1183920"/>
            <a:ext cx="7596384" cy="869605"/>
          </a:xfrm>
          <a:prstGeom prst="rect">
            <a:avLst/>
          </a:prstGeom>
        </p:spPr>
        <p:txBody>
          <a:bodyPr lIns="0" tIns="0" rIns="0" bIns="0"/>
          <a:lstStyle>
            <a:lvl1pPr marL="266700" indent="-26670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lang="ko-KR" altLang="en-US" sz="1400" b="1" kern="1200" spc="-20" baseline="0" dirty="0" smtClean="0">
                <a:ln>
                  <a:noFill/>
                </a:ln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2667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446087" indent="0" algn="l" defTabSz="914400" rtl="0" eaLnBrk="1" latinLnBrk="1" hangingPunct="1">
              <a:lnSpc>
                <a:spcPct val="150000"/>
              </a:lnSpc>
              <a:spcBef>
                <a:spcPts val="3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625475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64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  <a:lvl6pPr marL="82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교육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, 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가이드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, 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예제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, 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템플릿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, 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확산 구조로 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AX 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지원</a:t>
            </a:r>
            <a:endParaRPr lang="en-US" altLang="ko-KR" b="0" dirty="0">
              <a:solidFill>
                <a:srgbClr val="626366"/>
              </a:solidFill>
              <a:latin typeface="NanumSquare" charset="-127"/>
              <a:ea typeface="NanumSquare" charset="-127"/>
              <a:cs typeface="NanumSquare" charset="-127"/>
            </a:endParaRPr>
          </a:p>
          <a:p>
            <a:pPr indent="0">
              <a:buNone/>
            </a:pPr>
            <a:endParaRPr lang="en-US" altLang="ko-KR" sz="1100" b="0" dirty="0">
              <a:solidFill>
                <a:srgbClr val="626366"/>
              </a:solidFill>
              <a:latin typeface="NanumSquare" charset="-127"/>
              <a:ea typeface="NanumSquare" charset="-127"/>
              <a:cs typeface="NanumSquare" charset="-127"/>
            </a:endParaRP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424800" y="365520"/>
            <a:ext cx="8640000" cy="338400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600" b="1" kern="1200" spc="-20" baseline="0" dirty="0"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| </a:t>
            </a:r>
            <a:r>
              <a:rPr lang="ko-KR" altLang="en-US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관제지원팀이 준비 중인 것</a:t>
            </a:r>
            <a:endParaRPr lang="en-US" altLang="ko-KR" sz="2000" dirty="0">
              <a:solidFill>
                <a:srgbClr val="07C63C"/>
              </a:solidFill>
              <a:latin typeface="NanumSquare ExtraBold" charset="-127"/>
              <a:ea typeface="NanumSquare ExtraBold" charset="-127"/>
              <a:cs typeface="NanumSquare ExtraBold" charset="-127"/>
            </a:endParaRPr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8427584" y="365520"/>
            <a:ext cx="343364" cy="20864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266700" indent="-26670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lang="ko-KR" altLang="en-US" sz="1400" b="1" kern="1200" spc="-20" baseline="0" dirty="0" smtClean="0">
                <a:ln>
                  <a:noFill/>
                </a:ln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2667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446087" indent="0" algn="l" defTabSz="914400" rtl="0" eaLnBrk="1" latinLnBrk="1" hangingPunct="1">
              <a:lnSpc>
                <a:spcPct val="150000"/>
              </a:lnSpc>
              <a:spcBef>
                <a:spcPts val="3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625475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64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  <a:lvl6pPr marL="82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대외비</a:t>
            </a:r>
            <a:endParaRPr lang="en-US" altLang="ko-KR" sz="1000" dirty="0">
              <a:solidFill>
                <a:srgbClr val="07C63C"/>
              </a:solidFill>
              <a:latin typeface="NanumSquare ExtraBold" charset="-127"/>
              <a:ea typeface="NanumSquare ExtraBold" charset="-127"/>
              <a:cs typeface="NanumSquare ExtraBold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C6157BF-2BF2-4DDF-AAFD-07FE73BAE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19" y="1836950"/>
            <a:ext cx="8294400" cy="403631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C440DEF-0A4F-4287-B04D-2861D6F8140B}"/>
              </a:ext>
            </a:extLst>
          </p:cNvPr>
          <p:cNvSpPr/>
          <p:nvPr/>
        </p:nvSpPr>
        <p:spPr>
          <a:xfrm>
            <a:off x="1618087" y="2116030"/>
            <a:ext cx="1788896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b="1" dirty="0">
                <a:solidFill>
                  <a:srgbClr val="253E9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교육 커리큘럼</a:t>
            </a:r>
            <a:endParaRPr lang="ko-KR" altLang="en-US" sz="1050" dirty="0">
              <a:solidFill>
                <a:srgbClr val="253E93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CE1D3C8-A12B-44D4-BB96-62C16C5D0907}"/>
              </a:ext>
            </a:extLst>
          </p:cNvPr>
          <p:cNvSpPr/>
          <p:nvPr/>
        </p:nvSpPr>
        <p:spPr>
          <a:xfrm>
            <a:off x="2052427" y="2622617"/>
            <a:ext cx="1982860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Track·Level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별 교육 내용</a:t>
            </a:r>
            <a:endParaRPr lang="en-US" altLang="ko-KR" sz="10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2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8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CE2721D-2E85-4F5D-8C98-2CC537EB56B8}"/>
              </a:ext>
            </a:extLst>
          </p:cNvPr>
          <p:cNvSpPr/>
          <p:nvPr/>
        </p:nvSpPr>
        <p:spPr>
          <a:xfrm>
            <a:off x="2052427" y="2901360"/>
            <a:ext cx="1788896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AI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도구 활용법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핸즈온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실습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FA35D32-A6A7-4A7E-B0E1-9CCE203EEBD8}"/>
              </a:ext>
            </a:extLst>
          </p:cNvPr>
          <p:cNvSpPr/>
          <p:nvPr/>
        </p:nvSpPr>
        <p:spPr>
          <a:xfrm>
            <a:off x="2052427" y="3252030"/>
            <a:ext cx="1788896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사내 교육 인프라 연계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BA8380F-6DED-4312-BAB8-BC182025DAEB}"/>
              </a:ext>
            </a:extLst>
          </p:cNvPr>
          <p:cNvSpPr/>
          <p:nvPr/>
        </p:nvSpPr>
        <p:spPr>
          <a:xfrm>
            <a:off x="5809087" y="2116030"/>
            <a:ext cx="1788896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b="1" dirty="0">
                <a:solidFill>
                  <a:srgbClr val="253E9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실무 적용 가이드</a:t>
            </a:r>
            <a:endParaRPr lang="ko-KR" altLang="en-US" sz="1050" dirty="0">
              <a:solidFill>
                <a:srgbClr val="253E93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308D7F9-9976-4D96-AB06-1F6D2BC5E660}"/>
              </a:ext>
            </a:extLst>
          </p:cNvPr>
          <p:cNvSpPr/>
          <p:nvPr/>
        </p:nvSpPr>
        <p:spPr>
          <a:xfrm>
            <a:off x="6243427" y="2541910"/>
            <a:ext cx="1788896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업무별 활용 방법 정리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67AC44F-0444-49BB-ABD7-60F81C45B7FD}"/>
              </a:ext>
            </a:extLst>
          </p:cNvPr>
          <p:cNvSpPr/>
          <p:nvPr/>
        </p:nvSpPr>
        <p:spPr>
          <a:xfrm>
            <a:off x="6243427" y="2901360"/>
            <a:ext cx="1788896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사용 기준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결과 확인 기준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4A629F4-8B79-418D-A8B3-85533EC2AC69}"/>
              </a:ext>
            </a:extLst>
          </p:cNvPr>
          <p:cNvSpPr/>
          <p:nvPr/>
        </p:nvSpPr>
        <p:spPr>
          <a:xfrm>
            <a:off x="6243427" y="3252030"/>
            <a:ext cx="1788896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보안과 주의사항 안내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E937629-C1BF-4996-8A49-B02BA717B342}"/>
              </a:ext>
            </a:extLst>
          </p:cNvPr>
          <p:cNvSpPr/>
          <p:nvPr/>
        </p:nvSpPr>
        <p:spPr>
          <a:xfrm>
            <a:off x="1618086" y="4120616"/>
            <a:ext cx="2283353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b="1" dirty="0">
                <a:solidFill>
                  <a:srgbClr val="253E9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예제</a:t>
            </a:r>
            <a:r>
              <a:rPr lang="en-US" altLang="ko-KR" sz="1600" b="1" dirty="0">
                <a:solidFill>
                  <a:srgbClr val="253E9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·</a:t>
            </a:r>
            <a:r>
              <a:rPr lang="ko-KR" altLang="en-US" sz="1600" b="1" dirty="0">
                <a:solidFill>
                  <a:srgbClr val="253E9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템플릿</a:t>
            </a:r>
            <a:r>
              <a:rPr lang="en-US" altLang="ko-KR" sz="1600" b="1" dirty="0">
                <a:solidFill>
                  <a:srgbClr val="253E9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·</a:t>
            </a:r>
            <a:r>
              <a:rPr lang="ko-KR" altLang="en-US" sz="1600" b="1" dirty="0">
                <a:solidFill>
                  <a:srgbClr val="253E9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실습 자료</a:t>
            </a:r>
            <a:endParaRPr lang="ko-KR" altLang="en-US" sz="1050" dirty="0">
              <a:solidFill>
                <a:srgbClr val="253E93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50BBE9E-664F-4038-8BDD-99886B97713A}"/>
              </a:ext>
            </a:extLst>
          </p:cNvPr>
          <p:cNvSpPr/>
          <p:nvPr/>
        </p:nvSpPr>
        <p:spPr>
          <a:xfrm>
            <a:off x="2052427" y="4546496"/>
            <a:ext cx="1788896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바로 쓸 수 있는 예제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DC6C891-2CC0-4AB9-81FC-44B1B6612E75}"/>
              </a:ext>
            </a:extLst>
          </p:cNvPr>
          <p:cNvSpPr/>
          <p:nvPr/>
        </p:nvSpPr>
        <p:spPr>
          <a:xfrm>
            <a:off x="2052427" y="4905946"/>
            <a:ext cx="1788896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반복 활용 가능한 템플릿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8BC3F40-D6EF-405F-9CC4-EA353BC510EA}"/>
              </a:ext>
            </a:extLst>
          </p:cNvPr>
          <p:cNvSpPr/>
          <p:nvPr/>
        </p:nvSpPr>
        <p:spPr>
          <a:xfrm>
            <a:off x="2052427" y="5256616"/>
            <a:ext cx="1788896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실습 중심 자료 제공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6EF101A-EBDC-42FF-9B40-A7C646A8DD92}"/>
              </a:ext>
            </a:extLst>
          </p:cNvPr>
          <p:cNvSpPr/>
          <p:nvPr/>
        </p:nvSpPr>
        <p:spPr>
          <a:xfrm>
            <a:off x="5809087" y="4120616"/>
            <a:ext cx="1788896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b="1" dirty="0">
                <a:solidFill>
                  <a:srgbClr val="253E9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지원</a:t>
            </a:r>
            <a:r>
              <a:rPr lang="en-US" altLang="ko-KR" sz="1600" b="1" dirty="0">
                <a:solidFill>
                  <a:srgbClr val="253E9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·</a:t>
            </a:r>
            <a:r>
              <a:rPr lang="ko-KR" altLang="en-US" sz="1600" b="1" dirty="0">
                <a:solidFill>
                  <a:srgbClr val="253E9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확산 구조</a:t>
            </a:r>
            <a:endParaRPr lang="ko-KR" altLang="en-US" sz="1050" dirty="0">
              <a:solidFill>
                <a:srgbClr val="253E93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478FFE1-00E7-48E8-9E21-735385EE8237}"/>
              </a:ext>
            </a:extLst>
          </p:cNvPr>
          <p:cNvSpPr/>
          <p:nvPr/>
        </p:nvSpPr>
        <p:spPr>
          <a:xfrm>
            <a:off x="6243427" y="4546496"/>
            <a:ext cx="1788896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개발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자동화 지원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7B8C33C-89EB-4BB6-A26F-20C2E378CC23}"/>
              </a:ext>
            </a:extLst>
          </p:cNvPr>
          <p:cNvSpPr/>
          <p:nvPr/>
        </p:nvSpPr>
        <p:spPr>
          <a:xfrm>
            <a:off x="6243427" y="4905946"/>
            <a:ext cx="1788896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좋은 사례 공유와 확산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F6FC8F8-4E20-42E7-8D25-E0DA6DA34DF0}"/>
              </a:ext>
            </a:extLst>
          </p:cNvPr>
          <p:cNvSpPr/>
          <p:nvPr/>
        </p:nvSpPr>
        <p:spPr>
          <a:xfrm>
            <a:off x="6243427" y="5256616"/>
            <a:ext cx="1788896" cy="3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피드백 기반 개선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733CB972-DA20-4459-A7CB-7D2603A09D64}"/>
              </a:ext>
            </a:extLst>
          </p:cNvPr>
          <p:cNvSpPr/>
          <p:nvPr/>
        </p:nvSpPr>
        <p:spPr>
          <a:xfrm>
            <a:off x="1445895" y="5996699"/>
            <a:ext cx="6252210" cy="621447"/>
          </a:xfrm>
          <a:prstGeom prst="round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17BB138-2AB8-4147-BC41-BB959F69B4EE}"/>
              </a:ext>
            </a:extLst>
          </p:cNvPr>
          <p:cNvSpPr txBox="1"/>
          <p:nvPr/>
        </p:nvSpPr>
        <p:spPr>
          <a:xfrm>
            <a:off x="2403549" y="6164886"/>
            <a:ext cx="4156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구성원이 직접 실무에 적용하고 확산할 수 있도록 돕는 기반 준비</a:t>
            </a: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A83001A3-ECE9-44E1-8F06-B371E7C19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638" y="6054931"/>
            <a:ext cx="569595" cy="49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990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내용 개체 틀 2">
            <a:extLst>
              <a:ext uri="{FF2B5EF4-FFF2-40B4-BE49-F238E27FC236}">
                <a16:creationId xmlns:a16="http://schemas.microsoft.com/office/drawing/2014/main" id="{F52F7FC5-A9D2-4C2D-91F3-68D3869A02E3}"/>
              </a:ext>
            </a:extLst>
          </p:cNvPr>
          <p:cNvSpPr txBox="1">
            <a:spLocks/>
          </p:cNvSpPr>
          <p:nvPr/>
        </p:nvSpPr>
        <p:spPr>
          <a:xfrm>
            <a:off x="831200" y="1183920"/>
            <a:ext cx="7596384" cy="869605"/>
          </a:xfrm>
          <a:prstGeom prst="rect">
            <a:avLst/>
          </a:prstGeom>
        </p:spPr>
        <p:txBody>
          <a:bodyPr lIns="0" tIns="0" rIns="0" bIns="0"/>
          <a:lstStyle>
            <a:lvl1pPr marL="266700" indent="-26670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lang="ko-KR" altLang="en-US" sz="1400" b="1" kern="1200" spc="-20" baseline="0" dirty="0" smtClean="0">
                <a:ln>
                  <a:noFill/>
                </a:ln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2667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446087" indent="0" algn="l" defTabSz="914400" rtl="0" eaLnBrk="1" latinLnBrk="1" hangingPunct="1">
              <a:lnSpc>
                <a:spcPct val="150000"/>
              </a:lnSpc>
              <a:spcBef>
                <a:spcPts val="3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625475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64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  <a:lvl6pPr marL="82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핵심 장벽과 공학적</a:t>
            </a:r>
            <a:r>
              <a:rPr lang="en-US" altLang="ko-KR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·</a:t>
            </a:r>
            <a:r>
              <a:rPr lang="ko-KR" altLang="en-US" sz="160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운영적 극복 방안</a:t>
            </a:r>
            <a:endParaRPr lang="en-US" altLang="ko-KR" sz="1100" b="0" dirty="0">
              <a:solidFill>
                <a:srgbClr val="626366"/>
              </a:solidFill>
              <a:latin typeface="NanumSquare" charset="-127"/>
              <a:ea typeface="NanumSquare" charset="-127"/>
              <a:cs typeface="NanumSquare" charset="-127"/>
            </a:endParaRPr>
          </a:p>
        </p:txBody>
      </p:sp>
      <p:sp>
        <p:nvSpPr>
          <p:cNvPr id="45" name="제목 1">
            <a:extLst>
              <a:ext uri="{FF2B5EF4-FFF2-40B4-BE49-F238E27FC236}">
                <a16:creationId xmlns:a16="http://schemas.microsoft.com/office/drawing/2014/main" id="{D62726CA-7935-489B-9A89-D5AF351F967F}"/>
              </a:ext>
            </a:extLst>
          </p:cNvPr>
          <p:cNvSpPr txBox="1">
            <a:spLocks/>
          </p:cNvSpPr>
          <p:nvPr/>
        </p:nvSpPr>
        <p:spPr>
          <a:xfrm>
            <a:off x="424800" y="365520"/>
            <a:ext cx="8640000" cy="338400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600" b="1" kern="1200" spc="-20" baseline="0" dirty="0"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| Appendix - AX </a:t>
            </a:r>
            <a:r>
              <a:rPr lang="ko-KR" altLang="en-US" sz="2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한계점</a:t>
            </a:r>
          </a:p>
        </p:txBody>
      </p:sp>
      <p:sp>
        <p:nvSpPr>
          <p:cNvPr id="46" name="내용 개체 틀 2">
            <a:extLst>
              <a:ext uri="{FF2B5EF4-FFF2-40B4-BE49-F238E27FC236}">
                <a16:creationId xmlns:a16="http://schemas.microsoft.com/office/drawing/2014/main" id="{CA64AF66-1EBE-493C-BFF7-5B7EFDEAC2F8}"/>
              </a:ext>
            </a:extLst>
          </p:cNvPr>
          <p:cNvSpPr txBox="1">
            <a:spLocks/>
          </p:cNvSpPr>
          <p:nvPr/>
        </p:nvSpPr>
        <p:spPr>
          <a:xfrm>
            <a:off x="8427584" y="365520"/>
            <a:ext cx="343364" cy="20864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266700" indent="-26670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lang="ko-KR" altLang="en-US" sz="1400" b="1" kern="1200" spc="-20" baseline="0" dirty="0" smtClean="0">
                <a:ln>
                  <a:noFill/>
                </a:ln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2667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446087" indent="0" algn="l" defTabSz="914400" rtl="0" eaLnBrk="1" latinLnBrk="1" hangingPunct="1">
              <a:lnSpc>
                <a:spcPct val="150000"/>
              </a:lnSpc>
              <a:spcBef>
                <a:spcPts val="3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625475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ko-KR" altLang="en-US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64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  <a:lvl6pPr marL="828000" indent="0" algn="l" defTabSz="914400" rtl="0" eaLnBrk="1" latinLnBrk="1" hangingPunct="1">
              <a:lnSpc>
                <a:spcPct val="150000"/>
              </a:lnSpc>
              <a:spcBef>
                <a:spcPts val="10"/>
              </a:spcBef>
              <a:buFontTx/>
              <a:buNone/>
              <a:defRPr lang="en-US" altLang="ko-KR" sz="1100" kern="1200" spc="-20" baseline="0" smtClean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0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대외비</a:t>
            </a:r>
            <a:endParaRPr lang="en-US" altLang="ko-KR" sz="1000" dirty="0">
              <a:solidFill>
                <a:srgbClr val="07C63C"/>
              </a:solidFill>
              <a:latin typeface="NanumSquare ExtraBold" charset="-127"/>
              <a:ea typeface="NanumSquare ExtraBold" charset="-127"/>
              <a:cs typeface="NanumSquare ExtraBold" charset="-127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CC46B234-D2EE-43DF-A3E9-B00E907D1BD1}"/>
              </a:ext>
            </a:extLst>
          </p:cNvPr>
          <p:cNvSpPr/>
          <p:nvPr/>
        </p:nvSpPr>
        <p:spPr>
          <a:xfrm>
            <a:off x="685663" y="5629683"/>
            <a:ext cx="7757434" cy="621447"/>
          </a:xfrm>
          <a:prstGeom prst="roundRect">
            <a:avLst/>
          </a:prstGeom>
          <a:solidFill>
            <a:srgbClr val="F2F8FE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DC3CCD65-5E33-44B0-85B5-E52CE8B0E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5674080"/>
            <a:ext cx="739140" cy="515679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7A4C4CC5-1D47-474C-BC5E-5754250C937F}"/>
              </a:ext>
            </a:extLst>
          </p:cNvPr>
          <p:cNvSpPr txBox="1"/>
          <p:nvPr/>
        </p:nvSpPr>
        <p:spPr>
          <a:xfrm>
            <a:off x="1379357" y="5804946"/>
            <a:ext cx="223330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AX </a:t>
            </a:r>
            <a:r>
              <a:rPr lang="ko-KR" altLang="en-US" sz="10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성공의 핵심 단순 고성능 모델보다</a:t>
            </a:r>
            <a:endParaRPr lang="en-US" altLang="ko-KR" sz="10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44F63D8-7A1C-4389-A856-1502297E5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75" y="1729246"/>
            <a:ext cx="8637650" cy="3739008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9ABCFA96-8BFF-44F7-9E06-2954086FC4FE}"/>
              </a:ext>
            </a:extLst>
          </p:cNvPr>
          <p:cNvSpPr txBox="1"/>
          <p:nvPr/>
        </p:nvSpPr>
        <p:spPr>
          <a:xfrm>
            <a:off x="3525824" y="5643429"/>
            <a:ext cx="40110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사내 비정형 데이터를 얼마나 </a:t>
            </a:r>
            <a:r>
              <a:rPr lang="ko-KR" altLang="en-US" sz="1200" b="1" dirty="0" err="1">
                <a:solidFill>
                  <a:srgbClr val="253E9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클린하게</a:t>
            </a:r>
            <a:r>
              <a:rPr lang="ko-KR" altLang="en-US" sz="1200" b="1" dirty="0">
                <a:solidFill>
                  <a:srgbClr val="253E9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200" b="1" dirty="0" err="1">
                <a:solidFill>
                  <a:srgbClr val="253E9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전처리</a:t>
            </a:r>
            <a:endParaRPr lang="en-US" altLang="ko-KR" sz="1200" b="1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프롬프트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캐싱과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시맨틱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청킹으로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200" b="1" dirty="0">
                <a:solidFill>
                  <a:srgbClr val="253E9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토큰 비용</a:t>
            </a:r>
            <a:r>
              <a:rPr lang="en-US" altLang="ko-KR" sz="1200" b="1" dirty="0">
                <a:solidFill>
                  <a:srgbClr val="253E9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200" b="1" dirty="0">
                <a:solidFill>
                  <a:srgbClr val="253E9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통제</a:t>
            </a:r>
            <a:endParaRPr lang="en-US" altLang="ko-KR" sz="1200" b="1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n8n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등 자동화 인프라 위에 </a:t>
            </a:r>
            <a:r>
              <a:rPr lang="ko-KR" altLang="en-US" sz="1200" b="1" dirty="0">
                <a:solidFill>
                  <a:srgbClr val="253E9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인간이 최종 승인하는 설계 완성도</a:t>
            </a:r>
            <a:endParaRPr lang="en-US" altLang="ko-KR" sz="1200" b="1" dirty="0">
              <a:solidFill>
                <a:srgbClr val="253E9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61A0D8C-06E5-4243-A42E-F4EC5B38BE47}"/>
              </a:ext>
            </a:extLst>
          </p:cNvPr>
          <p:cNvSpPr txBox="1"/>
          <p:nvPr/>
        </p:nvSpPr>
        <p:spPr>
          <a:xfrm>
            <a:off x="7307443" y="5804946"/>
            <a:ext cx="12763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달려있습니다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98F4C8F-0A27-47CA-BB0C-DE4BE8CA533E}"/>
              </a:ext>
            </a:extLst>
          </p:cNvPr>
          <p:cNvSpPr/>
          <p:nvPr/>
        </p:nvSpPr>
        <p:spPr>
          <a:xfrm>
            <a:off x="800100" y="1773238"/>
            <a:ext cx="2065020" cy="215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한계점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장벽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5F16F6A6-F099-4CBE-8886-64539F5B228E}"/>
              </a:ext>
            </a:extLst>
          </p:cNvPr>
          <p:cNvSpPr/>
          <p:nvPr/>
        </p:nvSpPr>
        <p:spPr>
          <a:xfrm>
            <a:off x="3658381" y="1773238"/>
            <a:ext cx="2065020" cy="215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극복 방안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핵심 접근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04B3039B-2777-4A31-BD8D-33737FF26E0A}"/>
              </a:ext>
            </a:extLst>
          </p:cNvPr>
          <p:cNvSpPr/>
          <p:nvPr/>
        </p:nvSpPr>
        <p:spPr>
          <a:xfrm>
            <a:off x="6534246" y="1773238"/>
            <a:ext cx="2065020" cy="215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latin typeface="나눔스퀘어" panose="020B0600000101010101" pitchFamily="50" charset="-127"/>
                <a:ea typeface="나눔스퀘어" panose="020B0600000101010101" pitchFamily="50" charset="-127"/>
              </a:rPr>
              <a:t>핵심 포인트</a:t>
            </a:r>
            <a:endParaRPr lang="ko-KR" altLang="en-US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BBC40365-BF63-44BF-B9C8-F9F19A9E54CA}"/>
              </a:ext>
            </a:extLst>
          </p:cNvPr>
          <p:cNvSpPr/>
          <p:nvPr/>
        </p:nvSpPr>
        <p:spPr>
          <a:xfrm>
            <a:off x="7043053" y="2124007"/>
            <a:ext cx="1727895" cy="4748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신뢰할 수 있는 정보 제공</a:t>
            </a:r>
            <a:endParaRPr lang="en-US" altLang="ko-KR" sz="9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출처 투명성 확보</a:t>
            </a: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92FCAF6E-752A-4127-813A-D724AD37935C}"/>
              </a:ext>
            </a:extLst>
          </p:cNvPr>
          <p:cNvSpPr/>
          <p:nvPr/>
        </p:nvSpPr>
        <p:spPr>
          <a:xfrm>
            <a:off x="3880852" y="2124007"/>
            <a:ext cx="2260868" cy="4748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정제된 </a:t>
            </a:r>
            <a:r>
              <a:rPr lang="en-US" altLang="ko-KR" sz="9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RAG &amp; </a:t>
            </a:r>
            <a:r>
              <a:rPr lang="ko-KR" altLang="en-US" sz="9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소스 표기 필수</a:t>
            </a:r>
            <a:endParaRPr lang="en-US" altLang="ko-KR" sz="9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검증된 사내 데이터 기반 </a:t>
            </a: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RAG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답변 근거</a:t>
            </a: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출처</a:t>
            </a: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명시로 팩트 체크</a:t>
            </a:r>
            <a:endParaRPr lang="en-US" altLang="ko-KR" sz="9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A69C538B-BC41-42B1-AB0C-6BE0DAAE19C1}"/>
              </a:ext>
            </a:extLst>
          </p:cNvPr>
          <p:cNvSpPr/>
          <p:nvPr/>
        </p:nvSpPr>
        <p:spPr>
          <a:xfrm>
            <a:off x="800100" y="2119686"/>
            <a:ext cx="2004060" cy="4748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b="1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할루시네이션</a:t>
            </a:r>
            <a:r>
              <a:rPr lang="ko-KR" altLang="en-US" sz="9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및 정보 신뢰성 문제</a:t>
            </a:r>
            <a:endParaRPr lang="en-US" altLang="ko-KR" sz="9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8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가짜 정보 생성</a:t>
            </a:r>
            <a:r>
              <a:rPr lang="en-US" altLang="ko-KR" sz="8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최신 정보 반영 한계</a:t>
            </a: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FF7CCE3E-3472-4C6A-85A2-A30658E6333B}"/>
              </a:ext>
            </a:extLst>
          </p:cNvPr>
          <p:cNvSpPr/>
          <p:nvPr/>
        </p:nvSpPr>
        <p:spPr>
          <a:xfrm>
            <a:off x="7043053" y="2757609"/>
            <a:ext cx="1727895" cy="4748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비용 절감 </a:t>
            </a: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 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성능 최적화</a:t>
            </a:r>
            <a:endParaRPr lang="en-US" altLang="ko-KR" sz="9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안정적 운영 통제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5F1D2186-5CDF-4B7B-864A-55FE54F6FACC}"/>
              </a:ext>
            </a:extLst>
          </p:cNvPr>
          <p:cNvSpPr/>
          <p:nvPr/>
        </p:nvSpPr>
        <p:spPr>
          <a:xfrm>
            <a:off x="3880852" y="2757609"/>
            <a:ext cx="2458990" cy="4748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b="1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시맨틱</a:t>
            </a:r>
            <a:r>
              <a:rPr lang="ko-KR" altLang="en-US" sz="9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900" b="1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청킹</a:t>
            </a:r>
            <a:r>
              <a:rPr lang="en-US" altLang="ko-KR" sz="9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9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모델 라우팅</a:t>
            </a:r>
            <a:r>
              <a:rPr lang="en-US" altLang="ko-KR" sz="9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900" b="1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캐싱</a:t>
            </a:r>
            <a:endParaRPr lang="en-US" altLang="ko-KR" sz="9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경량 모델 </a:t>
            </a:r>
            <a:r>
              <a:rPr lang="ko-KR" altLang="en-US" sz="9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선처리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+ 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고성능 모델 최종 추론</a:t>
            </a:r>
            <a:endParaRPr lang="en-US" altLang="ko-KR" sz="9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프롬프트 </a:t>
            </a:r>
            <a:r>
              <a:rPr lang="ko-KR" altLang="en-US" sz="9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캐싱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및 비용 최적화</a:t>
            </a:r>
            <a:endParaRPr lang="en-US" altLang="ko-KR" sz="9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38027776-2C2D-4234-A4F9-7CE2E36C6F3C}"/>
              </a:ext>
            </a:extLst>
          </p:cNvPr>
          <p:cNvSpPr/>
          <p:nvPr/>
        </p:nvSpPr>
        <p:spPr>
          <a:xfrm>
            <a:off x="800100" y="2753288"/>
            <a:ext cx="2004060" cy="4748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토큰 연산 부하 및 비용 폭발 문제</a:t>
            </a:r>
            <a:endParaRPr lang="en-US" altLang="ko-KR" sz="9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8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컨텍스트 증가로 비용 급증</a:t>
            </a:r>
            <a:r>
              <a:rPr lang="en-US" altLang="ko-KR" sz="8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지연 시간</a:t>
            </a: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F95382AE-5D15-444E-8711-5D5CC9C030A4}"/>
              </a:ext>
            </a:extLst>
          </p:cNvPr>
          <p:cNvSpPr/>
          <p:nvPr/>
        </p:nvSpPr>
        <p:spPr>
          <a:xfrm>
            <a:off x="7042779" y="3325443"/>
            <a:ext cx="1727895" cy="4748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 품질 확보</a:t>
            </a: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설명 가능성</a:t>
            </a: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(XAI) 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향상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E332785B-B8D4-4A32-8BCE-7554ADAD2AAC}"/>
              </a:ext>
            </a:extLst>
          </p:cNvPr>
          <p:cNvSpPr/>
          <p:nvPr/>
        </p:nvSpPr>
        <p:spPr>
          <a:xfrm>
            <a:off x="3880578" y="3325443"/>
            <a:ext cx="2543082" cy="4748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ETL </a:t>
            </a:r>
            <a:r>
              <a:rPr lang="ko-KR" altLang="en-US" sz="9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파이프라인 정형화 </a:t>
            </a:r>
            <a:r>
              <a:rPr lang="en-US" altLang="ko-KR" sz="9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&amp; </a:t>
            </a:r>
            <a:r>
              <a:rPr lang="ko-KR" altLang="en-US" sz="9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워크플로우 분할</a:t>
            </a:r>
            <a:endParaRPr lang="en-US" altLang="ko-KR" sz="9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9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전처리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자동화</a:t>
            </a:r>
            <a:endParaRPr lang="en-US" altLang="ko-KR" sz="9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업무 단계별 분할 처리</a:t>
            </a:r>
            <a:endParaRPr lang="en-US" altLang="ko-KR" sz="9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4A501EFD-8DA5-4677-B071-D2EAC2D9EFC5}"/>
              </a:ext>
            </a:extLst>
          </p:cNvPr>
          <p:cNvSpPr/>
          <p:nvPr/>
        </p:nvSpPr>
        <p:spPr>
          <a:xfrm>
            <a:off x="799826" y="3321122"/>
            <a:ext cx="2004060" cy="4748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비정형 데이터 가공 및 기술적 병목</a:t>
            </a:r>
            <a:endParaRPr lang="en-US" altLang="ko-KR" sz="9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8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LLM </a:t>
            </a:r>
            <a:r>
              <a:rPr lang="ko-KR" altLang="en-US" sz="8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친화적 데이터 부족</a:t>
            </a:r>
            <a:r>
              <a:rPr lang="en-US" altLang="ko-KR" sz="8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GIGO </a:t>
            </a:r>
            <a:r>
              <a:rPr lang="ko-KR" altLang="en-US" sz="8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발생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22537A2-AC95-4BC0-8166-6DCF91DD9AEB}"/>
              </a:ext>
            </a:extLst>
          </p:cNvPr>
          <p:cNvSpPr/>
          <p:nvPr/>
        </p:nvSpPr>
        <p:spPr>
          <a:xfrm>
            <a:off x="7042916" y="3906240"/>
            <a:ext cx="1727895" cy="4748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 보호</a:t>
            </a: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규제 준수</a:t>
            </a:r>
            <a:endParaRPr lang="en-US" altLang="ko-KR" sz="9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리스크 최소화</a:t>
            </a: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77182187-3056-43F5-A3AD-8FFE941BA525}"/>
              </a:ext>
            </a:extLst>
          </p:cNvPr>
          <p:cNvSpPr/>
          <p:nvPr/>
        </p:nvSpPr>
        <p:spPr>
          <a:xfrm>
            <a:off x="3880714" y="3906240"/>
            <a:ext cx="2382925" cy="4748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b="1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프라이빗</a:t>
            </a:r>
            <a:r>
              <a:rPr lang="ko-KR" altLang="en-US" sz="9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9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LLM &amp; </a:t>
            </a:r>
            <a:r>
              <a:rPr lang="ko-KR" altLang="en-US" sz="9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 </a:t>
            </a:r>
            <a:r>
              <a:rPr lang="ko-KR" altLang="en-US" sz="900" b="1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마스킹</a:t>
            </a:r>
            <a:r>
              <a:rPr lang="ko-KR" altLang="en-US" sz="9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게이트웨이</a:t>
            </a:r>
            <a:endParaRPr lang="en-US" altLang="ko-KR" sz="9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민감 데이터는 </a:t>
            </a: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On-Prem / VPC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API 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사용시 프록시에서 </a:t>
            </a:r>
            <a:r>
              <a:rPr lang="ko-KR" altLang="en-US" sz="9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마스킹</a:t>
            </a:r>
            <a:endParaRPr lang="en-US" altLang="ko-KR" sz="9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2401E658-8B5E-429A-AD21-D6CFC1E6C088}"/>
              </a:ext>
            </a:extLst>
          </p:cNvPr>
          <p:cNvSpPr/>
          <p:nvPr/>
        </p:nvSpPr>
        <p:spPr>
          <a:xfrm>
            <a:off x="799963" y="3901919"/>
            <a:ext cx="2004060" cy="4748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보안 및 컴플라이언스 리스크</a:t>
            </a:r>
            <a:endParaRPr lang="en-US" altLang="ko-KR" sz="9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8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 유출</a:t>
            </a:r>
            <a:r>
              <a:rPr lang="en-US" altLang="ko-KR" sz="8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학습 재활용 위험</a:t>
            </a: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FF9E368A-621E-46D8-AE88-130F25CF266B}"/>
              </a:ext>
            </a:extLst>
          </p:cNvPr>
          <p:cNvSpPr/>
          <p:nvPr/>
        </p:nvSpPr>
        <p:spPr>
          <a:xfrm>
            <a:off x="7042779" y="4452998"/>
            <a:ext cx="1848046" cy="4748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사용자 부담 최소화</a:t>
            </a: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기존 업무 흐름 내 자연스러운 통합</a:t>
            </a: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59F6D80B-9F2E-4284-938D-5C9585F5582E}"/>
              </a:ext>
            </a:extLst>
          </p:cNvPr>
          <p:cNvSpPr/>
          <p:nvPr/>
        </p:nvSpPr>
        <p:spPr>
          <a:xfrm>
            <a:off x="3880578" y="4452998"/>
            <a:ext cx="2459264" cy="4748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n8n </a:t>
            </a:r>
            <a:r>
              <a:rPr lang="ko-KR" altLang="en-US" sz="9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등 백그라운드 자동화 </a:t>
            </a:r>
            <a:r>
              <a:rPr lang="en-US" altLang="ko-KR" sz="9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&amp; </a:t>
            </a:r>
            <a:r>
              <a:rPr lang="ko-KR" altLang="en-US" sz="9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템플릿 추상화</a:t>
            </a:r>
            <a:endParaRPr lang="en-US" altLang="ko-KR" sz="9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이벤트 기반 백그라운드 </a:t>
            </a: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분석</a:t>
            </a: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요약</a:t>
            </a:r>
            <a:endParaRPr lang="en-US" altLang="ko-KR" sz="9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미들웨어에서 구조화된 입력 폼으로 </a:t>
            </a: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UX 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단순화</a:t>
            </a:r>
            <a:endParaRPr lang="en-US" altLang="ko-KR" sz="9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68DDB8DB-AAA9-47EC-B0EB-EE166EAD6D80}"/>
              </a:ext>
            </a:extLst>
          </p:cNvPr>
          <p:cNvSpPr/>
          <p:nvPr/>
        </p:nvSpPr>
        <p:spPr>
          <a:xfrm>
            <a:off x="799825" y="4448677"/>
            <a:ext cx="2179419" cy="4748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기존 시스템 연동 및 현업 </a:t>
            </a:r>
            <a:r>
              <a:rPr lang="en-US" altLang="ko-KR" sz="9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UX</a:t>
            </a:r>
            <a:r>
              <a:rPr lang="ko-KR" altLang="en-US" sz="9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 한계</a:t>
            </a:r>
            <a:endParaRPr lang="en-US" altLang="ko-KR" sz="9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8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프롬프트 조정 피로</a:t>
            </a:r>
            <a:r>
              <a:rPr lang="en-US" altLang="ko-KR" sz="8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8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레거시</a:t>
            </a:r>
            <a:r>
              <a:rPr lang="ko-KR" altLang="en-US" sz="8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장비 연동 복잡</a:t>
            </a: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262E5F05-5969-4CEF-8921-898BD2C5EF35}"/>
              </a:ext>
            </a:extLst>
          </p:cNvPr>
          <p:cNvSpPr/>
          <p:nvPr/>
        </p:nvSpPr>
        <p:spPr>
          <a:xfrm>
            <a:off x="7043053" y="4941170"/>
            <a:ext cx="1727895" cy="4748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책임 명확화</a:t>
            </a: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안정성 확보</a:t>
            </a:r>
            <a:endParaRPr lang="en-US" altLang="ko-KR" sz="9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윤리적</a:t>
            </a: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법적 리스크 감소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5BEF57DF-B62F-44A6-B425-63774552B77E}"/>
              </a:ext>
            </a:extLst>
          </p:cNvPr>
          <p:cNvSpPr/>
          <p:nvPr/>
        </p:nvSpPr>
        <p:spPr>
          <a:xfrm>
            <a:off x="3880852" y="4941170"/>
            <a:ext cx="2260868" cy="4748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HITL(</a:t>
            </a:r>
            <a:r>
              <a:rPr lang="en-US" altLang="ko-KR" sz="900" b="1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Humal</a:t>
            </a:r>
            <a:r>
              <a:rPr lang="en-US" altLang="ko-KR" sz="9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-In-The-Loop) </a:t>
            </a:r>
            <a:r>
              <a:rPr lang="ko-KR" altLang="en-US" sz="9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endParaRPr lang="en-US" altLang="ko-KR" sz="9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는 추천</a:t>
            </a:r>
            <a:r>
              <a: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가이드 제공에 집중</a:t>
            </a:r>
            <a:endParaRPr lang="en-US" altLang="ko-KR" sz="9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최종 </a:t>
            </a:r>
            <a:r>
              <a:rPr lang="ko-KR" altLang="en-US" sz="9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컨펌과</a:t>
            </a:r>
            <a:r>
              <a:rPr lang="ko-KR" altLang="en-US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실행은 반드시 인간이 수행</a:t>
            </a:r>
            <a:endParaRPr lang="en-US" altLang="ko-KR" sz="9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603F95B6-6216-4CF0-88CB-D0064D628240}"/>
              </a:ext>
            </a:extLst>
          </p:cNvPr>
          <p:cNvSpPr/>
          <p:nvPr/>
        </p:nvSpPr>
        <p:spPr>
          <a:xfrm>
            <a:off x="800100" y="4936849"/>
            <a:ext cx="2179144" cy="4748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책임 소재 불분명 및 윤리적 리스크</a:t>
            </a:r>
            <a:endParaRPr lang="en-US" altLang="ko-KR" sz="9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8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판단 오류 시 책임 모호</a:t>
            </a:r>
            <a:r>
              <a:rPr lang="en-US" altLang="ko-KR" sz="8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편향성 내포 가능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54CECD09-ADE1-4493-85BE-735096FDBAC8}"/>
              </a:ext>
            </a:extLst>
          </p:cNvPr>
          <p:cNvSpPr/>
          <p:nvPr/>
        </p:nvSpPr>
        <p:spPr>
          <a:xfrm>
            <a:off x="397376" y="2150167"/>
            <a:ext cx="343807" cy="250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96615B95-0424-490B-B3A5-A85D7E3D9146}"/>
              </a:ext>
            </a:extLst>
          </p:cNvPr>
          <p:cNvSpPr/>
          <p:nvPr/>
        </p:nvSpPr>
        <p:spPr>
          <a:xfrm>
            <a:off x="404995" y="2795710"/>
            <a:ext cx="343807" cy="250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F88A9033-B6CC-4F1B-825F-EE74F0212109}"/>
              </a:ext>
            </a:extLst>
          </p:cNvPr>
          <p:cNvSpPr/>
          <p:nvPr/>
        </p:nvSpPr>
        <p:spPr>
          <a:xfrm>
            <a:off x="401752" y="3400611"/>
            <a:ext cx="343807" cy="250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endParaRPr lang="ko-KR" altLang="en-US" sz="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1E800D3A-AFC1-4224-8A12-192208F94D72}"/>
              </a:ext>
            </a:extLst>
          </p:cNvPr>
          <p:cNvSpPr/>
          <p:nvPr/>
        </p:nvSpPr>
        <p:spPr>
          <a:xfrm>
            <a:off x="406267" y="3991037"/>
            <a:ext cx="343807" cy="250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4</a:t>
            </a:r>
            <a:endParaRPr lang="ko-KR" altLang="en-US" sz="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4F4B8441-4E63-408B-8523-2B833D0AB91D}"/>
              </a:ext>
            </a:extLst>
          </p:cNvPr>
          <p:cNvSpPr/>
          <p:nvPr/>
        </p:nvSpPr>
        <p:spPr>
          <a:xfrm>
            <a:off x="401751" y="4536363"/>
            <a:ext cx="343807" cy="250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5</a:t>
            </a:r>
            <a:endParaRPr lang="ko-KR" altLang="en-US" sz="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184BA543-CBD1-42EE-9050-9B1FAA6E8345}"/>
              </a:ext>
            </a:extLst>
          </p:cNvPr>
          <p:cNvSpPr/>
          <p:nvPr/>
        </p:nvSpPr>
        <p:spPr>
          <a:xfrm>
            <a:off x="401751" y="5041583"/>
            <a:ext cx="343807" cy="250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</a:t>
            </a:r>
            <a:endParaRPr lang="ko-KR" altLang="en-US" sz="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6119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4039</TotalTime>
  <Words>2306</Words>
  <Application>Microsoft Office PowerPoint</Application>
  <PresentationFormat>화면 슬라이드 쇼(4:3)</PresentationFormat>
  <Paragraphs>611</Paragraphs>
  <Slides>19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9</vt:i4>
      </vt:variant>
      <vt:variant>
        <vt:lpstr>슬라이드 제목</vt:lpstr>
      </vt:variant>
      <vt:variant>
        <vt:i4>19</vt:i4>
      </vt:variant>
    </vt:vector>
  </HeadingPairs>
  <TitlesOfParts>
    <vt:vector size="37" baseType="lpstr">
      <vt:lpstr>NanumSquare</vt:lpstr>
      <vt:lpstr>NanumSquare ExtraBold</vt:lpstr>
      <vt:lpstr>나눔고딕</vt:lpstr>
      <vt:lpstr>나눔스퀘어</vt:lpstr>
      <vt:lpstr>나눔스퀘어 ExtraBold</vt:lpstr>
      <vt:lpstr>나눔스퀘어라운드 ExtraBold</vt:lpstr>
      <vt:lpstr>맑은 고딕</vt:lpstr>
      <vt:lpstr>Arial</vt:lpstr>
      <vt:lpstr>Calibri</vt:lpstr>
      <vt:lpstr>2_디자인 사용자 지정</vt:lpstr>
      <vt:lpstr>5_Office 테마</vt:lpstr>
      <vt:lpstr>4_Office 테마</vt:lpstr>
      <vt:lpstr>2_Office 테마</vt:lpstr>
      <vt:lpstr>3_Office 테마</vt:lpstr>
      <vt:lpstr>1_Office 테마</vt:lpstr>
      <vt:lpstr>디자인 사용자 지정</vt:lpstr>
      <vt:lpstr>1_디자인 사용자 지정</vt:lpstr>
      <vt:lpstr>3_디자인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buddy1358@naver.com</dc:creator>
  <cp:lastModifiedBy>USER</cp:lastModifiedBy>
  <cp:revision>500</cp:revision>
  <dcterms:created xsi:type="dcterms:W3CDTF">2019-09-30T06:11:00Z</dcterms:created>
  <dcterms:modified xsi:type="dcterms:W3CDTF">2026-06-11T05:57:46Z</dcterms:modified>
</cp:coreProperties>
</file>