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오늘은 바이브코딩을 신기한 마법이 아니라 실무에서 쓰는 작업 방식으로 정리하겠습니다.
- 핵심은 AI에게 정답을 맡기는 것이 아니라 사람이 목표와 경계를 설계하는 것입니다.
- 초보자에게 강력한 이유는 손이 느려도 의도를 말할 수 있기 때문입니다.
- 동시에 가장 많이 망가지는 이유도 경계 없이 맡기기 때문입니다.
- 이 강의가 끝나면 VS Code 기준으로 안전하게 시작하는 최소 습관을 바로 적용할 수 있게 됩니다.
[Source Trace]
- User Source: 강의 도입 메시지와 핵심 주장 재구성
- Template Reference: 밝은 배경, 둥근 카드, 큰 제목, 하단 핵심 배너 패턴 반영
[Sources]
- User Source: 사용자 제공 교육 강의 원고 전체
- Template Reference: 첨부 이미지 2개 직접 시각 분석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숫자만 봐도 AI 코딩 도구는 실험 단계를 넘었습니다.
- 중요한 변화는 단순 채택보다 사용 빈도가 높아지고 있다는 점입니다.
- 사용이 늘수록 잘못된 초안이 조직 안으로 더 빨리 들어오는 문제도 함께 커집니다.
- 그래서 오늘의 초점은 더 화려한 프롬프트가 아니라 더 안전한 운영 습관입니다.
- 한마디로 승부처는 사용 여부가 아니라 품질 관리와 검증 루틴입니다.
[Source Trace]
- External Source: 84%와 51% 수치는 Stack Overflow 2025 설문 결과 사용
- External Source: 62% 수치는 JetBrains Developer Ecosystem 2025 자료 사용
- Template Reference: 3분할 숫자 카드와 하단 요약 배너 패턴 반영
[Sources]
- External Source: AI | 2025 Stack Overflow Developer Survey | https://survey.stackoverflow.co/2025/ai
- External Source: The State of Developer Ecosystem 2025 | JetBrains Research | https://blog.jetbrains.com/research/2025/10/state-of-developer-ecosystem-2025/
- External Source: Artificial Intelligence | Developer Ecosystem 2025 | https://devecosystem-2025.jetbrains.com/artificial-intelligence
- Template Reference: 첨부 이미지 2개 직접 시각 분석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바이브코딩의 첫 단추는 멋진 문장이 아니라 범위를 고정하는 한 문장 목표입니다.
- 왼쪽처럼 말하면 AI는 그럴듯하지만 제각각인 초안을 내놓기 쉽습니다.
- 오른쪽처럼 실행 환경과 기능 범위를 박아두면 결과가 갑자기 안정됩니다.
- 초보자일수록 코드보다 의도를 더 잘 말할 수 있기 때문에 이 단계가 특히 강력합니다.
- 오늘 강의 내내 보실 모든 프롬프트는 이 한 문장 목표에서 출발합니다.
[Source Trace]
- User Source: 막연한 아이디어를 구체 목표로 바꾸는 예시와 환경·기능·제약 설명 사용
- Template Reference: before/after 비교 박스와 하단 3요소 카드 구조 반영
[Sources]
- User Source: 사용자 제공 교육 강의 원고 전체
- Template Reference: 첨부 이미지 2개 직접 시각 분석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초보자가 AI 결과에 실망하는 이유는 대부분 모델 성능이 아니라 입력 설계의 구멍입니다.
- 목표가 모호하면 아무거나 그럴듯한 답이 나오고, 맥락이 없으면 프로젝트 스타일을 못 맞춥니다.
- 제약이 없으면 쉬운 지름길을 택하고, 검증이 없으면 틀린 코드가 완료처럼 보입니다.
- 그래서 좋은 프롬프트는 요청문이 아니라 작은 설계 문서에 가깝습니다.
- 이 네 칸을 채우는 습관이 바이브코딩의 품질을 결정합니다.
[Source Trace]
- User Source: 목표·맥락·제약·검증 4요소 설명 사용
- External Source: VS Code best practices 문서의 구체성, 작업 분해, 기대 출력 원칙을 구조 근거로 사용
[Sources]
- User Source: 사용자 제공 교육 강의 원고 전체
- External Source: Best practices for using AI in VS Code | https://code.visualstudio.com/docs/copilot/best-practices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많은 초보자가 바로 구현부터 시키는데, 그 순간부터 이유를 모른 채 코드를 받게 됩니다.
- 먼저 읽게 하면 현재 패턴을 파악하고, 계획을 먼저 받으면 범위를 통제할 수 있습니다.
- 그다음에는 크게 뒤집지 말고 가장 작은 안전한 수정으로 구현하게 해야 합니다.
- 마지막으로 테스트와 diff 리뷰로 문을 잠가야 진짜 완료입니다.
- 이 순서를 지키면 속도는 남기고, 나중에 터지는 리스크는 크게 줄일 수 있습니다.
[Source Trace]
- User Source: 읽기, 계획하기, 작게 구현하기, 테스트와 리뷰로 잠그기 루틴 사용
- External Source: VS Code security 문서의 diff 검토와 승인 흐름을 보강 근거로 사용
[Sources]
- User Source: 사용자 제공 교육 강의 원고 전체
- External Source: Security | VS Code Copilot docs | https://code.visualstudio.com/docs/copilot/security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VS Code의 AI 커스터마이징은 한 덩어리처럼 보이지만 실제로는 레이어가 다릅니다.
- 프로젝트 전체 헌법은 항상 적용되는 규칙 파일에 두고, 위험 구역만 더 엄격하게 관리하려면 파일별 규칙을 씁니다.
- 반복 작업은 prompt file로 버튼처럼 꺼내고, 역할과 권한 통제가 필요하면 custom agent를 씁니다.
- 초보자는 이 네 가지를 구분하는 순간부터 프롬프트를 덜 길게 쓰고도 더 일관된 결과를 얻습니다.
- 특히 시작점으로는 always-on 규칙과 수동 prompt file 두 축이 가장 안정적입니다.
[Source Trace]
- User Source: VS Code에서 구분해야 할 4가지 도구 구조 설명 사용
- External Source: VS Code customization overview, custom instructions, prompt files, custom agents, agent skills 문서로 현재 분류 체계 확인
[Sources]
- User Source: 사용자 제공 교육 강의 원고 전체
- External Source: Customize AI in Visual Studio Code | https://code.visualstudio.com/docs/copilot/customization/overview
- External Source: Use custom instructions in VS Code | https://code.visualstudio.com/docs/copilot/customization/custom-instructions
- External Source: Use prompt files in VS Code | https://code.visualstudio.com/docs/copilot/customization/prompt-files
- External Source: Custom agents in VS Code | https://code.visualstudio.com/docs/copilot/customization/custom-agents
- External Source: Use Agent Skills in VS Code | https://code.visualstudio.com/docs/copilot/customization/agent-skills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이 파일에는 매번 반복하고 싶지 않은 기본 원칙을 넣습니다.
- 예를 들어 TypeScript만 사용, 비밀값 하드코딩 금지, 입력 검증 필수 같은 규칙은 여기로 보내야 합니다.
- 이렇게 해야 채팅마다 안전 규칙을 길게 복붙하지 않아도 기본 자세가 유지됩니다.
- 공식 문서도 처음에는 이 파일 하나로 시작하고, 필요할 때만 더 세분화하라고 안내합니다.
- 초보자 기준으로는 이 파일이 있어야 AI의 기본 자세가 흔들리지 않습니다.
[Source Trace]
- User Source: 프로젝트 전체 규칙 파일 설명과 예시 사용
- External Source: VS Code가 .github/copilot-instructions.md를 자동 감지·적용하는 현재 동작 확인
- External Source: /init으로 이 파일 초안을 생성할 수 있는 현재 흐름 확인
[Sources]
- User Source: 사용자 제공 교육 강의 원고 전체
- External Source: Use custom instructions in VS Code | https://code.visualstudio.com/docs/copilot/customization/custom-instructions
- External Source: Customize AI for your project | https://code.visualstudio.com/docs/copilot/guides/customize-copilot-guide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프로젝트 전체 규칙만으로는 인증, 결제, 관리자 API처럼 예민한 구역을 충분히 통제하기 어렵습니다.
- 이럴 때 파일별 규칙을 써서 특정 폴더에만 더 강한 기준을 적용합니다.
- 핵심은 applyTo 패턴입니다. 이게 없으면 자동 적용되지 않는 점을 초보자가 자주 놓칩니다.
- 그래서 보안 민감 영역은 별도 규칙 파일로 분기해 두는 편이 훨씬 안전합니다.
- 공통 규칙 위에 고위험 존만 추가 안전벨트를 맨다고 생각하시면 됩니다.
[Source Trace]
- User Source: *.instructions.md와 applyTo 설명, 예시 패턴 사용
- External Source: VS Code custom instructions 문서의 applyTo 동작과 파일 기반 instructions 구조 반영
[Sources]
- User Source: 사용자 제공 교육 강의 원고 전체
- External Source: Use custom instructions in VS Code | https://code.visualstudio.com/docs/copilot/customization/custom-instructions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prompt file은 매번 긴 요구사항을 다시 쓰지 않게 해 주는 재사용 프롬프트입니다.
- 중요한 점은 자동 적용이 아니라 수동 실행이라는 것입니다.
- 그래서 평소에는 가볍게 쓰다가, 중요한 작업에서만 secure-api처럼 엄격한 루틴을 불러올 수 있습니다.
- 초보자가 가장 빠르게 체감하는 생산성 향상도 보통 이 레이어에서 나옵니다.
- 자주 하는 작업을 버튼처럼 고정하면 품질 편차가 확 줄어듭니다.
[Source Trace]
- User Source: prompt files 개념과 /secure-api 예시 사용
- External Source: VS Code prompt files 문서의 저장 위치, .prompt.md 형식, 수동 호출 방식 확인
[Sources]
- User Source: 사용자 제공 교육 강의 원고 전체
- External Source: Use prompt files in VS Code | https://code.visualstudio.com/docs/copilot/customization/prompt-files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custom agent의 핵심 가치는 말투보다 권한 통제에 있습니다.
- 계획 전용 에이전트는 읽기 도구만 주고, 구현 에이전트는 편집 도구를 주는 식으로 역할을 분리할 수 있습니다.
- 이렇게 하면 AI가 해야 할 일과 하면 안 되는 일을 구조적으로 나눌 수 있습니다.
- 특히 보안 민감 작업에서는 최소 권한 원칙이 매우 중요합니다.
- 권한을 넓힐수록 더 똑똑해지는 것이 아니라, 실수와 사고의 반경도 함께 넓어진다고 이해하시면 됩니다.
[Source Trace]
- User Source: security reviewer와 구현 에이전트 분리 설명 사용
- External Source: VS Code custom agents 문서의 .agent.md 구조와 읽기 전용/편집 도구 분리 가능성 반영
- External Source: VS Code security 문서의 세션 단위 승인과 최소 권한 원칙 반영
[Sources]
- User Source: 사용자 제공 교육 강의 원고 전체
- External Source: Custom agents in VS Code | https://code.visualstudio.com/docs/copilot/customization/custom-agents
- External Source: Security | VS Code Copilot docs | https://code.visualstudio.com/docs/copilot/security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많은 분이 보안 프롬프트를 보안 코드를 잘 짜게 하는 문장이라고만 생각합니다.
- 하지만 실제로는 출력 보안과 행동 보안 두 층을 함께 봐야 합니다.
- 출력 보안은 AI가 위험한 코드 패턴을 내지 않게 하는 것이고, 행동 보안은 AI가 프로젝트에서 어디까지 행동할 수 있는지 통제하는 것입니다.
- 둘 중 하나만 막으면 반쪽짜리 안전입니다.
- 그래서 Secure 프롬프트 설계는 문장 기술이 아니라 경계 설계라고 이해해야 합니다.
[Source Trace]
- User Source: Secure 프롬프트의 두 층 구조 설명 사용
- External Source: VS Code security 문서의 restricted mode, sandbox, manual approval 원칙 반영
- External Source: GitHub responsible use 문서의 생성 코드 검토·테스트 필요성 반영
[Sources]
- User Source: 사용자 제공 교육 강의 원고 전체
- External Source: Security | VS Code Copilot docs | https://code.visualstudio.com/docs/copilot/security
- External Source: Responsible use of GitHub Copilot Chat in your IDE | https://docs.github.com/en/copilot/responsible-use/chat-in-your-ide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Secure 프롬프트의 절반은 화려한 표현이 아니라 구조입니다.
- 먼저 목표를 고정하고, 그다음 금지사항을 분명히 적어야 AI가 쉬운 편법을 덜 택합니다.
- 맥락은 긴 설명보다 실제 파일을 주는 편이 훨씬 강합니다.
- 또 복잡한 작업은 바로 수정시키지 말고 읽기와 계획 단계를 먼저 분리해야 합니다.
- 이 네 가지를 지키면 초보자도 훨씬 안정적으로 결과를 끌어낼 수 있습니다.
[Source Trace]
- User Source: Secure 프롬프트 7원칙 중 1~4번 설명 사용
- External Source: VS Code context 문서의 명시적 파일 참조와 관련 파일 맥락 강조 반영
- External Source: VS Code best practices 문서의 단계 분리와 구체성 원칙 반영
[Sources]
- User Source: 사용자 제공 교육 강의 원고 전체
- External Source: Context | VS Code Copilot docs | https://code.visualstudio.com/docs/copilot/concepts/context
- External Source: Best practices for using AI in VS Code | https://code.visualstudio.com/docs/copilot/best-practices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검증 조건이 없는 프롬프트는 끝이 항상 허술합니다.
- 무엇이 맞음인지까지 적어야 AI가 테스트와 결과를 함께 생각합니다.
- 또 민감정보를 프롬프트에 붙여 넣지 않는 습관은 가장 기본적인 보안 수칙입니다.
- 권한이 강한 모드로 갈수록 sandbox와 수동 승인 같은 안전장치도 같이 강해져야 합니다.
- 초보자는 특히 세 가지 실수, 즉 무제약 요청, 테스트 없는 완료 선언, 민감 파일 자동 승인을 먼저 끊어야 합니다.
[Source Trace]
- User Source: Secure 프롬프트 7원칙 중 5~7번 및 초보자 실수 설명 사용
- External Source: VS Code security 문서의 restricted mode, sandbox, manual approval, session-scoped auto-approval 기준 반영
- External Source: GitHub responsible use 및 review AI-generated code 문서의 인간 검토·검증 필요성 반영
[Sources]
- User Source: 사용자 제공 교육 강의 원고 전체
- External Source: Security | VS Code Copilot docs | https://code.visualstudio.com/docs/copilot/security
- External Source: Responsible use of GitHub Copilot Chat in your IDE | https://docs.github.com/en/copilot/responsible-use/chat-in-your-ide
- External Source: Review AI-generated code | https://docs.github.com/en/copilot/tutorials/review-ai-generated-code
- External Source: Responsible use of GitHub Copilot code review | https://docs.github.com/en/copilot/responsible-use/code-review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초보자에게는 역할이 분리된 폴더 구조가 가장 큰 안정장치입니다.
- 공통 규칙은 copilot-instructions, 위험 구역 규칙은 instructions, 반복 작업은 prompts, 역할 통제는 agents에 두면 됩니다.
- 보안 기본선으로는 restricted mode, sandbox, diff 확인, 민감 파일 수동 승인 네 가지를 먼저 잡으시면 됩니다.
- 또 content exclusion은 만능 방패가 아닙니다. 현재 GitHub 문서상 Edit와 Agent 모드에는 지원되지 않는 한계가 있습니다.
- 마지막으로 규칙을 settings에 몰아넣기보다 파일 기반 instructions로 분리하는 것이 현재 표준 흐름입니다.
[Source Trace]
- User Source: 추천 폴더 구조와 settings 예시 사용
- External Source: VS Code security 문서의 보안 기본선과 설정 키 반영
- External Source: GitHub content exclusion 문서의 Edit·Agent 모드 한계 반영
- External Source: VS Code custom instructions 문서의 settings-based code/test generation instructions deprecated 반영
[Sources]
- User Source: 사용자 제공 교육 강의 원고 전체
- External Source: Security | VS Code Copilot docs | https://code.visualstudio.com/docs/copilot/security
- External Source: Content exclusion for GitHub Copilot | https://docs.github.com/en/copilot/concepts/context/content-exclusion
- External Source: Use custom instructions in VS Code | https://code.visualstudio.com/docs/copilot/customization/custom-instructions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실무에서 프롬프트를 잘 쓰는 사람은 매번 새롭게 창작하지 않습니다.
- 대신 반복되는 작업마다 구조를 고정해 둔 템플릿을 씁니다.
- 기능 구현, 보안 리뷰, 리팩터링, 초보자 설명은 성격이 다르기 때문에 요구 필드도 달라져야 합니다.
- 이 템플릿을 팀 안에서 공유하면 개인 감각보다 훨씬 안정적인 결과가 나옵니다.
- 결국 좋은 템플릿은 멋진 문장이 아니라 좋은 질문 순서를 저장한 자산입니다.
[Source Trace]
- User Source: 프롬프트 템플릿 4종 구조와 이유 사용
- External Source: GitHub prompts 문서의 purpose, expected output, best way to test 같은 질문 구조 보강 반영
[Sources]
- User Source: 사용자 제공 교육 강의 원고 전체
- External Source: Getting started with prompts for GitHub Copilot Chat | https://docs.github.com/copilot/get-started/getting-started-with-prompts-for-copilot-chat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좋은 요청은 길어서 좋은 것이 아니라 구조가 있어서 좋습니다.
- 한 줄짜리 요청은 빠르지만, AI가 어떤 제약을 지켜야 하는지 모릅니다.
- 반대로 좋은 요청은 목표, 기술 스택, 금지사항, 작업 순서, 검증 기준이 차례대로 들어 있습니다.
- 이 구조가 있으면 AI는 어떤 안전한 경로로 코드를 만들어야 하는지 먼저 생각하게 됩니다.
- 즉, 프롬프트의 핵심은 화려한 문장이 아니라 안전한 경로를 먼저 설계하는 것입니다.
[Source Trace]
- User Source: 좋은 요청 구조와 실제 로그인 API 프롬프트 예시 사용
- External Source: VS Code context 및 prompt guidance 문서의 명시적 파일 참조와 기대 결과 질문 구조 반영
[Sources]
- User Source: 사용자 제공 교육 강의 원고 전체
- External Source: Context | VS Code Copilot docs | https://code.visualstudio.com/docs/copilot/concepts/context
- External Source: Getting started with prompts for GitHub Copilot Chat | https://docs.github.com/copilot/get-started/getting-started-with-prompts-for-copilot-chat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왼쪽 코드는 초보자가 그냥 맡겼을 때 자주 보게 되는 위험한 패턴들입니다.
- 사용자 입력을 SQL 문자열에 붙이고, 비밀번호를 평문 비교하고, 비밀값을 코드에 박아 두고, 실패 메시지로 계정 존재 여부까지 드러냅니다.
- 오른쪽 코드는 입력 검증, 파라미터 바인딩, 환경 변수, 일반화된 실패 응답처럼 보안 원칙이 코드에 반영된 모습입니다.
- 물론 이것도 끝은 아닙니다. 속도 제한, 감사 로그, 계정 잠금, 토큰 재발급 정책 같은 운영 보안은 별도 설계가 필요합니다.
- 중요한 것은 Secure 프롬프트가 Secure 코드 방향을 유도할 수 있다는 점입니다.
[Source Trace]
- User Source: 나쁜 로그인 예시와 더 안전한 로그인 예시 코드, 설명 사용
- External Source: GitHub responsible use 및 review AI-generated code 문서의 인간 검토·운영 보안 병행 필요성 반영
[Sources]
- User Source: 사용자 제공 교육 강의 원고 전체
- External Source: Responsible use of GitHub Copilot Chat in your IDE | https://docs.github.com/en/copilot/responsible-use/chat-in-your-ide
- External Source: Review AI-generated code | https://docs.github.com/en/copilot/tutorials/review-ai-generated-code
- External Source: Responsible use of GitHub Copilot code review | https://docs.github.com/en/copilot/responsible-use/code-review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[Script]
- 마지막으로 초보자에게 가장 실전적인 루틴만 남기겠습니다.
- 먼저 /init으로 출발하고, 공통 규칙을 copilot-instructions에 고정하고, 위험 구역엔 파일별 규칙을 추가합니다.
- 반복 작업은 prompt file로 만들고, 구현 전에는 읽기 전용 reviewer에게 먼저 묻습니다.
- 마지막에는 항상 diff와 테스트, 그리고 남은 리스크 기록으로 문을 잠급니다.
- 바이브코딩의 핵심은 AI에게 정답을 맡기는 태도가 아니라, 사람이 목표를 명확히 말하고 위험한 지름길을 막고 검증으로 끝내는 태도입니다.
[Source Trace]
- User Source: 진짜 추천하는 초보자 루틴과 마지막 조언 사용
- External Source: VS Code /init, security baseline, file-based instructions, prompt files, custom agents 흐름 반영
[Sources]
- User Source: 사용자 제공 교육 강의 원고 전체
- External Source: Customize AI for your project | https://code.visualstudio.com/docs/copilot/guides/customize-copilot-guide
- External Source: Use custom instructions in VS Code | https://code.visualstudio.com/docs/copilot/customization/custom-instructions
- External Source: Use prompt files in VS Code | https://code.visualstudio.com/docs/copilot/customization/prompt-files
- External Source: Custom agents in VS Code | https://code.visualstudio.com/docs/copilot/customization/custom-agents
- External Source: Security | VS Code Copilot docs | https://code.visualstudio.com/docs/copilot/security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도입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생각을 코드로 바꾸는 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초보자용 바이브코딩 가이드와 안전한 Secure 프롬프트 설계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99616"/>
            <a:ext cx="4279392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17904"/>
            <a:ext cx="4242816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가져갈 3가지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강의가 바로 바꿔줄 습관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9502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바이브코딩의 정확한 뜻과 오해를 구분합니다.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VS Code에서 안전하게 시작하는 최소 루틴을 익힙니다.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Secure 프롬프트를 [멋진 문장]이 아니라 [경계 설계]로 이해합니다.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AI에게 정답을 맡기는 것이 아니라, 사람이 목표·제약·검증을 먼저 잠그는 태도입니다.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248656" y="1499616"/>
            <a:ext cx="1901952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2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66944" y="1517904"/>
            <a:ext cx="1865376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13248" y="1664208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7190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797296" y="16733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413248" y="1883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초안 엔진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5413248" y="2304288"/>
            <a:ext cx="1572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속도와 반복을 담당합니다.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초안을 빠르게 만들고 여러 방향을 제시하는 데 강합니다.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경계가 없으면 자신 있게 틀린 길도 제안합니다.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499616"/>
            <a:ext cx="1901952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33488" y="1517904"/>
            <a:ext cx="1865376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664208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7190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863840" y="16733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479792" y="1883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방향 설계자</a:t>
            </a:r>
            <a:endParaRPr lang="en-US" sz="1620" dirty="0"/>
          </a:p>
        </p:txBody>
      </p:sp>
      <p:sp>
        <p:nvSpPr>
          <p:cNvPr id="26" name="Text 24"/>
          <p:cNvSpPr/>
          <p:nvPr/>
        </p:nvSpPr>
        <p:spPr>
          <a:xfrm>
            <a:off x="7479792" y="2304288"/>
            <a:ext cx="1572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목표와 경계를 담당합니다.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만들지, 무엇을 금지할지, 무엇으로 검증할지를 먼저 고정합니다.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역할이 빠지면 속도만 빨라집니다.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81744" y="1499616"/>
            <a:ext cx="1901952" cy="3163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00032" y="1517904"/>
            <a:ext cx="1865376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46336" y="1664208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46336" y="171907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9930384" y="16733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546336" y="1883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안전한 가속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9546336" y="2304288"/>
            <a:ext cx="1572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목표는 한 가지입니다.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멋진 프롬프트를 외우는 것이 아니라, 실무에서 재사용되는 안전 루틴을 몸에 붙이는 것입니다.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가속 페달에도 브레이크가 필요합니다.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" y="4828032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5001768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0474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494690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강의 포인트</a:t>
            </a:r>
            <a:endParaRPr lang="en-US" sz="116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멋진 프롬프트보다 먼저, AI가 넘지 말아야 할 선을 설계하는 방법을 익힙니다.</a:t>
            </a:r>
            <a:endParaRPr 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도입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코딩 도입은 이미 [일상]이 됐다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차이는 채택 자체보다 [안전한 운영 방식]에 달려 있습니다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17904"/>
            <a:ext cx="325526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2e+2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536192"/>
            <a:ext cx="3218688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1136" y="1792224"/>
            <a:ext cx="438912" cy="438912"/>
          </a:xfrm>
          <a:prstGeom prst="ellipse">
            <a:avLst/>
          </a:prstGeom>
          <a:solidFill>
            <a:srgbClr val="5D8EF5">
              <a:alpha val="16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167335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84%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005840" y="281635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과정에서 AI 도구 사용 중 또는 도입 예정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33741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실험이 아니라 기본 선택지에 가깝습니다.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261104"/>
            <a:ext cx="2889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Stack Overflow 2025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471416" y="1517904"/>
            <a:ext cx="325526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2e+2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9704" y="1536192"/>
            <a:ext cx="3218688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9592" y="1792224"/>
            <a:ext cx="438912" cy="438912"/>
          </a:xfrm>
          <a:prstGeom prst="ellipse">
            <a:avLst/>
          </a:prstGeom>
          <a:solidFill>
            <a:srgbClr val="F08A7F">
              <a:alpha val="16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67335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71416" y="2286000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51%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654296" y="281635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 개발자의 일일 AI 사용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27448" y="33741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가끔 쓰는 도구가 아니라 업무 흐름 안으로 들어왔습니다.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54296" y="4261104"/>
            <a:ext cx="2889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Stack Overflow 2025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119872" y="1517904"/>
            <a:ext cx="325526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2e+3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1536192"/>
            <a:ext cx="3218688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8048" y="1792224"/>
            <a:ext cx="438912" cy="438912"/>
          </a:xfrm>
          <a:prstGeom prst="ellipse">
            <a:avLst/>
          </a:prstGeom>
          <a:solidFill>
            <a:srgbClr val="64B88C">
              <a:alpha val="16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7776" y="167335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19872" y="2286000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62%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8302752" y="281635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적어도 1개 AI 도우미·에이전트·에디터에 의존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75904" y="33741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 경쟁은 끝났고 운영 방식 경쟁이 시작됐습니다.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02752" y="4261104"/>
            <a:ext cx="2889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JetBrains 2025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85216" y="4754880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928616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9743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88720" y="487375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시사점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1188720" y="5065776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 여부가 아니라, 얼마나 안전하고 검증 가능하게 쓰느냐가 조직 차이를 만듭니다.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바이브코딩의 출발점은 [한 문장 목표]다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막연한 생각을 실행 가능한 범위로 고정해야 AI가 흔들리지 않습니다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17904"/>
            <a:ext cx="3968496" cy="2414016"/>
          </a:xfrm>
          <a:prstGeom prst="roundRect">
            <a:avLst/>
          </a:prstGeom>
          <a:solidFill>
            <a:srgbClr val="FEF0EE"/>
          </a:solidFill>
          <a:ln w="12700">
            <a:solidFill>
              <a:srgbClr val="F3D7D4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36192"/>
            <a:ext cx="393192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모호한 요청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3639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“할 일 앱 같은 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 만들고 싶어.”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어디서 어떻게 만드는지 비어 있어서, AI가 넓고 흔들리는 초안을 내놓기 쉽습니다.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2896" y="2340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CC4D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68112" y="1517904"/>
            <a:ext cx="5961888" cy="2414016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7D7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536192"/>
            <a:ext cx="592531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1691640"/>
            <a:ext cx="5632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632704" y="190195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범위를 고정한 요청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32704" y="2322576"/>
            <a:ext cx="5632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“터미널에서 실행되며, 할 일 추가·목록 보기·완료 처리를 지원하는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파이썬 프로그램을 만든다.”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환경, 핵심 기능, 제약이 보이기 시작하면 결과는 갑자기 좁고 안정적이 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413308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2e+4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151376"/>
            <a:ext cx="3456432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297680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52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298448" y="4306824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4400" y="45171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어디서 실행되는가</a:t>
            </a:r>
            <a:endParaRPr lang="en-US" sz="1480" dirty="0"/>
          </a:p>
        </p:txBody>
      </p:sp>
      <p:sp>
        <p:nvSpPr>
          <p:cNvPr id="25" name="Text 23"/>
          <p:cNvSpPr/>
          <p:nvPr/>
        </p:nvSpPr>
        <p:spPr>
          <a:xfrm>
            <a:off x="914400" y="493776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웹인지, 모바일인지, 터미널인지가 먼저 정해져야 입력 방식과 화면 구조가 흔들리지 않습니다.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4352544" y="413308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70832" y="4151376"/>
            <a:ext cx="3456432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7136" y="4297680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4352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901184" y="4306824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517136" y="45171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할 수 있는가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4517136" y="493776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추가·조회·수정·삭제 중 어디까지 포함하는지 적어야 범위가 불어나지 않습니다.</a:t>
            </a:r>
            <a:endParaRPr lang="en-US" sz="1090" dirty="0"/>
          </a:p>
        </p:txBody>
      </p:sp>
      <p:sp>
        <p:nvSpPr>
          <p:cNvPr id="33" name="Shape 31"/>
          <p:cNvSpPr/>
          <p:nvPr/>
        </p:nvSpPr>
        <p:spPr>
          <a:xfrm>
            <a:off x="7955280" y="413308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73568" y="4151376"/>
            <a:ext cx="345643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9872" y="4297680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435254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503920" y="4306824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119872" y="45171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쓰거나 쓰지 않는가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8119872" y="493776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언어, 라이브러리, 금지 패턴을 적어야 AI가 위험한 지름길을 덜 선택합니다.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결과 품질을 좌우하는 4개의 레버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목표, 맥락, 제약, 검증 중 하나라도 약하면 결과가 흔들립니다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17904"/>
            <a:ext cx="5248656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36192"/>
            <a:ext cx="521208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82496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69164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만들 것인가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322576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정의와 결과 범위를 고정합니다.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비어 있으면 [아무거나 그럴듯한 결과]가 나옵니다.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517904"/>
            <a:ext cx="5248656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536192"/>
            <a:ext cx="5212080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682496"/>
            <a:ext cx="310896" cy="310896"/>
          </a:xfrm>
          <a:prstGeom prst="ellipse">
            <a:avLst/>
          </a:prstGeom>
          <a:solidFill>
            <a:srgbClr val="8E7EFC">
              <a:alpha val="18000"/>
            </a:srgbClr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7373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E7E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맥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29984" y="169164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맥락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345936" y="19019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어떤 코드와 규칙을 따를 것인가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5936" y="2322576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파일, 패턴, 폴더 구조, 팀 기준을 알려줍니다.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없으면 프로젝트와 따로 노는 코드가 생깁니다.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" y="3456432"/>
            <a:ext cx="5248656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474720"/>
            <a:ext cx="521208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621024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758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298448" y="3630168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4400" y="384048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무엇은 지키고 무엇은 금지할 것인가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4261104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하드코딩 비밀값 금지, SQL 문자열 연결 금지처럼 경계를 명시합니다.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없으면 AI는 가장 쉬운 편법을 택합니다.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181344" y="3456432"/>
            <a:ext cx="5248656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2000000000000001e+7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474720"/>
            <a:ext cx="521208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621024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67588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29984" y="3630168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345936" y="384048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무엇이 통과되면 완료인가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45936" y="4261104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테스트, lint, 수용 기준, 실패 케이스를 붙입니다.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없으면 틀린 코드가 [완료]처럼 보입니다.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85216" y="5504688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678424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72414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56235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 결론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1188720" y="5815584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프롬프트는 요청문이 아니라 작은 설계 문서에 가깝습니다. 네 칸 중 빈칸이 많을수록 사고 확률이 커집니다.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초보자용 바이브코딩 루틴은 [4단계]면 충분하다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→ 계획 → 작게 구현 → 테스트와 리뷰로 잠그기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719072"/>
            <a:ext cx="2322576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2000000000000002e+8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737360"/>
            <a:ext cx="228600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83664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385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89280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1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읽기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523744"/>
            <a:ext cx="19933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파일, 흐름, 기존 패턴을 먼저 요약합니다.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산출물: 현재 구조 3줄 요약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11296" y="1719072"/>
            <a:ext cx="2322576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2000000000000002e+8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9584" y="1737360"/>
            <a:ext cx="228600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1883664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19385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059936" y="189280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2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675888" y="2103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75888" y="2523744"/>
            <a:ext cx="19933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범위와 위험 지점을 짧게 정리합니다.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산출물: 5~6줄 구현 계획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322576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2000000000000001e+9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91072" y="1737360"/>
            <a:ext cx="228600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7376" y="1883664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9385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821424" y="189280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3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437376" y="2103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작게 구현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7376" y="2523744"/>
            <a:ext cx="19933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뒤집지 말고 가장 작은 안전한 patch를 만듭니다.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산출물: 최소 수정 코드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34272" y="1719072"/>
            <a:ext cx="2322576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2e+9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52560" y="1737360"/>
            <a:ext cx="2286000" cy="64008"/>
          </a:xfrm>
          <a:prstGeom prst="roundRect">
            <a:avLst/>
          </a:prstGeom>
          <a:solidFill>
            <a:srgbClr val="273A59"/>
          </a:solidFill>
          <a:ln w="12700">
            <a:solidFill>
              <a:srgbClr val="273A5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98864" y="1883664"/>
            <a:ext cx="310896" cy="310896"/>
          </a:xfrm>
          <a:prstGeom prst="ellipse">
            <a:avLst/>
          </a:prstGeom>
          <a:solidFill>
            <a:srgbClr val="273A59">
              <a:alpha val="18000"/>
            </a:srgbClr>
          </a:solidFill>
          <a:ln w="12700">
            <a:solidFill>
              <a:srgbClr val="273A5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8864" y="19385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582912" y="1892808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 4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98864" y="2103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잠그기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98864" y="2523744"/>
            <a:ext cx="19933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diff, test, 남은 리스크를 확인해 문을 잠급니다.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산출물: 검증 결과와 잔여 리스크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18104" y="2761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AC3D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879592" y="2761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AC3D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641080" y="2761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AC3D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85216" y="4791456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4965192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0109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88720" y="49103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이 순서인가</a:t>
            </a:r>
            <a:endParaRPr lang="en-US" sz="1160" dirty="0"/>
          </a:p>
        </p:txBody>
      </p:sp>
      <p:sp>
        <p:nvSpPr>
          <p:cNvPr id="43" name="Text 41"/>
          <p:cNvSpPr/>
          <p:nvPr/>
        </p:nvSpPr>
        <p:spPr>
          <a:xfrm>
            <a:off x="1188720" y="510235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읽기와 계획 단계를 빼면 이유를 모른 채 코드를 받게 됩니다. 구현 전에 맥락과 승인 지점을 먼저 세워야 속도는 유지하고 사고는 줄일 수 있습니다.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VS Code에서 초보자가 꼭 구분할 4가지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규칙, 세부 규칙, 작업 버튼, 역할 통제를 서로 다른 층으로 나눠서 씁니다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17904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2e+10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36192"/>
            <a:ext cx="521208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82496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규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69164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항상 적용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copilot-instructions.md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914400" y="2322576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전체 헌법입니다.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스타일, 보안 요구, 테스트 기준처럼 매번 반복되면 안 되는 원칙을 여기 고정합니다.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81344" y="1517904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2e+10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536192"/>
            <a:ext cx="521208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682496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7373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29984" y="169164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적용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345936" y="19019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*.instructions.md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6345936" y="2322576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파일·폴더별 세부 규칙입니다.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구역만 더 엄격하게 묶고 싶을 때 applyTo 패턴으로 분기합니다.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49808" y="3383280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1999999999999999e+11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401568"/>
            <a:ext cx="521208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547872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027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298448" y="35570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호출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.prompt.md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914400" y="4187952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작업을 버튼처럼 불러오는 재사용 프롬프트입니다.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단위 루틴을 일관되게 유지하는 데 가장 체감이 큽니다.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181344" y="3383280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1999999999999998e+11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401568"/>
            <a:ext cx="5212080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547872"/>
            <a:ext cx="310896" cy="310896"/>
          </a:xfrm>
          <a:prstGeom prst="ellipse">
            <a:avLst/>
          </a:prstGeom>
          <a:solidFill>
            <a:srgbClr val="8E7EFC">
              <a:alpha val="18000"/>
            </a:srgbClr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6027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E7E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29984" y="35570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역할·도구 제한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345936" y="37673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.agent.md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6345936" y="4187952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역할과 권한을 묶은 AI 프로필입니다.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전용 검토자와 편집 가능한 구현자를 나눌 때 특히 유용합니다.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49808" y="5248656"/>
            <a:ext cx="10972800" cy="53035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542239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고급 확장: Agent Skills는 스크립트와 자원을 묶는 온디맨드 능력입니다. 초보자는 [항상 적용 규칙 + 수동 prompt file] 두 축부터 익히면 가장 안정적입니다.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1층은 [항상 적용되는 규칙]입니다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.github/copilot-instructions.md는 프로젝트 전체에 깔리는 기본 헌법입니다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17904"/>
            <a:ext cx="4919472" cy="4078224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527048"/>
            <a:ext cx="4901184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18488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18488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18488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577340"/>
            <a:ext cx="4169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.github/copilot-instructions.md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4590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B8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code .github/copilot-instructions.md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048256"/>
            <a:ext cx="45902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#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Project Copilot Instructions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##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Role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You are a careful junior-friendly coding assistant.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Optimize for clarity, small safe changes, and explicit explanations.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##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Security Rules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Never hardcode secrets or tokens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Validate all external input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 parameterized queries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Add tests for non-trivial changes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</a:t>
            </a:r>
            <a:pPr indent="0" marL="0">
              <a:buNone/>
            </a:pPr>
            <a:r>
              <a:rPr lang="en-US" sz="8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##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Response Format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14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First: short summary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15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Second: plan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16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Third: code or patch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17 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Fourth: verification steps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907024" y="1517904"/>
            <a:ext cx="544982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1999999999999998e+12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25312" y="1536192"/>
            <a:ext cx="5413248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69164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 쓰나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071616" y="19019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매번 반복되는 기준을 고정할 때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6071616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스택, 보안 요구, 테스트 원칙, 응답 형식처럼 [항상 지켜야 할 것]을 이 파일에 둡니다.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5907024" y="2798064"/>
            <a:ext cx="2596896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1999999999999998e+12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25312" y="2816352"/>
            <a:ext cx="256032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297180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꼭 넣을 것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071616" y="318211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스택·보안·검증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6071616" y="3602736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언어와 라이브러리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비밀값·입력 검증 규칙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테스트와 검증 절차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형식 예: 이해 → 계획 → 코드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759952" y="2798064"/>
            <a:ext cx="2596896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1999999999999998e+13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0" y="2816352"/>
            <a:ext cx="256032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4544" y="297180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넣지 말 것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924544" y="318211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일회성 요구·실제 비밀값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8924544" y="3602736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작업에만 필요한 지시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토큰·고객 데이터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프로젝트와 무관한 긴 장문 설명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907024" y="4663440"/>
            <a:ext cx="5449824" cy="932688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6E7B4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1999999999999998e+13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4681728"/>
            <a:ext cx="5413248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483717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 시작점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071616" y="50474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처음에는 이 파일 하나로 시작해도 충분합니다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6071616" y="5468112"/>
            <a:ext cx="512064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규칙이 먼저 잠겨야 이후의 prompt file과 agent도 흔들리지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2층은 [파일·폴더별 규칙 분기]입니다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*.instructions.md와 applyTo로 위험 구역만 더 엄격하게 묶습니다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4553712" cy="39684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563624"/>
            <a:ext cx="4535424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613916"/>
            <a:ext cx="3803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security.instructions.md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92808"/>
            <a:ext cx="4224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08A7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code .github/instructions/security.instructions.md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422452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---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applyTo: "src/auth/*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*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*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.ts,src/security/*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*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/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*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.ts"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---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98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#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Security-Sensitive Code Rules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Never store or compare passwords in plain text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Read JWT or session secrets from environment variables only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Validate request body, params, and query values before use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 parameterized queries only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Return generic authentication failure messages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541264" y="1554480"/>
            <a:ext cx="276148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1999999999999999e+1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59552" y="1572768"/>
            <a:ext cx="2724912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172821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 구역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705856" y="19385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더 강한 규칙이 필요한 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05856" y="235915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인증, 결제, 관리자 API처럼 사고 비용이 큰 영역은 공통 규칙 위에 추가 안전벨트를 더합니다.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595360" y="1554480"/>
            <a:ext cx="276148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1999999999999998e+14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13648" y="1572768"/>
            <a:ext cx="272491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172821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docs·tests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759952" y="193852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파일 성격마다 기대값이 다릅니다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8759952" y="235915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문서엔 실행 가능한 예시, 테스트엔 성공·실패 케이스처럼 파일 성격에 맞는 기준을 따로 붙일 수 있습니다.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541264" y="3438144"/>
            <a:ext cx="5815584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1999999999999998e+15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59552" y="3456432"/>
            <a:ext cx="5779008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05856" y="36118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놓치기 쉬운 포인트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705856" y="38221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applyTo가 없으면 자동 적용되지 않습니다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705856" y="4242816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패턴이 실제 경로와 맞는지 확인합니다.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위험 폴더는 규칙 파일을 분리해 둡니다.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채팅 응답의 References에서 어떤 instruction이 적용됐는지 확인하면 가장 확실합니다.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3층은 [재사용 작업 버튼]입니다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file은 슬래시로 직접 부르는 수동 작업 프롬프트입니다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4498848" cy="39684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563624"/>
            <a:ext cx="4480560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61391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secure-api.prompt.md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92808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B8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code .github/prompts/secure-api.prompt.md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416966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---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name: secure-api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description: Build or revise an API endpoint with a security-first workflow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agent: agent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tools: ['search/codebase']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argument-hint: endpoint purpose and related files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---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Read the relevant files and summarize the current flow.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Identify likely risks.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3.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Propose a short implementation plan.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Do not edit code until the user approves the plan.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5.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After approval, implement the smallest safe change.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98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6.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Add or update tests.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0" y="1554480"/>
            <a:ext cx="5870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1999999999999998e+1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4688" y="1572768"/>
            <a:ext cx="583387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72821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/secure-api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50992" y="1938528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관련 파일 읽기 → 위험 지점 요약 → 승인 후 최소 수정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5650992" y="2359152"/>
            <a:ext cx="5541264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우선 구현 루틴을 버튼처럼 고정합니다.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486400" y="2542032"/>
            <a:ext cx="5870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1999999999999998e+164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2560320"/>
            <a:ext cx="5833872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271576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/review-auth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50992" y="2926080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구현하지 말고 먼저 인증 흐름만 리뷰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5650992" y="3346704"/>
            <a:ext cx="5541264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취약점과 누락된 검증을 high·medium·low로 분리합니다.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486400" y="3529584"/>
            <a:ext cx="5870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1999999999999998e+16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3547872"/>
            <a:ext cx="5833872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370332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/write-tests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650992" y="3913632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코드 기준으로 테스트 아이디어와 케이스 생성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5650992" y="4334256"/>
            <a:ext cx="5541264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구현 직후 검증을 붙이는 흐름을 가볍게 반복할 수 있습니다.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5486400" y="4517136"/>
            <a:ext cx="5870448" cy="10058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6E7B4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1.1999999999999997e+17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04688" y="4535424"/>
            <a:ext cx="5833872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469087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체감이 큰가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650992" y="4901184"/>
            <a:ext cx="5541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자동 적용이 아니라 지금 필요한 작업만 엄격하게 호출합니다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5650992" y="5321808"/>
            <a:ext cx="55412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평소에는 가볍게 쓰다가, 중요한 작업에서만 일관된 루틴을 켤 수 있어서 초보자에게 가장 빠르게 체감이 옵니다.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4층은 [역할과 권한 통제]입니다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custom agent는 말투보다 [도구 범위]까지 제한하는 작업 모드입니다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52303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1.1999999999999996e+17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519379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19072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728216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 전용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Security Reviewer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490118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구현 전에 취약점과 누락된 테스트를 먼저 점검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허용 도구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search/codebase, search/usages 같은 읽기 중심 도구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형태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high·medium·low 위험도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안전한 수정 방향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먼저 봐야 할 파일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2303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1.1999999999999996e+18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572768"/>
            <a:ext cx="5193792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719072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66560" y="1728216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편집 가능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382512" y="193852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Implementer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82512" y="2359152"/>
            <a:ext cx="490118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계획 승인 후 최소 수정으로 구현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허용 도구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편집, 테스트, 필요한 실행 도구만 제한적으로 허용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형태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변경 사항 요약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검증 방법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남은 리스크와 rollback 지점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5047488"/>
            <a:ext cx="10972800" cy="56692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5212080"/>
            <a:ext cx="9966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25780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승인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79776" y="5212080"/>
            <a:ext cx="1298448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5257800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 한정 승인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266944" y="5212080"/>
            <a:ext cx="21031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525780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Bypass·Autopilot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187184" y="5221224"/>
            <a:ext cx="4078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권한을 넓힐수록 더 똑똑해지는 것이 아니라, 실수와 사고 반경도 함께 넓어집니다. 민감 작업일수록 read-only 검토를 먼저 두는 편이 안전합니다.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보안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Secure 프롬프트 설계는 [두 층]을 함께 다루는 일입니다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보안과 행동 보안을 동시에 설계해야 안전합니다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5266944" cy="358444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CE5D6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1.1999999999999995e+18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5230368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28216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보안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[무엇을 쓰게 할 것인가]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377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위험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SQL 인젝션, XSS, 하드코딩 비밀값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입력 검증 누락, 권한 검사 누락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과도한 권한이나 unsafe API 사용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 질문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어떤 코드 패턴을 금지할 것인가?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어떤 실패 메시지까지 허용할 것인가?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5266944" cy="358444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4E2FF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1.1999999999999995e+19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572768"/>
            <a:ext cx="5230368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728216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 보안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345936" y="19385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AI에게 [어디까지 문을 열어줄 것인가]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45936" y="2359152"/>
            <a:ext cx="49377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위험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민감 파일 자동 수정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위험한 명령 실행과 권한 과다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신뢰하지 않은 워크스페이스에서의 자율 동작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 질문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어떤 파일은 수동 승인으로 남길 것인가?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자동 승인과 sandbox 범위를 어디까지 둘 것인가?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585216" y="5321808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5495544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5412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54406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쉽게 기억하는 비유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188720" y="5632704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보안은 “AI가 연필로 무엇을 쓰는가”이고, 행동 보안은 “AI에게 어디까지 문을 열어주는가”입니다. 둘 다 막아야 안전합니다.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보안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초보자용 Secure 프롬프트 [원칙 1~4]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문장을 길게 쓰는 것보다 [목표·금지·맥락·순서]를 설계하는 편이 훨씬 중요합니다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5248656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1.1999999999999994e+19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521208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19072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7282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1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목표를 먼저 말하고, 구현은 나중에 시킵니다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“로그인 API 만들어줘”보다 목적, 기술 스택, 보안 요구, 완료 기준을 먼저 고정해야 위험한 지름길이 줄어듭니다.</a:t>
            </a:r>
            <a:endParaRPr lang="en-US" sz="1090" dirty="0"/>
          </a:p>
        </p:txBody>
      </p:sp>
      <p:sp>
        <p:nvSpPr>
          <p:cNvPr id="15" name="Shape 13"/>
          <p:cNvSpPr/>
          <p:nvPr/>
        </p:nvSpPr>
        <p:spPr>
          <a:xfrm>
            <a:off x="6181344" y="1554480"/>
            <a:ext cx="5248656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00000">
                <a:alpha val="1.1999999999999994e+20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572768"/>
            <a:ext cx="521208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719072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29984" y="17282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2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345936" y="19385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금지사항을 쓰지 않으면 AI는 편법을 씁니다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345936" y="2359152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하드코딩 비밀값 금지, SQL 문자열 연결 금지, innerHTML 금지처럼 [되지 말아야 할 것]을 구체적으로 적어야 합니다.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49808" y="3493008"/>
            <a:ext cx="5248656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579164822559364e+172" dist="2.289582411279682e+172" dir="2.1655341152926858e+202">
              <a:srgbClr val="000000">
                <a:alpha val="1.1999999999999994e+20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511296"/>
            <a:ext cx="521208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657600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124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298448" y="3666744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3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4400" y="3877056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맥락은 긴 설명보다 실제 파일로 줍니다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코드 파일을 참조하면 말로 설명하는 맥락보다 훨씬 정확합니다. 새로운 라이브러리 추가 금지 같은 제약도 함께 붙입니다.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6181344" y="3493008"/>
            <a:ext cx="5248656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.815539324650392e+176" dist="2.907769662325196e+176" dir="1.2993204691756116e+207">
              <a:srgbClr val="000000">
                <a:alpha val="1.1999999999999993e+21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511296"/>
            <a:ext cx="5212080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657600"/>
            <a:ext cx="310896" cy="310896"/>
          </a:xfrm>
          <a:prstGeom prst="ellipse">
            <a:avLst/>
          </a:prstGeom>
          <a:solidFill>
            <a:srgbClr val="8E7EFC">
              <a:alpha val="18000"/>
            </a:srgbClr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7124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E7E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29984" y="3666744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4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345936" y="3877056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복잡한 작업은 읽기 → 계획 → 수정으로 분리합니다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6345936" y="429768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“먼저 읽고 요약, 그다음 계획, 승인 전까지 수정 금지” 한 줄만 붙여도 초보자가 이유를 모른 채 코드를 받는 상황을 크게 줄일 수 있습니다.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보안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초보자용 Secure 프롬프트 [원칙 5~7]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검증, 민감정보 보호, 권한 통제까지 붙어야 진짜로 안전합니다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3511296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.385734942305998e+180" dist="3.692867471152999e+180" dir="7.795922815053669e+211">
              <a:srgbClr val="000000">
                <a:alpha val="1.1999999999999994e+21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347472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19072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72821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5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조건을 넣습니다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 test 통과, eslint 오류 0개, 실패 응답 일반화처럼 [무엇이 맞음인지]까지 요구해야 진짜 완료입니다.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352544" y="1554480"/>
            <a:ext cx="3511296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9.379883376728618e+184" dist="4.689941688364309e+184" dir="4.677553689032201e+216">
              <a:srgbClr val="000000">
                <a:alpha val="1.1999999999999994e+22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1572768"/>
            <a:ext cx="347472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1719072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01184" y="172821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6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517136" y="193852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민감정보는 프롬프트에 붙여 넣지 않습니다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4517136" y="235915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JWT_SECRET, 고객 이메일 목록, .env 내용은 넣지 않는 습관이 기본입니다. 제외 설정보다 습관이 먼저입니다.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955280" y="1554480"/>
            <a:ext cx="3511296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1912451888445345e+189" dist="5.956225944222673e+188" dir="2.806532213419321e+221">
              <a:srgbClr val="000000">
                <a:alpha val="1.1999999999999994e+22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73568" y="1572768"/>
            <a:ext cx="347472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9872" y="1719072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8503920" y="1728216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 7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119872" y="193852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권한을 넓힐수록 안전장치도 같이 늘립니다</a:t>
            </a:r>
            <a:endParaRPr lang="en-US" sz="1460" dirty="0"/>
          </a:p>
        </p:txBody>
      </p:sp>
      <p:sp>
        <p:nvSpPr>
          <p:cNvPr id="28" name="Text 26"/>
          <p:cNvSpPr/>
          <p:nvPr/>
        </p:nvSpPr>
        <p:spPr>
          <a:xfrm>
            <a:off x="8119872" y="2359152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에이전트를 쓸수록 restricted mode, sandbox, 민감 파일 수동 승인, 세션 한정 auto-approval이 더 중요합니다.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49808" y="3675888"/>
            <a:ext cx="10716768" cy="1755648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6E7B4"/>
            </a:solidFill>
            <a:prstDash val="solid"/>
          </a:ln>
          <a:effectLst>
            <a:outerShdw sx="100000" sy="100000" kx="0" ky="0" algn="bl" rotWithShape="0" blurRad="1.5128813898325588e+193" dist="7.564406949162794e+192" dir="1.6839193280515925e+226">
              <a:srgbClr val="000000">
                <a:alpha val="1.1999999999999994e+23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3694176"/>
            <a:ext cx="10680192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849624"/>
            <a:ext cx="103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초보자가 자주 하는 실수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14400" y="4059936"/>
            <a:ext cx="10387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세 가지만 줄여도 사고 확률이 크게 내려갑니다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4480560"/>
            <a:ext cx="10387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“만들어줘”만 쓰고 끝냅니다. 목표는 있는데 제약과 검증이 없습니다.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테스트 없는 완료 선언을 그대로 믿습니다. 생성 코드는 반드시 리뷰와 실행 검증을 거쳐야 합니다.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.env, 키 파일, 인증 관련 파일을 자동 승인 범위에 그대로 둡니다. 민감 파일은 수동 승인으로 남겨야 합니다.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실전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초보자에게 추천하는 실제 폴더 구조와 보안 기본선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역할을 분리해 두면 덜 헷갈리고, 설정은 기본 안전벨트만 잡아도 효과가 큽니다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4645152" cy="232257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563624"/>
            <a:ext cx="4626864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613916"/>
            <a:ext cx="3895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recommended-project-structure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92808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B8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tree .github -L 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43159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.github/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├─ copilot-instructions.md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├─ instructions/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│  ├─ security.instructions.md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│  └─ frontend.instructions.md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├─ prompts/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│  └─ secure-api.prompt.md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├─ agents/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│  └─ security-review.agent.md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└─ skills/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└─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고급 확장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]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.vscode/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└─ settings.json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49808" y="4133088"/>
            <a:ext cx="4645152" cy="13898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4142232"/>
            <a:ext cx="4626864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233672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4233672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4233672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4192524"/>
            <a:ext cx="3895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471416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D8EF5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code .vscode/settings.json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"chat.tools.terminal.sandbox.enabled"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true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"chat.tools.edits.autoApprove"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"**/.env"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false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"**/*.pem"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false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"**/*.key"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false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"**/secrets/**"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false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9267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"github.copilot.chat.organizationInstructions.enabled"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AE81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true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596128" y="1554480"/>
            <a:ext cx="57607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9213593650873497e+197" dist="9.606796825436748e+196" dir="1.0103515968309554e+231">
              <a:srgbClr val="000000">
                <a:alpha val="1.1999999999999992e+23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14416" y="1572768"/>
            <a:ext cx="5724144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728216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분리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760720" y="1938528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 규칙, 파일별 규칙, 수동 작업, 역할 제어를 각각 다른 폴더에 둡니다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5760720" y="2359152"/>
            <a:ext cx="5431536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구조가 명확해야 초보자도 무엇을 어디에 넣을지 덜 헷갈립니다.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96128" y="2596896"/>
            <a:ext cx="57607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440126393660934e+201" dist="1.220063196830467e+201" dir="6.062109580985733e+235">
              <a:srgbClr val="000000">
                <a:alpha val="1.1999999999999992e+24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14416" y="2615184"/>
            <a:ext cx="5724144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770632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기본선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760720" y="2980944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restricted mode, terminal sandbox, diff 확인, 민감 파일 수동 승인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5760720" y="3401568"/>
            <a:ext cx="5431536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네 가지가 VS Code 공식 문서가 권하는 기본 시작점입니다.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96128" y="3639312"/>
            <a:ext cx="57607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0989605199493864e+205" dist="1.5494802599746932e+205" dir="3.63726574859144e+240">
              <a:srgbClr val="000000">
                <a:alpha val="1.1999999999999991e+24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14416" y="3657600"/>
            <a:ext cx="5724144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813048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 1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760720" y="4023360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content exclusion은 만능 방패가 아닙니다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5760720" y="4443984"/>
            <a:ext cx="5431536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GitHub 문서상 Edit·Agent 모드에서는 content exclusion이 지원되지 않습니다. 민감정보를 프롬프트에 넣지 않는 습관이 먼저입니다.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596128" y="4681728"/>
            <a:ext cx="5760720" cy="841248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6E7B4"/>
            </a:solidFill>
            <a:prstDash val="solid"/>
          </a:ln>
          <a:effectLst>
            <a:outerShdw sx="100000" sy="100000" kx="0" ky="0" algn="bl" rotWithShape="0" blurRad="3.9356798603357206e+209" dist="1.9678399301678603e+209" dir="2.182359449154864e+245">
              <a:srgbClr val="000000">
                <a:alpha val="1.1999999999999991e+254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14416" y="4700016"/>
            <a:ext cx="5724144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4855464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 2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760720" y="5065776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settings에 규칙을 몰아넣기보다 파일 기반 instructions가 현재 권장입니다</a:t>
            </a:r>
            <a:endParaRPr lang="en-US" sz="1380" dirty="0"/>
          </a:p>
        </p:txBody>
      </p:sp>
      <p:sp>
        <p:nvSpPr>
          <p:cNvPr id="43" name="Text 41"/>
          <p:cNvSpPr/>
          <p:nvPr/>
        </p:nvSpPr>
        <p:spPr>
          <a:xfrm>
            <a:off x="5760720" y="5486400"/>
            <a:ext cx="5431536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Code는 code/test generation용 settings 기반 instructions를 deprecated로 안내하고 있습니다.</a:t>
            </a:r>
            <a:endParaRPr lang="en-US" sz="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실전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바로 복붙해 쓸 수 있는 프롬프트 템플릿 4종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템플릿의 목적은 AI를 멋지게 속이는 것이 아니라 [구조를 매번 재사용]하는 데 있습니다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9983134226263654e+213" dist="2.4991567113131827e+213" dir="1.3094156694929184e+250">
              <a:srgbClr val="000000">
                <a:alpha val="1.1999999999999991e+2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5212080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19072"/>
            <a:ext cx="310896" cy="310896"/>
          </a:xfrm>
          <a:prstGeom prst="ellipse">
            <a:avLst/>
          </a:prstGeom>
          <a:solidFill>
            <a:srgbClr val="5D8EF5">
              <a:alpha val="18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98448" y="17282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A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 구현 전용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새로운 기능을 안전하게 추가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입력: 목표, 기술 스택, 금지사항, 작업 순서, 완료 기준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포인트: 구현 전 계획과 테스트를 강제로 붙입니다.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554480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.347858046735484e+217" dist="3.173929023367742e+217" dir="7.85649401695751e+254">
              <a:srgbClr val="000000">
                <a:alpha val="1.199999999999999e+26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572768"/>
            <a:ext cx="5212080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719072"/>
            <a:ext cx="310896" cy="310896"/>
          </a:xfrm>
          <a:prstGeom prst="ellipse">
            <a:avLst/>
          </a:prstGeom>
          <a:solidFill>
            <a:srgbClr val="F08A7F">
              <a:alpha val="18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77393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29984" y="17282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B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345936" y="193852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보안 리뷰 전용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345936" y="2359152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구현 전에 위험만 먼저 점검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입력: 인증, 입력 검증, SQL, 비밀값, 권한 검사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포인트: high·medium·low와 수정 방향을 같이 받습니다.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9808" y="3438144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8.061779719354066e+221" dist="4.030889859677033e+221" dir="4.713896410174506e+259">
              <a:srgbClr val="000000">
                <a:alpha val="1.1999999999999991e+26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3456432"/>
            <a:ext cx="5212080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602736"/>
            <a:ext cx="310896" cy="310896"/>
          </a:xfrm>
          <a:prstGeom prst="ellipse">
            <a:avLst/>
          </a:prstGeom>
          <a:solidFill>
            <a:srgbClr val="64B88C">
              <a:alpha val="18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5760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298448" y="361188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C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4400" y="382219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리팩터링 전용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914400" y="4242816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동작 보존을 전제로 구조만 정리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입력: 목표, 금지사항, 현재 동작 요약 요청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포인트: 새 라이브러리 추가나 인증 로직 변경을 막아 둡니다.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181344" y="3438144"/>
            <a:ext cx="5248656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0238460243579663e+226" dist="5.1192301217898315e+225" dir="2.8283378461047036e+264">
              <a:srgbClr val="000000">
                <a:alpha val="1.199999999999999e+27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456432"/>
            <a:ext cx="5212080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602736"/>
            <a:ext cx="310896" cy="310896"/>
          </a:xfrm>
          <a:prstGeom prst="ellipse">
            <a:avLst/>
          </a:prstGeom>
          <a:solidFill>
            <a:srgbClr val="8E7EFC">
              <a:alpha val="18000"/>
            </a:srgbClr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65760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E7E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29984" y="3611880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D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345936" y="382219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초보자 설명 전용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6345936" y="4242816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코드를 받기 전에 개념과 위험을 먼저 이해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입력: 왜 필요한지, 입력, 보안 포인트, 구현 순서, 테스트 포인트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포인트: 설명과 최소 예시를 단계적으로 받습니다.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85216" y="5340096"/>
            <a:ext cx="11027664" cy="694944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513832"/>
            <a:ext cx="310896" cy="310896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5595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86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54589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템플릿이 좋은 이유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1188720" y="565099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목표를 먼저 주고, 예시와 제약을 붙이고, 작업을 쪼개고, 검증 가능성을 남기는 구조를 습관화하기 때문입니다.</a:t>
            </a:r>
            <a:endParaRPr lang="en-US" sz="10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실전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나쁜 요청과 좋은 요청의 차이는 [구조]에 있습니다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요청을 [목표·제약·순서·검증]이 있는 작업 설계로 바꾸면 결과가 달라집니다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2377440" cy="3730752"/>
          </a:xfrm>
          <a:prstGeom prst="roundRect">
            <a:avLst/>
          </a:prstGeom>
          <a:solidFill>
            <a:srgbClr val="FEF0EE"/>
          </a:solidFill>
          <a:ln w="12700">
            <a:solidFill>
              <a:srgbClr val="F3D7D4"/>
            </a:solidFill>
            <a:prstDash val="solid"/>
          </a:ln>
          <a:effectLst>
            <a:outerShdw sx="100000" sy="100000" kx="0" ky="0" algn="bl" rotWithShape="0" blurRad="1.3002844509346172e+230" dist="6.501422254673086e+229" dir="1.6970027076628222e+269">
              <a:srgbClr val="000000">
                <a:alpha val="1.199999999999999e+27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2340864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2821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BAD REQUEST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“로그인 API 만들어줘”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204825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목표만 있고 제약이 없습니다.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안전 기준이 없습니다.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검증 기준이 없습니다.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3A5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빠르지만 위험한 지름길이 나오기 쉽습니다.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7973568" cy="37307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2424" y="1563624"/>
            <a:ext cx="7955280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75888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1613916"/>
            <a:ext cx="7223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good-request.prompt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1892808"/>
            <a:ext cx="7644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B8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/secure-api login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547872" y="2084832"/>
            <a:ext cx="764438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목표: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이메일/비밀번호 로그인 API를 구현한다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기술 스택: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TypeScript, Express, PostgreSQL, Zod, bcrypt, jsonwebtoken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보안 요구: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SQL 문자열 연결 금지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입력 검증 필수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비밀번호 평문 저장/비교 금지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JWT_SECRET은 process.env에서만 읽기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-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실패 응답은 "Invalid credentials"로 통일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작업 순서: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관련 auth 파일을 먼저 읽고 현재 패턴 요약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2.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구현 전에 5줄 이내 계획 제시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3.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승인 후 최소 수정으로 구현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테스트 아이디어 4개 제시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19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5.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남아 있는 보안 리스크 정리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" y="5486400"/>
            <a:ext cx="2532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6513612526869638e+234" dist="8.256806263434819e+233" dir="1.0182016245976934e+274">
              <a:srgbClr val="000000">
                <a:alpha val="1.199999999999999e+284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" y="5504688"/>
            <a:ext cx="2496312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601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1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4400" y="58704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목표를 먼저 고정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93008" y="5486400"/>
            <a:ext cx="2532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097228790912444e+238" dist="1.048614395456222e+238" dir="6.10920974758616e+278">
              <a:srgbClr val="000000">
                <a:alpha val="1.199999999999999e+28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11296" y="5504688"/>
            <a:ext cx="2496312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56601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2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3657600" y="58704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금지사항을 명시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6208" y="5486400"/>
            <a:ext cx="2532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2.663480564458804e+242" dist="1.331740282229402e+242" dir="3.6655258485516963e+283">
              <a:srgbClr val="000000">
                <a:alpha val="1.199999999999999e+29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5504688"/>
            <a:ext cx="2496312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6601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400800" y="58704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순서를 분리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79408" y="5486400"/>
            <a:ext cx="2532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3.3826203168626813e+246" dist="1.6913101584313407e+246" dir="2.1993155091310177e+288">
              <a:srgbClr val="000000">
                <a:alpha val="1.199999999999999e+29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97696" y="5504688"/>
            <a:ext cx="2496312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5660136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4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144000" y="58704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검증으로 잠그기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31520" cy="320040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실전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기능도 [보안 원칙]을 넣으면 코드 모양이 달라집니다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Secure 프롬프트는 더 안전한 코드 방향을 유도합니다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5230368" cy="2907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563624"/>
            <a:ext cx="5212080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613916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bad-example.ts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92808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08A7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cat login-insecure.ts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490118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app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post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"/login"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async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req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=&gt;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email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password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req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body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result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await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pool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query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`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SELECT id, password FROM users WHERE email = '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email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'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`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user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result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rows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]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!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user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||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user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password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!==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password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return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status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401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json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message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"User not found"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token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jwt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sign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id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user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id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"my-super-secret"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7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return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json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token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7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7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914400" y="4325112"/>
            <a:ext cx="4901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 예시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230368" cy="29077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563624"/>
            <a:ext cx="5212080" cy="274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1655064"/>
            <a:ext cx="73152" cy="73152"/>
          </a:xfrm>
          <a:prstGeom prst="ellipse">
            <a:avLst/>
          </a:prstGeom>
          <a:solidFill>
            <a:srgbClr val="E3657B"/>
          </a:solidFill>
          <a:ln w="12700">
            <a:solidFill>
              <a:srgbClr val="E3657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1655064"/>
            <a:ext cx="73152" cy="7315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1655064"/>
            <a:ext cx="73152" cy="73152"/>
          </a:xfrm>
          <a:prstGeom prst="ellipse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613916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good-example.ts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82512" y="1892808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B88C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$ cat login-safer.ts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382512" y="2084832"/>
            <a:ext cx="490118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loginSchema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z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object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email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z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string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email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password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z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string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min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8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max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72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app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post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"/login"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async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req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=&gt;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parsed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loginSchema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safeParse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req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body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!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parsed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success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return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400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json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message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"Invalid request"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email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password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parsed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data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result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await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pool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query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"SELECT id, password_hash FROM users WHERE email = $1 LIMIT 1"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email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const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user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=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result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rows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!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user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66D9E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return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res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401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.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json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{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message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"Invalid credentials"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)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82512" y="4325112"/>
            <a:ext cx="4901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안전한 방향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49808" y="4736592"/>
            <a:ext cx="19933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4.295927802415605e+250" dist="2.1479639012078026e+250" dir="1.3195893054786106e+293">
              <a:srgbClr val="000000">
                <a:alpha val="1.199999999999999e+30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4754880"/>
            <a:ext cx="1956816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91032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1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검증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2962656" y="4736592"/>
            <a:ext cx="19933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5.455828309067819e+254" dist="2.7279141545339093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80944" y="4754880"/>
            <a:ext cx="1956816" cy="64008"/>
          </a:xfrm>
          <a:prstGeom prst="roundRect">
            <a:avLst/>
          </a:prstGeom>
          <a:solidFill>
            <a:srgbClr val="64B88C"/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491032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4B8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2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3127248" y="51206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파라미터 바인딩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5175504" y="4736592"/>
            <a:ext cx="19933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.928901952516129e+258" dist="3.4644509762580647e+258" dir="4.750521499722998e+302">
              <a:srgbClr val="000000">
                <a:alpha val="Infinity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93792" y="4754880"/>
            <a:ext cx="1956816" cy="64008"/>
          </a:xfrm>
          <a:prstGeom prst="roundRect">
            <a:avLst/>
          </a:prstGeom>
          <a:solidFill>
            <a:srgbClr val="F08A7F"/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491032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3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340096" y="51206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비밀값 환경 변수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7388352" y="4736592"/>
            <a:ext cx="19933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8.799705479695485e+262" dist="4.3998527398477425e+262" dir="2.850312899833799e+307">
              <a:srgbClr val="000000">
                <a:alpha val="Infinity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06640" y="4754880"/>
            <a:ext cx="1956816" cy="64008"/>
          </a:xfrm>
          <a:prstGeom prst="roundRect">
            <a:avLst/>
          </a:prstGeom>
          <a:solidFill>
            <a:srgbClr val="8E7EFC"/>
          </a:solidFill>
          <a:ln w="12700">
            <a:solidFill>
              <a:srgbClr val="8E7EFC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52944" y="491032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8E7E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4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7552944" y="51206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실패 응답 일반화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9601200" y="4736592"/>
            <a:ext cx="199339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1175625959213265e+267" dist="5.587812979606632e+266" dir="Infinity">
              <a:srgbClr val="000000">
                <a:alpha val="Infinity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619488" y="4754880"/>
            <a:ext cx="1956816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65792" y="491032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5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9765792" y="51206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남은 운영 리스크 별도 기록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256032"/>
            <a:ext cx="786384" cy="320040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1089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마무리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85216" y="576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실무에 바로 적용할 [초보자 루틴]으로 마무리합니다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326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B86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먼저 고정하고, 작업은 읽기와 계획으로 나누고, 끝은 항상 검증으로 잠급니다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1155680" y="310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AA3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85216" y="1188720"/>
            <a:ext cx="1101852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4754880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4193044968200846e+271" dist="7.096522484100423e+270" dir="Infinity">
              <a:srgbClr val="000000">
                <a:alpha val="Infinity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572768"/>
            <a:ext cx="4718304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내일부터 바로 쓰는 7단계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084832"/>
            <a:ext cx="256032" cy="256032"/>
          </a:xfrm>
          <a:prstGeom prst="ellipse">
            <a:avLst/>
          </a:prstGeom>
          <a:solidFill>
            <a:srgbClr val="5D8EF5">
              <a:alpha val="22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305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298448" y="21031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/init으로 초안 만들기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14400" y="2542032"/>
            <a:ext cx="256032" cy="256032"/>
          </a:xfrm>
          <a:prstGeom prst="ellipse">
            <a:avLst/>
          </a:prstGeom>
          <a:solidFill>
            <a:srgbClr val="5D8EF5">
              <a:alpha val="22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87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298448" y="25603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.github/copilot-instructions.md에 공통 규칙 정리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14400" y="2999232"/>
            <a:ext cx="256032" cy="256032"/>
          </a:xfrm>
          <a:prstGeom prst="ellipse">
            <a:avLst/>
          </a:prstGeom>
          <a:solidFill>
            <a:srgbClr val="5D8EF5">
              <a:alpha val="22000"/>
            </a:srgbClr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0449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D8EF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298448" y="30175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민감 영역에 .instructions.md 추가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14400" y="3456432"/>
            <a:ext cx="256032" cy="256032"/>
          </a:xfrm>
          <a:prstGeom prst="ellipse">
            <a:avLst/>
          </a:prstGeom>
          <a:solidFill>
            <a:srgbClr val="64B88C">
              <a:alpha val="22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298448" y="34747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/secure-api 같은 prompt file 만들기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4400" y="3913632"/>
            <a:ext cx="256032" cy="256032"/>
          </a:xfrm>
          <a:prstGeom prst="ellipse">
            <a:avLst/>
          </a:prstGeom>
          <a:solidFill>
            <a:srgbClr val="64B88C">
              <a:alpha val="22000"/>
            </a:srgbClr>
          </a:solidFill>
          <a:ln w="12700">
            <a:solidFill>
              <a:srgbClr val="64B88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593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B88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298448" y="39319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전엔 읽기 전용 reviewer로 먼저 검토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14400" y="4370832"/>
            <a:ext cx="256032" cy="256032"/>
          </a:xfrm>
          <a:prstGeom prst="ellipse">
            <a:avLst/>
          </a:prstGeom>
          <a:solidFill>
            <a:srgbClr val="F08A7F">
              <a:alpha val="22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165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298448" y="43891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후 diff 확인과 테스트 실행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4828032"/>
            <a:ext cx="256032" cy="256032"/>
          </a:xfrm>
          <a:prstGeom prst="ellipse">
            <a:avLst/>
          </a:prstGeom>
          <a:solidFill>
            <a:srgbClr val="F08A7F">
              <a:alpha val="22000"/>
            </a:srgbClr>
          </a:solidFill>
          <a:ln w="12700">
            <a:solidFill>
              <a:srgbClr val="F08A7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8737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08A7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298448" y="4846320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리스크를 문장으로 남기기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5760720" y="1554480"/>
            <a:ext cx="55961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.8025167109615074e+275" dist="9.012583554807537e+274" dir="Infinity">
              <a:srgbClr val="000000">
                <a:alpha val="Infinity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79008" y="1572768"/>
            <a:ext cx="5559552" cy="64008"/>
          </a:xfrm>
          <a:prstGeom prst="roundRect">
            <a:avLst/>
          </a:prstGeom>
          <a:solidFill>
            <a:srgbClr val="5D8EF5"/>
          </a:solidFill>
          <a:ln w="12700">
            <a:solidFill>
              <a:srgbClr val="5D8E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1728216"/>
            <a:ext cx="5266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D8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바로 바꿀 것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925312" y="1938528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623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AI에게 정답을 맡기지 말고, 목표·제약·검증을 먼저 줍니다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5925312" y="2359152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0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프롬프트는 길어서가 아니라, 사고를 막는 경계와 완료 기준이 있기 때문에 좋습니다.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5760720" y="2907792"/>
            <a:ext cx="5596128" cy="1078992"/>
          </a:xfrm>
          <a:prstGeom prst="roundRect">
            <a:avLst/>
          </a:prstGeom>
          <a:solidFill>
            <a:srgbClr val="314867"/>
          </a:solidFill>
          <a:ln w="12700">
            <a:solidFill>
              <a:srgbClr val="31486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98464" y="30723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마지막 한 문장 조언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5998464" y="331012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바이브코딩에서 초보자가 먼저 버려야 할 습관은 [AI에게 정답을 맡기는 태도]입니다.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당신의 역할은 모든 코드를 직접 타이핑하는 사람이 아니라, 목표를 분명히 말하고 위험한 지름길을 막고 검증으로 문을 잠그는 사람입니다.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5760720" y="4206240"/>
            <a:ext cx="5596128" cy="1335024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6E7B4"/>
            </a:solidFill>
            <a:prstDash val="solid"/>
          </a:ln>
          <a:effectLst>
            <a:outerShdw sx="100000" sy="100000" kx="0" ky="0" algn="bl" rotWithShape="0" blurRad="2.2891962229211143e+279" dist="1.1445981114605571e+279" dir="Infinity">
              <a:srgbClr val="000000">
                <a:alpha val="Infinity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79008" y="4224528"/>
            <a:ext cx="5559552" cy="64008"/>
          </a:xfrm>
          <a:prstGeom prst="roundRect">
            <a:avLst/>
          </a:prstGeom>
          <a:solidFill>
            <a:srgbClr val="F5C451"/>
          </a:solidFill>
          <a:ln w="12700">
            <a:solidFill>
              <a:srgbClr val="F5C451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4379976"/>
            <a:ext cx="5266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5C4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기억할 3줄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5925312" y="4590288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 규칙은 파일로 고정합니다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2. 구현 전에는 읽고 계획합니다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73A5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 완료 전에는 항상 테스트와 리뷰로 잠급니다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생각을 코드로 바꾸는 법</dc:title>
  <dc:subject>초보자용 바이브코딩 가이드와 Secure 프롬프트 설계</dc:subject>
  <dc:creator>OpenAI</dc:creator>
  <cp:lastModifiedBy>OpenAI</cp:lastModifiedBy>
  <cp:revision>1</cp:revision>
  <dcterms:created xsi:type="dcterms:W3CDTF">2026-03-22T09:11:51Z</dcterms:created>
  <dcterms:modified xsi:type="dcterms:W3CDTF">2026-03-22T09:11:51Z</dcterms:modified>
</cp:coreProperties>
</file>